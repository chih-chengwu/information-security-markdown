
<file path=[Content_Types].xml><?xml version="1.0" encoding="utf-8"?>
<Types xmlns="http://schemas.openxmlformats.org/package/2006/content-types">
  <Default Extension="png" ContentType="image/png"/>
  <Default Extension="jpeg" ContentType="image/jpeg"/>
  <Default Extension="wmf" ContentType="image/x-wmf"/>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5.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6.xml" ContentType="application/vnd.openxmlformats-officedocument.theme+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7.xml" ContentType="application/vnd.openxmlformats-officedocument.theme+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380" r:id="rId1"/>
    <p:sldMasterId id="2147484392" r:id="rId2"/>
    <p:sldMasterId id="2147484428" r:id="rId3"/>
    <p:sldMasterId id="2147484441" r:id="rId4"/>
    <p:sldMasterId id="2147484453" r:id="rId5"/>
    <p:sldMasterId id="2147484465" r:id="rId6"/>
    <p:sldMasterId id="2147484477" r:id="rId7"/>
    <p:sldMasterId id="2147484489" r:id="rId8"/>
  </p:sldMasterIdLst>
  <p:notesMasterIdLst>
    <p:notesMasterId r:id="rId90"/>
  </p:notesMasterIdLst>
  <p:handoutMasterIdLst>
    <p:handoutMasterId r:id="rId91"/>
  </p:handoutMasterIdLst>
  <p:sldIdLst>
    <p:sldId id="435" r:id="rId9"/>
    <p:sldId id="438" r:id="rId10"/>
    <p:sldId id="411" r:id="rId11"/>
    <p:sldId id="410" r:id="rId12"/>
    <p:sldId id="428" r:id="rId13"/>
    <p:sldId id="304" r:id="rId14"/>
    <p:sldId id="305" r:id="rId15"/>
    <p:sldId id="306" r:id="rId16"/>
    <p:sldId id="308" r:id="rId17"/>
    <p:sldId id="342" r:id="rId18"/>
    <p:sldId id="310" r:id="rId19"/>
    <p:sldId id="312" r:id="rId20"/>
    <p:sldId id="313" r:id="rId21"/>
    <p:sldId id="314" r:id="rId22"/>
    <p:sldId id="315" r:id="rId23"/>
    <p:sldId id="316" r:id="rId24"/>
    <p:sldId id="341" r:id="rId25"/>
    <p:sldId id="429" r:id="rId26"/>
    <p:sldId id="317" r:id="rId27"/>
    <p:sldId id="318" r:id="rId28"/>
    <p:sldId id="319" r:id="rId29"/>
    <p:sldId id="405" r:id="rId30"/>
    <p:sldId id="436" r:id="rId31"/>
    <p:sldId id="406" r:id="rId32"/>
    <p:sldId id="407" r:id="rId33"/>
    <p:sldId id="430" r:id="rId34"/>
    <p:sldId id="320" r:id="rId35"/>
    <p:sldId id="321" r:id="rId36"/>
    <p:sldId id="343" r:id="rId37"/>
    <p:sldId id="322" r:id="rId38"/>
    <p:sldId id="325" r:id="rId39"/>
    <p:sldId id="457" r:id="rId40"/>
    <p:sldId id="432" r:id="rId41"/>
    <p:sldId id="431" r:id="rId42"/>
    <p:sldId id="326" r:id="rId43"/>
    <p:sldId id="327" r:id="rId44"/>
    <p:sldId id="439" r:id="rId45"/>
    <p:sldId id="458" r:id="rId46"/>
    <p:sldId id="459" r:id="rId47"/>
    <p:sldId id="460" r:id="rId48"/>
    <p:sldId id="464" r:id="rId49"/>
    <p:sldId id="462" r:id="rId50"/>
    <p:sldId id="463" r:id="rId51"/>
    <p:sldId id="465" r:id="rId52"/>
    <p:sldId id="419" r:id="rId53"/>
    <p:sldId id="441" r:id="rId54"/>
    <p:sldId id="333" r:id="rId55"/>
    <p:sldId id="332" r:id="rId56"/>
    <p:sldId id="397" r:id="rId57"/>
    <p:sldId id="448" r:id="rId58"/>
    <p:sldId id="449" r:id="rId59"/>
    <p:sldId id="450" r:id="rId60"/>
    <p:sldId id="454" r:id="rId61"/>
    <p:sldId id="451" r:id="rId62"/>
    <p:sldId id="452" r:id="rId63"/>
    <p:sldId id="455" r:id="rId64"/>
    <p:sldId id="453" r:id="rId65"/>
    <p:sldId id="426" r:id="rId66"/>
    <p:sldId id="346" r:id="rId67"/>
    <p:sldId id="348" r:id="rId68"/>
    <p:sldId id="349" r:id="rId69"/>
    <p:sldId id="350" r:id="rId70"/>
    <p:sldId id="351" r:id="rId71"/>
    <p:sldId id="352" r:id="rId72"/>
    <p:sldId id="353" r:id="rId73"/>
    <p:sldId id="425" r:id="rId74"/>
    <p:sldId id="355" r:id="rId75"/>
    <p:sldId id="356" r:id="rId76"/>
    <p:sldId id="357" r:id="rId77"/>
    <p:sldId id="358" r:id="rId78"/>
    <p:sldId id="366" r:id="rId79"/>
    <p:sldId id="367" r:id="rId80"/>
    <p:sldId id="368" r:id="rId81"/>
    <p:sldId id="369" r:id="rId82"/>
    <p:sldId id="370" r:id="rId83"/>
    <p:sldId id="371" r:id="rId84"/>
    <p:sldId id="424" r:id="rId85"/>
    <p:sldId id="373" r:id="rId86"/>
    <p:sldId id="423" r:id="rId87"/>
    <p:sldId id="380" r:id="rId88"/>
    <p:sldId id="381" r:id="rId89"/>
  </p:sldIdLst>
  <p:sldSz cx="9144000" cy="6858000" type="screen4x3"/>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CC00"/>
    <a:srgbClr val="FF00FF"/>
    <a:srgbClr val="DAEDFE"/>
    <a:srgbClr val="96CBFC"/>
    <a:srgbClr val="4CA7FA"/>
    <a:srgbClr val="660033"/>
    <a:srgbClr val="9F3789"/>
    <a:srgbClr val="C14BA8"/>
    <a:srgbClr val="CA68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佈景主題樣式 2 - 輔色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C2FFA5D-87B4-456A-9821-1D502468CF0F}" styleName="佈景主題樣式 1 - 輔色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075" autoAdjust="0"/>
  </p:normalViewPr>
  <p:slideViewPr>
    <p:cSldViewPr>
      <p:cViewPr varScale="1">
        <p:scale>
          <a:sx n="88" d="100"/>
          <a:sy n="88" d="100"/>
        </p:scale>
        <p:origin x="1291" y="53"/>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4090"/>
    </p:cViewPr>
  </p:sorterViewPr>
  <p:notesViewPr>
    <p:cSldViewPr>
      <p:cViewPr varScale="1">
        <p:scale>
          <a:sx n="55" d="100"/>
          <a:sy n="55" d="100"/>
        </p:scale>
        <p:origin x="-1794" y="-10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6" Type="http://schemas.openxmlformats.org/officeDocument/2006/relationships/slide" Target="slides/slide8.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5" Type="http://schemas.openxmlformats.org/officeDocument/2006/relationships/slideMaster" Target="slideMasters/slideMaster5.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8" Type="http://schemas.openxmlformats.org/officeDocument/2006/relationships/slideMaster" Target="slideMasters/slideMaster8.xml"/><Relationship Id="rId51" Type="http://schemas.openxmlformats.org/officeDocument/2006/relationships/slide" Target="slides/slide43.xml"/><Relationship Id="rId72" Type="http://schemas.openxmlformats.org/officeDocument/2006/relationships/slide" Target="slides/slide64.xml"/><Relationship Id="rId80" Type="http://schemas.openxmlformats.org/officeDocument/2006/relationships/slide" Target="slides/slide72.xml"/><Relationship Id="rId85" Type="http://schemas.openxmlformats.org/officeDocument/2006/relationships/slide" Target="slides/slide77.xml"/><Relationship Id="rId93"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slide" Target="slides/slide59.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slide" Target="slides/slide54.xml"/><Relationship Id="rId70" Type="http://schemas.openxmlformats.org/officeDocument/2006/relationships/slide" Target="slides/slide62.xml"/><Relationship Id="rId75" Type="http://schemas.openxmlformats.org/officeDocument/2006/relationships/slide" Target="slides/slide67.xml"/><Relationship Id="rId83" Type="http://schemas.openxmlformats.org/officeDocument/2006/relationships/slide" Target="slides/slide75.xml"/><Relationship Id="rId88" Type="http://schemas.openxmlformats.org/officeDocument/2006/relationships/slide" Target="slides/slide80.xml"/><Relationship Id="rId91"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7" Type="http://schemas.openxmlformats.org/officeDocument/2006/relationships/slideMaster" Target="slideMasters/slideMaster7.xml"/><Relationship Id="rId71" Type="http://schemas.openxmlformats.org/officeDocument/2006/relationships/slide" Target="slides/slide63.xml"/><Relationship Id="rId92" Type="http://schemas.openxmlformats.org/officeDocument/2006/relationships/presProps" Target="presProps.xml"/><Relationship Id="rId2" Type="http://schemas.openxmlformats.org/officeDocument/2006/relationships/slideMaster" Target="slideMasters/slideMaster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EDCD029-EDE7-4FA2-A3DD-55A3E25B15E4}"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zh-TW" altLang="en-US"/>
        </a:p>
      </dgm:t>
    </dgm:pt>
    <dgm:pt modelId="{6AC5C1F2-0071-4343-B16D-4FD740FE7151}">
      <dgm:prSet phldrT="[文字]" custT="1"/>
      <dgm:spPr/>
      <dgm:t>
        <a:bodyPr/>
        <a:lstStyle/>
        <a:p>
          <a:r>
            <a:rPr lang="zh-TW" altLang="en-US" sz="2000" dirty="0" smtClean="0"/>
            <a:t>攻擊金鑰</a:t>
          </a:r>
          <a:endParaRPr lang="zh-TW" altLang="en-US" sz="2000" dirty="0"/>
        </a:p>
      </dgm:t>
    </dgm:pt>
    <dgm:pt modelId="{B7F909B6-CBC7-45C3-A7A5-A834E1F8DE64}" type="parTrans" cxnId="{70451C3D-C342-46DD-AA10-F08B62284DC0}">
      <dgm:prSet/>
      <dgm:spPr/>
      <dgm:t>
        <a:bodyPr/>
        <a:lstStyle/>
        <a:p>
          <a:endParaRPr lang="zh-TW" altLang="en-US"/>
        </a:p>
      </dgm:t>
    </dgm:pt>
    <dgm:pt modelId="{47201B49-EC07-479E-B168-AF8C9EE3C44D}" type="sibTrans" cxnId="{70451C3D-C342-46DD-AA10-F08B62284DC0}">
      <dgm:prSet/>
      <dgm:spPr/>
      <dgm:t>
        <a:bodyPr/>
        <a:lstStyle/>
        <a:p>
          <a:endParaRPr lang="zh-TW" altLang="en-US"/>
        </a:p>
      </dgm:t>
    </dgm:pt>
    <dgm:pt modelId="{734DB6E2-D063-4185-A6B4-A3C9B0A2704B}">
      <dgm:prSet phldrT="[文字]" custT="1"/>
      <dgm:spPr/>
      <dgm:t>
        <a:bodyPr/>
        <a:lstStyle/>
        <a:p>
          <a:r>
            <a:rPr lang="zh-TW" altLang="en-US" sz="2000" dirty="0" smtClean="0"/>
            <a:t>攻擊算法</a:t>
          </a:r>
          <a:endParaRPr lang="zh-TW" altLang="en-US" sz="2000" dirty="0"/>
        </a:p>
      </dgm:t>
    </dgm:pt>
    <dgm:pt modelId="{566A6AFE-968D-4715-A301-E9B316C385EF}" type="parTrans" cxnId="{0E9BFE09-7D74-4A97-B55F-F0E92B4609F0}">
      <dgm:prSet/>
      <dgm:spPr/>
      <dgm:t>
        <a:bodyPr/>
        <a:lstStyle/>
        <a:p>
          <a:endParaRPr lang="zh-TW" altLang="en-US"/>
        </a:p>
      </dgm:t>
    </dgm:pt>
    <dgm:pt modelId="{E2F49DE8-6C38-4736-AFF5-AE939A609402}" type="sibTrans" cxnId="{0E9BFE09-7D74-4A97-B55F-F0E92B4609F0}">
      <dgm:prSet/>
      <dgm:spPr/>
      <dgm:t>
        <a:bodyPr/>
        <a:lstStyle/>
        <a:p>
          <a:endParaRPr lang="zh-TW" altLang="en-US"/>
        </a:p>
      </dgm:t>
    </dgm:pt>
    <dgm:pt modelId="{B8C440A6-3AB4-4FA1-B511-B91028F630D6}">
      <dgm:prSet phldrT="[文字]" custT="1"/>
      <dgm:spPr/>
      <dgm:t>
        <a:bodyPr/>
        <a:lstStyle/>
        <a:p>
          <a:r>
            <a:rPr lang="zh-TW" altLang="en-US" sz="2000" dirty="0" smtClean="0"/>
            <a:t>攔截傳輸</a:t>
          </a:r>
          <a:endParaRPr lang="zh-TW" altLang="en-US" sz="2000" dirty="0"/>
        </a:p>
      </dgm:t>
    </dgm:pt>
    <dgm:pt modelId="{31D40E1F-8AD9-4D3F-A6A4-AD37BD7D04FA}" type="parTrans" cxnId="{BEEFED04-2198-4053-8429-EC3F7C4110AB}">
      <dgm:prSet/>
      <dgm:spPr/>
      <dgm:t>
        <a:bodyPr/>
        <a:lstStyle/>
        <a:p>
          <a:endParaRPr lang="zh-TW" altLang="en-US"/>
        </a:p>
      </dgm:t>
    </dgm:pt>
    <dgm:pt modelId="{20E0366B-47D0-41E4-92C2-A11AF858D8E2}" type="sibTrans" cxnId="{BEEFED04-2198-4053-8429-EC3F7C4110AB}">
      <dgm:prSet/>
      <dgm:spPr/>
      <dgm:t>
        <a:bodyPr/>
        <a:lstStyle/>
        <a:p>
          <a:endParaRPr lang="zh-TW" altLang="en-US"/>
        </a:p>
      </dgm:t>
    </dgm:pt>
    <dgm:pt modelId="{2DAC7089-1C46-4685-B7AC-62748CE2307D}">
      <dgm:prSet phldrT="[文字]"/>
      <dgm:spPr/>
      <dgm:t>
        <a:bodyPr/>
        <a:lstStyle/>
        <a:p>
          <a:r>
            <a:rPr lang="zh-TW" altLang="en-US" dirty="0" smtClean="0"/>
            <a:t>是指</a:t>
          </a:r>
          <a:r>
            <a:rPr lang="zh-TW" altLang="en-US" dirty="0" smtClean="0">
              <a:solidFill>
                <a:srgbClr val="FF0000"/>
              </a:solidFill>
            </a:rPr>
            <a:t>重複地以不同的金鑰來嘗試破譯密文</a:t>
          </a:r>
          <a:r>
            <a:rPr lang="zh-TW" altLang="en-US" dirty="0" smtClean="0"/>
            <a:t>，攻擊對象可能是金鑰或是通關密碼。</a:t>
          </a:r>
          <a:r>
            <a:rPr lang="zh-TW" altLang="en-US" dirty="0" smtClean="0">
              <a:solidFill>
                <a:srgbClr val="0000FF"/>
              </a:solidFill>
            </a:rPr>
            <a:t>因此選用較長且較複雜的金鑰與密碼會使攻擊更難成功</a:t>
          </a:r>
          <a:r>
            <a:rPr lang="zh-TW" altLang="en-US" dirty="0" smtClean="0"/>
            <a:t>。</a:t>
          </a:r>
          <a:endParaRPr lang="zh-TW" altLang="en-US" dirty="0"/>
        </a:p>
      </dgm:t>
    </dgm:pt>
    <dgm:pt modelId="{E0EA15F2-462F-4396-A873-15A1DCE86D9D}" type="parTrans" cxnId="{8523EDD8-2694-4CB4-82C4-8F8ED6F8CBD6}">
      <dgm:prSet/>
      <dgm:spPr/>
      <dgm:t>
        <a:bodyPr/>
        <a:lstStyle/>
        <a:p>
          <a:endParaRPr lang="zh-TW" altLang="en-US"/>
        </a:p>
      </dgm:t>
    </dgm:pt>
    <dgm:pt modelId="{67EE36EE-B97C-45F0-8F17-C4A1E7FA025A}" type="sibTrans" cxnId="{8523EDD8-2694-4CB4-82C4-8F8ED6F8CBD6}">
      <dgm:prSet/>
      <dgm:spPr/>
      <dgm:t>
        <a:bodyPr/>
        <a:lstStyle/>
        <a:p>
          <a:endParaRPr lang="zh-TW" altLang="en-US"/>
        </a:p>
      </dgm:t>
    </dgm:pt>
    <dgm:pt modelId="{F8BA5C4E-0AF1-4C25-BA80-24F3E8987F33}">
      <dgm:prSet phldrT="[文字]"/>
      <dgm:spPr/>
      <dgm:t>
        <a:bodyPr/>
        <a:lstStyle/>
        <a:p>
          <a:r>
            <a:rPr lang="zh-TW" altLang="en-US" dirty="0" smtClean="0">
              <a:solidFill>
                <a:srgbClr val="FF0000"/>
              </a:solidFill>
            </a:rPr>
            <a:t>許多加密算法有弱點</a:t>
          </a:r>
          <a:r>
            <a:rPr lang="zh-TW" altLang="en-US" dirty="0" smtClean="0"/>
            <a:t>，如果被發現會嚴重地影響系統安全。許多看似複雜的算法，都可以用數學模型或統計分析方法找出弱點。</a:t>
          </a:r>
          <a:endParaRPr lang="zh-TW" altLang="en-US" dirty="0"/>
        </a:p>
      </dgm:t>
    </dgm:pt>
    <dgm:pt modelId="{048BDB02-4058-4CF0-902A-B5F952F612E4}" type="parTrans" cxnId="{B61C925E-9AA6-4C7D-99AE-6241D025A22B}">
      <dgm:prSet/>
      <dgm:spPr/>
      <dgm:t>
        <a:bodyPr/>
        <a:lstStyle/>
        <a:p>
          <a:endParaRPr lang="zh-TW" altLang="en-US"/>
        </a:p>
      </dgm:t>
    </dgm:pt>
    <dgm:pt modelId="{8E511D9C-BA27-4FFE-A349-789F050A7A3E}" type="sibTrans" cxnId="{B61C925E-9AA6-4C7D-99AE-6241D025A22B}">
      <dgm:prSet/>
      <dgm:spPr/>
      <dgm:t>
        <a:bodyPr/>
        <a:lstStyle/>
        <a:p>
          <a:endParaRPr lang="zh-TW" altLang="en-US"/>
        </a:p>
      </dgm:t>
    </dgm:pt>
    <dgm:pt modelId="{93B48A59-75B6-40FB-BB46-BEAC19DB11CA}">
      <dgm:prSet phldrT="[文字]"/>
      <dgm:spPr/>
      <dgm:t>
        <a:bodyPr/>
        <a:lstStyle/>
        <a:p>
          <a:r>
            <a:rPr lang="zh-TW" altLang="en-US" dirty="0" smtClean="0"/>
            <a:t>直接地攔截傳輸中的信息，可以幫助攻擊者瞭解加密的方法。例如某人以密文發出電子郵件，收件者的回信裡含有原信卻未加密，這時攻擊者可以同時取得原文與密文，大有利於密碼破解。</a:t>
          </a:r>
          <a:endParaRPr lang="zh-TW" altLang="en-US" dirty="0"/>
        </a:p>
      </dgm:t>
    </dgm:pt>
    <dgm:pt modelId="{346D3DE6-C0CB-460D-887A-5B198E9521BB}" type="parTrans" cxnId="{C1E21897-8D16-43FC-985D-A956FDBB6867}">
      <dgm:prSet/>
      <dgm:spPr/>
      <dgm:t>
        <a:bodyPr/>
        <a:lstStyle/>
        <a:p>
          <a:endParaRPr lang="zh-TW" altLang="en-US"/>
        </a:p>
      </dgm:t>
    </dgm:pt>
    <dgm:pt modelId="{C57BD646-A79C-482F-8032-C85F80AB1997}" type="sibTrans" cxnId="{C1E21897-8D16-43FC-985D-A956FDBB6867}">
      <dgm:prSet/>
      <dgm:spPr/>
      <dgm:t>
        <a:bodyPr/>
        <a:lstStyle/>
        <a:p>
          <a:endParaRPr lang="zh-TW" altLang="en-US"/>
        </a:p>
      </dgm:t>
    </dgm:pt>
    <dgm:pt modelId="{0EB3EDD4-A4CE-4206-9BE9-C45149A4F849}" type="pres">
      <dgm:prSet presAssocID="{AEDCD029-EDE7-4FA2-A3DD-55A3E25B15E4}" presName="linear" presStyleCnt="0">
        <dgm:presLayoutVars>
          <dgm:dir/>
          <dgm:animLvl val="lvl"/>
          <dgm:resizeHandles val="exact"/>
        </dgm:presLayoutVars>
      </dgm:prSet>
      <dgm:spPr/>
      <dgm:t>
        <a:bodyPr/>
        <a:lstStyle/>
        <a:p>
          <a:endParaRPr lang="zh-TW" altLang="en-US"/>
        </a:p>
      </dgm:t>
    </dgm:pt>
    <dgm:pt modelId="{D6C71EE4-7239-4F66-A872-B964743BC11A}" type="pres">
      <dgm:prSet presAssocID="{6AC5C1F2-0071-4343-B16D-4FD740FE7151}" presName="parentLin" presStyleCnt="0"/>
      <dgm:spPr/>
    </dgm:pt>
    <dgm:pt modelId="{87034EE7-5C0B-42C5-A2C0-F56A21BCCCBB}" type="pres">
      <dgm:prSet presAssocID="{6AC5C1F2-0071-4343-B16D-4FD740FE7151}" presName="parentLeftMargin" presStyleLbl="node1" presStyleIdx="0" presStyleCnt="3"/>
      <dgm:spPr/>
      <dgm:t>
        <a:bodyPr/>
        <a:lstStyle/>
        <a:p>
          <a:endParaRPr lang="zh-TW" altLang="en-US"/>
        </a:p>
      </dgm:t>
    </dgm:pt>
    <dgm:pt modelId="{F226433E-AE43-4092-9C6C-B83EDF74E5A5}" type="pres">
      <dgm:prSet presAssocID="{6AC5C1F2-0071-4343-B16D-4FD740FE7151}" presName="parentText" presStyleLbl="node1" presStyleIdx="0" presStyleCnt="3">
        <dgm:presLayoutVars>
          <dgm:chMax val="0"/>
          <dgm:bulletEnabled val="1"/>
        </dgm:presLayoutVars>
      </dgm:prSet>
      <dgm:spPr/>
      <dgm:t>
        <a:bodyPr/>
        <a:lstStyle/>
        <a:p>
          <a:endParaRPr lang="zh-TW" altLang="en-US"/>
        </a:p>
      </dgm:t>
    </dgm:pt>
    <dgm:pt modelId="{0D2BADEF-B62E-4DAE-B841-3B5458387ABD}" type="pres">
      <dgm:prSet presAssocID="{6AC5C1F2-0071-4343-B16D-4FD740FE7151}" presName="negativeSpace" presStyleCnt="0"/>
      <dgm:spPr/>
    </dgm:pt>
    <dgm:pt modelId="{5EFC1396-1AEF-4630-A134-2701F90158A0}" type="pres">
      <dgm:prSet presAssocID="{6AC5C1F2-0071-4343-B16D-4FD740FE7151}" presName="childText" presStyleLbl="conFgAcc1" presStyleIdx="0" presStyleCnt="3">
        <dgm:presLayoutVars>
          <dgm:bulletEnabled val="1"/>
        </dgm:presLayoutVars>
      </dgm:prSet>
      <dgm:spPr/>
      <dgm:t>
        <a:bodyPr/>
        <a:lstStyle/>
        <a:p>
          <a:endParaRPr lang="zh-TW" altLang="en-US"/>
        </a:p>
      </dgm:t>
    </dgm:pt>
    <dgm:pt modelId="{5A225B6D-D5D2-4254-A329-F5928E48908A}" type="pres">
      <dgm:prSet presAssocID="{47201B49-EC07-479E-B168-AF8C9EE3C44D}" presName="spaceBetweenRectangles" presStyleCnt="0"/>
      <dgm:spPr/>
    </dgm:pt>
    <dgm:pt modelId="{D21296E3-4837-4C8F-8DB1-F1A982193943}" type="pres">
      <dgm:prSet presAssocID="{734DB6E2-D063-4185-A6B4-A3C9B0A2704B}" presName="parentLin" presStyleCnt="0"/>
      <dgm:spPr/>
    </dgm:pt>
    <dgm:pt modelId="{BD4D95E0-48F5-4F28-AAD1-9FDCC6485ACE}" type="pres">
      <dgm:prSet presAssocID="{734DB6E2-D063-4185-A6B4-A3C9B0A2704B}" presName="parentLeftMargin" presStyleLbl="node1" presStyleIdx="0" presStyleCnt="3"/>
      <dgm:spPr/>
      <dgm:t>
        <a:bodyPr/>
        <a:lstStyle/>
        <a:p>
          <a:endParaRPr lang="zh-TW" altLang="en-US"/>
        </a:p>
      </dgm:t>
    </dgm:pt>
    <dgm:pt modelId="{31901F2E-6E9F-4975-A909-0596D34CFF96}" type="pres">
      <dgm:prSet presAssocID="{734DB6E2-D063-4185-A6B4-A3C9B0A2704B}" presName="parentText" presStyleLbl="node1" presStyleIdx="1" presStyleCnt="3">
        <dgm:presLayoutVars>
          <dgm:chMax val="0"/>
          <dgm:bulletEnabled val="1"/>
        </dgm:presLayoutVars>
      </dgm:prSet>
      <dgm:spPr/>
      <dgm:t>
        <a:bodyPr/>
        <a:lstStyle/>
        <a:p>
          <a:endParaRPr lang="zh-TW" altLang="en-US"/>
        </a:p>
      </dgm:t>
    </dgm:pt>
    <dgm:pt modelId="{A7A65A84-B0BF-4893-A8BA-A759374AB366}" type="pres">
      <dgm:prSet presAssocID="{734DB6E2-D063-4185-A6B4-A3C9B0A2704B}" presName="negativeSpace" presStyleCnt="0"/>
      <dgm:spPr/>
    </dgm:pt>
    <dgm:pt modelId="{6BDD7DF0-75F2-4833-9DC2-5217ECDA4E96}" type="pres">
      <dgm:prSet presAssocID="{734DB6E2-D063-4185-A6B4-A3C9B0A2704B}" presName="childText" presStyleLbl="conFgAcc1" presStyleIdx="1" presStyleCnt="3">
        <dgm:presLayoutVars>
          <dgm:bulletEnabled val="1"/>
        </dgm:presLayoutVars>
      </dgm:prSet>
      <dgm:spPr/>
      <dgm:t>
        <a:bodyPr/>
        <a:lstStyle/>
        <a:p>
          <a:endParaRPr lang="zh-TW" altLang="en-US"/>
        </a:p>
      </dgm:t>
    </dgm:pt>
    <dgm:pt modelId="{7B8DDEC2-6CF5-413B-95F1-115D1E10243A}" type="pres">
      <dgm:prSet presAssocID="{E2F49DE8-6C38-4736-AFF5-AE939A609402}" presName="spaceBetweenRectangles" presStyleCnt="0"/>
      <dgm:spPr/>
    </dgm:pt>
    <dgm:pt modelId="{031979C8-5C59-4EB3-A7D0-F09ECBEF38C0}" type="pres">
      <dgm:prSet presAssocID="{B8C440A6-3AB4-4FA1-B511-B91028F630D6}" presName="parentLin" presStyleCnt="0"/>
      <dgm:spPr/>
    </dgm:pt>
    <dgm:pt modelId="{ADB0873E-C905-49AD-B7BD-8CABBB85933A}" type="pres">
      <dgm:prSet presAssocID="{B8C440A6-3AB4-4FA1-B511-B91028F630D6}" presName="parentLeftMargin" presStyleLbl="node1" presStyleIdx="1" presStyleCnt="3"/>
      <dgm:spPr/>
      <dgm:t>
        <a:bodyPr/>
        <a:lstStyle/>
        <a:p>
          <a:endParaRPr lang="zh-TW" altLang="en-US"/>
        </a:p>
      </dgm:t>
    </dgm:pt>
    <dgm:pt modelId="{C2B549D6-8691-4F29-AF2D-DCD153D8EB46}" type="pres">
      <dgm:prSet presAssocID="{B8C440A6-3AB4-4FA1-B511-B91028F630D6}" presName="parentText" presStyleLbl="node1" presStyleIdx="2" presStyleCnt="3">
        <dgm:presLayoutVars>
          <dgm:chMax val="0"/>
          <dgm:bulletEnabled val="1"/>
        </dgm:presLayoutVars>
      </dgm:prSet>
      <dgm:spPr/>
      <dgm:t>
        <a:bodyPr/>
        <a:lstStyle/>
        <a:p>
          <a:endParaRPr lang="zh-TW" altLang="en-US"/>
        </a:p>
      </dgm:t>
    </dgm:pt>
    <dgm:pt modelId="{4504B683-6C17-4478-98C7-98A9FE24AA88}" type="pres">
      <dgm:prSet presAssocID="{B8C440A6-3AB4-4FA1-B511-B91028F630D6}" presName="negativeSpace" presStyleCnt="0"/>
      <dgm:spPr/>
    </dgm:pt>
    <dgm:pt modelId="{FC32C086-CD50-459A-9825-E9541D88F020}" type="pres">
      <dgm:prSet presAssocID="{B8C440A6-3AB4-4FA1-B511-B91028F630D6}" presName="childText" presStyleLbl="conFgAcc1" presStyleIdx="2" presStyleCnt="3">
        <dgm:presLayoutVars>
          <dgm:bulletEnabled val="1"/>
        </dgm:presLayoutVars>
      </dgm:prSet>
      <dgm:spPr/>
      <dgm:t>
        <a:bodyPr/>
        <a:lstStyle/>
        <a:p>
          <a:endParaRPr lang="zh-TW" altLang="en-US"/>
        </a:p>
      </dgm:t>
    </dgm:pt>
  </dgm:ptLst>
  <dgm:cxnLst>
    <dgm:cxn modelId="{507B8EDF-473E-464C-940E-71EF98FC8763}" type="presOf" srcId="{AEDCD029-EDE7-4FA2-A3DD-55A3E25B15E4}" destId="{0EB3EDD4-A4CE-4206-9BE9-C45149A4F849}" srcOrd="0" destOrd="0" presId="urn:microsoft.com/office/officeart/2005/8/layout/list1"/>
    <dgm:cxn modelId="{B61C925E-9AA6-4C7D-99AE-6241D025A22B}" srcId="{734DB6E2-D063-4185-A6B4-A3C9B0A2704B}" destId="{F8BA5C4E-0AF1-4C25-BA80-24F3E8987F33}" srcOrd="0" destOrd="0" parTransId="{048BDB02-4058-4CF0-902A-B5F952F612E4}" sibTransId="{8E511D9C-BA27-4FFE-A349-789F050A7A3E}"/>
    <dgm:cxn modelId="{0E9BFE09-7D74-4A97-B55F-F0E92B4609F0}" srcId="{AEDCD029-EDE7-4FA2-A3DD-55A3E25B15E4}" destId="{734DB6E2-D063-4185-A6B4-A3C9B0A2704B}" srcOrd="1" destOrd="0" parTransId="{566A6AFE-968D-4715-A301-E9B316C385EF}" sibTransId="{E2F49DE8-6C38-4736-AFF5-AE939A609402}"/>
    <dgm:cxn modelId="{4639CB93-8F27-476B-B35E-A5145BAE55C7}" type="presOf" srcId="{B8C440A6-3AB4-4FA1-B511-B91028F630D6}" destId="{ADB0873E-C905-49AD-B7BD-8CABBB85933A}" srcOrd="0" destOrd="0" presId="urn:microsoft.com/office/officeart/2005/8/layout/list1"/>
    <dgm:cxn modelId="{47A528D6-FA5D-4E70-B5A8-9ABAC8D31C46}" type="presOf" srcId="{B8C440A6-3AB4-4FA1-B511-B91028F630D6}" destId="{C2B549D6-8691-4F29-AF2D-DCD153D8EB46}" srcOrd="1" destOrd="0" presId="urn:microsoft.com/office/officeart/2005/8/layout/list1"/>
    <dgm:cxn modelId="{C1E21897-8D16-43FC-985D-A956FDBB6867}" srcId="{B8C440A6-3AB4-4FA1-B511-B91028F630D6}" destId="{93B48A59-75B6-40FB-BB46-BEAC19DB11CA}" srcOrd="0" destOrd="0" parTransId="{346D3DE6-C0CB-460D-887A-5B198E9521BB}" sibTransId="{C57BD646-A79C-482F-8032-C85F80AB1997}"/>
    <dgm:cxn modelId="{8523EDD8-2694-4CB4-82C4-8F8ED6F8CBD6}" srcId="{6AC5C1F2-0071-4343-B16D-4FD740FE7151}" destId="{2DAC7089-1C46-4685-B7AC-62748CE2307D}" srcOrd="0" destOrd="0" parTransId="{E0EA15F2-462F-4396-A873-15A1DCE86D9D}" sibTransId="{67EE36EE-B97C-45F0-8F17-C4A1E7FA025A}"/>
    <dgm:cxn modelId="{70451C3D-C342-46DD-AA10-F08B62284DC0}" srcId="{AEDCD029-EDE7-4FA2-A3DD-55A3E25B15E4}" destId="{6AC5C1F2-0071-4343-B16D-4FD740FE7151}" srcOrd="0" destOrd="0" parTransId="{B7F909B6-CBC7-45C3-A7A5-A834E1F8DE64}" sibTransId="{47201B49-EC07-479E-B168-AF8C9EE3C44D}"/>
    <dgm:cxn modelId="{7B5FD6CC-534E-4B8C-953C-7ECFE592E887}" type="presOf" srcId="{93B48A59-75B6-40FB-BB46-BEAC19DB11CA}" destId="{FC32C086-CD50-459A-9825-E9541D88F020}" srcOrd="0" destOrd="0" presId="urn:microsoft.com/office/officeart/2005/8/layout/list1"/>
    <dgm:cxn modelId="{F8476C39-8EB3-484B-BC1E-00430FE2F34A}" type="presOf" srcId="{6AC5C1F2-0071-4343-B16D-4FD740FE7151}" destId="{F226433E-AE43-4092-9C6C-B83EDF74E5A5}" srcOrd="1" destOrd="0" presId="urn:microsoft.com/office/officeart/2005/8/layout/list1"/>
    <dgm:cxn modelId="{BB1CCBEB-B339-4CFA-90D8-CA4537B43E76}" type="presOf" srcId="{6AC5C1F2-0071-4343-B16D-4FD740FE7151}" destId="{87034EE7-5C0B-42C5-A2C0-F56A21BCCCBB}" srcOrd="0" destOrd="0" presId="urn:microsoft.com/office/officeart/2005/8/layout/list1"/>
    <dgm:cxn modelId="{BE472E76-F260-446D-9D0A-83C5B3920F33}" type="presOf" srcId="{734DB6E2-D063-4185-A6B4-A3C9B0A2704B}" destId="{31901F2E-6E9F-4975-A909-0596D34CFF96}" srcOrd="1" destOrd="0" presId="urn:microsoft.com/office/officeart/2005/8/layout/list1"/>
    <dgm:cxn modelId="{D705B19C-B7DD-483B-A6B8-91308ECAEE9A}" type="presOf" srcId="{734DB6E2-D063-4185-A6B4-A3C9B0A2704B}" destId="{BD4D95E0-48F5-4F28-AAD1-9FDCC6485ACE}" srcOrd="0" destOrd="0" presId="urn:microsoft.com/office/officeart/2005/8/layout/list1"/>
    <dgm:cxn modelId="{A97B1046-0314-4E3F-BD9E-0217C86C1664}" type="presOf" srcId="{2DAC7089-1C46-4685-B7AC-62748CE2307D}" destId="{5EFC1396-1AEF-4630-A134-2701F90158A0}" srcOrd="0" destOrd="0" presId="urn:microsoft.com/office/officeart/2005/8/layout/list1"/>
    <dgm:cxn modelId="{8805D925-0DBE-433E-8E05-9EAD16939B8B}" type="presOf" srcId="{F8BA5C4E-0AF1-4C25-BA80-24F3E8987F33}" destId="{6BDD7DF0-75F2-4833-9DC2-5217ECDA4E96}" srcOrd="0" destOrd="0" presId="urn:microsoft.com/office/officeart/2005/8/layout/list1"/>
    <dgm:cxn modelId="{BEEFED04-2198-4053-8429-EC3F7C4110AB}" srcId="{AEDCD029-EDE7-4FA2-A3DD-55A3E25B15E4}" destId="{B8C440A6-3AB4-4FA1-B511-B91028F630D6}" srcOrd="2" destOrd="0" parTransId="{31D40E1F-8AD9-4D3F-A6A4-AD37BD7D04FA}" sibTransId="{20E0366B-47D0-41E4-92C2-A11AF858D8E2}"/>
    <dgm:cxn modelId="{B1A2AE99-6D62-420F-98E9-F77B4245C68D}" type="presParOf" srcId="{0EB3EDD4-A4CE-4206-9BE9-C45149A4F849}" destId="{D6C71EE4-7239-4F66-A872-B964743BC11A}" srcOrd="0" destOrd="0" presId="urn:microsoft.com/office/officeart/2005/8/layout/list1"/>
    <dgm:cxn modelId="{A322013B-E387-4317-B225-0638E61B712C}" type="presParOf" srcId="{D6C71EE4-7239-4F66-A872-B964743BC11A}" destId="{87034EE7-5C0B-42C5-A2C0-F56A21BCCCBB}" srcOrd="0" destOrd="0" presId="urn:microsoft.com/office/officeart/2005/8/layout/list1"/>
    <dgm:cxn modelId="{14529747-BBF5-44EE-AA46-6CB33E9993AF}" type="presParOf" srcId="{D6C71EE4-7239-4F66-A872-B964743BC11A}" destId="{F226433E-AE43-4092-9C6C-B83EDF74E5A5}" srcOrd="1" destOrd="0" presId="urn:microsoft.com/office/officeart/2005/8/layout/list1"/>
    <dgm:cxn modelId="{6ED52393-CA1B-4047-A937-47DDFBE5667F}" type="presParOf" srcId="{0EB3EDD4-A4CE-4206-9BE9-C45149A4F849}" destId="{0D2BADEF-B62E-4DAE-B841-3B5458387ABD}" srcOrd="1" destOrd="0" presId="urn:microsoft.com/office/officeart/2005/8/layout/list1"/>
    <dgm:cxn modelId="{BD03E66B-B399-4129-B0E9-2BF6429E2757}" type="presParOf" srcId="{0EB3EDD4-A4CE-4206-9BE9-C45149A4F849}" destId="{5EFC1396-1AEF-4630-A134-2701F90158A0}" srcOrd="2" destOrd="0" presId="urn:microsoft.com/office/officeart/2005/8/layout/list1"/>
    <dgm:cxn modelId="{2F0E7DA2-F27D-466E-8A85-DACAD73502AE}" type="presParOf" srcId="{0EB3EDD4-A4CE-4206-9BE9-C45149A4F849}" destId="{5A225B6D-D5D2-4254-A329-F5928E48908A}" srcOrd="3" destOrd="0" presId="urn:microsoft.com/office/officeart/2005/8/layout/list1"/>
    <dgm:cxn modelId="{4B5A8720-17CA-4A8A-99BD-13EBA86E8648}" type="presParOf" srcId="{0EB3EDD4-A4CE-4206-9BE9-C45149A4F849}" destId="{D21296E3-4837-4C8F-8DB1-F1A982193943}" srcOrd="4" destOrd="0" presId="urn:microsoft.com/office/officeart/2005/8/layout/list1"/>
    <dgm:cxn modelId="{E08CEBD2-3843-4C16-BF76-E63D160F89E2}" type="presParOf" srcId="{D21296E3-4837-4C8F-8DB1-F1A982193943}" destId="{BD4D95E0-48F5-4F28-AAD1-9FDCC6485ACE}" srcOrd="0" destOrd="0" presId="urn:microsoft.com/office/officeart/2005/8/layout/list1"/>
    <dgm:cxn modelId="{CFA1E76E-4F50-425C-ADF2-84E09782D81C}" type="presParOf" srcId="{D21296E3-4837-4C8F-8DB1-F1A982193943}" destId="{31901F2E-6E9F-4975-A909-0596D34CFF96}" srcOrd="1" destOrd="0" presId="urn:microsoft.com/office/officeart/2005/8/layout/list1"/>
    <dgm:cxn modelId="{575D1638-2CFC-412A-B956-9404D22B3F0C}" type="presParOf" srcId="{0EB3EDD4-A4CE-4206-9BE9-C45149A4F849}" destId="{A7A65A84-B0BF-4893-A8BA-A759374AB366}" srcOrd="5" destOrd="0" presId="urn:microsoft.com/office/officeart/2005/8/layout/list1"/>
    <dgm:cxn modelId="{72CB3107-BD20-4DDA-A3C2-FCE4762786F3}" type="presParOf" srcId="{0EB3EDD4-A4CE-4206-9BE9-C45149A4F849}" destId="{6BDD7DF0-75F2-4833-9DC2-5217ECDA4E96}" srcOrd="6" destOrd="0" presId="urn:microsoft.com/office/officeart/2005/8/layout/list1"/>
    <dgm:cxn modelId="{09814A21-B709-46DE-B84B-BA87F67BD6C9}" type="presParOf" srcId="{0EB3EDD4-A4CE-4206-9BE9-C45149A4F849}" destId="{7B8DDEC2-6CF5-413B-95F1-115D1E10243A}" srcOrd="7" destOrd="0" presId="urn:microsoft.com/office/officeart/2005/8/layout/list1"/>
    <dgm:cxn modelId="{2119029E-5E33-4F61-8619-D6C8BB33B4DC}" type="presParOf" srcId="{0EB3EDD4-A4CE-4206-9BE9-C45149A4F849}" destId="{031979C8-5C59-4EB3-A7D0-F09ECBEF38C0}" srcOrd="8" destOrd="0" presId="urn:microsoft.com/office/officeart/2005/8/layout/list1"/>
    <dgm:cxn modelId="{F47A817F-81BE-43C9-A3BF-74C00A2B1590}" type="presParOf" srcId="{031979C8-5C59-4EB3-A7D0-F09ECBEF38C0}" destId="{ADB0873E-C905-49AD-B7BD-8CABBB85933A}" srcOrd="0" destOrd="0" presId="urn:microsoft.com/office/officeart/2005/8/layout/list1"/>
    <dgm:cxn modelId="{3FDDB25E-CCC0-476A-A154-ED59FB6E8DBE}" type="presParOf" srcId="{031979C8-5C59-4EB3-A7D0-F09ECBEF38C0}" destId="{C2B549D6-8691-4F29-AF2D-DCD153D8EB46}" srcOrd="1" destOrd="0" presId="urn:microsoft.com/office/officeart/2005/8/layout/list1"/>
    <dgm:cxn modelId="{3EC89CE9-2381-450F-B66F-A7F19601ED6C}" type="presParOf" srcId="{0EB3EDD4-A4CE-4206-9BE9-C45149A4F849}" destId="{4504B683-6C17-4478-98C7-98A9FE24AA88}" srcOrd="9" destOrd="0" presId="urn:microsoft.com/office/officeart/2005/8/layout/list1"/>
    <dgm:cxn modelId="{7ACCA089-818F-4B43-8C3D-64F30A9AB905}" type="presParOf" srcId="{0EB3EDD4-A4CE-4206-9BE9-C45149A4F849}" destId="{FC32C086-CD50-459A-9825-E9541D88F020}"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2892ECF-E7F1-457F-AAFE-04F5D7EEC8D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TW" altLang="en-US"/>
        </a:p>
      </dgm:t>
    </dgm:pt>
    <dgm:pt modelId="{9760A99D-833B-44FC-8D93-11A01347F5B3}">
      <dgm:prSet phldrT="[文字]" custT="1"/>
      <dgm:spPr/>
      <dgm:t>
        <a:bodyPr/>
        <a:lstStyle/>
        <a:p>
          <a:r>
            <a:rPr lang="zh-TW" altLang="en-US" sz="2000" dirty="0" smtClean="0">
              <a:latin typeface="Calibri" pitchFamily="34" charset="0"/>
            </a:rPr>
            <a:t>只有密文 </a:t>
          </a:r>
          <a:r>
            <a:rPr lang="en-US" altLang="zh-TW" sz="2000" dirty="0" smtClean="0">
              <a:latin typeface="Calibri" pitchFamily="34" charset="0"/>
            </a:rPr>
            <a:t>(</a:t>
          </a:r>
          <a:r>
            <a:rPr lang="en-US" altLang="zh-TW" sz="2000" dirty="0" err="1" smtClean="0">
              <a:latin typeface="Calibri" pitchFamily="34" charset="0"/>
            </a:rPr>
            <a:t>ciphertext</a:t>
          </a:r>
          <a:r>
            <a:rPr lang="en-US" altLang="zh-TW" sz="2000" dirty="0" smtClean="0">
              <a:latin typeface="Calibri" pitchFamily="34" charset="0"/>
            </a:rPr>
            <a:t>-only)</a:t>
          </a:r>
          <a:endParaRPr lang="zh-TW" altLang="en-US" sz="2000" dirty="0">
            <a:latin typeface="Calibri" pitchFamily="34" charset="0"/>
          </a:endParaRPr>
        </a:p>
      </dgm:t>
    </dgm:pt>
    <dgm:pt modelId="{1FF4B6F4-FA7C-4D33-91AD-DE191E517E91}" type="parTrans" cxnId="{65FC3B02-F311-4450-AB41-19106E3E6E46}">
      <dgm:prSet/>
      <dgm:spPr/>
      <dgm:t>
        <a:bodyPr/>
        <a:lstStyle/>
        <a:p>
          <a:endParaRPr lang="zh-TW" altLang="en-US">
            <a:latin typeface="Calibri" pitchFamily="34" charset="0"/>
          </a:endParaRPr>
        </a:p>
      </dgm:t>
    </dgm:pt>
    <dgm:pt modelId="{1E972782-DE9C-4B4C-ACB5-CB7AFACEAB81}" type="sibTrans" cxnId="{65FC3B02-F311-4450-AB41-19106E3E6E46}">
      <dgm:prSet/>
      <dgm:spPr/>
      <dgm:t>
        <a:bodyPr/>
        <a:lstStyle/>
        <a:p>
          <a:endParaRPr lang="zh-TW" altLang="en-US">
            <a:latin typeface="Calibri" pitchFamily="34" charset="0"/>
          </a:endParaRPr>
        </a:p>
      </dgm:t>
    </dgm:pt>
    <dgm:pt modelId="{94953EAB-0C57-4090-AA9D-1C58E5B2B08F}">
      <dgm:prSet phldrT="[文字]" custT="1"/>
      <dgm:spPr/>
      <dgm:t>
        <a:bodyPr/>
        <a:lstStyle/>
        <a:p>
          <a:r>
            <a:rPr lang="zh-TW" altLang="en-US" sz="1600" dirty="0" smtClean="0">
              <a:solidFill>
                <a:srgbClr val="FF0000"/>
              </a:solidFill>
              <a:latin typeface="Calibri" pitchFamily="34" charset="0"/>
            </a:rPr>
            <a:t>通常</a:t>
          </a:r>
          <a:r>
            <a:rPr lang="zh-TW" altLang="en-US" sz="1600" dirty="0" smtClean="0">
              <a:latin typeface="Calibri" pitchFamily="34" charset="0"/>
            </a:rPr>
            <a:t>密碼攻擊者透過監聽等手段</a:t>
          </a:r>
          <a:r>
            <a:rPr lang="zh-TW" altLang="en-US" sz="1600" dirty="0" smtClean="0">
              <a:solidFill>
                <a:srgbClr val="FF0000"/>
              </a:solidFill>
              <a:latin typeface="Calibri" pitchFamily="34" charset="0"/>
            </a:rPr>
            <a:t>只能取得密文</a:t>
          </a:r>
          <a:r>
            <a:rPr lang="zh-TW" altLang="en-US" sz="1600" dirty="0" smtClean="0">
              <a:latin typeface="Calibri" pitchFamily="34" charset="0"/>
            </a:rPr>
            <a:t>。大量的密文也許會透露一些統計學上的蛛絲馬跡，但只靠密文要破解加密算法並不容易。</a:t>
          </a:r>
          <a:endParaRPr lang="zh-TW" altLang="en-US" sz="1600" dirty="0">
            <a:latin typeface="Calibri" pitchFamily="34" charset="0"/>
          </a:endParaRPr>
        </a:p>
      </dgm:t>
    </dgm:pt>
    <dgm:pt modelId="{2DBD1B08-2C95-4130-ADE4-903AAA8592C7}" type="parTrans" cxnId="{01C286FB-6DCA-444C-8E20-233C8D5FF816}">
      <dgm:prSet/>
      <dgm:spPr/>
      <dgm:t>
        <a:bodyPr/>
        <a:lstStyle/>
        <a:p>
          <a:endParaRPr lang="zh-TW" altLang="en-US">
            <a:latin typeface="Calibri" pitchFamily="34" charset="0"/>
          </a:endParaRPr>
        </a:p>
      </dgm:t>
    </dgm:pt>
    <dgm:pt modelId="{88F2C758-2C58-481A-9D0E-5B79ED9D1A4B}" type="sibTrans" cxnId="{01C286FB-6DCA-444C-8E20-233C8D5FF816}">
      <dgm:prSet/>
      <dgm:spPr/>
      <dgm:t>
        <a:bodyPr/>
        <a:lstStyle/>
        <a:p>
          <a:endParaRPr lang="zh-TW" altLang="en-US">
            <a:latin typeface="Calibri" pitchFamily="34" charset="0"/>
          </a:endParaRPr>
        </a:p>
      </dgm:t>
    </dgm:pt>
    <dgm:pt modelId="{DC82CB99-D0B0-49E0-81CC-E97C2B3B24CD}">
      <dgm:prSet phldrT="[文字]" custT="1"/>
      <dgm:spPr/>
      <dgm:t>
        <a:bodyPr/>
        <a:lstStyle/>
        <a:p>
          <a:r>
            <a:rPr lang="zh-TW" altLang="en-US" sz="2000" dirty="0" smtClean="0">
              <a:latin typeface="Calibri" pitchFamily="34" charset="0"/>
            </a:rPr>
            <a:t>已知原文 </a:t>
          </a:r>
          <a:r>
            <a:rPr lang="en-US" altLang="zh-TW" sz="2000" dirty="0" smtClean="0">
              <a:latin typeface="Calibri" pitchFamily="34" charset="0"/>
            </a:rPr>
            <a:t>(known-plaintext)</a:t>
          </a:r>
          <a:endParaRPr lang="zh-TW" altLang="en-US" sz="2000" dirty="0">
            <a:latin typeface="Calibri" pitchFamily="34" charset="0"/>
          </a:endParaRPr>
        </a:p>
      </dgm:t>
    </dgm:pt>
    <dgm:pt modelId="{D07AA9B1-A197-4558-838C-B7B6ABE2C4D6}" type="parTrans" cxnId="{BC8108ED-E2FC-4F67-9628-A71DA454FF85}">
      <dgm:prSet/>
      <dgm:spPr/>
      <dgm:t>
        <a:bodyPr/>
        <a:lstStyle/>
        <a:p>
          <a:endParaRPr lang="zh-TW" altLang="en-US">
            <a:latin typeface="Calibri" pitchFamily="34" charset="0"/>
          </a:endParaRPr>
        </a:p>
      </dgm:t>
    </dgm:pt>
    <dgm:pt modelId="{45C1D871-A679-4BE3-8401-EA6CF5EBB2AE}" type="sibTrans" cxnId="{BC8108ED-E2FC-4F67-9628-A71DA454FF85}">
      <dgm:prSet/>
      <dgm:spPr/>
      <dgm:t>
        <a:bodyPr/>
        <a:lstStyle/>
        <a:p>
          <a:endParaRPr lang="zh-TW" altLang="en-US">
            <a:latin typeface="Calibri" pitchFamily="34" charset="0"/>
          </a:endParaRPr>
        </a:p>
      </dgm:t>
    </dgm:pt>
    <dgm:pt modelId="{42B4763F-D89B-418B-81B5-AA6D6ABEC96B}">
      <dgm:prSet phldrT="[文字]" custT="1"/>
      <dgm:spPr/>
      <dgm:t>
        <a:bodyPr/>
        <a:lstStyle/>
        <a:p>
          <a:r>
            <a:rPr lang="zh-TW" altLang="en-US" sz="1600" dirty="0" smtClean="0">
              <a:latin typeface="Calibri" pitchFamily="34" charset="0"/>
            </a:rPr>
            <a:t>攻擊者如果找到一些</a:t>
          </a:r>
          <a:r>
            <a:rPr lang="zh-TW" altLang="en-US" sz="1600" dirty="0" smtClean="0">
              <a:solidFill>
                <a:srgbClr val="FF0000"/>
              </a:solidFill>
              <a:latin typeface="Calibri" pitchFamily="34" charset="0"/>
            </a:rPr>
            <a:t>原文與密文的對照</a:t>
          </a:r>
          <a:r>
            <a:rPr lang="zh-TW" altLang="en-US" sz="1600" dirty="0" smtClean="0">
              <a:latin typeface="Calibri" pitchFamily="34" charset="0"/>
            </a:rPr>
            <a:t>，破解加密法就容易多了。這個方法幫助破解二次大戰的德國加密機器</a:t>
          </a:r>
          <a:r>
            <a:rPr lang="zh-TW" altLang="en-US" sz="1600" dirty="0" smtClean="0">
              <a:latin typeface="Calibri" pitchFamily="34" charset="0"/>
              <a:ea typeface="微軟正黑體"/>
            </a:rPr>
            <a:t>「謎」。</a:t>
          </a:r>
          <a:r>
            <a:rPr lang="zh-TW" altLang="en-US" sz="1600" dirty="0" smtClean="0">
              <a:latin typeface="Calibri" pitchFamily="34" charset="0"/>
            </a:rPr>
            <a:t>例如大部分電子郵件內容的前四個字母都是 </a:t>
          </a:r>
          <a:r>
            <a:rPr lang="en-US" altLang="zh-TW" sz="1600" dirty="0" smtClean="0">
              <a:latin typeface="Calibri" pitchFamily="34" charset="0"/>
            </a:rPr>
            <a:t>”dear”</a:t>
          </a:r>
          <a:r>
            <a:rPr lang="zh-TW" altLang="en-US" sz="1600" dirty="0" smtClean="0">
              <a:latin typeface="Calibri" pitchFamily="34" charset="0"/>
            </a:rPr>
            <a:t>。</a:t>
          </a:r>
          <a:endParaRPr lang="zh-TW" altLang="en-US" sz="1600" dirty="0">
            <a:latin typeface="Calibri" pitchFamily="34" charset="0"/>
          </a:endParaRPr>
        </a:p>
      </dgm:t>
    </dgm:pt>
    <dgm:pt modelId="{17CDC17A-93AF-4BBD-BA99-E4B337545E49}" type="parTrans" cxnId="{94ACF062-E49D-4F7F-9D5D-1BE399DEF2CA}">
      <dgm:prSet/>
      <dgm:spPr/>
      <dgm:t>
        <a:bodyPr/>
        <a:lstStyle/>
        <a:p>
          <a:endParaRPr lang="zh-TW" altLang="en-US">
            <a:latin typeface="Calibri" pitchFamily="34" charset="0"/>
          </a:endParaRPr>
        </a:p>
      </dgm:t>
    </dgm:pt>
    <dgm:pt modelId="{2C70940C-22BC-4989-94C2-CDA8D308F777}" type="sibTrans" cxnId="{94ACF062-E49D-4F7F-9D5D-1BE399DEF2CA}">
      <dgm:prSet/>
      <dgm:spPr/>
      <dgm:t>
        <a:bodyPr/>
        <a:lstStyle/>
        <a:p>
          <a:endParaRPr lang="zh-TW" altLang="en-US">
            <a:latin typeface="Calibri" pitchFamily="34" charset="0"/>
          </a:endParaRPr>
        </a:p>
      </dgm:t>
    </dgm:pt>
    <dgm:pt modelId="{F43D7813-D9CF-4A54-82D5-A50FF552259F}">
      <dgm:prSet phldrT="[文字]" custT="1"/>
      <dgm:spPr/>
      <dgm:t>
        <a:bodyPr/>
        <a:lstStyle/>
        <a:p>
          <a:r>
            <a:rPr lang="zh-TW" altLang="en-US" sz="2000" dirty="0" smtClean="0">
              <a:latin typeface="Calibri" pitchFamily="34" charset="0"/>
            </a:rPr>
            <a:t>選擇原文 </a:t>
          </a:r>
          <a:r>
            <a:rPr lang="en-US" altLang="zh-TW" sz="2000" dirty="0" smtClean="0">
              <a:latin typeface="Calibri" pitchFamily="34" charset="0"/>
            </a:rPr>
            <a:t>(chosen-plaintext)</a:t>
          </a:r>
          <a:endParaRPr lang="zh-TW" altLang="en-US" sz="2000" dirty="0">
            <a:latin typeface="Calibri" pitchFamily="34" charset="0"/>
          </a:endParaRPr>
        </a:p>
      </dgm:t>
    </dgm:pt>
    <dgm:pt modelId="{6FDBE6FD-97D1-41AD-9767-4788B87A5282}" type="parTrans" cxnId="{042E0E20-081A-4603-BA7A-3CDD97A6E9FF}">
      <dgm:prSet/>
      <dgm:spPr/>
      <dgm:t>
        <a:bodyPr/>
        <a:lstStyle/>
        <a:p>
          <a:endParaRPr lang="zh-TW" altLang="en-US">
            <a:latin typeface="Calibri" pitchFamily="34" charset="0"/>
          </a:endParaRPr>
        </a:p>
      </dgm:t>
    </dgm:pt>
    <dgm:pt modelId="{348703B6-B441-4978-89E7-35A849F866A0}" type="sibTrans" cxnId="{042E0E20-081A-4603-BA7A-3CDD97A6E9FF}">
      <dgm:prSet/>
      <dgm:spPr/>
      <dgm:t>
        <a:bodyPr/>
        <a:lstStyle/>
        <a:p>
          <a:endParaRPr lang="zh-TW" altLang="en-US">
            <a:latin typeface="Calibri" pitchFamily="34" charset="0"/>
          </a:endParaRPr>
        </a:p>
      </dgm:t>
    </dgm:pt>
    <dgm:pt modelId="{491B7963-4443-4D01-8358-0074EC746A1E}">
      <dgm:prSet phldrT="[文字]" custT="1"/>
      <dgm:spPr/>
      <dgm:t>
        <a:bodyPr/>
        <a:lstStyle/>
        <a:p>
          <a:r>
            <a:rPr lang="zh-TW" altLang="en-US" sz="2000" dirty="0" smtClean="0">
              <a:latin typeface="Calibri" pitchFamily="34" charset="0"/>
            </a:rPr>
            <a:t>選擇密文 </a:t>
          </a:r>
          <a:r>
            <a:rPr lang="en-US" altLang="zh-TW" sz="2000" dirty="0" smtClean="0">
              <a:latin typeface="Calibri" pitchFamily="34" charset="0"/>
            </a:rPr>
            <a:t>(chosen </a:t>
          </a:r>
          <a:r>
            <a:rPr lang="en-US" altLang="zh-TW" sz="2000" dirty="0" err="1" smtClean="0">
              <a:latin typeface="Calibri" pitchFamily="34" charset="0"/>
            </a:rPr>
            <a:t>ciphertext</a:t>
          </a:r>
          <a:r>
            <a:rPr lang="en-US" altLang="zh-TW" sz="2000" dirty="0" smtClean="0">
              <a:latin typeface="Calibri" pitchFamily="34" charset="0"/>
            </a:rPr>
            <a:t>)</a:t>
          </a:r>
          <a:endParaRPr lang="zh-TW" altLang="en-US" sz="2000" dirty="0">
            <a:latin typeface="Calibri" pitchFamily="34" charset="0"/>
          </a:endParaRPr>
        </a:p>
      </dgm:t>
    </dgm:pt>
    <dgm:pt modelId="{228D94D0-B4CA-462A-ADA3-96CEE5AB338C}" type="parTrans" cxnId="{C8E28D8A-FDC2-41AF-AF07-BA8339395849}">
      <dgm:prSet/>
      <dgm:spPr/>
      <dgm:t>
        <a:bodyPr/>
        <a:lstStyle/>
        <a:p>
          <a:endParaRPr lang="zh-TW" altLang="en-US">
            <a:latin typeface="Calibri" pitchFamily="34" charset="0"/>
          </a:endParaRPr>
        </a:p>
      </dgm:t>
    </dgm:pt>
    <dgm:pt modelId="{6A0BD004-033A-4CD6-AED0-7FCC4C06C616}" type="sibTrans" cxnId="{C8E28D8A-FDC2-41AF-AF07-BA8339395849}">
      <dgm:prSet/>
      <dgm:spPr/>
      <dgm:t>
        <a:bodyPr/>
        <a:lstStyle/>
        <a:p>
          <a:endParaRPr lang="zh-TW" altLang="en-US">
            <a:latin typeface="Calibri" pitchFamily="34" charset="0"/>
          </a:endParaRPr>
        </a:p>
      </dgm:t>
    </dgm:pt>
    <dgm:pt modelId="{D9C31FC6-5AE7-40F7-B6F7-966D0237A473}">
      <dgm:prSet phldrT="[文字]" custT="1"/>
      <dgm:spPr/>
      <dgm:t>
        <a:bodyPr/>
        <a:lstStyle/>
        <a:p>
          <a:r>
            <a:rPr lang="zh-TW" altLang="en-US" sz="1600" dirty="0" smtClean="0">
              <a:latin typeface="Calibri" pitchFamily="34" charset="0"/>
            </a:rPr>
            <a:t>是指攻擊者發出原文，隨即取得密文。例如發一封電子郵件給對方，內容</a:t>
          </a:r>
          <a:r>
            <a:rPr lang="zh-TW" altLang="en-US" sz="1600" dirty="0" smtClean="0">
              <a:solidFill>
                <a:srgbClr val="FF0000"/>
              </a:solidFill>
              <a:latin typeface="Calibri" pitchFamily="34" charset="0"/>
            </a:rPr>
            <a:t>誘使</a:t>
          </a:r>
          <a:r>
            <a:rPr lang="zh-TW" altLang="en-US" sz="1600" dirty="0" smtClean="0">
              <a:latin typeface="Calibri" pitchFamily="34" charset="0"/>
            </a:rPr>
            <a:t>收信人將之加密後轉發出去，如此就可以攔截到整篇的密文。</a:t>
          </a:r>
          <a:endParaRPr lang="zh-TW" altLang="en-US" sz="1600" dirty="0">
            <a:latin typeface="Calibri" pitchFamily="34" charset="0"/>
          </a:endParaRPr>
        </a:p>
      </dgm:t>
    </dgm:pt>
    <dgm:pt modelId="{10D3AF8C-EBE2-449E-8DEF-055991ACB2B0}" type="parTrans" cxnId="{C50486FE-6BC2-43F3-A491-A55776C4ABBB}">
      <dgm:prSet/>
      <dgm:spPr/>
      <dgm:t>
        <a:bodyPr/>
        <a:lstStyle/>
        <a:p>
          <a:endParaRPr lang="zh-TW" altLang="en-US">
            <a:latin typeface="Calibri" pitchFamily="34" charset="0"/>
          </a:endParaRPr>
        </a:p>
      </dgm:t>
    </dgm:pt>
    <dgm:pt modelId="{C479B347-08C6-45B7-83C4-FBADBE449C4B}" type="sibTrans" cxnId="{C50486FE-6BC2-43F3-A491-A55776C4ABBB}">
      <dgm:prSet/>
      <dgm:spPr/>
      <dgm:t>
        <a:bodyPr/>
        <a:lstStyle/>
        <a:p>
          <a:endParaRPr lang="zh-TW" altLang="en-US">
            <a:latin typeface="Calibri" pitchFamily="34" charset="0"/>
          </a:endParaRPr>
        </a:p>
      </dgm:t>
    </dgm:pt>
    <dgm:pt modelId="{A7C11F7A-B44F-4D25-93F5-D618D2C472E0}">
      <dgm:prSet phldrT="[文字]" custT="1"/>
      <dgm:spPr/>
      <dgm:t>
        <a:bodyPr/>
        <a:lstStyle/>
        <a:p>
          <a:r>
            <a:rPr lang="zh-TW" altLang="en-US" sz="1600" dirty="0" smtClean="0">
              <a:latin typeface="Calibri" pitchFamily="34" charset="0"/>
            </a:rPr>
            <a:t>與選擇原文相反的方法。有些人收到加密電子郵件，回覆時將原信做附件，卻未加密。所以有機會從密文取得原文。</a:t>
          </a:r>
          <a:endParaRPr lang="zh-TW" altLang="en-US" sz="1600" dirty="0">
            <a:latin typeface="Calibri" pitchFamily="34" charset="0"/>
          </a:endParaRPr>
        </a:p>
      </dgm:t>
    </dgm:pt>
    <dgm:pt modelId="{02A4BFCE-54DD-40D7-8C62-05F676AF96ED}" type="parTrans" cxnId="{CF8BA69A-D990-48EF-B7D9-F923B8A1B079}">
      <dgm:prSet/>
      <dgm:spPr/>
      <dgm:t>
        <a:bodyPr/>
        <a:lstStyle/>
        <a:p>
          <a:endParaRPr lang="zh-TW" altLang="en-US">
            <a:latin typeface="Calibri" pitchFamily="34" charset="0"/>
          </a:endParaRPr>
        </a:p>
      </dgm:t>
    </dgm:pt>
    <dgm:pt modelId="{36673874-8B6C-497E-B5B3-B82A35B92A3B}" type="sibTrans" cxnId="{CF8BA69A-D990-48EF-B7D9-F923B8A1B079}">
      <dgm:prSet/>
      <dgm:spPr/>
      <dgm:t>
        <a:bodyPr/>
        <a:lstStyle/>
        <a:p>
          <a:endParaRPr lang="zh-TW" altLang="en-US">
            <a:latin typeface="Calibri" pitchFamily="34" charset="0"/>
          </a:endParaRPr>
        </a:p>
      </dgm:t>
    </dgm:pt>
    <dgm:pt modelId="{14BD4EC5-0CA8-47DC-832F-1C6C154217BC}" type="pres">
      <dgm:prSet presAssocID="{72892ECF-E7F1-457F-AAFE-04F5D7EEC8D5}" presName="linear" presStyleCnt="0">
        <dgm:presLayoutVars>
          <dgm:animLvl val="lvl"/>
          <dgm:resizeHandles val="exact"/>
        </dgm:presLayoutVars>
      </dgm:prSet>
      <dgm:spPr/>
      <dgm:t>
        <a:bodyPr/>
        <a:lstStyle/>
        <a:p>
          <a:endParaRPr lang="zh-TW" altLang="en-US"/>
        </a:p>
      </dgm:t>
    </dgm:pt>
    <dgm:pt modelId="{32E0D419-0A45-4BC5-A8A7-AE9853096CE9}" type="pres">
      <dgm:prSet presAssocID="{9760A99D-833B-44FC-8D93-11A01347F5B3}" presName="parentText" presStyleLbl="node1" presStyleIdx="0" presStyleCnt="4">
        <dgm:presLayoutVars>
          <dgm:chMax val="0"/>
          <dgm:bulletEnabled val="1"/>
        </dgm:presLayoutVars>
      </dgm:prSet>
      <dgm:spPr/>
      <dgm:t>
        <a:bodyPr/>
        <a:lstStyle/>
        <a:p>
          <a:endParaRPr lang="zh-TW" altLang="en-US"/>
        </a:p>
      </dgm:t>
    </dgm:pt>
    <dgm:pt modelId="{C201FB7D-887E-4ED1-A03A-24F6347B9B57}" type="pres">
      <dgm:prSet presAssocID="{9760A99D-833B-44FC-8D93-11A01347F5B3}" presName="childText" presStyleLbl="revTx" presStyleIdx="0" presStyleCnt="4">
        <dgm:presLayoutVars>
          <dgm:bulletEnabled val="1"/>
        </dgm:presLayoutVars>
      </dgm:prSet>
      <dgm:spPr/>
      <dgm:t>
        <a:bodyPr/>
        <a:lstStyle/>
        <a:p>
          <a:endParaRPr lang="zh-TW" altLang="en-US"/>
        </a:p>
      </dgm:t>
    </dgm:pt>
    <dgm:pt modelId="{BC17C0DF-E757-4E1B-971D-A5B922F0EFCD}" type="pres">
      <dgm:prSet presAssocID="{DC82CB99-D0B0-49E0-81CC-E97C2B3B24CD}" presName="parentText" presStyleLbl="node1" presStyleIdx="1" presStyleCnt="4">
        <dgm:presLayoutVars>
          <dgm:chMax val="0"/>
          <dgm:bulletEnabled val="1"/>
        </dgm:presLayoutVars>
      </dgm:prSet>
      <dgm:spPr/>
      <dgm:t>
        <a:bodyPr/>
        <a:lstStyle/>
        <a:p>
          <a:endParaRPr lang="zh-TW" altLang="en-US"/>
        </a:p>
      </dgm:t>
    </dgm:pt>
    <dgm:pt modelId="{872AFCDF-EB6B-4B9B-9A3C-CBAA31D97311}" type="pres">
      <dgm:prSet presAssocID="{DC82CB99-D0B0-49E0-81CC-E97C2B3B24CD}" presName="childText" presStyleLbl="revTx" presStyleIdx="1" presStyleCnt="4">
        <dgm:presLayoutVars>
          <dgm:bulletEnabled val="1"/>
        </dgm:presLayoutVars>
      </dgm:prSet>
      <dgm:spPr/>
      <dgm:t>
        <a:bodyPr/>
        <a:lstStyle/>
        <a:p>
          <a:endParaRPr lang="zh-TW" altLang="en-US"/>
        </a:p>
      </dgm:t>
    </dgm:pt>
    <dgm:pt modelId="{77E2C334-B4DC-4C39-BF25-183D8C3F1B1F}" type="pres">
      <dgm:prSet presAssocID="{F43D7813-D9CF-4A54-82D5-A50FF552259F}" presName="parentText" presStyleLbl="node1" presStyleIdx="2" presStyleCnt="4">
        <dgm:presLayoutVars>
          <dgm:chMax val="0"/>
          <dgm:bulletEnabled val="1"/>
        </dgm:presLayoutVars>
      </dgm:prSet>
      <dgm:spPr/>
      <dgm:t>
        <a:bodyPr/>
        <a:lstStyle/>
        <a:p>
          <a:endParaRPr lang="zh-TW" altLang="en-US"/>
        </a:p>
      </dgm:t>
    </dgm:pt>
    <dgm:pt modelId="{F08A68D9-1A0B-4814-A425-F650FA4564A2}" type="pres">
      <dgm:prSet presAssocID="{F43D7813-D9CF-4A54-82D5-A50FF552259F}" presName="childText" presStyleLbl="revTx" presStyleIdx="2" presStyleCnt="4">
        <dgm:presLayoutVars>
          <dgm:bulletEnabled val="1"/>
        </dgm:presLayoutVars>
      </dgm:prSet>
      <dgm:spPr/>
      <dgm:t>
        <a:bodyPr/>
        <a:lstStyle/>
        <a:p>
          <a:endParaRPr lang="zh-TW" altLang="en-US"/>
        </a:p>
      </dgm:t>
    </dgm:pt>
    <dgm:pt modelId="{373DA092-B7C7-4BE7-9D23-B8C78A5F55F1}" type="pres">
      <dgm:prSet presAssocID="{491B7963-4443-4D01-8358-0074EC746A1E}" presName="parentText" presStyleLbl="node1" presStyleIdx="3" presStyleCnt="4">
        <dgm:presLayoutVars>
          <dgm:chMax val="0"/>
          <dgm:bulletEnabled val="1"/>
        </dgm:presLayoutVars>
      </dgm:prSet>
      <dgm:spPr/>
      <dgm:t>
        <a:bodyPr/>
        <a:lstStyle/>
        <a:p>
          <a:endParaRPr lang="zh-TW" altLang="en-US"/>
        </a:p>
      </dgm:t>
    </dgm:pt>
    <dgm:pt modelId="{5B341043-AEB0-4EE4-8BEB-CC1EF20A2637}" type="pres">
      <dgm:prSet presAssocID="{491B7963-4443-4D01-8358-0074EC746A1E}" presName="childText" presStyleLbl="revTx" presStyleIdx="3" presStyleCnt="4">
        <dgm:presLayoutVars>
          <dgm:bulletEnabled val="1"/>
        </dgm:presLayoutVars>
      </dgm:prSet>
      <dgm:spPr/>
      <dgm:t>
        <a:bodyPr/>
        <a:lstStyle/>
        <a:p>
          <a:endParaRPr lang="zh-TW" altLang="en-US"/>
        </a:p>
      </dgm:t>
    </dgm:pt>
  </dgm:ptLst>
  <dgm:cxnLst>
    <dgm:cxn modelId="{48A4BCAC-BF44-478A-A7A5-556A406B6321}" type="presOf" srcId="{DC82CB99-D0B0-49E0-81CC-E97C2B3B24CD}" destId="{BC17C0DF-E757-4E1B-971D-A5B922F0EFCD}" srcOrd="0" destOrd="0" presId="urn:microsoft.com/office/officeart/2005/8/layout/vList2"/>
    <dgm:cxn modelId="{BC8108ED-E2FC-4F67-9628-A71DA454FF85}" srcId="{72892ECF-E7F1-457F-AAFE-04F5D7EEC8D5}" destId="{DC82CB99-D0B0-49E0-81CC-E97C2B3B24CD}" srcOrd="1" destOrd="0" parTransId="{D07AA9B1-A197-4558-838C-B7B6ABE2C4D6}" sibTransId="{45C1D871-A679-4BE3-8401-EA6CF5EBB2AE}"/>
    <dgm:cxn modelId="{CF8BA69A-D990-48EF-B7D9-F923B8A1B079}" srcId="{491B7963-4443-4D01-8358-0074EC746A1E}" destId="{A7C11F7A-B44F-4D25-93F5-D618D2C472E0}" srcOrd="0" destOrd="0" parTransId="{02A4BFCE-54DD-40D7-8C62-05F676AF96ED}" sibTransId="{36673874-8B6C-497E-B5B3-B82A35B92A3B}"/>
    <dgm:cxn modelId="{3C30E26B-1078-4169-AF14-5D03E74AE64F}" type="presOf" srcId="{F43D7813-D9CF-4A54-82D5-A50FF552259F}" destId="{77E2C334-B4DC-4C39-BF25-183D8C3F1B1F}" srcOrd="0" destOrd="0" presId="urn:microsoft.com/office/officeart/2005/8/layout/vList2"/>
    <dgm:cxn modelId="{E7985431-4A8B-4637-83F1-4AE801C702AF}" type="presOf" srcId="{94953EAB-0C57-4090-AA9D-1C58E5B2B08F}" destId="{C201FB7D-887E-4ED1-A03A-24F6347B9B57}" srcOrd="0" destOrd="0" presId="urn:microsoft.com/office/officeart/2005/8/layout/vList2"/>
    <dgm:cxn modelId="{C50486FE-6BC2-43F3-A491-A55776C4ABBB}" srcId="{F43D7813-D9CF-4A54-82D5-A50FF552259F}" destId="{D9C31FC6-5AE7-40F7-B6F7-966D0237A473}" srcOrd="0" destOrd="0" parTransId="{10D3AF8C-EBE2-449E-8DEF-055991ACB2B0}" sibTransId="{C479B347-08C6-45B7-83C4-FBADBE449C4B}"/>
    <dgm:cxn modelId="{573B0A1B-2802-47E5-A0B5-61B090DDC0CA}" type="presOf" srcId="{A7C11F7A-B44F-4D25-93F5-D618D2C472E0}" destId="{5B341043-AEB0-4EE4-8BEB-CC1EF20A2637}" srcOrd="0" destOrd="0" presId="urn:microsoft.com/office/officeart/2005/8/layout/vList2"/>
    <dgm:cxn modelId="{01C286FB-6DCA-444C-8E20-233C8D5FF816}" srcId="{9760A99D-833B-44FC-8D93-11A01347F5B3}" destId="{94953EAB-0C57-4090-AA9D-1C58E5B2B08F}" srcOrd="0" destOrd="0" parTransId="{2DBD1B08-2C95-4130-ADE4-903AAA8592C7}" sibTransId="{88F2C758-2C58-481A-9D0E-5B79ED9D1A4B}"/>
    <dgm:cxn modelId="{C8E28D8A-FDC2-41AF-AF07-BA8339395849}" srcId="{72892ECF-E7F1-457F-AAFE-04F5D7EEC8D5}" destId="{491B7963-4443-4D01-8358-0074EC746A1E}" srcOrd="3" destOrd="0" parTransId="{228D94D0-B4CA-462A-ADA3-96CEE5AB338C}" sibTransId="{6A0BD004-033A-4CD6-AED0-7FCC4C06C616}"/>
    <dgm:cxn modelId="{94ACF062-E49D-4F7F-9D5D-1BE399DEF2CA}" srcId="{DC82CB99-D0B0-49E0-81CC-E97C2B3B24CD}" destId="{42B4763F-D89B-418B-81B5-AA6D6ABEC96B}" srcOrd="0" destOrd="0" parTransId="{17CDC17A-93AF-4BBD-BA99-E4B337545E49}" sibTransId="{2C70940C-22BC-4989-94C2-CDA8D308F777}"/>
    <dgm:cxn modelId="{042E0E20-081A-4603-BA7A-3CDD97A6E9FF}" srcId="{72892ECF-E7F1-457F-AAFE-04F5D7EEC8D5}" destId="{F43D7813-D9CF-4A54-82D5-A50FF552259F}" srcOrd="2" destOrd="0" parTransId="{6FDBE6FD-97D1-41AD-9767-4788B87A5282}" sibTransId="{348703B6-B441-4978-89E7-35A849F866A0}"/>
    <dgm:cxn modelId="{49B22E50-3019-4144-84CF-B9F3009FD4BD}" type="presOf" srcId="{42B4763F-D89B-418B-81B5-AA6D6ABEC96B}" destId="{872AFCDF-EB6B-4B9B-9A3C-CBAA31D97311}" srcOrd="0" destOrd="0" presId="urn:microsoft.com/office/officeart/2005/8/layout/vList2"/>
    <dgm:cxn modelId="{18A748D7-A6F6-48B6-86A1-DFC43F6A8606}" type="presOf" srcId="{D9C31FC6-5AE7-40F7-B6F7-966D0237A473}" destId="{F08A68D9-1A0B-4814-A425-F650FA4564A2}" srcOrd="0" destOrd="0" presId="urn:microsoft.com/office/officeart/2005/8/layout/vList2"/>
    <dgm:cxn modelId="{5A1C8A40-A22D-418A-90F8-BE6A3D6F5F2D}" type="presOf" srcId="{491B7963-4443-4D01-8358-0074EC746A1E}" destId="{373DA092-B7C7-4BE7-9D23-B8C78A5F55F1}" srcOrd="0" destOrd="0" presId="urn:microsoft.com/office/officeart/2005/8/layout/vList2"/>
    <dgm:cxn modelId="{65FC3B02-F311-4450-AB41-19106E3E6E46}" srcId="{72892ECF-E7F1-457F-AAFE-04F5D7EEC8D5}" destId="{9760A99D-833B-44FC-8D93-11A01347F5B3}" srcOrd="0" destOrd="0" parTransId="{1FF4B6F4-FA7C-4D33-91AD-DE191E517E91}" sibTransId="{1E972782-DE9C-4B4C-ACB5-CB7AFACEAB81}"/>
    <dgm:cxn modelId="{A67C63FF-E398-4E99-87AB-3156782FF26F}" type="presOf" srcId="{9760A99D-833B-44FC-8D93-11A01347F5B3}" destId="{32E0D419-0A45-4BC5-A8A7-AE9853096CE9}" srcOrd="0" destOrd="0" presId="urn:microsoft.com/office/officeart/2005/8/layout/vList2"/>
    <dgm:cxn modelId="{F56F695B-7955-4110-9347-5E59BD2EC1D6}" type="presOf" srcId="{72892ECF-E7F1-457F-AAFE-04F5D7EEC8D5}" destId="{14BD4EC5-0CA8-47DC-832F-1C6C154217BC}" srcOrd="0" destOrd="0" presId="urn:microsoft.com/office/officeart/2005/8/layout/vList2"/>
    <dgm:cxn modelId="{6FBF3C75-2CCE-4470-ACB5-DB2429269D49}" type="presParOf" srcId="{14BD4EC5-0CA8-47DC-832F-1C6C154217BC}" destId="{32E0D419-0A45-4BC5-A8A7-AE9853096CE9}" srcOrd="0" destOrd="0" presId="urn:microsoft.com/office/officeart/2005/8/layout/vList2"/>
    <dgm:cxn modelId="{2FE0BBA3-149C-4BD2-A062-E2FE679059A8}" type="presParOf" srcId="{14BD4EC5-0CA8-47DC-832F-1C6C154217BC}" destId="{C201FB7D-887E-4ED1-A03A-24F6347B9B57}" srcOrd="1" destOrd="0" presId="urn:microsoft.com/office/officeart/2005/8/layout/vList2"/>
    <dgm:cxn modelId="{C11F6BD6-95DC-42DE-99C4-3BB75F3C0FA7}" type="presParOf" srcId="{14BD4EC5-0CA8-47DC-832F-1C6C154217BC}" destId="{BC17C0DF-E757-4E1B-971D-A5B922F0EFCD}" srcOrd="2" destOrd="0" presId="urn:microsoft.com/office/officeart/2005/8/layout/vList2"/>
    <dgm:cxn modelId="{FC7A73D1-DF4F-46CE-87F7-ABB37C1643CB}" type="presParOf" srcId="{14BD4EC5-0CA8-47DC-832F-1C6C154217BC}" destId="{872AFCDF-EB6B-4B9B-9A3C-CBAA31D97311}" srcOrd="3" destOrd="0" presId="urn:microsoft.com/office/officeart/2005/8/layout/vList2"/>
    <dgm:cxn modelId="{E5698B1B-3679-4308-894E-C8C860802008}" type="presParOf" srcId="{14BD4EC5-0CA8-47DC-832F-1C6C154217BC}" destId="{77E2C334-B4DC-4C39-BF25-183D8C3F1B1F}" srcOrd="4" destOrd="0" presId="urn:microsoft.com/office/officeart/2005/8/layout/vList2"/>
    <dgm:cxn modelId="{421AF241-CAA9-425B-862A-B28ED4DA81B1}" type="presParOf" srcId="{14BD4EC5-0CA8-47DC-832F-1C6C154217BC}" destId="{F08A68D9-1A0B-4814-A425-F650FA4564A2}" srcOrd="5" destOrd="0" presId="urn:microsoft.com/office/officeart/2005/8/layout/vList2"/>
    <dgm:cxn modelId="{79542762-3AB9-4BF3-9B87-021D9B7EF07A}" type="presParOf" srcId="{14BD4EC5-0CA8-47DC-832F-1C6C154217BC}" destId="{373DA092-B7C7-4BE7-9D23-B8C78A5F55F1}" srcOrd="6" destOrd="0" presId="urn:microsoft.com/office/officeart/2005/8/layout/vList2"/>
    <dgm:cxn modelId="{37A4D50D-3E9D-4101-90EB-D6A99840B189}" type="presParOf" srcId="{14BD4EC5-0CA8-47DC-832F-1C6C154217BC}" destId="{5B341043-AEB0-4EE4-8BEB-CC1EF20A2637}"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FC1396-1AEF-4630-A134-2701F90158A0}">
      <dsp:nvSpPr>
        <dsp:cNvPr id="0" name=""/>
        <dsp:cNvSpPr/>
      </dsp:nvSpPr>
      <dsp:spPr>
        <a:xfrm>
          <a:off x="0" y="431240"/>
          <a:ext cx="8215313" cy="1151325"/>
        </a:xfrm>
        <a:prstGeom prst="rect">
          <a:avLst/>
        </a:prstGeom>
        <a:solidFill>
          <a:schemeClr val="lt1">
            <a:alpha val="90000"/>
            <a:hueOff val="0"/>
            <a:satOff val="0"/>
            <a:lumOff val="0"/>
            <a:alphaOff val="0"/>
          </a:schemeClr>
        </a:solidFill>
        <a:ln w="400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7600" tIns="354076" rIns="637600" bIns="120904" numCol="1" spcCol="1270" anchor="t" anchorCtr="0">
          <a:noAutofit/>
        </a:bodyPr>
        <a:lstStyle/>
        <a:p>
          <a:pPr marL="171450" lvl="1" indent="-171450" algn="l" defTabSz="755650">
            <a:lnSpc>
              <a:spcPct val="90000"/>
            </a:lnSpc>
            <a:spcBef>
              <a:spcPct val="0"/>
            </a:spcBef>
            <a:spcAft>
              <a:spcPct val="15000"/>
            </a:spcAft>
            <a:buChar char="••"/>
          </a:pPr>
          <a:r>
            <a:rPr lang="zh-TW" altLang="en-US" sz="1700" kern="1200" dirty="0" smtClean="0"/>
            <a:t>是指</a:t>
          </a:r>
          <a:r>
            <a:rPr lang="zh-TW" altLang="en-US" sz="1700" kern="1200" dirty="0" smtClean="0">
              <a:solidFill>
                <a:srgbClr val="FF0000"/>
              </a:solidFill>
            </a:rPr>
            <a:t>重複地以不同的金鑰來嘗試破譯密文</a:t>
          </a:r>
          <a:r>
            <a:rPr lang="zh-TW" altLang="en-US" sz="1700" kern="1200" dirty="0" smtClean="0"/>
            <a:t>，攻擊對象可能是金鑰或是通關密碼。</a:t>
          </a:r>
          <a:r>
            <a:rPr lang="zh-TW" altLang="en-US" sz="1700" kern="1200" dirty="0" smtClean="0">
              <a:solidFill>
                <a:srgbClr val="0000FF"/>
              </a:solidFill>
            </a:rPr>
            <a:t>因此選用較長且較複雜的金鑰與密碼會使攻擊更難成功</a:t>
          </a:r>
          <a:r>
            <a:rPr lang="zh-TW" altLang="en-US" sz="1700" kern="1200" dirty="0" smtClean="0"/>
            <a:t>。</a:t>
          </a:r>
          <a:endParaRPr lang="zh-TW" altLang="en-US" sz="1700" kern="1200" dirty="0"/>
        </a:p>
      </dsp:txBody>
      <dsp:txXfrm>
        <a:off x="0" y="431240"/>
        <a:ext cx="8215313" cy="1151325"/>
      </dsp:txXfrm>
    </dsp:sp>
    <dsp:sp modelId="{F226433E-AE43-4092-9C6C-B83EDF74E5A5}">
      <dsp:nvSpPr>
        <dsp:cNvPr id="0" name=""/>
        <dsp:cNvSpPr/>
      </dsp:nvSpPr>
      <dsp:spPr>
        <a:xfrm>
          <a:off x="410765" y="180320"/>
          <a:ext cx="5750719" cy="501840"/>
        </a:xfrm>
        <a:prstGeom prst="roundRect">
          <a:avLst/>
        </a:prstGeom>
        <a:solidFill>
          <a:schemeClr val="accent1">
            <a:hueOff val="0"/>
            <a:satOff val="0"/>
            <a:lumOff val="0"/>
            <a:alphaOff val="0"/>
          </a:schemeClr>
        </a:solidFill>
        <a:ln w="400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7363" tIns="0" rIns="217363" bIns="0" numCol="1" spcCol="1270" anchor="ctr" anchorCtr="0">
          <a:noAutofit/>
        </a:bodyPr>
        <a:lstStyle/>
        <a:p>
          <a:pPr lvl="0" algn="l" defTabSz="889000">
            <a:lnSpc>
              <a:spcPct val="90000"/>
            </a:lnSpc>
            <a:spcBef>
              <a:spcPct val="0"/>
            </a:spcBef>
            <a:spcAft>
              <a:spcPct val="35000"/>
            </a:spcAft>
          </a:pPr>
          <a:r>
            <a:rPr lang="zh-TW" altLang="en-US" sz="2000" kern="1200" dirty="0" smtClean="0"/>
            <a:t>攻擊金鑰</a:t>
          </a:r>
          <a:endParaRPr lang="zh-TW" altLang="en-US" sz="2000" kern="1200" dirty="0"/>
        </a:p>
      </dsp:txBody>
      <dsp:txXfrm>
        <a:off x="435263" y="204818"/>
        <a:ext cx="5701723" cy="452844"/>
      </dsp:txXfrm>
    </dsp:sp>
    <dsp:sp modelId="{6BDD7DF0-75F2-4833-9DC2-5217ECDA4E96}">
      <dsp:nvSpPr>
        <dsp:cNvPr id="0" name=""/>
        <dsp:cNvSpPr/>
      </dsp:nvSpPr>
      <dsp:spPr>
        <a:xfrm>
          <a:off x="0" y="1925285"/>
          <a:ext cx="8215313" cy="1151325"/>
        </a:xfrm>
        <a:prstGeom prst="rect">
          <a:avLst/>
        </a:prstGeom>
        <a:solidFill>
          <a:schemeClr val="lt1">
            <a:alpha val="90000"/>
            <a:hueOff val="0"/>
            <a:satOff val="0"/>
            <a:lumOff val="0"/>
            <a:alphaOff val="0"/>
          </a:schemeClr>
        </a:solidFill>
        <a:ln w="400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7600" tIns="354076" rIns="637600" bIns="120904" numCol="1" spcCol="1270" anchor="t" anchorCtr="0">
          <a:noAutofit/>
        </a:bodyPr>
        <a:lstStyle/>
        <a:p>
          <a:pPr marL="171450" lvl="1" indent="-171450" algn="l" defTabSz="755650">
            <a:lnSpc>
              <a:spcPct val="90000"/>
            </a:lnSpc>
            <a:spcBef>
              <a:spcPct val="0"/>
            </a:spcBef>
            <a:spcAft>
              <a:spcPct val="15000"/>
            </a:spcAft>
            <a:buChar char="••"/>
          </a:pPr>
          <a:r>
            <a:rPr lang="zh-TW" altLang="en-US" sz="1700" kern="1200" dirty="0" smtClean="0">
              <a:solidFill>
                <a:srgbClr val="FF0000"/>
              </a:solidFill>
            </a:rPr>
            <a:t>許多加密算法有弱點</a:t>
          </a:r>
          <a:r>
            <a:rPr lang="zh-TW" altLang="en-US" sz="1700" kern="1200" dirty="0" smtClean="0"/>
            <a:t>，如果被發現會嚴重地影響系統安全。許多看似複雜的算法，都可以用數學模型或統計分析方法找出弱點。</a:t>
          </a:r>
          <a:endParaRPr lang="zh-TW" altLang="en-US" sz="1700" kern="1200" dirty="0"/>
        </a:p>
      </dsp:txBody>
      <dsp:txXfrm>
        <a:off x="0" y="1925285"/>
        <a:ext cx="8215313" cy="1151325"/>
      </dsp:txXfrm>
    </dsp:sp>
    <dsp:sp modelId="{31901F2E-6E9F-4975-A909-0596D34CFF96}">
      <dsp:nvSpPr>
        <dsp:cNvPr id="0" name=""/>
        <dsp:cNvSpPr/>
      </dsp:nvSpPr>
      <dsp:spPr>
        <a:xfrm>
          <a:off x="410765" y="1674365"/>
          <a:ext cx="5750719" cy="501840"/>
        </a:xfrm>
        <a:prstGeom prst="roundRect">
          <a:avLst/>
        </a:prstGeom>
        <a:solidFill>
          <a:schemeClr val="accent1">
            <a:hueOff val="0"/>
            <a:satOff val="0"/>
            <a:lumOff val="0"/>
            <a:alphaOff val="0"/>
          </a:schemeClr>
        </a:solidFill>
        <a:ln w="400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7363" tIns="0" rIns="217363" bIns="0" numCol="1" spcCol="1270" anchor="ctr" anchorCtr="0">
          <a:noAutofit/>
        </a:bodyPr>
        <a:lstStyle/>
        <a:p>
          <a:pPr lvl="0" algn="l" defTabSz="889000">
            <a:lnSpc>
              <a:spcPct val="90000"/>
            </a:lnSpc>
            <a:spcBef>
              <a:spcPct val="0"/>
            </a:spcBef>
            <a:spcAft>
              <a:spcPct val="35000"/>
            </a:spcAft>
          </a:pPr>
          <a:r>
            <a:rPr lang="zh-TW" altLang="en-US" sz="2000" kern="1200" dirty="0" smtClean="0"/>
            <a:t>攻擊算法</a:t>
          </a:r>
          <a:endParaRPr lang="zh-TW" altLang="en-US" sz="2000" kern="1200" dirty="0"/>
        </a:p>
      </dsp:txBody>
      <dsp:txXfrm>
        <a:off x="435263" y="1698863"/>
        <a:ext cx="5701723" cy="452844"/>
      </dsp:txXfrm>
    </dsp:sp>
    <dsp:sp modelId="{FC32C086-CD50-459A-9825-E9541D88F020}">
      <dsp:nvSpPr>
        <dsp:cNvPr id="0" name=""/>
        <dsp:cNvSpPr/>
      </dsp:nvSpPr>
      <dsp:spPr>
        <a:xfrm>
          <a:off x="0" y="3419330"/>
          <a:ext cx="8215313" cy="1499400"/>
        </a:xfrm>
        <a:prstGeom prst="rect">
          <a:avLst/>
        </a:prstGeom>
        <a:solidFill>
          <a:schemeClr val="lt1">
            <a:alpha val="90000"/>
            <a:hueOff val="0"/>
            <a:satOff val="0"/>
            <a:lumOff val="0"/>
            <a:alphaOff val="0"/>
          </a:schemeClr>
        </a:solidFill>
        <a:ln w="400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7600" tIns="354076" rIns="637600" bIns="120904" numCol="1" spcCol="1270" anchor="t" anchorCtr="0">
          <a:noAutofit/>
        </a:bodyPr>
        <a:lstStyle/>
        <a:p>
          <a:pPr marL="171450" lvl="1" indent="-171450" algn="l" defTabSz="755650">
            <a:lnSpc>
              <a:spcPct val="90000"/>
            </a:lnSpc>
            <a:spcBef>
              <a:spcPct val="0"/>
            </a:spcBef>
            <a:spcAft>
              <a:spcPct val="15000"/>
            </a:spcAft>
            <a:buChar char="••"/>
          </a:pPr>
          <a:r>
            <a:rPr lang="zh-TW" altLang="en-US" sz="1700" kern="1200" dirty="0" smtClean="0"/>
            <a:t>直接地攔截傳輸中的信息，可以幫助攻擊者瞭解加密的方法。例如某人以密文發出電子郵件，收件者的回信裡含有原信卻未加密，這時攻擊者可以同時取得原文與密文，大有利於密碼破解。</a:t>
          </a:r>
          <a:endParaRPr lang="zh-TW" altLang="en-US" sz="1700" kern="1200" dirty="0"/>
        </a:p>
      </dsp:txBody>
      <dsp:txXfrm>
        <a:off x="0" y="3419330"/>
        <a:ext cx="8215313" cy="1499400"/>
      </dsp:txXfrm>
    </dsp:sp>
    <dsp:sp modelId="{C2B549D6-8691-4F29-AF2D-DCD153D8EB46}">
      <dsp:nvSpPr>
        <dsp:cNvPr id="0" name=""/>
        <dsp:cNvSpPr/>
      </dsp:nvSpPr>
      <dsp:spPr>
        <a:xfrm>
          <a:off x="410765" y="3168410"/>
          <a:ext cx="5750719" cy="501840"/>
        </a:xfrm>
        <a:prstGeom prst="roundRect">
          <a:avLst/>
        </a:prstGeom>
        <a:solidFill>
          <a:schemeClr val="accent1">
            <a:hueOff val="0"/>
            <a:satOff val="0"/>
            <a:lumOff val="0"/>
            <a:alphaOff val="0"/>
          </a:schemeClr>
        </a:solidFill>
        <a:ln w="400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7363" tIns="0" rIns="217363" bIns="0" numCol="1" spcCol="1270" anchor="ctr" anchorCtr="0">
          <a:noAutofit/>
        </a:bodyPr>
        <a:lstStyle/>
        <a:p>
          <a:pPr lvl="0" algn="l" defTabSz="889000">
            <a:lnSpc>
              <a:spcPct val="90000"/>
            </a:lnSpc>
            <a:spcBef>
              <a:spcPct val="0"/>
            </a:spcBef>
            <a:spcAft>
              <a:spcPct val="35000"/>
            </a:spcAft>
          </a:pPr>
          <a:r>
            <a:rPr lang="zh-TW" altLang="en-US" sz="2000" kern="1200" dirty="0" smtClean="0"/>
            <a:t>攔截傳輸</a:t>
          </a:r>
          <a:endParaRPr lang="zh-TW" altLang="en-US" sz="2000" kern="1200" dirty="0"/>
        </a:p>
      </dsp:txBody>
      <dsp:txXfrm>
        <a:off x="435263" y="3192908"/>
        <a:ext cx="5701723" cy="4528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E0D419-0A45-4BC5-A8A7-AE9853096CE9}">
      <dsp:nvSpPr>
        <dsp:cNvPr id="0" name=""/>
        <dsp:cNvSpPr/>
      </dsp:nvSpPr>
      <dsp:spPr>
        <a:xfrm>
          <a:off x="0" y="1372"/>
          <a:ext cx="8215313" cy="605429"/>
        </a:xfrm>
        <a:prstGeom prst="roundRect">
          <a:avLst/>
        </a:prstGeom>
        <a:solidFill>
          <a:schemeClr val="accent1">
            <a:hueOff val="0"/>
            <a:satOff val="0"/>
            <a:lumOff val="0"/>
            <a:alphaOff val="0"/>
          </a:schemeClr>
        </a:solidFill>
        <a:ln w="400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zh-TW" altLang="en-US" sz="2000" kern="1200" dirty="0" smtClean="0">
              <a:latin typeface="Calibri" pitchFamily="34" charset="0"/>
            </a:rPr>
            <a:t>只有密文 </a:t>
          </a:r>
          <a:r>
            <a:rPr lang="en-US" altLang="zh-TW" sz="2000" kern="1200" dirty="0" smtClean="0">
              <a:latin typeface="Calibri" pitchFamily="34" charset="0"/>
            </a:rPr>
            <a:t>(</a:t>
          </a:r>
          <a:r>
            <a:rPr lang="en-US" altLang="zh-TW" sz="2000" kern="1200" dirty="0" err="1" smtClean="0">
              <a:latin typeface="Calibri" pitchFamily="34" charset="0"/>
            </a:rPr>
            <a:t>ciphertext</a:t>
          </a:r>
          <a:r>
            <a:rPr lang="en-US" altLang="zh-TW" sz="2000" kern="1200" dirty="0" smtClean="0">
              <a:latin typeface="Calibri" pitchFamily="34" charset="0"/>
            </a:rPr>
            <a:t>-only)</a:t>
          </a:r>
          <a:endParaRPr lang="zh-TW" altLang="en-US" sz="2000" kern="1200" dirty="0">
            <a:latin typeface="Calibri" pitchFamily="34" charset="0"/>
          </a:endParaRPr>
        </a:p>
      </dsp:txBody>
      <dsp:txXfrm>
        <a:off x="29555" y="30927"/>
        <a:ext cx="8156203" cy="546319"/>
      </dsp:txXfrm>
    </dsp:sp>
    <dsp:sp modelId="{C201FB7D-887E-4ED1-A03A-24F6347B9B57}">
      <dsp:nvSpPr>
        <dsp:cNvPr id="0" name=""/>
        <dsp:cNvSpPr/>
      </dsp:nvSpPr>
      <dsp:spPr>
        <a:xfrm>
          <a:off x="0" y="606802"/>
          <a:ext cx="8215313" cy="679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083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TW" altLang="en-US" sz="1600" kern="1200" dirty="0" smtClean="0">
              <a:solidFill>
                <a:srgbClr val="FF0000"/>
              </a:solidFill>
              <a:latin typeface="Calibri" pitchFamily="34" charset="0"/>
            </a:rPr>
            <a:t>通常</a:t>
          </a:r>
          <a:r>
            <a:rPr lang="zh-TW" altLang="en-US" sz="1600" kern="1200" dirty="0" smtClean="0">
              <a:latin typeface="Calibri" pitchFamily="34" charset="0"/>
            </a:rPr>
            <a:t>密碼攻擊者透過監聽等手段</a:t>
          </a:r>
          <a:r>
            <a:rPr lang="zh-TW" altLang="en-US" sz="1600" kern="1200" dirty="0" smtClean="0">
              <a:solidFill>
                <a:srgbClr val="FF0000"/>
              </a:solidFill>
              <a:latin typeface="Calibri" pitchFamily="34" charset="0"/>
            </a:rPr>
            <a:t>只能取得密文</a:t>
          </a:r>
          <a:r>
            <a:rPr lang="zh-TW" altLang="en-US" sz="1600" kern="1200" dirty="0" smtClean="0">
              <a:latin typeface="Calibri" pitchFamily="34" charset="0"/>
            </a:rPr>
            <a:t>。大量的密文也許會透露一些統計學上的蛛絲馬跡，但只靠密文要破解加密算法並不容易。</a:t>
          </a:r>
          <a:endParaRPr lang="zh-TW" altLang="en-US" sz="1600" kern="1200" dirty="0">
            <a:latin typeface="Calibri" pitchFamily="34" charset="0"/>
          </a:endParaRPr>
        </a:p>
      </dsp:txBody>
      <dsp:txXfrm>
        <a:off x="0" y="606802"/>
        <a:ext cx="8215313" cy="679764"/>
      </dsp:txXfrm>
    </dsp:sp>
    <dsp:sp modelId="{BC17C0DF-E757-4E1B-971D-A5B922F0EFCD}">
      <dsp:nvSpPr>
        <dsp:cNvPr id="0" name=""/>
        <dsp:cNvSpPr/>
      </dsp:nvSpPr>
      <dsp:spPr>
        <a:xfrm>
          <a:off x="0" y="1286566"/>
          <a:ext cx="8215313" cy="605429"/>
        </a:xfrm>
        <a:prstGeom prst="roundRect">
          <a:avLst/>
        </a:prstGeom>
        <a:solidFill>
          <a:schemeClr val="accent1">
            <a:hueOff val="0"/>
            <a:satOff val="0"/>
            <a:lumOff val="0"/>
            <a:alphaOff val="0"/>
          </a:schemeClr>
        </a:solidFill>
        <a:ln w="400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zh-TW" altLang="en-US" sz="2000" kern="1200" dirty="0" smtClean="0">
              <a:latin typeface="Calibri" pitchFamily="34" charset="0"/>
            </a:rPr>
            <a:t>已知原文 </a:t>
          </a:r>
          <a:r>
            <a:rPr lang="en-US" altLang="zh-TW" sz="2000" kern="1200" dirty="0" smtClean="0">
              <a:latin typeface="Calibri" pitchFamily="34" charset="0"/>
            </a:rPr>
            <a:t>(known-plaintext)</a:t>
          </a:r>
          <a:endParaRPr lang="zh-TW" altLang="en-US" sz="2000" kern="1200" dirty="0">
            <a:latin typeface="Calibri" pitchFamily="34" charset="0"/>
          </a:endParaRPr>
        </a:p>
      </dsp:txBody>
      <dsp:txXfrm>
        <a:off x="29555" y="1316121"/>
        <a:ext cx="8156203" cy="546319"/>
      </dsp:txXfrm>
    </dsp:sp>
    <dsp:sp modelId="{872AFCDF-EB6B-4B9B-9A3C-CBAA31D97311}">
      <dsp:nvSpPr>
        <dsp:cNvPr id="0" name=""/>
        <dsp:cNvSpPr/>
      </dsp:nvSpPr>
      <dsp:spPr>
        <a:xfrm>
          <a:off x="0" y="1891995"/>
          <a:ext cx="8215313" cy="679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083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TW" altLang="en-US" sz="1600" kern="1200" dirty="0" smtClean="0">
              <a:latin typeface="Calibri" pitchFamily="34" charset="0"/>
            </a:rPr>
            <a:t>攻擊者如果找到一些</a:t>
          </a:r>
          <a:r>
            <a:rPr lang="zh-TW" altLang="en-US" sz="1600" kern="1200" dirty="0" smtClean="0">
              <a:solidFill>
                <a:srgbClr val="FF0000"/>
              </a:solidFill>
              <a:latin typeface="Calibri" pitchFamily="34" charset="0"/>
            </a:rPr>
            <a:t>原文與密文的對照</a:t>
          </a:r>
          <a:r>
            <a:rPr lang="zh-TW" altLang="en-US" sz="1600" kern="1200" dirty="0" smtClean="0">
              <a:latin typeface="Calibri" pitchFamily="34" charset="0"/>
            </a:rPr>
            <a:t>，破解加密法就容易多了。這個方法幫助破解二次大戰的德國加密機器</a:t>
          </a:r>
          <a:r>
            <a:rPr lang="zh-TW" altLang="en-US" sz="1600" kern="1200" dirty="0" smtClean="0">
              <a:latin typeface="Calibri" pitchFamily="34" charset="0"/>
              <a:ea typeface="微軟正黑體"/>
            </a:rPr>
            <a:t>「謎」。</a:t>
          </a:r>
          <a:r>
            <a:rPr lang="zh-TW" altLang="en-US" sz="1600" kern="1200" dirty="0" smtClean="0">
              <a:latin typeface="Calibri" pitchFamily="34" charset="0"/>
            </a:rPr>
            <a:t>例如大部分電子郵件內容的前四個字母都是 </a:t>
          </a:r>
          <a:r>
            <a:rPr lang="en-US" altLang="zh-TW" sz="1600" kern="1200" dirty="0" smtClean="0">
              <a:latin typeface="Calibri" pitchFamily="34" charset="0"/>
            </a:rPr>
            <a:t>”dear”</a:t>
          </a:r>
          <a:r>
            <a:rPr lang="zh-TW" altLang="en-US" sz="1600" kern="1200" dirty="0" smtClean="0">
              <a:latin typeface="Calibri" pitchFamily="34" charset="0"/>
            </a:rPr>
            <a:t>。</a:t>
          </a:r>
          <a:endParaRPr lang="zh-TW" altLang="en-US" sz="1600" kern="1200" dirty="0">
            <a:latin typeface="Calibri" pitchFamily="34" charset="0"/>
          </a:endParaRPr>
        </a:p>
      </dsp:txBody>
      <dsp:txXfrm>
        <a:off x="0" y="1891995"/>
        <a:ext cx="8215313" cy="679764"/>
      </dsp:txXfrm>
    </dsp:sp>
    <dsp:sp modelId="{77E2C334-B4DC-4C39-BF25-183D8C3F1B1F}">
      <dsp:nvSpPr>
        <dsp:cNvPr id="0" name=""/>
        <dsp:cNvSpPr/>
      </dsp:nvSpPr>
      <dsp:spPr>
        <a:xfrm>
          <a:off x="0" y="2571760"/>
          <a:ext cx="8215313" cy="605429"/>
        </a:xfrm>
        <a:prstGeom prst="roundRect">
          <a:avLst/>
        </a:prstGeom>
        <a:solidFill>
          <a:schemeClr val="accent1">
            <a:hueOff val="0"/>
            <a:satOff val="0"/>
            <a:lumOff val="0"/>
            <a:alphaOff val="0"/>
          </a:schemeClr>
        </a:solidFill>
        <a:ln w="400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zh-TW" altLang="en-US" sz="2000" kern="1200" dirty="0" smtClean="0">
              <a:latin typeface="Calibri" pitchFamily="34" charset="0"/>
            </a:rPr>
            <a:t>選擇原文 </a:t>
          </a:r>
          <a:r>
            <a:rPr lang="en-US" altLang="zh-TW" sz="2000" kern="1200" dirty="0" smtClean="0">
              <a:latin typeface="Calibri" pitchFamily="34" charset="0"/>
            </a:rPr>
            <a:t>(chosen-plaintext)</a:t>
          </a:r>
          <a:endParaRPr lang="zh-TW" altLang="en-US" sz="2000" kern="1200" dirty="0">
            <a:latin typeface="Calibri" pitchFamily="34" charset="0"/>
          </a:endParaRPr>
        </a:p>
      </dsp:txBody>
      <dsp:txXfrm>
        <a:off x="29555" y="2601315"/>
        <a:ext cx="8156203" cy="546319"/>
      </dsp:txXfrm>
    </dsp:sp>
    <dsp:sp modelId="{F08A68D9-1A0B-4814-A425-F650FA4564A2}">
      <dsp:nvSpPr>
        <dsp:cNvPr id="0" name=""/>
        <dsp:cNvSpPr/>
      </dsp:nvSpPr>
      <dsp:spPr>
        <a:xfrm>
          <a:off x="0" y="3177189"/>
          <a:ext cx="8215313" cy="679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083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TW" altLang="en-US" sz="1600" kern="1200" dirty="0" smtClean="0">
              <a:latin typeface="Calibri" pitchFamily="34" charset="0"/>
            </a:rPr>
            <a:t>是指攻擊者發出原文，隨即取得密文。例如發一封電子郵件給對方，內容</a:t>
          </a:r>
          <a:r>
            <a:rPr lang="zh-TW" altLang="en-US" sz="1600" kern="1200" dirty="0" smtClean="0">
              <a:solidFill>
                <a:srgbClr val="FF0000"/>
              </a:solidFill>
              <a:latin typeface="Calibri" pitchFamily="34" charset="0"/>
            </a:rPr>
            <a:t>誘使</a:t>
          </a:r>
          <a:r>
            <a:rPr lang="zh-TW" altLang="en-US" sz="1600" kern="1200" dirty="0" smtClean="0">
              <a:latin typeface="Calibri" pitchFamily="34" charset="0"/>
            </a:rPr>
            <a:t>收信人將之加密後轉發出去，如此就可以攔截到整篇的密文。</a:t>
          </a:r>
          <a:endParaRPr lang="zh-TW" altLang="en-US" sz="1600" kern="1200" dirty="0">
            <a:latin typeface="Calibri" pitchFamily="34" charset="0"/>
          </a:endParaRPr>
        </a:p>
      </dsp:txBody>
      <dsp:txXfrm>
        <a:off x="0" y="3177189"/>
        <a:ext cx="8215313" cy="679764"/>
      </dsp:txXfrm>
    </dsp:sp>
    <dsp:sp modelId="{373DA092-B7C7-4BE7-9D23-B8C78A5F55F1}">
      <dsp:nvSpPr>
        <dsp:cNvPr id="0" name=""/>
        <dsp:cNvSpPr/>
      </dsp:nvSpPr>
      <dsp:spPr>
        <a:xfrm>
          <a:off x="0" y="3856954"/>
          <a:ext cx="8215313" cy="605429"/>
        </a:xfrm>
        <a:prstGeom prst="roundRect">
          <a:avLst/>
        </a:prstGeom>
        <a:solidFill>
          <a:schemeClr val="accent1">
            <a:hueOff val="0"/>
            <a:satOff val="0"/>
            <a:lumOff val="0"/>
            <a:alphaOff val="0"/>
          </a:schemeClr>
        </a:solidFill>
        <a:ln w="400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zh-TW" altLang="en-US" sz="2000" kern="1200" dirty="0" smtClean="0">
              <a:latin typeface="Calibri" pitchFamily="34" charset="0"/>
            </a:rPr>
            <a:t>選擇密文 </a:t>
          </a:r>
          <a:r>
            <a:rPr lang="en-US" altLang="zh-TW" sz="2000" kern="1200" dirty="0" smtClean="0">
              <a:latin typeface="Calibri" pitchFamily="34" charset="0"/>
            </a:rPr>
            <a:t>(chosen </a:t>
          </a:r>
          <a:r>
            <a:rPr lang="en-US" altLang="zh-TW" sz="2000" kern="1200" dirty="0" err="1" smtClean="0">
              <a:latin typeface="Calibri" pitchFamily="34" charset="0"/>
            </a:rPr>
            <a:t>ciphertext</a:t>
          </a:r>
          <a:r>
            <a:rPr lang="en-US" altLang="zh-TW" sz="2000" kern="1200" dirty="0" smtClean="0">
              <a:latin typeface="Calibri" pitchFamily="34" charset="0"/>
            </a:rPr>
            <a:t>)</a:t>
          </a:r>
          <a:endParaRPr lang="zh-TW" altLang="en-US" sz="2000" kern="1200" dirty="0">
            <a:latin typeface="Calibri" pitchFamily="34" charset="0"/>
          </a:endParaRPr>
        </a:p>
      </dsp:txBody>
      <dsp:txXfrm>
        <a:off x="29555" y="3886509"/>
        <a:ext cx="8156203" cy="546319"/>
      </dsp:txXfrm>
    </dsp:sp>
    <dsp:sp modelId="{5B341043-AEB0-4EE4-8BEB-CC1EF20A2637}">
      <dsp:nvSpPr>
        <dsp:cNvPr id="0" name=""/>
        <dsp:cNvSpPr/>
      </dsp:nvSpPr>
      <dsp:spPr>
        <a:xfrm>
          <a:off x="0" y="4462383"/>
          <a:ext cx="8215313" cy="679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083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TW" altLang="en-US" sz="1600" kern="1200" dirty="0" smtClean="0">
              <a:latin typeface="Calibri" pitchFamily="34" charset="0"/>
            </a:rPr>
            <a:t>與選擇原文相反的方法。有些人收到加密電子郵件，回覆時將原信做附件，卻未加密。所以有機會從密文取得原文。</a:t>
          </a:r>
          <a:endParaRPr lang="zh-TW" altLang="en-US" sz="1600" kern="1200" dirty="0">
            <a:latin typeface="Calibri" pitchFamily="34" charset="0"/>
          </a:endParaRPr>
        </a:p>
      </dsp:txBody>
      <dsp:txXfrm>
        <a:off x="0" y="4462383"/>
        <a:ext cx="8215313" cy="679764"/>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07498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AE291C0-D8AB-497A-9894-6D2201467A0F}" type="datetimeFigureOut">
              <a:rPr lang="zh-TW" altLang="en-US" smtClean="0"/>
              <a:pPr/>
              <a:t>2025/12/1</a:t>
            </a:fld>
            <a:endParaRPr lang="zh-TW" altLang="en-US"/>
          </a:p>
        </p:txBody>
      </p:sp>
      <p:sp>
        <p:nvSpPr>
          <p:cNvPr id="4" name="投影片圖像版面配置區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zh-TW" altLang="en-US" dirty="0" smtClean="0"/>
              <a:t>按一下以編輯母片文字樣式</a:t>
            </a:r>
          </a:p>
          <a:p>
            <a:pPr lvl="1"/>
            <a:r>
              <a:rPr lang="zh-TW" altLang="en-US" dirty="0" smtClean="0"/>
              <a:t>第二層</a:t>
            </a:r>
          </a:p>
          <a:p>
            <a:pPr lvl="2"/>
            <a:r>
              <a:rPr lang="zh-TW" altLang="en-US" dirty="0" smtClean="0"/>
              <a:t>第三層</a:t>
            </a:r>
          </a:p>
          <a:p>
            <a:pPr lvl="3"/>
            <a:r>
              <a:rPr lang="zh-TW" altLang="en-US" dirty="0" smtClean="0"/>
              <a:t>第四層</a:t>
            </a:r>
          </a:p>
          <a:p>
            <a:pPr lvl="4"/>
            <a:r>
              <a:rPr lang="zh-TW" altLang="en-US" dirty="0" smtClean="0"/>
              <a:t>第五層</a:t>
            </a:r>
            <a:endParaRPr lang="zh-TW" altLang="en-US" dirty="0"/>
          </a:p>
        </p:txBody>
      </p:sp>
      <p:sp>
        <p:nvSpPr>
          <p:cNvPr id="6" name="頁尾版面配置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FB1C2-79FB-46D7-A2B8-F9CB05290117}" type="slidenum">
              <a:rPr lang="zh-TW" altLang="en-US" smtClean="0"/>
              <a:pPr/>
              <a:t>‹#›</a:t>
            </a:fld>
            <a:endParaRPr lang="zh-TW" altLang="en-US"/>
          </a:p>
        </p:txBody>
      </p:sp>
    </p:spTree>
    <p:extLst>
      <p:ext uri="{BB962C8B-B14F-4D97-AF65-F5344CB8AC3E}">
        <p14:creationId xmlns:p14="http://schemas.microsoft.com/office/powerpoint/2010/main" val="37393199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jpeg"/><Relationship Id="rId1" Type="http://schemas.openxmlformats.org/officeDocument/2006/relationships/slideMaster" Target="../slideMasters/slideMaster3.xml"/><Relationship Id="rId6" Type="http://schemas.openxmlformats.org/officeDocument/2006/relationships/image" Target="../media/image16.png"/><Relationship Id="rId11" Type="http://schemas.openxmlformats.org/officeDocument/2006/relationships/image" Target="../media/image11.png"/><Relationship Id="rId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14.png"/><Relationship Id="rId9"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bg>
      <p:bgRef idx="1002">
        <a:schemeClr val="bg1"/>
      </p:bgRef>
    </p:bg>
    <p:spTree>
      <p:nvGrpSpPr>
        <p:cNvPr id="1" name=""/>
        <p:cNvGrpSpPr/>
        <p:nvPr/>
      </p:nvGrpSpPr>
      <p:grpSpPr>
        <a:xfrm>
          <a:off x="0" y="0"/>
          <a:ext cx="0" cy="0"/>
          <a:chOff x="0" y="0"/>
          <a:chExt cx="0" cy="0"/>
        </a:xfrm>
      </p:grpSpPr>
      <p:sp>
        <p:nvSpPr>
          <p:cNvPr id="8" name="矩形 7"/>
          <p:cNvSpPr/>
          <p:nvPr/>
        </p:nvSpPr>
        <p:spPr>
          <a:xfrm flipH="1">
            <a:off x="2667000" y="0"/>
            <a:ext cx="6477000" cy="6858000"/>
          </a:xfrm>
          <a:prstGeom prst="rect">
            <a:avLst/>
          </a:prstGeom>
          <a:blipFill>
            <a:blip r:embed="rId2" cstate="print">
              <a:alphaModFix amt="43000"/>
            </a:blip>
            <a:tile tx="0" ty="0" sx="50000" sy="50000" flip="none" algn="tl"/>
          </a:blipFill>
          <a:ln w="0" cap="flat" cmpd="sng" algn="ctr">
            <a:noFill/>
            <a:prstDash val="solid"/>
          </a:ln>
          <a:effectLst>
            <a:fillOverlay blend="mult">
              <a:gradFill rotWithShape="1">
                <a:gsLst>
                  <a:gs pos="0">
                    <a:schemeClr val="tx2">
                      <a:tint val="62000"/>
                      <a:satMod val="420000"/>
                    </a:schemeClr>
                  </a:gs>
                  <a:gs pos="100000">
                    <a:schemeClr val="tx2">
                      <a:shade val="20000"/>
                      <a:satMod val="170000"/>
                    </a:schemeClr>
                  </a:gs>
                </a:gsLst>
                <a:path path="circle">
                  <a:fillToRect l="50000" t="100000" r="50000"/>
                </a:path>
                <a:tileRect/>
              </a:gradFill>
            </a:fillOverlay>
            <a:innerShdw blurRad="63500" dist="44450" dir="10800000">
              <a:srgbClr val="000000">
                <a:alpha val="50000"/>
              </a:srgbClr>
            </a:inn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直線接點 8"/>
          <p:cNvSpPr>
            <a:spLocks noChangeShapeType="1"/>
          </p:cNvSpPr>
          <p:nvPr/>
        </p:nvSpPr>
        <p:spPr bwMode="auto">
          <a:xfrm rot="16200000">
            <a:off x="-762000" y="3429000"/>
            <a:ext cx="6858000" cy="0"/>
          </a:xfrm>
          <a:prstGeom prst="line">
            <a:avLst/>
          </a:prstGeom>
          <a:noFill/>
          <a:ln w="11430" cap="flat" cmpd="sng" algn="ctr">
            <a:solidFill>
              <a:schemeClr val="bg1">
                <a:shade val="95000"/>
              </a:schemeClr>
            </a:solidFill>
            <a:prstDash val="solid"/>
            <a:miter lim="800000"/>
            <a:headEnd type="none" w="med" len="med"/>
            <a:tailEnd type="none" w="med" len="med"/>
          </a:ln>
          <a:effectLst/>
        </p:spPr>
        <p:txBody>
          <a:bodyPr vert="horz" wrap="square" lIns="91440" tIns="45720" rIns="91440" bIns="45720" anchor="t" compatLnSpc="1"/>
          <a:lstStyle/>
          <a:p>
            <a:endParaRPr kumimoji="0" lang="en-US"/>
          </a:p>
        </p:txBody>
      </p:sp>
      <p:sp>
        <p:nvSpPr>
          <p:cNvPr id="12" name="標題 11"/>
          <p:cNvSpPr>
            <a:spLocks noGrp="1"/>
          </p:cNvSpPr>
          <p:nvPr>
            <p:ph type="ctrTitle"/>
          </p:nvPr>
        </p:nvSpPr>
        <p:spPr>
          <a:xfrm>
            <a:off x="3366868" y="533400"/>
            <a:ext cx="5105400" cy="2868168"/>
          </a:xfrm>
        </p:spPr>
        <p:txBody>
          <a:bodyPr lIns="45720" tIns="0" rIns="45720">
            <a:noAutofit/>
          </a:bodyPr>
          <a:lstStyle>
            <a:lvl1pPr algn="r">
              <a:defRPr sz="4200" b="1"/>
            </a:lvl1pPr>
            <a:extLst/>
          </a:lstStyle>
          <a:p>
            <a:r>
              <a:rPr kumimoji="0" lang="zh-TW" altLang="en-US" smtClean="0"/>
              <a:t>按一下以編輯母片標題樣式</a:t>
            </a:r>
            <a:endParaRPr kumimoji="0" lang="en-US"/>
          </a:p>
        </p:txBody>
      </p:sp>
      <p:sp>
        <p:nvSpPr>
          <p:cNvPr id="25" name="副標題 24"/>
          <p:cNvSpPr>
            <a:spLocks noGrp="1"/>
          </p:cNvSpPr>
          <p:nvPr>
            <p:ph type="subTitle" idx="1"/>
          </p:nvPr>
        </p:nvSpPr>
        <p:spPr>
          <a:xfrm>
            <a:off x="3354442" y="3539864"/>
            <a:ext cx="5114778" cy="1101248"/>
          </a:xfrm>
        </p:spPr>
        <p:txBody>
          <a:bodyPr lIns="45720" tIns="0" rIns="45720" bIns="0"/>
          <a:lstStyle>
            <a:lvl1pPr marL="0" indent="0" algn="r">
              <a:lnSpc>
                <a:spcPct val="100000"/>
              </a:lnSpc>
              <a:spcBef>
                <a:spcPts val="600"/>
              </a:spcBef>
              <a:buNone/>
              <a:defRPr sz="2200">
                <a:solidFill>
                  <a:srgbClr val="FFFFFF"/>
                </a:solidFill>
                <a:effectLs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zh-TW" altLang="en-US" dirty="0" smtClean="0"/>
              <a:t>按一下以編輯母片副標題樣式</a:t>
            </a:r>
            <a:endParaRPr kumimoji="0" lang="en-US" dirty="0"/>
          </a:p>
        </p:txBody>
      </p:sp>
      <p:sp>
        <p:nvSpPr>
          <p:cNvPr id="31" name="日期版面配置區 30"/>
          <p:cNvSpPr>
            <a:spLocks noGrp="1"/>
          </p:cNvSpPr>
          <p:nvPr>
            <p:ph type="dt" sz="half" idx="10"/>
          </p:nvPr>
        </p:nvSpPr>
        <p:spPr>
          <a:xfrm>
            <a:off x="5871224" y="6557946"/>
            <a:ext cx="2002464" cy="226902"/>
          </a:xfrm>
          <a:prstGeom prst="rect">
            <a:avLst/>
          </a:prstGeom>
        </p:spPr>
        <p:txBody>
          <a:bodyPr/>
          <a:lstStyle>
            <a:lvl1pPr>
              <a:defRPr lang="en-US" smtClean="0">
                <a:solidFill>
                  <a:srgbClr val="FFFFFF"/>
                </a:solidFill>
              </a:defRPr>
            </a:lvl1pPr>
            <a:extLst/>
          </a:lstStyle>
          <a:p>
            <a:fld id="{4A3E55C4-1B54-4260-BC9F-92F1C3DAF52B}" type="datetimeFigureOut">
              <a:rPr lang="zh-TW" altLang="en-US" smtClean="0"/>
              <a:pPr/>
              <a:t>2025/12/1</a:t>
            </a:fld>
            <a:endParaRPr lang="zh-TW" altLang="en-US"/>
          </a:p>
        </p:txBody>
      </p:sp>
      <p:sp>
        <p:nvSpPr>
          <p:cNvPr id="18" name="頁尾版面配置區 17"/>
          <p:cNvSpPr>
            <a:spLocks noGrp="1"/>
          </p:cNvSpPr>
          <p:nvPr>
            <p:ph type="ftr" sz="quarter" idx="11"/>
          </p:nvPr>
        </p:nvSpPr>
        <p:spPr>
          <a:xfrm>
            <a:off x="2819400" y="6557946"/>
            <a:ext cx="2927722" cy="228600"/>
          </a:xfrm>
          <a:prstGeom prst="rect">
            <a:avLst/>
          </a:prstGeom>
        </p:spPr>
        <p:txBody>
          <a:bodyPr/>
          <a:lstStyle>
            <a:lvl1pPr>
              <a:defRPr lang="en-US" dirty="0">
                <a:solidFill>
                  <a:srgbClr val="FFFFFF"/>
                </a:solidFill>
              </a:defRPr>
            </a:lvl1pPr>
            <a:extLst/>
          </a:lstStyle>
          <a:p>
            <a:endParaRPr lang="zh-TW" altLang="en-US"/>
          </a:p>
        </p:txBody>
      </p:sp>
      <p:sp>
        <p:nvSpPr>
          <p:cNvPr id="29" name="投影片編號版面配置區 28"/>
          <p:cNvSpPr>
            <a:spLocks noGrp="1"/>
          </p:cNvSpPr>
          <p:nvPr>
            <p:ph type="sldNum" sz="quarter" idx="12"/>
          </p:nvPr>
        </p:nvSpPr>
        <p:spPr>
          <a:xfrm>
            <a:off x="7880884" y="6556248"/>
            <a:ext cx="588336" cy="228600"/>
          </a:xfrm>
          <a:prstGeom prst="rect">
            <a:avLst/>
          </a:prstGeom>
        </p:spPr>
        <p:txBody>
          <a:bodyPr/>
          <a:lstStyle>
            <a:lvl1pPr>
              <a:defRPr lang="en-US" smtClean="0">
                <a:solidFill>
                  <a:srgbClr val="FFFFFF"/>
                </a:solidFill>
              </a:defRPr>
            </a:lvl1pPr>
            <a:extLst/>
          </a:lstStyle>
          <a:p>
            <a:fld id="{43A45172-8F7E-402C-BA55-470F886D373C}" type="slidenum">
              <a:rPr lang="zh-TW" altLang="en-US" smtClean="0"/>
              <a:pPr/>
              <a:t>‹#›</a:t>
            </a:fld>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a:xfrm>
            <a:off x="285720" y="1357298"/>
            <a:ext cx="8215370" cy="5098438"/>
          </a:xfrm>
        </p:spPr>
        <p:txBody>
          <a:bodyPr/>
          <a:lstStyle>
            <a:lvl1pPr>
              <a:lnSpc>
                <a:spcPct val="120000"/>
              </a:lnSpc>
              <a:spcBef>
                <a:spcPts val="1000"/>
              </a:spcBef>
              <a:defRPr sz="2400"/>
            </a:lvl1pPr>
            <a:lvl2pPr>
              <a:lnSpc>
                <a:spcPct val="120000"/>
              </a:lnSpc>
              <a:spcBef>
                <a:spcPts val="1000"/>
              </a:spcBef>
              <a:defRPr sz="2000"/>
            </a:lvl2pPr>
            <a:lvl3pPr>
              <a:lnSpc>
                <a:spcPct val="120000"/>
              </a:lnSpc>
              <a:spcBef>
                <a:spcPts val="1000"/>
              </a:spcBef>
              <a:defRPr sz="1800"/>
            </a:lvl3pPr>
            <a:lvl4pPr>
              <a:lnSpc>
                <a:spcPct val="120000"/>
              </a:lnSpc>
              <a:spcBef>
                <a:spcPts val="1000"/>
              </a:spcBef>
              <a:defRPr sz="1600"/>
            </a:lvl4pPr>
            <a:lvl5pPr>
              <a:lnSpc>
                <a:spcPct val="120000"/>
              </a:lnSpc>
              <a:spcBef>
                <a:spcPts val="1000"/>
              </a:spcBef>
              <a:defRPr sz="1600"/>
            </a:lvl5pPr>
            <a:extLst/>
          </a:lstStyle>
          <a:p>
            <a:pPr lvl="0" eaLnBrk="1" latinLnBrk="0" hangingPunct="1"/>
            <a:r>
              <a:rPr lang="zh-TW" altLang="en-US" dirty="0" smtClean="0"/>
              <a:t>按一下以編輯母片文字樣式</a:t>
            </a:r>
          </a:p>
          <a:p>
            <a:pPr lvl="1" eaLnBrk="1" latinLnBrk="0" hangingPunct="1"/>
            <a:r>
              <a:rPr lang="zh-TW" altLang="en-US" dirty="0" smtClean="0"/>
              <a:t>第二層</a:t>
            </a:r>
          </a:p>
          <a:p>
            <a:pPr lvl="2" eaLnBrk="1" latinLnBrk="0" hangingPunct="1"/>
            <a:r>
              <a:rPr lang="zh-TW" altLang="en-US" dirty="0" smtClean="0"/>
              <a:t>第三層</a:t>
            </a:r>
          </a:p>
          <a:p>
            <a:pPr lvl="3" eaLnBrk="1" latinLnBrk="0" hangingPunct="1"/>
            <a:r>
              <a:rPr lang="zh-TW" altLang="en-US" dirty="0" smtClean="0"/>
              <a:t>第四層</a:t>
            </a:r>
          </a:p>
          <a:p>
            <a:pPr lvl="4" eaLnBrk="1" latinLnBrk="0" hangingPunct="1"/>
            <a:r>
              <a:rPr lang="zh-TW" altLang="en-US" dirty="0" smtClean="0"/>
              <a:t>第五層</a:t>
            </a:r>
            <a:endParaRPr kumimoji="0" lang="en-US" dirty="0"/>
          </a:p>
        </p:txBody>
      </p:sp>
      <p:sp>
        <p:nvSpPr>
          <p:cNvPr id="6" name="標題 5"/>
          <p:cNvSpPr>
            <a:spLocks noGrp="1"/>
          </p:cNvSpPr>
          <p:nvPr>
            <p:ph type="title"/>
          </p:nvPr>
        </p:nvSpPr>
        <p:spPr/>
        <p:txBody>
          <a:bodyPr/>
          <a:lstStyle/>
          <a:p>
            <a:r>
              <a:rPr lang="zh-TW" altLang="en-US" smtClean="0"/>
              <a:t>按一下以編輯母片標題樣式</a:t>
            </a:r>
            <a:endParaRPr lang="zh-TW"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區段標題">
    <p:bg>
      <p:bgRef idx="1001">
        <a:schemeClr val="bg1"/>
      </p:bgRef>
    </p:bg>
    <p:spTree>
      <p:nvGrpSpPr>
        <p:cNvPr id="1" name=""/>
        <p:cNvGrpSpPr/>
        <p:nvPr/>
      </p:nvGrpSpPr>
      <p:grpSpPr>
        <a:xfrm>
          <a:off x="0" y="0"/>
          <a:ext cx="0" cy="0"/>
          <a:chOff x="0" y="0"/>
          <a:chExt cx="0" cy="0"/>
        </a:xfrm>
      </p:grpSpPr>
      <p:sp>
        <p:nvSpPr>
          <p:cNvPr id="2" name="標題 1"/>
          <p:cNvSpPr>
            <a:spLocks noGrp="1"/>
          </p:cNvSpPr>
          <p:nvPr>
            <p:ph type="title"/>
          </p:nvPr>
        </p:nvSpPr>
        <p:spPr>
          <a:xfrm>
            <a:off x="1066800" y="2821837"/>
            <a:ext cx="6255488" cy="1362075"/>
          </a:xfrm>
        </p:spPr>
        <p:txBody>
          <a:bodyPr tIns="0" anchor="t"/>
          <a:lstStyle>
            <a:lvl1pPr algn="r">
              <a:buNone/>
              <a:defRPr sz="4200" b="1" cap="all"/>
            </a:lvl1pPr>
            <a:extLst/>
          </a:lstStyle>
          <a:p>
            <a:r>
              <a:rPr kumimoji="0" lang="zh-TW" altLang="en-US" smtClean="0"/>
              <a:t>按一下以編輯母片標題樣式</a:t>
            </a:r>
            <a:endParaRPr kumimoji="0" lang="en-US"/>
          </a:p>
        </p:txBody>
      </p:sp>
      <p:sp>
        <p:nvSpPr>
          <p:cNvPr id="3" name="文字版面配置區 2"/>
          <p:cNvSpPr>
            <a:spLocks noGrp="1"/>
          </p:cNvSpPr>
          <p:nvPr>
            <p:ph type="body" idx="1"/>
          </p:nvPr>
        </p:nvSpPr>
        <p:spPr>
          <a:xfrm>
            <a:off x="1066800" y="1905000"/>
            <a:ext cx="6255488" cy="743507"/>
          </a:xfrm>
        </p:spPr>
        <p:txBody>
          <a:bodyPr anchor="b"/>
          <a:lstStyle>
            <a:lvl1pPr marL="0" indent="0" algn="r">
              <a:buNone/>
              <a:defRPr sz="2000">
                <a:solidFill>
                  <a:schemeClr val="tx1"/>
                </a:solidFill>
                <a:effectLst/>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zh-TW" altLang="en-US" smtClean="0"/>
              <a:t>按一下以編輯母片文字樣式</a:t>
            </a:r>
          </a:p>
        </p:txBody>
      </p:sp>
      <p:sp>
        <p:nvSpPr>
          <p:cNvPr id="4" name="日期版面配置區 3"/>
          <p:cNvSpPr>
            <a:spLocks noGrp="1"/>
          </p:cNvSpPr>
          <p:nvPr>
            <p:ph type="dt" sz="half" idx="10"/>
          </p:nvPr>
        </p:nvSpPr>
        <p:spPr>
          <a:xfrm>
            <a:off x="4724238" y="6556810"/>
            <a:ext cx="2002464" cy="226902"/>
          </a:xfrm>
          <a:prstGeom prst="rect">
            <a:avLst/>
          </a:prstGeom>
        </p:spPr>
        <p:txBody>
          <a:bodyPr bIns="0" anchor="b"/>
          <a:lstStyle>
            <a:lvl1pPr>
              <a:defRPr>
                <a:solidFill>
                  <a:schemeClr val="tx2"/>
                </a:solidFill>
              </a:defRPr>
            </a:lvl1pPr>
            <a:extLst/>
          </a:lstStyle>
          <a:p>
            <a:fld id="{4A3E55C4-1B54-4260-BC9F-92F1C3DAF52B}" type="datetimeFigureOut">
              <a:rPr lang="zh-TW" altLang="en-US" smtClean="0"/>
              <a:pPr/>
              <a:t>2025/12/1</a:t>
            </a:fld>
            <a:endParaRPr lang="zh-TW" altLang="en-US"/>
          </a:p>
        </p:txBody>
      </p:sp>
      <p:sp>
        <p:nvSpPr>
          <p:cNvPr id="5" name="頁尾版面配置區 4"/>
          <p:cNvSpPr>
            <a:spLocks noGrp="1"/>
          </p:cNvSpPr>
          <p:nvPr>
            <p:ph type="ftr" sz="quarter" idx="11"/>
          </p:nvPr>
        </p:nvSpPr>
        <p:spPr>
          <a:xfrm>
            <a:off x="1735358" y="6556810"/>
            <a:ext cx="2895600" cy="228600"/>
          </a:xfrm>
          <a:prstGeom prst="rect">
            <a:avLst/>
          </a:prstGeom>
        </p:spPr>
        <p:txBody>
          <a:bodyPr bIns="0" anchor="b"/>
          <a:lstStyle>
            <a:lvl1pPr>
              <a:defRPr>
                <a:solidFill>
                  <a:schemeClr val="tx2"/>
                </a:solidFill>
              </a:defRPr>
            </a:lvl1pPr>
            <a:extLst/>
          </a:lstStyle>
          <a:p>
            <a:endParaRPr lang="zh-TW" altLang="en-US"/>
          </a:p>
        </p:txBody>
      </p:sp>
      <p:sp>
        <p:nvSpPr>
          <p:cNvPr id="6" name="投影片編號版面配置區 5"/>
          <p:cNvSpPr>
            <a:spLocks noGrp="1"/>
          </p:cNvSpPr>
          <p:nvPr>
            <p:ph type="sldNum" sz="quarter" idx="12"/>
          </p:nvPr>
        </p:nvSpPr>
        <p:spPr>
          <a:xfrm>
            <a:off x="6733952" y="6555112"/>
            <a:ext cx="588336" cy="228600"/>
          </a:xfrm>
          <a:prstGeom prst="rect">
            <a:avLst/>
          </a:prstGeom>
        </p:spPr>
        <p:txBody>
          <a:bodyPr/>
          <a:lstStyle/>
          <a:p>
            <a:fld id="{43A45172-8F7E-402C-BA55-470F886D373C}" type="slidenum">
              <a:rPr lang="zh-TW" altLang="en-US" smtClean="0"/>
              <a:pPr/>
              <a:t>‹#›</a:t>
            </a:fld>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285720" y="320040"/>
            <a:ext cx="8215370" cy="680068"/>
          </a:xfrm>
        </p:spPr>
        <p:txBody>
          <a:bodyPr/>
          <a:lstStyle/>
          <a:p>
            <a:r>
              <a:rPr kumimoji="0" lang="zh-TW" altLang="en-US" dirty="0" smtClean="0"/>
              <a:t>按一下以編輯母片標題樣式</a:t>
            </a:r>
            <a:endParaRPr kumimoji="0" lang="en-US" dirty="0"/>
          </a:p>
        </p:txBody>
      </p:sp>
      <p:sp>
        <p:nvSpPr>
          <p:cNvPr id="3" name="內容版面配置區 2"/>
          <p:cNvSpPr>
            <a:spLocks noGrp="1"/>
          </p:cNvSpPr>
          <p:nvPr>
            <p:ph sz="half" idx="1"/>
          </p:nvPr>
        </p:nvSpPr>
        <p:spPr>
          <a:xfrm>
            <a:off x="285720" y="1285860"/>
            <a:ext cx="4000528" cy="5143536"/>
          </a:xfrm>
        </p:spPr>
        <p:txBody>
          <a:bodyPr anchor="t"/>
          <a:lstStyle>
            <a:lvl1pPr>
              <a:lnSpc>
                <a:spcPct val="120000"/>
              </a:lnSpc>
              <a:spcBef>
                <a:spcPts val="800"/>
              </a:spcBef>
              <a:defRPr sz="2000"/>
            </a:lvl1pPr>
            <a:lvl2pPr>
              <a:lnSpc>
                <a:spcPct val="120000"/>
              </a:lnSpc>
              <a:spcBef>
                <a:spcPts val="800"/>
              </a:spcBef>
              <a:defRPr sz="1800"/>
            </a:lvl2pPr>
            <a:lvl3pPr>
              <a:lnSpc>
                <a:spcPct val="120000"/>
              </a:lnSpc>
              <a:spcBef>
                <a:spcPts val="800"/>
              </a:spcBef>
              <a:defRPr sz="1800"/>
            </a:lvl3pPr>
            <a:lvl4pPr>
              <a:lnSpc>
                <a:spcPct val="120000"/>
              </a:lnSpc>
              <a:spcBef>
                <a:spcPts val="800"/>
              </a:spcBef>
              <a:defRPr sz="1800"/>
            </a:lvl4pPr>
            <a:lvl5pPr>
              <a:lnSpc>
                <a:spcPct val="120000"/>
              </a:lnSpc>
              <a:spcBef>
                <a:spcPts val="800"/>
              </a:spcBef>
              <a:defRPr sz="1800"/>
            </a:lvl5pPr>
            <a:extLst/>
          </a:lstStyle>
          <a:p>
            <a:pPr lvl="0" eaLnBrk="1" latinLnBrk="0" hangingPunct="1"/>
            <a:r>
              <a:rPr lang="zh-TW" altLang="en-US" dirty="0" smtClean="0"/>
              <a:t>按一下以編輯母片文字樣式</a:t>
            </a:r>
          </a:p>
          <a:p>
            <a:pPr lvl="1" eaLnBrk="1" latinLnBrk="0" hangingPunct="1"/>
            <a:r>
              <a:rPr lang="zh-TW" altLang="en-US" dirty="0" smtClean="0"/>
              <a:t>第二層</a:t>
            </a:r>
          </a:p>
          <a:p>
            <a:pPr lvl="2" eaLnBrk="1" latinLnBrk="0" hangingPunct="1"/>
            <a:r>
              <a:rPr lang="zh-TW" altLang="en-US" dirty="0" smtClean="0"/>
              <a:t>第三層</a:t>
            </a:r>
          </a:p>
          <a:p>
            <a:pPr lvl="3" eaLnBrk="1" latinLnBrk="0" hangingPunct="1"/>
            <a:r>
              <a:rPr lang="zh-TW" altLang="en-US" dirty="0" smtClean="0"/>
              <a:t>第四層</a:t>
            </a:r>
          </a:p>
          <a:p>
            <a:pPr lvl="4" eaLnBrk="1" latinLnBrk="0" hangingPunct="1"/>
            <a:r>
              <a:rPr lang="zh-TW" altLang="en-US" dirty="0" smtClean="0"/>
              <a:t>第五層</a:t>
            </a:r>
            <a:endParaRPr kumimoji="0" lang="en-US" dirty="0"/>
          </a:p>
        </p:txBody>
      </p:sp>
      <p:sp>
        <p:nvSpPr>
          <p:cNvPr id="4" name="內容版面配置區 3"/>
          <p:cNvSpPr>
            <a:spLocks noGrp="1"/>
          </p:cNvSpPr>
          <p:nvPr>
            <p:ph sz="half" idx="2"/>
          </p:nvPr>
        </p:nvSpPr>
        <p:spPr>
          <a:xfrm>
            <a:off x="4500562" y="1285860"/>
            <a:ext cx="4007360" cy="5143536"/>
          </a:xfrm>
        </p:spPr>
        <p:txBody>
          <a:bodyPr anchor="t"/>
          <a:lstStyle>
            <a:lvl1pPr>
              <a:lnSpc>
                <a:spcPct val="120000"/>
              </a:lnSpc>
              <a:spcBef>
                <a:spcPts val="800"/>
              </a:spcBef>
              <a:defRPr sz="2000"/>
            </a:lvl1pPr>
            <a:lvl2pPr>
              <a:lnSpc>
                <a:spcPct val="120000"/>
              </a:lnSpc>
              <a:spcBef>
                <a:spcPts val="800"/>
              </a:spcBef>
              <a:defRPr sz="1800"/>
            </a:lvl2pPr>
            <a:lvl3pPr>
              <a:lnSpc>
                <a:spcPct val="120000"/>
              </a:lnSpc>
              <a:spcBef>
                <a:spcPts val="800"/>
              </a:spcBef>
              <a:defRPr sz="1800"/>
            </a:lvl3pPr>
            <a:lvl4pPr>
              <a:lnSpc>
                <a:spcPct val="120000"/>
              </a:lnSpc>
              <a:spcBef>
                <a:spcPts val="800"/>
              </a:spcBef>
              <a:defRPr sz="1800"/>
            </a:lvl4pPr>
            <a:lvl5pPr>
              <a:lnSpc>
                <a:spcPct val="120000"/>
              </a:lnSpc>
              <a:spcBef>
                <a:spcPts val="800"/>
              </a:spcBef>
              <a:defRPr sz="1800"/>
            </a:lvl5pPr>
            <a:extLst/>
          </a:lstStyle>
          <a:p>
            <a:pPr lvl="0" eaLnBrk="1" latinLnBrk="0" hangingPunct="1"/>
            <a:r>
              <a:rPr lang="zh-TW" altLang="en-US" dirty="0" smtClean="0"/>
              <a:t>按一下以編輯母片文字樣式</a:t>
            </a:r>
          </a:p>
          <a:p>
            <a:pPr lvl="1" eaLnBrk="1" latinLnBrk="0" hangingPunct="1"/>
            <a:r>
              <a:rPr lang="zh-TW" altLang="en-US" dirty="0" smtClean="0"/>
              <a:t>第二層</a:t>
            </a:r>
          </a:p>
          <a:p>
            <a:pPr lvl="2" eaLnBrk="1" latinLnBrk="0" hangingPunct="1"/>
            <a:r>
              <a:rPr lang="zh-TW" altLang="en-US" dirty="0" smtClean="0"/>
              <a:t>第三層</a:t>
            </a:r>
          </a:p>
          <a:p>
            <a:pPr lvl="3" eaLnBrk="1" latinLnBrk="0" hangingPunct="1"/>
            <a:r>
              <a:rPr lang="zh-TW" altLang="en-US" dirty="0" smtClean="0"/>
              <a:t>第四層</a:t>
            </a:r>
          </a:p>
          <a:p>
            <a:pPr lvl="4" eaLnBrk="1" latinLnBrk="0" hangingPunct="1"/>
            <a:r>
              <a:rPr lang="zh-TW" altLang="en-US" dirty="0" smtClean="0"/>
              <a:t>第五層</a:t>
            </a:r>
            <a:endParaRPr kumimoji="0"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320040"/>
            <a:ext cx="7242048" cy="1143000"/>
          </a:xfrm>
        </p:spPr>
        <p:txBody>
          <a:bodyPr anchor="b"/>
          <a:lstStyle>
            <a:lvl1pPr>
              <a:defRPr/>
            </a:lvl1pPr>
            <a:extLst/>
          </a:lstStyle>
          <a:p>
            <a:r>
              <a:rPr kumimoji="0" lang="zh-TW" altLang="en-US" smtClean="0"/>
              <a:t>按一下以編輯母片標題樣式</a:t>
            </a:r>
            <a:endParaRPr kumimoji="0" lang="en-US"/>
          </a:p>
        </p:txBody>
      </p:sp>
      <p:sp>
        <p:nvSpPr>
          <p:cNvPr id="3" name="文字版面配置區 2"/>
          <p:cNvSpPr>
            <a:spLocks noGrp="1"/>
          </p:cNvSpPr>
          <p:nvPr>
            <p:ph type="body" idx="1"/>
          </p:nvPr>
        </p:nvSpPr>
        <p:spPr>
          <a:xfrm>
            <a:off x="457200" y="5867400"/>
            <a:ext cx="3520440" cy="457200"/>
          </a:xfrm>
          <a:noFill/>
          <a:ln w="12700" cap="flat" cmpd="sng" algn="ctr">
            <a:solidFill>
              <a:schemeClr val="tx2"/>
            </a:solidFill>
            <a:prstDash val="solid"/>
          </a:ln>
          <a:effectLst/>
        </p:spPr>
        <p:style>
          <a:lnRef idx="1">
            <a:schemeClr val="accent1"/>
          </a:lnRef>
          <a:fillRef idx="3">
            <a:schemeClr val="accent1"/>
          </a:fillRef>
          <a:effectRef idx="2">
            <a:schemeClr val="accent1"/>
          </a:effectRef>
          <a:fontRef idx="minor">
            <a:schemeClr val="lt1"/>
          </a:fontRef>
        </p:style>
        <p:txBody>
          <a:bodyPr anchor="ctr"/>
          <a:lstStyle>
            <a:lvl1pPr marL="0" indent="0" algn="ctr">
              <a:buNone/>
              <a:defRPr sz="1800" b="1">
                <a:solidFill>
                  <a:schemeClr val="tx2"/>
                </a:solidFill>
                <a:effectLst/>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zh-TW" altLang="en-US" smtClean="0"/>
              <a:t>按一下以編輯母片文字樣式</a:t>
            </a:r>
          </a:p>
        </p:txBody>
      </p:sp>
      <p:sp>
        <p:nvSpPr>
          <p:cNvPr id="4" name="文字版面配置區 3"/>
          <p:cNvSpPr>
            <a:spLocks noGrp="1"/>
          </p:cNvSpPr>
          <p:nvPr>
            <p:ph type="body" sz="half" idx="3"/>
          </p:nvPr>
        </p:nvSpPr>
        <p:spPr>
          <a:xfrm>
            <a:off x="4178808" y="5867400"/>
            <a:ext cx="3520440" cy="457200"/>
          </a:xfrm>
          <a:noFill/>
          <a:ln w="12700" cap="flat" cmpd="sng" algn="ctr">
            <a:solidFill>
              <a:schemeClr val="tx2"/>
            </a:solidFill>
            <a:prstDash val="solid"/>
          </a:ln>
          <a:effectLst/>
        </p:spPr>
        <p:style>
          <a:lnRef idx="1">
            <a:schemeClr val="accent2"/>
          </a:lnRef>
          <a:fillRef idx="3">
            <a:schemeClr val="accent2"/>
          </a:fillRef>
          <a:effectRef idx="2">
            <a:schemeClr val="accent2"/>
          </a:effectRef>
          <a:fontRef idx="minor">
            <a:schemeClr val="lt1"/>
          </a:fontRef>
        </p:style>
        <p:txBody>
          <a:bodyPr anchor="ctr"/>
          <a:lstStyle>
            <a:lvl1pPr marL="0" indent="0" algn="ctr">
              <a:buNone/>
              <a:defRPr sz="1800" b="1">
                <a:solidFill>
                  <a:schemeClr val="tx2"/>
                </a:solidFill>
                <a:effectLst/>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zh-TW" altLang="en-US" smtClean="0"/>
              <a:t>按一下以編輯母片文字樣式</a:t>
            </a:r>
          </a:p>
        </p:txBody>
      </p:sp>
      <p:sp>
        <p:nvSpPr>
          <p:cNvPr id="5" name="內容版面配置區 4"/>
          <p:cNvSpPr>
            <a:spLocks noGrp="1"/>
          </p:cNvSpPr>
          <p:nvPr>
            <p:ph sz="quarter" idx="2"/>
          </p:nvPr>
        </p:nvSpPr>
        <p:spPr>
          <a:xfrm>
            <a:off x="457200" y="1711840"/>
            <a:ext cx="3520440" cy="4114800"/>
          </a:xfrm>
        </p:spPr>
        <p:txBody>
          <a:bodyPr/>
          <a:lstStyle>
            <a:lvl1pPr>
              <a:defRPr sz="2400"/>
            </a:lvl1pPr>
            <a:lvl2pPr>
              <a:defRPr sz="2000"/>
            </a:lvl2pPr>
            <a:lvl3pPr>
              <a:defRPr sz="1800"/>
            </a:lvl3pPr>
            <a:lvl4pPr>
              <a:defRPr sz="1600"/>
            </a:lvl4pPr>
            <a:lvl5pPr>
              <a:defRPr sz="1600"/>
            </a:lvl5pPr>
            <a:extLst/>
          </a:lstStyle>
          <a:p>
            <a:pPr lvl="0" eaLnBrk="1" latinLnBrk="0" hangingPunct="1"/>
            <a:r>
              <a:rPr lang="zh-TW" altLang="en-US" smtClean="0"/>
              <a:t>按一下以編輯母片文字樣式</a:t>
            </a:r>
          </a:p>
          <a:p>
            <a:pPr lvl="1" eaLnBrk="1" latinLnBrk="0" hangingPunct="1"/>
            <a:r>
              <a:rPr lang="zh-TW" altLang="en-US" smtClean="0"/>
              <a:t>第二層</a:t>
            </a:r>
          </a:p>
          <a:p>
            <a:pPr lvl="2" eaLnBrk="1" latinLnBrk="0" hangingPunct="1"/>
            <a:r>
              <a:rPr lang="zh-TW" altLang="en-US" smtClean="0"/>
              <a:t>第三層</a:t>
            </a:r>
          </a:p>
          <a:p>
            <a:pPr lvl="3" eaLnBrk="1" latinLnBrk="0" hangingPunct="1"/>
            <a:r>
              <a:rPr lang="zh-TW" altLang="en-US" smtClean="0"/>
              <a:t>第四層</a:t>
            </a:r>
          </a:p>
          <a:p>
            <a:pPr lvl="4" eaLnBrk="1" latinLnBrk="0" hangingPunct="1"/>
            <a:r>
              <a:rPr lang="zh-TW" altLang="en-US" smtClean="0"/>
              <a:t>第五層</a:t>
            </a:r>
            <a:endParaRPr kumimoji="0" lang="en-US"/>
          </a:p>
        </p:txBody>
      </p:sp>
      <p:sp>
        <p:nvSpPr>
          <p:cNvPr id="6" name="內容版面配置區 5"/>
          <p:cNvSpPr>
            <a:spLocks noGrp="1"/>
          </p:cNvSpPr>
          <p:nvPr>
            <p:ph sz="quarter" idx="4"/>
          </p:nvPr>
        </p:nvSpPr>
        <p:spPr>
          <a:xfrm>
            <a:off x="4178808" y="1711840"/>
            <a:ext cx="3520440" cy="4114800"/>
          </a:xfrm>
        </p:spPr>
        <p:txBody>
          <a:bodyPr/>
          <a:lstStyle>
            <a:lvl1pPr>
              <a:defRPr sz="2400"/>
            </a:lvl1pPr>
            <a:lvl2pPr>
              <a:defRPr sz="2000"/>
            </a:lvl2pPr>
            <a:lvl3pPr>
              <a:defRPr sz="1800"/>
            </a:lvl3pPr>
            <a:lvl4pPr>
              <a:defRPr sz="1600"/>
            </a:lvl4pPr>
            <a:lvl5pPr>
              <a:defRPr sz="1600"/>
            </a:lvl5pPr>
            <a:extLst/>
          </a:lstStyle>
          <a:p>
            <a:pPr lvl="0" eaLnBrk="1" latinLnBrk="0" hangingPunct="1"/>
            <a:r>
              <a:rPr lang="zh-TW" altLang="en-US" smtClean="0"/>
              <a:t>按一下以編輯母片文字樣式</a:t>
            </a:r>
          </a:p>
          <a:p>
            <a:pPr lvl="1" eaLnBrk="1" latinLnBrk="0" hangingPunct="1"/>
            <a:r>
              <a:rPr lang="zh-TW" altLang="en-US" smtClean="0"/>
              <a:t>第二層</a:t>
            </a:r>
          </a:p>
          <a:p>
            <a:pPr lvl="2" eaLnBrk="1" latinLnBrk="0" hangingPunct="1"/>
            <a:r>
              <a:rPr lang="zh-TW" altLang="en-US" smtClean="0"/>
              <a:t>第三層</a:t>
            </a:r>
          </a:p>
          <a:p>
            <a:pPr lvl="3" eaLnBrk="1" latinLnBrk="0" hangingPunct="1"/>
            <a:r>
              <a:rPr lang="zh-TW" altLang="en-US" smtClean="0"/>
              <a:t>第四層</a:t>
            </a:r>
          </a:p>
          <a:p>
            <a:pPr lvl="4" eaLnBrk="1" latinLnBrk="0" hangingPunct="1"/>
            <a:r>
              <a:rPr lang="zh-TW" altLang="en-US" smtClean="0"/>
              <a:t>第五層</a:t>
            </a:r>
            <a:endParaRPr kumimoji="0" lang="en-US"/>
          </a:p>
        </p:txBody>
      </p:sp>
      <p:sp>
        <p:nvSpPr>
          <p:cNvPr id="7" name="日期版面配置區 6"/>
          <p:cNvSpPr>
            <a:spLocks noGrp="1"/>
          </p:cNvSpPr>
          <p:nvPr>
            <p:ph type="dt" sz="half" idx="10"/>
          </p:nvPr>
        </p:nvSpPr>
        <p:spPr>
          <a:xfrm>
            <a:off x="4245936" y="6557946"/>
            <a:ext cx="2002464" cy="226902"/>
          </a:xfrm>
          <a:prstGeom prst="rect">
            <a:avLst/>
          </a:prstGeom>
        </p:spPr>
        <p:txBody>
          <a:bodyPr/>
          <a:lstStyle/>
          <a:p>
            <a:fld id="{4A3E55C4-1B54-4260-BC9F-92F1C3DAF52B}" type="datetimeFigureOut">
              <a:rPr lang="zh-TW" altLang="en-US" smtClean="0"/>
              <a:pPr/>
              <a:t>2025/12/1</a:t>
            </a:fld>
            <a:endParaRPr lang="zh-TW" altLang="en-US"/>
          </a:p>
        </p:txBody>
      </p:sp>
      <p:sp>
        <p:nvSpPr>
          <p:cNvPr id="8" name="頁尾版面配置區 7"/>
          <p:cNvSpPr>
            <a:spLocks noGrp="1"/>
          </p:cNvSpPr>
          <p:nvPr>
            <p:ph type="ftr" sz="quarter" idx="11"/>
          </p:nvPr>
        </p:nvSpPr>
        <p:spPr>
          <a:xfrm>
            <a:off x="285720" y="6572272"/>
            <a:ext cx="3829080" cy="214274"/>
          </a:xfrm>
          <a:prstGeom prst="rect">
            <a:avLst/>
          </a:prstGeom>
        </p:spPr>
        <p:txBody>
          <a:bodyPr/>
          <a:lstStyle/>
          <a:p>
            <a:endParaRPr lang="zh-TW" altLang="en-US"/>
          </a:p>
        </p:txBody>
      </p:sp>
      <p:sp>
        <p:nvSpPr>
          <p:cNvPr id="9" name="投影片編號版面配置區 8"/>
          <p:cNvSpPr>
            <a:spLocks noGrp="1"/>
          </p:cNvSpPr>
          <p:nvPr>
            <p:ph type="sldNum" sz="quarter" idx="12"/>
          </p:nvPr>
        </p:nvSpPr>
        <p:spPr>
          <a:xfrm>
            <a:off x="7929586" y="6556248"/>
            <a:ext cx="588336" cy="228600"/>
          </a:xfrm>
          <a:prstGeom prst="rect">
            <a:avLst/>
          </a:prstGeom>
        </p:spPr>
        <p:txBody>
          <a:bodyPr/>
          <a:lstStyle/>
          <a:p>
            <a:fld id="{43A45172-8F7E-402C-BA55-470F886D373C}" type="slidenum">
              <a:rPr lang="zh-TW" altLang="en-US" smtClean="0"/>
              <a:pPr/>
              <a:t>‹#›</a:t>
            </a:fld>
            <a:endParaRPr lang="zh-TW"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a:xfrm>
            <a:off x="285720" y="320040"/>
            <a:ext cx="8072494" cy="680068"/>
          </a:xfrm>
        </p:spPr>
        <p:txBody>
          <a:bodyPr/>
          <a:lstStyle/>
          <a:p>
            <a:r>
              <a:rPr kumimoji="0" lang="zh-TW" altLang="en-US" dirty="0" smtClean="0"/>
              <a:t>按一下以編輯母片標題樣式</a:t>
            </a:r>
            <a:endParaRPr kumimoji="0" lang="en-US" dirty="0"/>
          </a:p>
        </p:txBody>
      </p:sp>
      <p:sp>
        <p:nvSpPr>
          <p:cNvPr id="6" name="頁尾版面配置區 3"/>
          <p:cNvSpPr>
            <a:spLocks noGrp="1"/>
          </p:cNvSpPr>
          <p:nvPr>
            <p:ph type="ftr" sz="quarter" idx="3"/>
          </p:nvPr>
        </p:nvSpPr>
        <p:spPr>
          <a:xfrm>
            <a:off x="285720" y="6572272"/>
            <a:ext cx="3829080" cy="214274"/>
          </a:xfrm>
          <a:prstGeom prst="rect">
            <a:avLst/>
          </a:prstGeom>
        </p:spPr>
        <p:txBody>
          <a:bodyPr vert="horz" tIns="0" bIns="0" anchor="b"/>
          <a:lstStyle>
            <a:lvl1pPr algn="l" eaLnBrk="1" latinLnBrk="0" hangingPunct="1">
              <a:defRPr kumimoji="0" sz="1000">
                <a:solidFill>
                  <a:schemeClr val="tx2"/>
                </a:solidFill>
              </a:defRPr>
            </a:lvl1pPr>
            <a:extLst/>
          </a:lstStyle>
          <a:p>
            <a:r>
              <a:rPr lang="en-US" altLang="zh-TW" dirty="0" smtClean="0"/>
              <a:t>Information Security Course and Laboratories (ISCAL)</a:t>
            </a:r>
            <a:endParaRPr lang="zh-TW" altLang="en-US" dirty="0"/>
          </a:p>
        </p:txBody>
      </p:sp>
      <p:sp>
        <p:nvSpPr>
          <p:cNvPr id="7" name="投影片編號版面配置區 15"/>
          <p:cNvSpPr>
            <a:spLocks noGrp="1"/>
          </p:cNvSpPr>
          <p:nvPr>
            <p:ph type="sldNum" sz="quarter" idx="4"/>
          </p:nvPr>
        </p:nvSpPr>
        <p:spPr>
          <a:xfrm>
            <a:off x="7929586" y="6556248"/>
            <a:ext cx="588336" cy="228600"/>
          </a:xfrm>
          <a:prstGeom prst="rect">
            <a:avLst/>
          </a:prstGeom>
        </p:spPr>
        <p:txBody>
          <a:bodyPr vert="horz" lIns="0" tIns="0" rIns="0" bIns="0" anchor="b"/>
          <a:lstStyle>
            <a:lvl1pPr algn="r" eaLnBrk="1" latinLnBrk="0" hangingPunct="1">
              <a:defRPr kumimoji="0" sz="1100">
                <a:solidFill>
                  <a:schemeClr val="tx2"/>
                </a:solidFill>
              </a:defRPr>
            </a:lvl1pPr>
            <a:extLst/>
          </a:lstStyle>
          <a:p>
            <a:fld id="{1F999C51-7129-4ACB-A1F5-532040B605C4}" type="slidenum">
              <a:rPr lang="zh-TW" altLang="en-US" smtClean="0"/>
              <a:pPr/>
              <a:t>‹#›</a:t>
            </a:fld>
            <a:endParaRPr lang="zh-TW"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a:xfrm>
            <a:off x="4245936" y="6557946"/>
            <a:ext cx="2002464" cy="226902"/>
          </a:xfrm>
          <a:prstGeom prst="rect">
            <a:avLst/>
          </a:prstGeom>
        </p:spPr>
        <p:txBody>
          <a:bodyPr/>
          <a:lstStyle>
            <a:lvl1pPr>
              <a:defRPr>
                <a:solidFill>
                  <a:schemeClr val="tx2"/>
                </a:solidFill>
              </a:defRPr>
            </a:lvl1pPr>
            <a:extLst/>
          </a:lstStyle>
          <a:p>
            <a:fld id="{4A3E55C4-1B54-4260-BC9F-92F1C3DAF52B}" type="datetimeFigureOut">
              <a:rPr lang="zh-TW" altLang="en-US" smtClean="0"/>
              <a:pPr/>
              <a:t>2025/12/1</a:t>
            </a:fld>
            <a:endParaRPr lang="zh-TW" altLang="en-US"/>
          </a:p>
        </p:txBody>
      </p:sp>
      <p:sp>
        <p:nvSpPr>
          <p:cNvPr id="3" name="頁尾版面配置區 2"/>
          <p:cNvSpPr>
            <a:spLocks noGrp="1"/>
          </p:cNvSpPr>
          <p:nvPr>
            <p:ph type="ftr" sz="quarter" idx="11"/>
          </p:nvPr>
        </p:nvSpPr>
        <p:spPr>
          <a:xfrm>
            <a:off x="285720" y="6572272"/>
            <a:ext cx="3829080" cy="214274"/>
          </a:xfrm>
          <a:prstGeom prst="rect">
            <a:avLst/>
          </a:prstGeom>
        </p:spPr>
        <p:txBody>
          <a:bodyPr/>
          <a:lstStyle>
            <a:lvl1pPr>
              <a:defRPr>
                <a:solidFill>
                  <a:schemeClr val="tx2"/>
                </a:solidFill>
              </a:defRPr>
            </a:lvl1pPr>
            <a:extLst/>
          </a:lstStyle>
          <a:p>
            <a:endParaRPr lang="zh-TW" altLang="en-US"/>
          </a:p>
        </p:txBody>
      </p:sp>
      <p:sp>
        <p:nvSpPr>
          <p:cNvPr id="4" name="投影片編號版面配置區 3"/>
          <p:cNvSpPr>
            <a:spLocks noGrp="1"/>
          </p:cNvSpPr>
          <p:nvPr>
            <p:ph type="sldNum" sz="quarter" idx="12"/>
          </p:nvPr>
        </p:nvSpPr>
        <p:spPr>
          <a:xfrm>
            <a:off x="7929586" y="6556248"/>
            <a:ext cx="588336" cy="228600"/>
          </a:xfrm>
          <a:prstGeom prst="rect">
            <a:avLst/>
          </a:prstGeom>
        </p:spPr>
        <p:txBody>
          <a:bodyPr/>
          <a:lstStyle/>
          <a:p>
            <a:fld id="{43A45172-8F7E-402C-BA55-470F886D373C}" type="slidenum">
              <a:rPr lang="zh-TW" altLang="en-US" smtClean="0"/>
              <a:pPr/>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28600"/>
            <a:ext cx="5897880" cy="1173480"/>
          </a:xfrm>
        </p:spPr>
        <p:txBody>
          <a:bodyPr wrap="square" anchor="b"/>
          <a:lstStyle>
            <a:lvl1pPr algn="l">
              <a:buNone/>
              <a:defRPr lang="en-US" sz="2400" baseline="0" smtClean="0"/>
            </a:lvl1pPr>
            <a:extLst/>
          </a:lstStyle>
          <a:p>
            <a:r>
              <a:rPr kumimoji="0" lang="zh-TW" altLang="en-US" smtClean="0"/>
              <a:t>按一下以編輯母片標題樣式</a:t>
            </a:r>
            <a:endParaRPr kumimoji="0" lang="en-US"/>
          </a:p>
        </p:txBody>
      </p:sp>
      <p:sp>
        <p:nvSpPr>
          <p:cNvPr id="3" name="文字版面配置區 2"/>
          <p:cNvSpPr>
            <a:spLocks noGrp="1"/>
          </p:cNvSpPr>
          <p:nvPr>
            <p:ph type="body" idx="2"/>
          </p:nvPr>
        </p:nvSpPr>
        <p:spPr>
          <a:xfrm>
            <a:off x="457200" y="1497416"/>
            <a:ext cx="5897880" cy="602512"/>
          </a:xfrm>
        </p:spPr>
        <p:txBody>
          <a:bodyPr rot="0" spcFirstLastPara="0" vertOverflow="overflow" horzOverflow="overflow" vert="horz" wrap="square" lIns="45720" tIns="0" rIns="0" bIns="0" numCol="1" spcCol="0" rtlCol="0" fromWordArt="0" anchor="t" anchorCtr="0" forceAA="0" compatLnSpc="1">
            <a:normAutofit/>
          </a:bodyPr>
          <a:lstStyle>
            <a:lvl1pPr marL="0" indent="0">
              <a:spcBef>
                <a:spcPts val="0"/>
              </a:spcBef>
              <a:spcAft>
                <a:spcPts val="0"/>
              </a:spcAft>
              <a:buNone/>
              <a:defRPr sz="1400"/>
            </a:lvl1pPr>
            <a:lvl2pPr>
              <a:buNone/>
              <a:defRPr sz="1200"/>
            </a:lvl2pPr>
            <a:lvl3pPr>
              <a:buNone/>
              <a:defRPr sz="1000"/>
            </a:lvl3pPr>
            <a:lvl4pPr>
              <a:buNone/>
              <a:defRPr sz="900"/>
            </a:lvl4pPr>
            <a:lvl5pPr>
              <a:buNone/>
              <a:defRPr sz="900"/>
            </a:lvl5pPr>
            <a:extLst/>
          </a:lstStyle>
          <a:p>
            <a:pPr lvl="0" eaLnBrk="1" latinLnBrk="0" hangingPunct="1"/>
            <a:r>
              <a:rPr kumimoji="0" lang="zh-TW" altLang="en-US" smtClean="0"/>
              <a:t>按一下以編輯母片文字樣式</a:t>
            </a:r>
          </a:p>
        </p:txBody>
      </p:sp>
      <p:sp>
        <p:nvSpPr>
          <p:cNvPr id="4" name="內容版面配置區 3"/>
          <p:cNvSpPr>
            <a:spLocks noGrp="1"/>
          </p:cNvSpPr>
          <p:nvPr>
            <p:ph sz="half" idx="1"/>
          </p:nvPr>
        </p:nvSpPr>
        <p:spPr>
          <a:xfrm>
            <a:off x="457200" y="2133600"/>
            <a:ext cx="7239000" cy="4371752"/>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zh-TW" altLang="en-US" smtClean="0"/>
              <a:t>按一下以編輯母片文字樣式</a:t>
            </a:r>
          </a:p>
          <a:p>
            <a:pPr lvl="1" eaLnBrk="1" latinLnBrk="0" hangingPunct="1"/>
            <a:r>
              <a:rPr lang="zh-TW" altLang="en-US" smtClean="0"/>
              <a:t>第二層</a:t>
            </a:r>
          </a:p>
          <a:p>
            <a:pPr lvl="2" eaLnBrk="1" latinLnBrk="0" hangingPunct="1"/>
            <a:r>
              <a:rPr lang="zh-TW" altLang="en-US" smtClean="0"/>
              <a:t>第三層</a:t>
            </a:r>
          </a:p>
          <a:p>
            <a:pPr lvl="3" eaLnBrk="1" latinLnBrk="0" hangingPunct="1"/>
            <a:r>
              <a:rPr lang="zh-TW" altLang="en-US" smtClean="0"/>
              <a:t>第四層</a:t>
            </a:r>
          </a:p>
          <a:p>
            <a:pPr lvl="4" eaLnBrk="1" latinLnBrk="0" hangingPunct="1"/>
            <a:r>
              <a:rPr lang="zh-TW" altLang="en-US" smtClean="0"/>
              <a:t>第五層</a:t>
            </a:r>
            <a:endParaRPr kumimoji="0" lang="en-US"/>
          </a:p>
        </p:txBody>
      </p:sp>
      <p:sp>
        <p:nvSpPr>
          <p:cNvPr id="5" name="日期版面配置區 4"/>
          <p:cNvSpPr>
            <a:spLocks noGrp="1"/>
          </p:cNvSpPr>
          <p:nvPr>
            <p:ph type="dt" sz="half" idx="10"/>
          </p:nvPr>
        </p:nvSpPr>
        <p:spPr>
          <a:xfrm>
            <a:off x="4245936" y="6557946"/>
            <a:ext cx="2002464" cy="226902"/>
          </a:xfrm>
          <a:prstGeom prst="rect">
            <a:avLst/>
          </a:prstGeom>
        </p:spPr>
        <p:txBody>
          <a:bodyPr/>
          <a:lstStyle/>
          <a:p>
            <a:fld id="{4A3E55C4-1B54-4260-BC9F-92F1C3DAF52B}" type="datetimeFigureOut">
              <a:rPr lang="zh-TW" altLang="en-US" smtClean="0"/>
              <a:pPr/>
              <a:t>2025/12/1</a:t>
            </a:fld>
            <a:endParaRPr lang="zh-TW" altLang="en-US"/>
          </a:p>
        </p:txBody>
      </p:sp>
      <p:sp>
        <p:nvSpPr>
          <p:cNvPr id="6" name="頁尾版面配置區 5"/>
          <p:cNvSpPr>
            <a:spLocks noGrp="1"/>
          </p:cNvSpPr>
          <p:nvPr>
            <p:ph type="ftr" sz="quarter" idx="11"/>
          </p:nvPr>
        </p:nvSpPr>
        <p:spPr>
          <a:xfrm>
            <a:off x="285720" y="6572272"/>
            <a:ext cx="3829080" cy="21427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7929586" y="6556248"/>
            <a:ext cx="588336" cy="228600"/>
          </a:xfrm>
          <a:prstGeom prst="rect">
            <a:avLst/>
          </a:prstGeom>
        </p:spPr>
        <p:txBody>
          <a:bodyPr/>
          <a:lstStyle/>
          <a:p>
            <a:fld id="{43A45172-8F7E-402C-BA55-470F886D373C}" type="slidenum">
              <a:rPr lang="zh-TW" altLang="en-US" smtClean="0"/>
              <a:pPr/>
              <a:t>‹#›</a:t>
            </a:fld>
            <a:endParaRPr lang="zh-TW"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bg>
      <p:bgRef idx="1002">
        <a:schemeClr val="bg2"/>
      </p:bgRef>
    </p:bg>
    <p:spTree>
      <p:nvGrpSpPr>
        <p:cNvPr id="1" name=""/>
        <p:cNvGrpSpPr/>
        <p:nvPr/>
      </p:nvGrpSpPr>
      <p:grpSpPr>
        <a:xfrm>
          <a:off x="0" y="0"/>
          <a:ext cx="0" cy="0"/>
          <a:chOff x="0" y="0"/>
          <a:chExt cx="0" cy="0"/>
        </a:xfrm>
      </p:grpSpPr>
      <p:sp>
        <p:nvSpPr>
          <p:cNvPr id="8" name="矩形 7"/>
          <p:cNvSpPr/>
          <p:nvPr/>
        </p:nvSpPr>
        <p:spPr>
          <a:xfrm rot="21240000">
            <a:off x="597968" y="1004668"/>
            <a:ext cx="4319527" cy="4312573"/>
          </a:xfrm>
          <a:prstGeom prst="rect">
            <a:avLst/>
          </a:prstGeom>
          <a:solidFill>
            <a:srgbClr val="FAFAFA"/>
          </a:solidFill>
          <a:ln w="1270" cap="rnd" cmpd="sng" algn="ctr">
            <a:solidFill>
              <a:srgbClr val="EAEAEA"/>
            </a:solidFill>
            <a:prstDash val="solid"/>
          </a:ln>
          <a:effectLst>
            <a:outerShdw blurRad="25000" dist="12700" dir="5400000" algn="t" rotWithShape="0">
              <a:srgbClr val="000000">
                <a:alpha val="4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9" name="矩形 8"/>
          <p:cNvSpPr/>
          <p:nvPr/>
        </p:nvSpPr>
        <p:spPr>
          <a:xfrm rot="21420000">
            <a:off x="596706" y="998816"/>
            <a:ext cx="4319527" cy="4312573"/>
          </a:xfrm>
          <a:prstGeom prst="rect">
            <a:avLst/>
          </a:prstGeom>
          <a:solidFill>
            <a:srgbClr val="FAFAFA"/>
          </a:solidFill>
          <a:ln w="1270" cap="rnd" cmpd="sng" algn="ctr">
            <a:solidFill>
              <a:srgbClr val="EAEAEA"/>
            </a:solidFill>
            <a:prstDash val="solid"/>
          </a:ln>
          <a:effectLst>
            <a:outerShdw blurRad="28000" dist="12700" dir="5400000" algn="tl" rotWithShape="0">
              <a:srgbClr val="000000">
                <a:alpha val="4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標題 1"/>
          <p:cNvSpPr>
            <a:spLocks noGrp="1"/>
          </p:cNvSpPr>
          <p:nvPr>
            <p:ph type="title"/>
          </p:nvPr>
        </p:nvSpPr>
        <p:spPr>
          <a:xfrm>
            <a:off x="5389098" y="1143000"/>
            <a:ext cx="3429000" cy="2057400"/>
          </a:xfrm>
        </p:spPr>
        <p:txBody>
          <a:bodyPr vert="horz" anchor="b"/>
          <a:lstStyle>
            <a:lvl1pPr algn="l">
              <a:buNone/>
              <a:defRPr sz="3000" b="1" baseline="0">
                <a:ln w="500">
                  <a:solidFill>
                    <a:schemeClr val="tx2">
                      <a:shade val="10000"/>
                      <a:satMod val="135000"/>
                    </a:schemeClr>
                  </a:solidFill>
                </a:ln>
                <a:gradFill>
                  <a:gsLst>
                    <a:gs pos="0">
                      <a:schemeClr val="accent4">
                        <a:tint val="13000"/>
                      </a:schemeClr>
                    </a:gs>
                    <a:gs pos="10000">
                      <a:schemeClr val="accent4">
                        <a:tint val="20000"/>
                      </a:schemeClr>
                    </a:gs>
                    <a:gs pos="49000">
                      <a:schemeClr val="accent4">
                        <a:tint val="70000"/>
                      </a:schemeClr>
                    </a:gs>
                    <a:gs pos="50000">
                      <a:schemeClr val="accent4">
                        <a:tint val="97000"/>
                      </a:schemeClr>
                    </a:gs>
                    <a:gs pos="100000">
                      <a:schemeClr val="accent4">
                        <a:tint val="20000"/>
                      </a:schemeClr>
                    </a:gs>
                  </a:gsLst>
                  <a:lin ang="5400000" scaled="1"/>
                </a:gradFill>
                <a:effectLst/>
              </a:defRPr>
            </a:lvl1pPr>
            <a:extLst/>
          </a:lstStyle>
          <a:p>
            <a:r>
              <a:rPr kumimoji="0" lang="zh-TW" altLang="en-US" smtClean="0"/>
              <a:t>按一下以編輯母片標題樣式</a:t>
            </a:r>
            <a:endParaRPr kumimoji="0" lang="en-US" dirty="0"/>
          </a:p>
        </p:txBody>
      </p:sp>
      <p:sp>
        <p:nvSpPr>
          <p:cNvPr id="4" name="文字版面配置區 3"/>
          <p:cNvSpPr>
            <a:spLocks noGrp="1"/>
          </p:cNvSpPr>
          <p:nvPr>
            <p:ph type="body" sz="half" idx="2"/>
          </p:nvPr>
        </p:nvSpPr>
        <p:spPr>
          <a:xfrm>
            <a:off x="5389098" y="3283634"/>
            <a:ext cx="3429000" cy="1920240"/>
          </a:xfrm>
        </p:spPr>
        <p:txBody>
          <a:bodyPr rot="0" spcFirstLastPara="0" vertOverflow="overflow" horzOverflow="overflow" vert="horz" wrap="square" lIns="82296" tIns="0" rIns="0" bIns="0" numCol="1" spcCol="0" rtlCol="0" fromWordArt="0" anchor="t" anchorCtr="0" forceAA="0" compatLnSpc="1">
            <a:normAutofit/>
          </a:bodyPr>
          <a:lstStyle>
            <a:lvl1pPr marL="0" indent="0">
              <a:lnSpc>
                <a:spcPct val="100000"/>
              </a:lnSpc>
              <a:spcBef>
                <a:spcPts val="0"/>
              </a:spcBef>
              <a:buFontTx/>
              <a:buNone/>
              <a:defRPr sz="1400" baseline="0">
                <a:solidFill>
                  <a:schemeClr val="tx1"/>
                </a:solidFill>
              </a:defRPr>
            </a:lvl1pPr>
            <a:lvl2pPr>
              <a:defRPr sz="1200"/>
            </a:lvl2pPr>
            <a:lvl3pPr>
              <a:defRPr sz="1000"/>
            </a:lvl3pPr>
            <a:lvl4pPr>
              <a:defRPr sz="900"/>
            </a:lvl4pPr>
            <a:lvl5pPr>
              <a:defRPr sz="900"/>
            </a:lvl5pPr>
            <a:extLst/>
          </a:lstStyle>
          <a:p>
            <a:pPr marL="0" marR="0" lvl="0" indent="0" algn="l" defTabSz="0" rtl="0" eaLnBrk="1" fontAlgn="auto" latinLnBrk="0" hangingPunct="1">
              <a:lnSpc>
                <a:spcPct val="100000"/>
              </a:lnSpc>
              <a:spcBef>
                <a:spcPts val="0"/>
              </a:spcBef>
              <a:spcAft>
                <a:spcPts val="0"/>
              </a:spcAft>
              <a:buClr>
                <a:schemeClr val="tx2"/>
              </a:buClr>
              <a:buSzPct val="73000"/>
              <a:buFontTx/>
              <a:buNone/>
              <a:tabLst/>
              <a:defRPr/>
            </a:pPr>
            <a:r>
              <a:rPr kumimoji="0" lang="zh-TW" altLang="en-US" smtClean="0"/>
              <a:t>按一下以編輯母片文字樣式</a:t>
            </a:r>
          </a:p>
        </p:txBody>
      </p:sp>
      <p:sp>
        <p:nvSpPr>
          <p:cNvPr id="5" name="日期版面配置區 4"/>
          <p:cNvSpPr>
            <a:spLocks noGrp="1"/>
          </p:cNvSpPr>
          <p:nvPr>
            <p:ph type="dt" sz="half" idx="10"/>
          </p:nvPr>
        </p:nvSpPr>
        <p:spPr>
          <a:xfrm>
            <a:off x="4245936" y="6557946"/>
            <a:ext cx="2002464" cy="226902"/>
          </a:xfrm>
          <a:prstGeom prst="rect">
            <a:avLst/>
          </a:prstGeom>
        </p:spPr>
        <p:txBody>
          <a:bodyPr/>
          <a:lstStyle/>
          <a:p>
            <a:fld id="{4A3E55C4-1B54-4260-BC9F-92F1C3DAF52B}" type="datetimeFigureOut">
              <a:rPr lang="zh-TW" altLang="en-US" smtClean="0"/>
              <a:pPr/>
              <a:t>2025/12/1</a:t>
            </a:fld>
            <a:endParaRPr lang="zh-TW" altLang="en-US"/>
          </a:p>
        </p:txBody>
      </p:sp>
      <p:sp>
        <p:nvSpPr>
          <p:cNvPr id="6" name="頁尾版面配置區 5"/>
          <p:cNvSpPr>
            <a:spLocks noGrp="1"/>
          </p:cNvSpPr>
          <p:nvPr>
            <p:ph type="ftr" sz="quarter" idx="11"/>
          </p:nvPr>
        </p:nvSpPr>
        <p:spPr>
          <a:xfrm>
            <a:off x="285720" y="6572272"/>
            <a:ext cx="3829080" cy="21427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7929586" y="6556248"/>
            <a:ext cx="588336" cy="228600"/>
          </a:xfrm>
          <a:prstGeom prst="rect">
            <a:avLst/>
          </a:prstGeom>
        </p:spPr>
        <p:txBody>
          <a:bodyPr/>
          <a:lstStyle/>
          <a:p>
            <a:fld id="{43A45172-8F7E-402C-BA55-470F886D373C}" type="slidenum">
              <a:rPr lang="zh-TW" altLang="en-US" smtClean="0"/>
              <a:pPr/>
              <a:t>‹#›</a:t>
            </a:fld>
            <a:endParaRPr lang="zh-TW" altLang="en-US"/>
          </a:p>
        </p:txBody>
      </p:sp>
      <p:sp>
        <p:nvSpPr>
          <p:cNvPr id="10" name="圖片版面配置區 9"/>
          <p:cNvSpPr>
            <a:spLocks noGrp="1"/>
          </p:cNvSpPr>
          <p:nvPr>
            <p:ph type="pic" idx="1"/>
          </p:nvPr>
        </p:nvSpPr>
        <p:spPr>
          <a:xfrm>
            <a:off x="663682" y="1041002"/>
            <a:ext cx="4206240" cy="4206240"/>
          </a:xfrm>
          <a:solidFill>
            <a:schemeClr val="bg2">
              <a:shade val="50000"/>
            </a:schemeClr>
          </a:solidFill>
          <a:ln w="107950">
            <a:solidFill>
              <a:srgbClr val="FFFFFF"/>
            </a:solidFill>
            <a:miter lim="800000"/>
          </a:ln>
          <a:effectLst>
            <a:outerShdw blurRad="44450" dist="3810" dir="5400000" algn="tl" rotWithShape="0">
              <a:srgbClr val="000000">
                <a:alpha val="60000"/>
              </a:srgbClr>
            </a:outerShdw>
          </a:effectLst>
          <a:scene3d>
            <a:camera prst="orthographicFront"/>
            <a:lightRig rig="threePt" dir="t"/>
          </a:scene3d>
          <a:sp3d contourW="3810">
            <a:contourClr>
              <a:srgbClr val="969696"/>
            </a:contourClr>
          </a:sp3d>
        </p:spPr>
        <p:txBody>
          <a:bodyPr/>
          <a:lstStyle>
            <a:lvl1pPr marL="0" indent="0">
              <a:buNone/>
              <a:defRPr sz="3200"/>
            </a:lvl1pPr>
            <a:extLst/>
          </a:lstStyle>
          <a:p>
            <a:r>
              <a:rPr kumimoji="0" lang="zh-TW" altLang="en-US" smtClean="0"/>
              <a:t>按一下圖示以新增圖片</a:t>
            </a:r>
            <a:endParaRPr kumimoji="0"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smtClean="0"/>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smtClean="0"/>
              <a:t>按一下以編輯母片文字樣式</a:t>
            </a:r>
          </a:p>
          <a:p>
            <a:pPr lvl="1" eaLnBrk="1" latinLnBrk="0" hangingPunct="1"/>
            <a:r>
              <a:rPr lang="zh-TW" altLang="en-US" smtClean="0"/>
              <a:t>第二層</a:t>
            </a:r>
          </a:p>
          <a:p>
            <a:pPr lvl="2" eaLnBrk="1" latinLnBrk="0" hangingPunct="1"/>
            <a:r>
              <a:rPr lang="zh-TW" altLang="en-US" smtClean="0"/>
              <a:t>第三層</a:t>
            </a:r>
          </a:p>
          <a:p>
            <a:pPr lvl="3" eaLnBrk="1" latinLnBrk="0" hangingPunct="1"/>
            <a:r>
              <a:rPr lang="zh-TW" altLang="en-US" smtClean="0"/>
              <a:t>第四層</a:t>
            </a:r>
          </a:p>
          <a:p>
            <a:pPr lvl="4" eaLnBrk="1" latinLnBrk="0" hangingPunct="1"/>
            <a:r>
              <a:rPr lang="zh-TW" altLang="en-US" smtClean="0"/>
              <a:t>第五層</a:t>
            </a:r>
            <a:endParaRPr kumimoji="0" lang="en-US"/>
          </a:p>
        </p:txBody>
      </p:sp>
      <p:sp>
        <p:nvSpPr>
          <p:cNvPr id="4" name="日期版面配置區 3"/>
          <p:cNvSpPr>
            <a:spLocks noGrp="1"/>
          </p:cNvSpPr>
          <p:nvPr>
            <p:ph type="dt" sz="half" idx="10"/>
          </p:nvPr>
        </p:nvSpPr>
        <p:spPr>
          <a:xfrm>
            <a:off x="4245936" y="6557946"/>
            <a:ext cx="2002464" cy="226902"/>
          </a:xfrm>
          <a:prstGeom prst="rect">
            <a:avLst/>
          </a:prstGeom>
        </p:spPr>
        <p:txBody>
          <a:bodyPr/>
          <a:lstStyle/>
          <a:p>
            <a:fld id="{4A3E55C4-1B54-4260-BC9F-92F1C3DAF52B}" type="datetimeFigureOut">
              <a:rPr lang="zh-TW" altLang="en-US" smtClean="0"/>
              <a:pPr/>
              <a:t>2025/12/1</a:t>
            </a:fld>
            <a:endParaRPr lang="zh-TW" altLang="en-US"/>
          </a:p>
        </p:txBody>
      </p:sp>
      <p:sp>
        <p:nvSpPr>
          <p:cNvPr id="5" name="頁尾版面配置區 4"/>
          <p:cNvSpPr>
            <a:spLocks noGrp="1"/>
          </p:cNvSpPr>
          <p:nvPr>
            <p:ph type="ftr" sz="quarter" idx="11"/>
          </p:nvPr>
        </p:nvSpPr>
        <p:spPr>
          <a:xfrm>
            <a:off x="285720" y="6572272"/>
            <a:ext cx="3829080" cy="214274"/>
          </a:xfrm>
          <a:prstGeom prst="rect">
            <a:avLst/>
          </a:prstGeom>
        </p:spPr>
        <p:txBody>
          <a:bodyPr/>
          <a:lstStyle/>
          <a:p>
            <a:endParaRPr lang="zh-TW" altLang="en-US"/>
          </a:p>
        </p:txBody>
      </p:sp>
      <p:sp>
        <p:nvSpPr>
          <p:cNvPr id="6" name="投影片編號版面配置區 5"/>
          <p:cNvSpPr>
            <a:spLocks noGrp="1"/>
          </p:cNvSpPr>
          <p:nvPr>
            <p:ph type="sldNum" sz="quarter" idx="12"/>
          </p:nvPr>
        </p:nvSpPr>
        <p:spPr>
          <a:xfrm>
            <a:off x="7929586" y="6556248"/>
            <a:ext cx="588336" cy="228600"/>
          </a:xfrm>
          <a:prstGeom prst="rect">
            <a:avLst/>
          </a:prstGeom>
        </p:spPr>
        <p:txBody>
          <a:bodyPr/>
          <a:lstStyle/>
          <a:p>
            <a:fld id="{43A45172-8F7E-402C-BA55-470F886D373C}" type="slidenum">
              <a:rPr lang="zh-TW" altLang="en-US" smtClean="0"/>
              <a:pPr/>
              <a:t>‹#›</a:t>
            </a:fld>
            <a:endParaRPr lang="zh-TW"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7215206" y="274955"/>
            <a:ext cx="861994" cy="5851525"/>
          </a:xfrm>
        </p:spPr>
        <p:txBody>
          <a:bodyPr vert="eaVert" anchor="t"/>
          <a:lstStyle/>
          <a:p>
            <a:r>
              <a:rPr kumimoji="0" lang="zh-TW" altLang="en-US" smtClean="0"/>
              <a:t>按一下以編輯母片標題樣式</a:t>
            </a:r>
            <a:endParaRPr kumimoji="0" lang="en-US"/>
          </a:p>
        </p:txBody>
      </p:sp>
      <p:sp>
        <p:nvSpPr>
          <p:cNvPr id="3" name="直排文字版面配置區 2"/>
          <p:cNvSpPr>
            <a:spLocks noGrp="1"/>
          </p:cNvSpPr>
          <p:nvPr>
            <p:ph type="body" orient="vert" idx="1"/>
          </p:nvPr>
        </p:nvSpPr>
        <p:spPr>
          <a:xfrm>
            <a:off x="457200" y="274642"/>
            <a:ext cx="6472254" cy="5851525"/>
          </a:xfrm>
        </p:spPr>
        <p:txBody>
          <a:bodyPr vert="eaVert"/>
          <a:lstStyle/>
          <a:p>
            <a:pPr lvl="0" eaLnBrk="1" latinLnBrk="0" hangingPunct="1"/>
            <a:r>
              <a:rPr lang="zh-TW" altLang="en-US" dirty="0" smtClean="0"/>
              <a:t>按一下以編輯母片文字樣式</a:t>
            </a:r>
          </a:p>
          <a:p>
            <a:pPr lvl="1" eaLnBrk="1" latinLnBrk="0" hangingPunct="1"/>
            <a:r>
              <a:rPr lang="zh-TW" altLang="en-US" dirty="0" smtClean="0"/>
              <a:t>第二層</a:t>
            </a:r>
          </a:p>
          <a:p>
            <a:pPr lvl="2" eaLnBrk="1" latinLnBrk="0" hangingPunct="1"/>
            <a:r>
              <a:rPr lang="zh-TW" altLang="en-US" dirty="0" smtClean="0"/>
              <a:t>第三層</a:t>
            </a:r>
          </a:p>
          <a:p>
            <a:pPr lvl="3" eaLnBrk="1" latinLnBrk="0" hangingPunct="1"/>
            <a:r>
              <a:rPr lang="zh-TW" altLang="en-US" dirty="0" smtClean="0"/>
              <a:t>第四層</a:t>
            </a:r>
          </a:p>
          <a:p>
            <a:pPr lvl="4" eaLnBrk="1" latinLnBrk="0" hangingPunct="1"/>
            <a:r>
              <a:rPr lang="zh-TW" altLang="en-US" dirty="0" smtClean="0"/>
              <a:t>第五層</a:t>
            </a:r>
            <a:endParaRPr kumimoji="0" lang="en-US" dirty="0"/>
          </a:p>
        </p:txBody>
      </p:sp>
      <p:sp>
        <p:nvSpPr>
          <p:cNvPr id="4" name="日期版面配置區 3"/>
          <p:cNvSpPr>
            <a:spLocks noGrp="1"/>
          </p:cNvSpPr>
          <p:nvPr>
            <p:ph type="dt" sz="half" idx="10"/>
          </p:nvPr>
        </p:nvSpPr>
        <p:spPr>
          <a:xfrm>
            <a:off x="4242816" y="6557946"/>
            <a:ext cx="2002464" cy="226902"/>
          </a:xfrm>
          <a:prstGeom prst="rect">
            <a:avLst/>
          </a:prstGeom>
        </p:spPr>
        <p:txBody>
          <a:bodyPr/>
          <a:lstStyle/>
          <a:p>
            <a:fld id="{4A3E55C4-1B54-4260-BC9F-92F1C3DAF52B}" type="datetimeFigureOut">
              <a:rPr lang="zh-TW" altLang="en-US" smtClean="0"/>
              <a:pPr/>
              <a:t>2025/12/1</a:t>
            </a:fld>
            <a:endParaRPr lang="zh-TW" altLang="en-US"/>
          </a:p>
        </p:txBody>
      </p:sp>
      <p:sp>
        <p:nvSpPr>
          <p:cNvPr id="5" name="頁尾版面配置區 4"/>
          <p:cNvSpPr>
            <a:spLocks noGrp="1"/>
          </p:cNvSpPr>
          <p:nvPr>
            <p:ph type="ftr" sz="quarter" idx="11"/>
          </p:nvPr>
        </p:nvSpPr>
        <p:spPr>
          <a:xfrm>
            <a:off x="457200" y="6556248"/>
            <a:ext cx="3657600" cy="228600"/>
          </a:xfrm>
          <a:prstGeom prst="rect">
            <a:avLst/>
          </a:prstGeom>
        </p:spPr>
        <p:txBody>
          <a:bodyPr/>
          <a:lstStyle/>
          <a:p>
            <a:endParaRPr lang="zh-TW" altLang="en-US"/>
          </a:p>
        </p:txBody>
      </p:sp>
      <p:sp>
        <p:nvSpPr>
          <p:cNvPr id="6" name="投影片編號版面配置區 5"/>
          <p:cNvSpPr>
            <a:spLocks noGrp="1"/>
          </p:cNvSpPr>
          <p:nvPr>
            <p:ph type="sldNum" sz="quarter" idx="12"/>
          </p:nvPr>
        </p:nvSpPr>
        <p:spPr>
          <a:xfrm>
            <a:off x="6254496" y="6553200"/>
            <a:ext cx="588336" cy="228600"/>
          </a:xfrm>
          <a:prstGeom prst="rect">
            <a:avLst/>
          </a:prstGeom>
        </p:spPr>
        <p:txBody>
          <a:bodyPr/>
          <a:lstStyle>
            <a:lvl1pPr>
              <a:defRPr>
                <a:solidFill>
                  <a:schemeClr val="tx2"/>
                </a:solidFill>
              </a:defRPr>
            </a:lvl1pPr>
            <a:extLst/>
          </a:lstStyle>
          <a:p>
            <a:fld id="{43A45172-8F7E-402C-BA55-470F886D373C}" type="slidenum">
              <a:rPr lang="zh-TW" altLang="en-US" smtClean="0"/>
              <a:pPr/>
              <a:t>‹#›</a:t>
            </a:fld>
            <a:endParaRPr lang="zh-TW"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grpSp>
        <p:nvGrpSpPr>
          <p:cNvPr id="4" name="Group 2"/>
          <p:cNvGrpSpPr>
            <a:grpSpLocks/>
          </p:cNvGrpSpPr>
          <p:nvPr/>
        </p:nvGrpSpPr>
        <p:grpSpPr bwMode="auto">
          <a:xfrm>
            <a:off x="5076825" y="5957888"/>
            <a:ext cx="503238" cy="1800225"/>
            <a:chOff x="3470" y="572"/>
            <a:chExt cx="317" cy="1134"/>
          </a:xfrm>
        </p:grpSpPr>
        <p:sp>
          <p:nvSpPr>
            <p:cNvPr id="5" name="Arc 3"/>
            <p:cNvSpPr>
              <a:spLocks/>
            </p:cNvSpPr>
            <p:nvPr userDrawn="1"/>
          </p:nvSpPr>
          <p:spPr bwMode="auto">
            <a:xfrm>
              <a:off x="3507" y="698"/>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6" name="Oval 4"/>
            <p:cNvSpPr>
              <a:spLocks noChangeArrowheads="1"/>
            </p:cNvSpPr>
            <p:nvPr userDrawn="1"/>
          </p:nvSpPr>
          <p:spPr bwMode="auto">
            <a:xfrm rot="-3515713">
              <a:off x="3536" y="785"/>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 name="Oval 5"/>
            <p:cNvSpPr>
              <a:spLocks noChangeArrowheads="1"/>
            </p:cNvSpPr>
            <p:nvPr userDrawn="1"/>
          </p:nvSpPr>
          <p:spPr bwMode="auto">
            <a:xfrm rot="-1615679">
              <a:off x="3470"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 name="Oval 6"/>
            <p:cNvSpPr>
              <a:spLocks noChangeArrowheads="1"/>
            </p:cNvSpPr>
            <p:nvPr userDrawn="1"/>
          </p:nvSpPr>
          <p:spPr bwMode="auto">
            <a:xfrm rot="6199228">
              <a:off x="3536"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 name="Oval 7"/>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 name="Oval 8"/>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 name="Oval 9"/>
            <p:cNvSpPr>
              <a:spLocks noChangeArrowheads="1"/>
            </p:cNvSpPr>
            <p:nvPr userDrawn="1"/>
          </p:nvSpPr>
          <p:spPr bwMode="auto">
            <a:xfrm rot="-4126769">
              <a:off x="3499" y="743"/>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 name="Oval 10"/>
            <p:cNvSpPr>
              <a:spLocks noChangeArrowheads="1"/>
            </p:cNvSpPr>
            <p:nvPr userDrawn="1"/>
          </p:nvSpPr>
          <p:spPr bwMode="auto">
            <a:xfrm rot="-2624767">
              <a:off x="3581"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 name="Oval 11"/>
            <p:cNvSpPr>
              <a:spLocks noChangeArrowheads="1"/>
            </p:cNvSpPr>
            <p:nvPr userDrawn="1"/>
          </p:nvSpPr>
          <p:spPr bwMode="auto">
            <a:xfrm rot="-5400000">
              <a:off x="3565" y="825"/>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 name="Oval 12"/>
            <p:cNvSpPr>
              <a:spLocks noChangeArrowheads="1"/>
            </p:cNvSpPr>
            <p:nvPr userDrawn="1"/>
          </p:nvSpPr>
          <p:spPr bwMode="auto">
            <a:xfrm rot="-1495776">
              <a:off x="3617"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5" name="Group 13"/>
          <p:cNvGrpSpPr>
            <a:grpSpLocks/>
          </p:cNvGrpSpPr>
          <p:nvPr/>
        </p:nvGrpSpPr>
        <p:grpSpPr bwMode="auto">
          <a:xfrm flipH="1">
            <a:off x="179388" y="5842000"/>
            <a:ext cx="815975" cy="2030413"/>
            <a:chOff x="4377" y="300"/>
            <a:chExt cx="514" cy="1279"/>
          </a:xfrm>
        </p:grpSpPr>
        <p:sp>
          <p:nvSpPr>
            <p:cNvPr id="16" name="Arc 14"/>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17" name="Oval 15"/>
            <p:cNvSpPr>
              <a:spLocks noChangeArrowheads="1"/>
            </p:cNvSpPr>
            <p:nvPr userDrawn="1"/>
          </p:nvSpPr>
          <p:spPr bwMode="auto">
            <a:xfrm rot="-3515713">
              <a:off x="4468" y="55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 name="Oval 16"/>
            <p:cNvSpPr>
              <a:spLocks noChangeArrowheads="1"/>
            </p:cNvSpPr>
            <p:nvPr userDrawn="1"/>
          </p:nvSpPr>
          <p:spPr bwMode="auto">
            <a:xfrm rot="-1615679">
              <a:off x="4377" y="451"/>
              <a:ext cx="143"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 name="Oval 17"/>
            <p:cNvSpPr>
              <a:spLocks noChangeArrowheads="1"/>
            </p:cNvSpPr>
            <p:nvPr userDrawn="1"/>
          </p:nvSpPr>
          <p:spPr bwMode="auto">
            <a:xfrm rot="6199228">
              <a:off x="4468" y="352"/>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 name="Oval 18"/>
            <p:cNvSpPr>
              <a:spLocks noChangeArrowheads="1"/>
            </p:cNvSpPr>
            <p:nvPr userDrawn="1"/>
          </p:nvSpPr>
          <p:spPr bwMode="auto">
            <a:xfrm>
              <a:off x="4614" y="501"/>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 name="Oval 19"/>
            <p:cNvSpPr>
              <a:spLocks noChangeArrowheads="1"/>
            </p:cNvSpPr>
            <p:nvPr userDrawn="1"/>
          </p:nvSpPr>
          <p:spPr bwMode="auto">
            <a:xfrm rot="-4126769">
              <a:off x="4438" y="503"/>
              <a:ext cx="151" cy="48"/>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 name="Oval 20"/>
            <p:cNvSpPr>
              <a:spLocks noChangeArrowheads="1"/>
            </p:cNvSpPr>
            <p:nvPr userDrawn="1"/>
          </p:nvSpPr>
          <p:spPr bwMode="auto">
            <a:xfrm rot="-2624767">
              <a:off x="4520" y="400"/>
              <a:ext cx="142"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 name="Oval 21"/>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4" name="Oval 22"/>
            <p:cNvSpPr>
              <a:spLocks noChangeArrowheads="1"/>
            </p:cNvSpPr>
            <p:nvPr userDrawn="1"/>
          </p:nvSpPr>
          <p:spPr bwMode="auto">
            <a:xfrm rot="-1495776">
              <a:off x="4567" y="451"/>
              <a:ext cx="142"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5" name="Oval 23"/>
            <p:cNvSpPr>
              <a:spLocks noChangeArrowheads="1"/>
            </p:cNvSpPr>
            <p:nvPr userDrawn="1"/>
          </p:nvSpPr>
          <p:spPr bwMode="auto">
            <a:xfrm rot="-2742706">
              <a:off x="4552" y="669"/>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6" name="Oval 24"/>
            <p:cNvSpPr>
              <a:spLocks noChangeArrowheads="1"/>
            </p:cNvSpPr>
            <p:nvPr userDrawn="1"/>
          </p:nvSpPr>
          <p:spPr bwMode="auto">
            <a:xfrm rot="-2742706">
              <a:off x="4597" y="715"/>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7" name="Oval 25"/>
            <p:cNvSpPr>
              <a:spLocks noChangeArrowheads="1"/>
            </p:cNvSpPr>
            <p:nvPr userDrawn="1"/>
          </p:nvSpPr>
          <p:spPr bwMode="auto">
            <a:xfrm rot="1036516">
              <a:off x="4740" y="754"/>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8" name="Oval 26"/>
            <p:cNvSpPr>
              <a:spLocks noChangeArrowheads="1"/>
            </p:cNvSpPr>
            <p:nvPr userDrawn="1"/>
          </p:nvSpPr>
          <p:spPr bwMode="auto">
            <a:xfrm rot="403513">
              <a:off x="4642" y="578"/>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9" name="Oval 27"/>
            <p:cNvSpPr>
              <a:spLocks noChangeArrowheads="1"/>
            </p:cNvSpPr>
            <p:nvPr userDrawn="1"/>
          </p:nvSpPr>
          <p:spPr bwMode="auto">
            <a:xfrm rot="347087">
              <a:off x="4694" y="66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0" name="Oval 28"/>
            <p:cNvSpPr>
              <a:spLocks noChangeArrowheads="1"/>
            </p:cNvSpPr>
            <p:nvPr userDrawn="1"/>
          </p:nvSpPr>
          <p:spPr bwMode="auto">
            <a:xfrm rot="-2685850">
              <a:off x="4649" y="799"/>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31" name="Group 29"/>
          <p:cNvGrpSpPr>
            <a:grpSpLocks/>
          </p:cNvGrpSpPr>
          <p:nvPr/>
        </p:nvGrpSpPr>
        <p:grpSpPr bwMode="auto">
          <a:xfrm>
            <a:off x="0" y="5849938"/>
            <a:ext cx="9144000" cy="1008062"/>
            <a:chOff x="0" y="302"/>
            <a:chExt cx="5760" cy="635"/>
          </a:xfrm>
        </p:grpSpPr>
        <p:sp>
          <p:nvSpPr>
            <p:cNvPr id="32" name="AutoShape 30"/>
            <p:cNvSpPr>
              <a:spLocks noChangeArrowheads="1"/>
            </p:cNvSpPr>
            <p:nvPr userDrawn="1"/>
          </p:nvSpPr>
          <p:spPr bwMode="auto">
            <a:xfrm>
              <a:off x="0" y="438"/>
              <a:ext cx="340"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3" name="AutoShape 31"/>
            <p:cNvSpPr>
              <a:spLocks noChangeArrowheads="1"/>
            </p:cNvSpPr>
            <p:nvPr userDrawn="1"/>
          </p:nvSpPr>
          <p:spPr bwMode="auto">
            <a:xfrm>
              <a:off x="204" y="618"/>
              <a:ext cx="317" cy="318"/>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4" name="AutoShape 32"/>
            <p:cNvSpPr>
              <a:spLocks noChangeArrowheads="1"/>
            </p:cNvSpPr>
            <p:nvPr userDrawn="1"/>
          </p:nvSpPr>
          <p:spPr bwMode="auto">
            <a:xfrm>
              <a:off x="431"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5" name="AutoShape 33"/>
            <p:cNvSpPr>
              <a:spLocks noChangeArrowheads="1"/>
            </p:cNvSpPr>
            <p:nvPr userDrawn="1"/>
          </p:nvSpPr>
          <p:spPr bwMode="auto">
            <a:xfrm>
              <a:off x="703" y="302"/>
              <a:ext cx="272" cy="635"/>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6" name="AutoShape 34"/>
            <p:cNvSpPr>
              <a:spLocks noChangeArrowheads="1"/>
            </p:cNvSpPr>
            <p:nvPr userDrawn="1"/>
          </p:nvSpPr>
          <p:spPr bwMode="auto">
            <a:xfrm>
              <a:off x="884" y="438"/>
              <a:ext cx="318" cy="499"/>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7" name="AutoShape 35"/>
            <p:cNvSpPr>
              <a:spLocks noChangeArrowheads="1"/>
            </p:cNvSpPr>
            <p:nvPr userDrawn="1"/>
          </p:nvSpPr>
          <p:spPr bwMode="auto">
            <a:xfrm>
              <a:off x="1111"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8" name="AutoShape 36"/>
            <p:cNvSpPr>
              <a:spLocks noChangeArrowheads="1"/>
            </p:cNvSpPr>
            <p:nvPr userDrawn="1"/>
          </p:nvSpPr>
          <p:spPr bwMode="auto">
            <a:xfrm>
              <a:off x="1202"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9" name="AutoShape 37"/>
            <p:cNvSpPr>
              <a:spLocks noChangeArrowheads="1"/>
            </p:cNvSpPr>
            <p:nvPr userDrawn="1"/>
          </p:nvSpPr>
          <p:spPr bwMode="auto">
            <a:xfrm>
              <a:off x="1474" y="302"/>
              <a:ext cx="227" cy="635"/>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0" name="AutoShape 38"/>
            <p:cNvSpPr>
              <a:spLocks noChangeArrowheads="1"/>
            </p:cNvSpPr>
            <p:nvPr userDrawn="1"/>
          </p:nvSpPr>
          <p:spPr bwMode="auto">
            <a:xfrm>
              <a:off x="1655"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1" name="AutoShape 39"/>
            <p:cNvSpPr>
              <a:spLocks noChangeArrowheads="1"/>
            </p:cNvSpPr>
            <p:nvPr userDrawn="1"/>
          </p:nvSpPr>
          <p:spPr bwMode="auto">
            <a:xfrm>
              <a:off x="1927"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2" name="AutoShape 40"/>
            <p:cNvSpPr>
              <a:spLocks noChangeArrowheads="1"/>
            </p:cNvSpPr>
            <p:nvPr userDrawn="1"/>
          </p:nvSpPr>
          <p:spPr bwMode="auto">
            <a:xfrm>
              <a:off x="1791"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3" name="AutoShape 41"/>
            <p:cNvSpPr>
              <a:spLocks noChangeArrowheads="1"/>
            </p:cNvSpPr>
            <p:nvPr userDrawn="1"/>
          </p:nvSpPr>
          <p:spPr bwMode="auto">
            <a:xfrm>
              <a:off x="1837"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4" name="AutoShape 42"/>
            <p:cNvSpPr>
              <a:spLocks noChangeArrowheads="1"/>
            </p:cNvSpPr>
            <p:nvPr userDrawn="1"/>
          </p:nvSpPr>
          <p:spPr bwMode="auto">
            <a:xfrm>
              <a:off x="2018" y="436"/>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5" name="AutoShape 43"/>
            <p:cNvSpPr>
              <a:spLocks noChangeArrowheads="1"/>
            </p:cNvSpPr>
            <p:nvPr userDrawn="1"/>
          </p:nvSpPr>
          <p:spPr bwMode="auto">
            <a:xfrm>
              <a:off x="2381"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6" name="AutoShape 44"/>
            <p:cNvSpPr>
              <a:spLocks noChangeArrowheads="1"/>
            </p:cNvSpPr>
            <p:nvPr userDrawn="1"/>
          </p:nvSpPr>
          <p:spPr bwMode="auto">
            <a:xfrm>
              <a:off x="2653" y="574"/>
              <a:ext cx="182" cy="363"/>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7" name="AutoShape 45"/>
            <p:cNvSpPr>
              <a:spLocks noChangeArrowheads="1"/>
            </p:cNvSpPr>
            <p:nvPr userDrawn="1"/>
          </p:nvSpPr>
          <p:spPr bwMode="auto">
            <a:xfrm>
              <a:off x="2517"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8" name="AutoShape 46"/>
            <p:cNvSpPr>
              <a:spLocks noChangeArrowheads="1"/>
            </p:cNvSpPr>
            <p:nvPr userDrawn="1"/>
          </p:nvSpPr>
          <p:spPr bwMode="auto">
            <a:xfrm>
              <a:off x="2789"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9" name="AutoShape 47"/>
            <p:cNvSpPr>
              <a:spLocks noChangeArrowheads="1"/>
            </p:cNvSpPr>
            <p:nvPr userDrawn="1"/>
          </p:nvSpPr>
          <p:spPr bwMode="auto">
            <a:xfrm>
              <a:off x="2925"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0" name="AutoShape 48"/>
            <p:cNvSpPr>
              <a:spLocks noChangeArrowheads="1"/>
            </p:cNvSpPr>
            <p:nvPr userDrawn="1"/>
          </p:nvSpPr>
          <p:spPr bwMode="auto">
            <a:xfrm>
              <a:off x="3378" y="438"/>
              <a:ext cx="318"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1" name="AutoShape 49"/>
            <p:cNvSpPr>
              <a:spLocks noChangeArrowheads="1"/>
            </p:cNvSpPr>
            <p:nvPr userDrawn="1"/>
          </p:nvSpPr>
          <p:spPr bwMode="auto">
            <a:xfrm>
              <a:off x="3198" y="619"/>
              <a:ext cx="317" cy="318"/>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2" name="AutoShape 50"/>
            <p:cNvSpPr>
              <a:spLocks noChangeArrowheads="1"/>
            </p:cNvSpPr>
            <p:nvPr userDrawn="1"/>
          </p:nvSpPr>
          <p:spPr bwMode="auto">
            <a:xfrm>
              <a:off x="3696"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3" name="AutoShape 51"/>
            <p:cNvSpPr>
              <a:spLocks noChangeArrowheads="1"/>
            </p:cNvSpPr>
            <p:nvPr userDrawn="1"/>
          </p:nvSpPr>
          <p:spPr bwMode="auto">
            <a:xfrm>
              <a:off x="3560" y="438"/>
              <a:ext cx="182" cy="499"/>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4" name="AutoShape 52"/>
            <p:cNvSpPr>
              <a:spLocks noChangeArrowheads="1"/>
            </p:cNvSpPr>
            <p:nvPr userDrawn="1"/>
          </p:nvSpPr>
          <p:spPr bwMode="auto">
            <a:xfrm>
              <a:off x="3606"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5" name="AutoShape 53"/>
            <p:cNvSpPr>
              <a:spLocks noChangeArrowheads="1"/>
            </p:cNvSpPr>
            <p:nvPr userDrawn="1"/>
          </p:nvSpPr>
          <p:spPr bwMode="auto">
            <a:xfrm>
              <a:off x="3787"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6" name="AutoShape 54"/>
            <p:cNvSpPr>
              <a:spLocks noChangeArrowheads="1"/>
            </p:cNvSpPr>
            <p:nvPr userDrawn="1"/>
          </p:nvSpPr>
          <p:spPr bwMode="auto">
            <a:xfrm>
              <a:off x="4150"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7" name="AutoShape 55"/>
            <p:cNvSpPr>
              <a:spLocks noChangeArrowheads="1"/>
            </p:cNvSpPr>
            <p:nvPr userDrawn="1"/>
          </p:nvSpPr>
          <p:spPr bwMode="auto">
            <a:xfrm>
              <a:off x="4422"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8" name="AutoShape 56"/>
            <p:cNvSpPr>
              <a:spLocks noChangeArrowheads="1"/>
            </p:cNvSpPr>
            <p:nvPr userDrawn="1"/>
          </p:nvSpPr>
          <p:spPr bwMode="auto">
            <a:xfrm>
              <a:off x="4286" y="438"/>
              <a:ext cx="182" cy="499"/>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9" name="AutoShape 57"/>
            <p:cNvSpPr>
              <a:spLocks noChangeArrowheads="1"/>
            </p:cNvSpPr>
            <p:nvPr userDrawn="1"/>
          </p:nvSpPr>
          <p:spPr bwMode="auto">
            <a:xfrm>
              <a:off x="4558"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0" name="AutoShape 58"/>
            <p:cNvSpPr>
              <a:spLocks noChangeArrowheads="1"/>
            </p:cNvSpPr>
            <p:nvPr userDrawn="1"/>
          </p:nvSpPr>
          <p:spPr bwMode="auto">
            <a:xfrm>
              <a:off x="4694"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1" name="AutoShape 59"/>
            <p:cNvSpPr>
              <a:spLocks noChangeArrowheads="1"/>
            </p:cNvSpPr>
            <p:nvPr userDrawn="1"/>
          </p:nvSpPr>
          <p:spPr bwMode="auto">
            <a:xfrm>
              <a:off x="5147" y="438"/>
              <a:ext cx="318"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2" name="AutoShape 60"/>
            <p:cNvSpPr>
              <a:spLocks noChangeArrowheads="1"/>
            </p:cNvSpPr>
            <p:nvPr userDrawn="1"/>
          </p:nvSpPr>
          <p:spPr bwMode="auto">
            <a:xfrm>
              <a:off x="4967"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3" name="AutoShape 61"/>
            <p:cNvSpPr>
              <a:spLocks noChangeArrowheads="1"/>
            </p:cNvSpPr>
            <p:nvPr userDrawn="1"/>
          </p:nvSpPr>
          <p:spPr bwMode="auto">
            <a:xfrm>
              <a:off x="4944"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4" name="AutoShape 62"/>
            <p:cNvSpPr>
              <a:spLocks noChangeArrowheads="1"/>
            </p:cNvSpPr>
            <p:nvPr userDrawn="1"/>
          </p:nvSpPr>
          <p:spPr bwMode="auto">
            <a:xfrm>
              <a:off x="5216" y="302"/>
              <a:ext cx="227" cy="635"/>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5" name="AutoShape 63"/>
            <p:cNvSpPr>
              <a:spLocks noChangeArrowheads="1"/>
            </p:cNvSpPr>
            <p:nvPr userDrawn="1"/>
          </p:nvSpPr>
          <p:spPr bwMode="auto">
            <a:xfrm>
              <a:off x="5397" y="620"/>
              <a:ext cx="182" cy="317"/>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6" name="AutoShape 64"/>
            <p:cNvSpPr>
              <a:spLocks noChangeArrowheads="1"/>
            </p:cNvSpPr>
            <p:nvPr userDrawn="1"/>
          </p:nvSpPr>
          <p:spPr bwMode="auto">
            <a:xfrm>
              <a:off x="5533"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7" name="AutoShape 65"/>
            <p:cNvSpPr>
              <a:spLocks noChangeArrowheads="1"/>
            </p:cNvSpPr>
            <p:nvPr userDrawn="1"/>
          </p:nvSpPr>
          <p:spPr bwMode="auto">
            <a:xfrm>
              <a:off x="5579"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68" name="Group 66"/>
          <p:cNvGrpSpPr>
            <a:grpSpLocks/>
          </p:cNvGrpSpPr>
          <p:nvPr/>
        </p:nvGrpSpPr>
        <p:grpSpPr bwMode="auto">
          <a:xfrm>
            <a:off x="971550" y="5734050"/>
            <a:ext cx="757238" cy="1885950"/>
            <a:chOff x="4377" y="300"/>
            <a:chExt cx="514" cy="1279"/>
          </a:xfrm>
        </p:grpSpPr>
        <p:sp>
          <p:nvSpPr>
            <p:cNvPr id="69" name="Arc 67"/>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70" name="Oval 68"/>
            <p:cNvSpPr>
              <a:spLocks noChangeArrowheads="1"/>
            </p:cNvSpPr>
            <p:nvPr userDrawn="1"/>
          </p:nvSpPr>
          <p:spPr bwMode="auto">
            <a:xfrm rot="-3515713">
              <a:off x="4469" y="555"/>
              <a:ext cx="151" cy="44"/>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1" name="Oval 69"/>
            <p:cNvSpPr>
              <a:spLocks noChangeArrowheads="1"/>
            </p:cNvSpPr>
            <p:nvPr userDrawn="1"/>
          </p:nvSpPr>
          <p:spPr bwMode="auto">
            <a:xfrm rot="-1615679">
              <a:off x="4377" y="451"/>
              <a:ext cx="143" cy="53"/>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2" name="Oval 70"/>
            <p:cNvSpPr>
              <a:spLocks noChangeArrowheads="1"/>
            </p:cNvSpPr>
            <p:nvPr userDrawn="1"/>
          </p:nvSpPr>
          <p:spPr bwMode="auto">
            <a:xfrm rot="6199228">
              <a:off x="4469" y="350"/>
              <a:ext cx="152" cy="44"/>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3" name="Oval 71"/>
            <p:cNvSpPr>
              <a:spLocks noChangeArrowheads="1"/>
            </p:cNvSpPr>
            <p:nvPr userDrawn="1"/>
          </p:nvSpPr>
          <p:spPr bwMode="auto">
            <a:xfrm>
              <a:off x="4614" y="501"/>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4" name="Oval 72"/>
            <p:cNvSpPr>
              <a:spLocks noChangeArrowheads="1"/>
            </p:cNvSpPr>
            <p:nvPr userDrawn="1"/>
          </p:nvSpPr>
          <p:spPr bwMode="auto">
            <a:xfrm rot="-4126769">
              <a:off x="4421" y="501"/>
              <a:ext cx="155"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5" name="Oval 73"/>
            <p:cNvSpPr>
              <a:spLocks noChangeArrowheads="1"/>
            </p:cNvSpPr>
            <p:nvPr userDrawn="1"/>
          </p:nvSpPr>
          <p:spPr bwMode="auto">
            <a:xfrm rot="-2624767">
              <a:off x="4520" y="400"/>
              <a:ext cx="141"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6" name="Oval 74"/>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7" name="Oval 75"/>
            <p:cNvSpPr>
              <a:spLocks noChangeArrowheads="1"/>
            </p:cNvSpPr>
            <p:nvPr userDrawn="1"/>
          </p:nvSpPr>
          <p:spPr bwMode="auto">
            <a:xfrm rot="-1495776">
              <a:off x="4567" y="451"/>
              <a:ext cx="142" cy="5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8" name="Oval 76"/>
            <p:cNvSpPr>
              <a:spLocks noChangeArrowheads="1"/>
            </p:cNvSpPr>
            <p:nvPr userDrawn="1"/>
          </p:nvSpPr>
          <p:spPr bwMode="auto">
            <a:xfrm rot="-2742706">
              <a:off x="4552" y="671"/>
              <a:ext cx="153" cy="4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9" name="Oval 77"/>
            <p:cNvSpPr>
              <a:spLocks noChangeArrowheads="1"/>
            </p:cNvSpPr>
            <p:nvPr userDrawn="1"/>
          </p:nvSpPr>
          <p:spPr bwMode="auto">
            <a:xfrm rot="-2742706">
              <a:off x="4593" y="713"/>
              <a:ext cx="155" cy="46"/>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0" name="Oval 78"/>
            <p:cNvSpPr>
              <a:spLocks noChangeArrowheads="1"/>
            </p:cNvSpPr>
            <p:nvPr userDrawn="1"/>
          </p:nvSpPr>
          <p:spPr bwMode="auto">
            <a:xfrm rot="1036516">
              <a:off x="4740" y="754"/>
              <a:ext cx="151" cy="44"/>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1" name="Oval 79"/>
            <p:cNvSpPr>
              <a:spLocks noChangeArrowheads="1"/>
            </p:cNvSpPr>
            <p:nvPr userDrawn="1"/>
          </p:nvSpPr>
          <p:spPr bwMode="auto">
            <a:xfrm rot="403513">
              <a:off x="4642" y="578"/>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2" name="Oval 80"/>
            <p:cNvSpPr>
              <a:spLocks noChangeArrowheads="1"/>
            </p:cNvSpPr>
            <p:nvPr userDrawn="1"/>
          </p:nvSpPr>
          <p:spPr bwMode="auto">
            <a:xfrm rot="347087">
              <a:off x="4694" y="66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3" name="Oval 81"/>
            <p:cNvSpPr>
              <a:spLocks noChangeArrowheads="1"/>
            </p:cNvSpPr>
            <p:nvPr userDrawn="1"/>
          </p:nvSpPr>
          <p:spPr bwMode="auto">
            <a:xfrm rot="-2685850">
              <a:off x="4649" y="798"/>
              <a:ext cx="152" cy="4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84" name="Group 87"/>
          <p:cNvGrpSpPr>
            <a:grpSpLocks/>
          </p:cNvGrpSpPr>
          <p:nvPr/>
        </p:nvGrpSpPr>
        <p:grpSpPr bwMode="auto">
          <a:xfrm rot="-1259352">
            <a:off x="1620838" y="5745163"/>
            <a:ext cx="576262" cy="539750"/>
            <a:chOff x="295" y="3385"/>
            <a:chExt cx="408" cy="340"/>
          </a:xfrm>
        </p:grpSpPr>
        <p:grpSp>
          <p:nvGrpSpPr>
            <p:cNvPr id="85" name="Group 88"/>
            <p:cNvGrpSpPr>
              <a:grpSpLocks/>
            </p:cNvGrpSpPr>
            <p:nvPr userDrawn="1"/>
          </p:nvGrpSpPr>
          <p:grpSpPr bwMode="auto">
            <a:xfrm rot="2362656">
              <a:off x="295" y="3385"/>
              <a:ext cx="408" cy="273"/>
              <a:chOff x="1701" y="527"/>
              <a:chExt cx="498" cy="273"/>
            </a:xfrm>
          </p:grpSpPr>
          <p:grpSp>
            <p:nvGrpSpPr>
              <p:cNvPr id="88" name="Group 89"/>
              <p:cNvGrpSpPr>
                <a:grpSpLocks/>
              </p:cNvGrpSpPr>
              <p:nvPr userDrawn="1"/>
            </p:nvGrpSpPr>
            <p:grpSpPr bwMode="auto">
              <a:xfrm rot="228844">
                <a:off x="1927" y="618"/>
                <a:ext cx="272" cy="90"/>
                <a:chOff x="1927" y="527"/>
                <a:chExt cx="272" cy="90"/>
              </a:xfrm>
            </p:grpSpPr>
            <p:sp>
              <p:nvSpPr>
                <p:cNvPr id="95" name="Oval 90"/>
                <p:cNvSpPr>
                  <a:spLocks noChangeArrowheads="1"/>
                </p:cNvSpPr>
                <p:nvPr userDrawn="1"/>
              </p:nvSpPr>
              <p:spPr bwMode="auto">
                <a:xfrm rot="187092">
                  <a:off x="1903" y="545"/>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6" name="Oval 91"/>
                <p:cNvSpPr>
                  <a:spLocks noChangeArrowheads="1"/>
                </p:cNvSpPr>
                <p:nvPr userDrawn="1"/>
              </p:nvSpPr>
              <p:spPr bwMode="auto">
                <a:xfrm rot="10143706">
                  <a:off x="1898" y="500"/>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89" name="Group 92"/>
              <p:cNvGrpSpPr>
                <a:grpSpLocks/>
              </p:cNvGrpSpPr>
              <p:nvPr userDrawn="1"/>
            </p:nvGrpSpPr>
            <p:grpSpPr bwMode="auto">
              <a:xfrm rot="10800000">
                <a:off x="1701" y="618"/>
                <a:ext cx="272" cy="90"/>
                <a:chOff x="1927" y="527"/>
                <a:chExt cx="272" cy="90"/>
              </a:xfrm>
            </p:grpSpPr>
            <p:sp>
              <p:nvSpPr>
                <p:cNvPr id="93" name="Oval 93"/>
                <p:cNvSpPr>
                  <a:spLocks noChangeArrowheads="1"/>
                </p:cNvSpPr>
                <p:nvPr userDrawn="1"/>
              </p:nvSpPr>
              <p:spPr bwMode="auto">
                <a:xfrm rot="187092">
                  <a:off x="1973" y="617"/>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4" name="Oval 94"/>
                <p:cNvSpPr>
                  <a:spLocks noChangeArrowheads="1"/>
                </p:cNvSpPr>
                <p:nvPr userDrawn="1"/>
              </p:nvSpPr>
              <p:spPr bwMode="auto">
                <a:xfrm rot="10143706">
                  <a:off x="1972" y="576"/>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90" name="Oval 95"/>
              <p:cNvSpPr>
                <a:spLocks noChangeArrowheads="1"/>
              </p:cNvSpPr>
              <p:nvPr userDrawn="1"/>
            </p:nvSpPr>
            <p:spPr bwMode="auto">
              <a:xfrm>
                <a:off x="1920" y="611"/>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1" name="Oval 96"/>
              <p:cNvSpPr>
                <a:spLocks noChangeArrowheads="1"/>
              </p:cNvSpPr>
              <p:nvPr userDrawn="1"/>
            </p:nvSpPr>
            <p:spPr bwMode="auto">
              <a:xfrm>
                <a:off x="1872" y="519"/>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2" name="Oval 97"/>
              <p:cNvSpPr>
                <a:spLocks noChangeArrowheads="1"/>
              </p:cNvSpPr>
              <p:nvPr userDrawn="1"/>
            </p:nvSpPr>
            <p:spPr bwMode="auto">
              <a:xfrm>
                <a:off x="1968" y="520"/>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86" name="Oval 98"/>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7" name="Oval 99"/>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7" name="Group 100"/>
          <p:cNvGrpSpPr>
            <a:grpSpLocks/>
          </p:cNvGrpSpPr>
          <p:nvPr/>
        </p:nvGrpSpPr>
        <p:grpSpPr bwMode="auto">
          <a:xfrm rot="-3824161">
            <a:off x="8244682" y="4004469"/>
            <a:ext cx="412750" cy="414337"/>
            <a:chOff x="295" y="3385"/>
            <a:chExt cx="408" cy="340"/>
          </a:xfrm>
        </p:grpSpPr>
        <p:grpSp>
          <p:nvGrpSpPr>
            <p:cNvPr id="98" name="Group 101"/>
            <p:cNvGrpSpPr>
              <a:grpSpLocks/>
            </p:cNvGrpSpPr>
            <p:nvPr userDrawn="1"/>
          </p:nvGrpSpPr>
          <p:grpSpPr bwMode="auto">
            <a:xfrm rot="2362656">
              <a:off x="295" y="3385"/>
              <a:ext cx="408" cy="273"/>
              <a:chOff x="1701" y="527"/>
              <a:chExt cx="498" cy="273"/>
            </a:xfrm>
          </p:grpSpPr>
          <p:grpSp>
            <p:nvGrpSpPr>
              <p:cNvPr id="101" name="Group 102"/>
              <p:cNvGrpSpPr>
                <a:grpSpLocks/>
              </p:cNvGrpSpPr>
              <p:nvPr userDrawn="1"/>
            </p:nvGrpSpPr>
            <p:grpSpPr bwMode="auto">
              <a:xfrm rot="228844">
                <a:off x="1927" y="618"/>
                <a:ext cx="272" cy="90"/>
                <a:chOff x="1927" y="527"/>
                <a:chExt cx="272" cy="90"/>
              </a:xfrm>
            </p:grpSpPr>
            <p:sp>
              <p:nvSpPr>
                <p:cNvPr id="108" name="Oval 103"/>
                <p:cNvSpPr>
                  <a:spLocks noChangeArrowheads="1"/>
                </p:cNvSpPr>
                <p:nvPr userDrawn="1"/>
              </p:nvSpPr>
              <p:spPr bwMode="auto">
                <a:xfrm rot="187092">
                  <a:off x="1895" y="517"/>
                  <a:ext cx="272" cy="43"/>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 name="Oval 104"/>
                <p:cNvSpPr>
                  <a:spLocks noChangeArrowheads="1"/>
                </p:cNvSpPr>
                <p:nvPr userDrawn="1"/>
              </p:nvSpPr>
              <p:spPr bwMode="auto">
                <a:xfrm rot="10143706">
                  <a:off x="1889" y="468"/>
                  <a:ext cx="272" cy="47"/>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02" name="Group 105"/>
              <p:cNvGrpSpPr>
                <a:grpSpLocks/>
              </p:cNvGrpSpPr>
              <p:nvPr userDrawn="1"/>
            </p:nvGrpSpPr>
            <p:grpSpPr bwMode="auto">
              <a:xfrm rot="10800000">
                <a:off x="1701" y="618"/>
                <a:ext cx="272" cy="90"/>
                <a:chOff x="1927" y="527"/>
                <a:chExt cx="272" cy="90"/>
              </a:xfrm>
            </p:grpSpPr>
            <p:sp>
              <p:nvSpPr>
                <p:cNvPr id="106" name="Oval 106"/>
                <p:cNvSpPr>
                  <a:spLocks noChangeArrowheads="1"/>
                </p:cNvSpPr>
                <p:nvPr userDrawn="1"/>
              </p:nvSpPr>
              <p:spPr bwMode="auto">
                <a:xfrm rot="187092">
                  <a:off x="1941" y="614"/>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 name="Oval 107"/>
                <p:cNvSpPr>
                  <a:spLocks noChangeArrowheads="1"/>
                </p:cNvSpPr>
                <p:nvPr userDrawn="1"/>
              </p:nvSpPr>
              <p:spPr bwMode="auto">
                <a:xfrm rot="10143706">
                  <a:off x="1939" y="570"/>
                  <a:ext cx="272" cy="48"/>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3" name="Oval 108"/>
              <p:cNvSpPr>
                <a:spLocks noChangeArrowheads="1"/>
              </p:cNvSpPr>
              <p:nvPr userDrawn="1"/>
            </p:nvSpPr>
            <p:spPr bwMode="auto">
              <a:xfrm>
                <a:off x="1914" y="577"/>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 name="Oval 109"/>
              <p:cNvSpPr>
                <a:spLocks noChangeArrowheads="1"/>
              </p:cNvSpPr>
              <p:nvPr userDrawn="1"/>
            </p:nvSpPr>
            <p:spPr bwMode="auto">
              <a:xfrm>
                <a:off x="1873" y="484"/>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 name="Oval 110"/>
              <p:cNvSpPr>
                <a:spLocks noChangeArrowheads="1"/>
              </p:cNvSpPr>
              <p:nvPr userDrawn="1"/>
            </p:nvSpPr>
            <p:spPr bwMode="auto">
              <a:xfrm>
                <a:off x="1959" y="483"/>
                <a:ext cx="56"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99" name="Oval 111"/>
            <p:cNvSpPr>
              <a:spLocks noChangeArrowheads="1"/>
            </p:cNvSpPr>
            <p:nvPr userDrawn="1"/>
          </p:nvSpPr>
          <p:spPr bwMode="auto">
            <a:xfrm flipH="1">
              <a:off x="341" y="3649"/>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0" name="Oval 112"/>
            <p:cNvSpPr>
              <a:spLocks noChangeArrowheads="1"/>
            </p:cNvSpPr>
            <p:nvPr userDrawn="1"/>
          </p:nvSpPr>
          <p:spPr bwMode="auto">
            <a:xfrm flipH="1">
              <a:off x="302" y="3692"/>
              <a:ext cx="25"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10" name="Group 113"/>
          <p:cNvGrpSpPr>
            <a:grpSpLocks/>
          </p:cNvGrpSpPr>
          <p:nvPr/>
        </p:nvGrpSpPr>
        <p:grpSpPr bwMode="auto">
          <a:xfrm rot="-3328072">
            <a:off x="4283869" y="5734844"/>
            <a:ext cx="412750" cy="414338"/>
            <a:chOff x="295" y="3385"/>
            <a:chExt cx="408" cy="340"/>
          </a:xfrm>
        </p:grpSpPr>
        <p:grpSp>
          <p:nvGrpSpPr>
            <p:cNvPr id="111" name="Group 114"/>
            <p:cNvGrpSpPr>
              <a:grpSpLocks/>
            </p:cNvGrpSpPr>
            <p:nvPr userDrawn="1"/>
          </p:nvGrpSpPr>
          <p:grpSpPr bwMode="auto">
            <a:xfrm rot="2362656">
              <a:off x="295" y="3385"/>
              <a:ext cx="408" cy="273"/>
              <a:chOff x="1701" y="527"/>
              <a:chExt cx="498" cy="273"/>
            </a:xfrm>
          </p:grpSpPr>
          <p:grpSp>
            <p:nvGrpSpPr>
              <p:cNvPr id="114" name="Group 115"/>
              <p:cNvGrpSpPr>
                <a:grpSpLocks/>
              </p:cNvGrpSpPr>
              <p:nvPr userDrawn="1"/>
            </p:nvGrpSpPr>
            <p:grpSpPr bwMode="auto">
              <a:xfrm rot="228844">
                <a:off x="1927" y="618"/>
                <a:ext cx="272" cy="90"/>
                <a:chOff x="1927" y="527"/>
                <a:chExt cx="272" cy="90"/>
              </a:xfrm>
            </p:grpSpPr>
            <p:sp>
              <p:nvSpPr>
                <p:cNvPr id="121" name="Oval 116"/>
                <p:cNvSpPr>
                  <a:spLocks noChangeArrowheads="1"/>
                </p:cNvSpPr>
                <p:nvPr userDrawn="1"/>
              </p:nvSpPr>
              <p:spPr bwMode="auto">
                <a:xfrm rot="187092">
                  <a:off x="1889" y="525"/>
                  <a:ext cx="272" cy="42"/>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2" name="Oval 117"/>
                <p:cNvSpPr>
                  <a:spLocks noChangeArrowheads="1"/>
                </p:cNvSpPr>
                <p:nvPr userDrawn="1"/>
              </p:nvSpPr>
              <p:spPr bwMode="auto">
                <a:xfrm rot="10143706">
                  <a:off x="1888" y="475"/>
                  <a:ext cx="272" cy="48"/>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15" name="Group 118"/>
              <p:cNvGrpSpPr>
                <a:grpSpLocks/>
              </p:cNvGrpSpPr>
              <p:nvPr userDrawn="1"/>
            </p:nvGrpSpPr>
            <p:grpSpPr bwMode="auto">
              <a:xfrm rot="10800000">
                <a:off x="1701" y="618"/>
                <a:ext cx="272" cy="90"/>
                <a:chOff x="1927" y="527"/>
                <a:chExt cx="272" cy="90"/>
              </a:xfrm>
            </p:grpSpPr>
            <p:sp>
              <p:nvSpPr>
                <p:cNvPr id="119" name="Oval 119"/>
                <p:cNvSpPr>
                  <a:spLocks noChangeArrowheads="1"/>
                </p:cNvSpPr>
                <p:nvPr userDrawn="1"/>
              </p:nvSpPr>
              <p:spPr bwMode="auto">
                <a:xfrm rot="187092">
                  <a:off x="1948" y="611"/>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0" name="Oval 120"/>
                <p:cNvSpPr>
                  <a:spLocks noChangeArrowheads="1"/>
                </p:cNvSpPr>
                <p:nvPr userDrawn="1"/>
              </p:nvSpPr>
              <p:spPr bwMode="auto">
                <a:xfrm rot="10143706">
                  <a:off x="1953" y="550"/>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6" name="Oval 121"/>
              <p:cNvSpPr>
                <a:spLocks noChangeArrowheads="1"/>
              </p:cNvSpPr>
              <p:nvPr userDrawn="1"/>
            </p:nvSpPr>
            <p:spPr bwMode="auto">
              <a:xfrm>
                <a:off x="1908" y="587"/>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7" name="Oval 122"/>
              <p:cNvSpPr>
                <a:spLocks noChangeArrowheads="1"/>
              </p:cNvSpPr>
              <p:nvPr userDrawn="1"/>
            </p:nvSpPr>
            <p:spPr bwMode="auto">
              <a:xfrm>
                <a:off x="1862" y="495"/>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8" name="Oval 123"/>
              <p:cNvSpPr>
                <a:spLocks noChangeArrowheads="1"/>
              </p:cNvSpPr>
              <p:nvPr userDrawn="1"/>
            </p:nvSpPr>
            <p:spPr bwMode="auto">
              <a:xfrm>
                <a:off x="1954" y="491"/>
                <a:ext cx="50"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2" name="Oval 124"/>
            <p:cNvSpPr>
              <a:spLocks noChangeArrowheads="1"/>
            </p:cNvSpPr>
            <p:nvPr userDrawn="1"/>
          </p:nvSpPr>
          <p:spPr bwMode="auto">
            <a:xfrm flipH="1">
              <a:off x="341" y="3652"/>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3" name="Oval 125"/>
            <p:cNvSpPr>
              <a:spLocks noChangeArrowheads="1"/>
            </p:cNvSpPr>
            <p:nvPr userDrawn="1"/>
          </p:nvSpPr>
          <p:spPr bwMode="auto">
            <a:xfrm flipH="1">
              <a:off x="296" y="3697"/>
              <a:ext cx="25" cy="21"/>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23" name="Group 126"/>
          <p:cNvGrpSpPr>
            <a:grpSpLocks/>
          </p:cNvGrpSpPr>
          <p:nvPr/>
        </p:nvGrpSpPr>
        <p:grpSpPr bwMode="auto">
          <a:xfrm rot="-708557">
            <a:off x="831850" y="5299075"/>
            <a:ext cx="355600" cy="396875"/>
            <a:chOff x="295" y="3385"/>
            <a:chExt cx="408" cy="340"/>
          </a:xfrm>
        </p:grpSpPr>
        <p:grpSp>
          <p:nvGrpSpPr>
            <p:cNvPr id="124" name="Group 127"/>
            <p:cNvGrpSpPr>
              <a:grpSpLocks/>
            </p:cNvGrpSpPr>
            <p:nvPr userDrawn="1"/>
          </p:nvGrpSpPr>
          <p:grpSpPr bwMode="auto">
            <a:xfrm rot="2362656">
              <a:off x="295" y="3385"/>
              <a:ext cx="408" cy="273"/>
              <a:chOff x="1701" y="527"/>
              <a:chExt cx="498" cy="273"/>
            </a:xfrm>
          </p:grpSpPr>
          <p:grpSp>
            <p:nvGrpSpPr>
              <p:cNvPr id="127" name="Group 128"/>
              <p:cNvGrpSpPr>
                <a:grpSpLocks/>
              </p:cNvGrpSpPr>
              <p:nvPr userDrawn="1"/>
            </p:nvGrpSpPr>
            <p:grpSpPr bwMode="auto">
              <a:xfrm rot="228844">
                <a:off x="1927" y="618"/>
                <a:ext cx="272" cy="90"/>
                <a:chOff x="1927" y="527"/>
                <a:chExt cx="272" cy="90"/>
              </a:xfrm>
            </p:grpSpPr>
            <p:sp>
              <p:nvSpPr>
                <p:cNvPr id="134" name="Oval 129"/>
                <p:cNvSpPr>
                  <a:spLocks noChangeArrowheads="1"/>
                </p:cNvSpPr>
                <p:nvPr userDrawn="1"/>
              </p:nvSpPr>
              <p:spPr bwMode="auto">
                <a:xfrm rot="187092">
                  <a:off x="1867" y="557"/>
                  <a:ext cx="253"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5" name="Oval 130"/>
                <p:cNvSpPr>
                  <a:spLocks noChangeArrowheads="1"/>
                </p:cNvSpPr>
                <p:nvPr userDrawn="1"/>
              </p:nvSpPr>
              <p:spPr bwMode="auto">
                <a:xfrm rot="10143706">
                  <a:off x="1864" y="508"/>
                  <a:ext cx="265"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28" name="Group 131"/>
              <p:cNvGrpSpPr>
                <a:grpSpLocks/>
              </p:cNvGrpSpPr>
              <p:nvPr userDrawn="1"/>
            </p:nvGrpSpPr>
            <p:grpSpPr bwMode="auto">
              <a:xfrm rot="10800000">
                <a:off x="1701" y="618"/>
                <a:ext cx="272" cy="90"/>
                <a:chOff x="1927" y="527"/>
                <a:chExt cx="272" cy="90"/>
              </a:xfrm>
            </p:grpSpPr>
            <p:sp>
              <p:nvSpPr>
                <p:cNvPr id="132" name="Oval 132"/>
                <p:cNvSpPr>
                  <a:spLocks noChangeArrowheads="1"/>
                </p:cNvSpPr>
                <p:nvPr userDrawn="1"/>
              </p:nvSpPr>
              <p:spPr bwMode="auto">
                <a:xfrm rot="187092">
                  <a:off x="2004" y="625"/>
                  <a:ext cx="26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3" name="Oval 133"/>
                <p:cNvSpPr>
                  <a:spLocks noChangeArrowheads="1"/>
                </p:cNvSpPr>
                <p:nvPr userDrawn="1"/>
              </p:nvSpPr>
              <p:spPr bwMode="auto">
                <a:xfrm rot="10143706">
                  <a:off x="2005" y="580"/>
                  <a:ext cx="256"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29" name="Oval 134"/>
              <p:cNvSpPr>
                <a:spLocks noChangeArrowheads="1"/>
              </p:cNvSpPr>
              <p:nvPr userDrawn="1"/>
            </p:nvSpPr>
            <p:spPr bwMode="auto">
              <a:xfrm>
                <a:off x="1916" y="612"/>
                <a:ext cx="42"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0" name="Oval 135"/>
              <p:cNvSpPr>
                <a:spLocks noChangeArrowheads="1"/>
              </p:cNvSpPr>
              <p:nvPr userDrawn="1"/>
            </p:nvSpPr>
            <p:spPr bwMode="auto">
              <a:xfrm>
                <a:off x="1869" y="525"/>
                <a:ext cx="49"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1" name="Oval 136"/>
              <p:cNvSpPr>
                <a:spLocks noChangeArrowheads="1"/>
              </p:cNvSpPr>
              <p:nvPr userDrawn="1"/>
            </p:nvSpPr>
            <p:spPr bwMode="auto">
              <a:xfrm>
                <a:off x="1956" y="517"/>
                <a:ext cx="51"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25" name="Oval 137"/>
            <p:cNvSpPr>
              <a:spLocks noChangeArrowheads="1"/>
            </p:cNvSpPr>
            <p:nvPr userDrawn="1"/>
          </p:nvSpPr>
          <p:spPr bwMode="auto">
            <a:xfrm flipH="1">
              <a:off x="338" y="3655"/>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6" name="Oval 138"/>
            <p:cNvSpPr>
              <a:spLocks noChangeArrowheads="1"/>
            </p:cNvSpPr>
            <p:nvPr userDrawn="1"/>
          </p:nvSpPr>
          <p:spPr bwMode="auto">
            <a:xfrm flipH="1">
              <a:off x="295" y="3702"/>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36" name="Group 139"/>
          <p:cNvGrpSpPr>
            <a:grpSpLocks/>
          </p:cNvGrpSpPr>
          <p:nvPr/>
        </p:nvGrpSpPr>
        <p:grpSpPr bwMode="auto">
          <a:xfrm rot="1304332">
            <a:off x="-647700" y="1341438"/>
            <a:ext cx="647700" cy="539750"/>
            <a:chOff x="295" y="3385"/>
            <a:chExt cx="408" cy="340"/>
          </a:xfrm>
        </p:grpSpPr>
        <p:grpSp>
          <p:nvGrpSpPr>
            <p:cNvPr id="137" name="Group 140"/>
            <p:cNvGrpSpPr>
              <a:grpSpLocks/>
            </p:cNvGrpSpPr>
            <p:nvPr userDrawn="1"/>
          </p:nvGrpSpPr>
          <p:grpSpPr bwMode="auto">
            <a:xfrm rot="2362656">
              <a:off x="295" y="3385"/>
              <a:ext cx="408" cy="273"/>
              <a:chOff x="1701" y="527"/>
              <a:chExt cx="498" cy="273"/>
            </a:xfrm>
          </p:grpSpPr>
          <p:grpSp>
            <p:nvGrpSpPr>
              <p:cNvPr id="140" name="Group 141"/>
              <p:cNvGrpSpPr>
                <a:grpSpLocks/>
              </p:cNvGrpSpPr>
              <p:nvPr userDrawn="1"/>
            </p:nvGrpSpPr>
            <p:grpSpPr bwMode="auto">
              <a:xfrm rot="228844">
                <a:off x="1927" y="618"/>
                <a:ext cx="272" cy="90"/>
                <a:chOff x="1927" y="527"/>
                <a:chExt cx="272" cy="90"/>
              </a:xfrm>
            </p:grpSpPr>
            <p:sp>
              <p:nvSpPr>
                <p:cNvPr id="147" name="Oval 142"/>
                <p:cNvSpPr>
                  <a:spLocks noChangeArrowheads="1"/>
                </p:cNvSpPr>
                <p:nvPr userDrawn="1"/>
              </p:nvSpPr>
              <p:spPr bwMode="auto">
                <a:xfrm rot="187092">
                  <a:off x="1852" y="586"/>
                  <a:ext cx="272" cy="45"/>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8" name="Oval 143"/>
                <p:cNvSpPr>
                  <a:spLocks noChangeArrowheads="1"/>
                </p:cNvSpPr>
                <p:nvPr userDrawn="1"/>
              </p:nvSpPr>
              <p:spPr bwMode="auto">
                <a:xfrm rot="10143706">
                  <a:off x="1854" y="543"/>
                  <a:ext cx="272" cy="45"/>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41" name="Group 144"/>
              <p:cNvGrpSpPr>
                <a:grpSpLocks/>
              </p:cNvGrpSpPr>
              <p:nvPr userDrawn="1"/>
            </p:nvGrpSpPr>
            <p:grpSpPr bwMode="auto">
              <a:xfrm rot="10800000">
                <a:off x="1701" y="618"/>
                <a:ext cx="272" cy="90"/>
                <a:chOff x="1927" y="527"/>
                <a:chExt cx="272" cy="90"/>
              </a:xfrm>
            </p:grpSpPr>
            <p:sp>
              <p:nvSpPr>
                <p:cNvPr id="145" name="Oval 145"/>
                <p:cNvSpPr>
                  <a:spLocks noChangeArrowheads="1"/>
                </p:cNvSpPr>
                <p:nvPr userDrawn="1"/>
              </p:nvSpPr>
              <p:spPr bwMode="auto">
                <a:xfrm rot="187092">
                  <a:off x="1990" y="590"/>
                  <a:ext cx="272" cy="45"/>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6" name="Oval 146"/>
                <p:cNvSpPr>
                  <a:spLocks noChangeArrowheads="1"/>
                </p:cNvSpPr>
                <p:nvPr userDrawn="1"/>
              </p:nvSpPr>
              <p:spPr bwMode="auto">
                <a:xfrm rot="10143706">
                  <a:off x="1990" y="543"/>
                  <a:ext cx="272" cy="45"/>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42" name="Oval 147"/>
              <p:cNvSpPr>
                <a:spLocks noChangeArrowheads="1"/>
              </p:cNvSpPr>
              <p:nvPr userDrawn="1"/>
            </p:nvSpPr>
            <p:spPr bwMode="auto">
              <a:xfrm>
                <a:off x="1887" y="609"/>
                <a:ext cx="45"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3" name="Oval 148"/>
              <p:cNvSpPr>
                <a:spLocks noChangeArrowheads="1"/>
              </p:cNvSpPr>
              <p:nvPr userDrawn="1"/>
            </p:nvSpPr>
            <p:spPr bwMode="auto">
              <a:xfrm>
                <a:off x="1845" y="514"/>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4" name="Oval 149"/>
              <p:cNvSpPr>
                <a:spLocks noChangeArrowheads="1"/>
              </p:cNvSpPr>
              <p:nvPr userDrawn="1"/>
            </p:nvSpPr>
            <p:spPr bwMode="auto">
              <a:xfrm>
                <a:off x="1934" y="515"/>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38" name="Oval 150"/>
            <p:cNvSpPr>
              <a:spLocks noChangeArrowheads="1"/>
            </p:cNvSpPr>
            <p:nvPr userDrawn="1"/>
          </p:nvSpPr>
          <p:spPr bwMode="auto">
            <a:xfrm flipH="1">
              <a:off x="335" y="3656"/>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9" name="Oval 151"/>
            <p:cNvSpPr>
              <a:spLocks noChangeArrowheads="1"/>
            </p:cNvSpPr>
            <p:nvPr userDrawn="1"/>
          </p:nvSpPr>
          <p:spPr bwMode="auto">
            <a:xfrm flipH="1">
              <a:off x="276" y="3690"/>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49" name="Group 152"/>
          <p:cNvGrpSpPr>
            <a:grpSpLocks/>
          </p:cNvGrpSpPr>
          <p:nvPr/>
        </p:nvGrpSpPr>
        <p:grpSpPr bwMode="auto">
          <a:xfrm>
            <a:off x="179388" y="5300663"/>
            <a:ext cx="504825" cy="466725"/>
            <a:chOff x="295" y="3385"/>
            <a:chExt cx="408" cy="340"/>
          </a:xfrm>
        </p:grpSpPr>
        <p:grpSp>
          <p:nvGrpSpPr>
            <p:cNvPr id="150" name="Group 153"/>
            <p:cNvGrpSpPr>
              <a:grpSpLocks/>
            </p:cNvGrpSpPr>
            <p:nvPr userDrawn="1"/>
          </p:nvGrpSpPr>
          <p:grpSpPr bwMode="auto">
            <a:xfrm rot="2362656">
              <a:off x="295" y="3385"/>
              <a:ext cx="408" cy="273"/>
              <a:chOff x="1701" y="527"/>
              <a:chExt cx="498" cy="273"/>
            </a:xfrm>
          </p:grpSpPr>
          <p:grpSp>
            <p:nvGrpSpPr>
              <p:cNvPr id="153" name="Group 154"/>
              <p:cNvGrpSpPr>
                <a:grpSpLocks/>
              </p:cNvGrpSpPr>
              <p:nvPr userDrawn="1"/>
            </p:nvGrpSpPr>
            <p:grpSpPr bwMode="auto">
              <a:xfrm rot="228844">
                <a:off x="1927" y="618"/>
                <a:ext cx="272" cy="90"/>
                <a:chOff x="1927" y="527"/>
                <a:chExt cx="272" cy="90"/>
              </a:xfrm>
            </p:grpSpPr>
            <p:sp>
              <p:nvSpPr>
                <p:cNvPr id="160" name="Oval 155"/>
                <p:cNvSpPr>
                  <a:spLocks noChangeArrowheads="1"/>
                </p:cNvSpPr>
                <p:nvPr userDrawn="1"/>
              </p:nvSpPr>
              <p:spPr bwMode="auto">
                <a:xfrm rot="187092">
                  <a:off x="1860" y="578"/>
                  <a:ext cx="272" cy="42"/>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1" name="Oval 156"/>
                <p:cNvSpPr>
                  <a:spLocks noChangeArrowheads="1"/>
                </p:cNvSpPr>
                <p:nvPr userDrawn="1"/>
              </p:nvSpPr>
              <p:spPr bwMode="auto">
                <a:xfrm rot="10143706">
                  <a:off x="1864" y="531"/>
                  <a:ext cx="272" cy="42"/>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54" name="Group 157"/>
              <p:cNvGrpSpPr>
                <a:grpSpLocks/>
              </p:cNvGrpSpPr>
              <p:nvPr userDrawn="1"/>
            </p:nvGrpSpPr>
            <p:grpSpPr bwMode="auto">
              <a:xfrm rot="10800000">
                <a:off x="1701" y="618"/>
                <a:ext cx="272" cy="90"/>
                <a:chOff x="1927" y="527"/>
                <a:chExt cx="272" cy="90"/>
              </a:xfrm>
            </p:grpSpPr>
            <p:sp>
              <p:nvSpPr>
                <p:cNvPr id="158" name="Oval 158"/>
                <p:cNvSpPr>
                  <a:spLocks noChangeArrowheads="1"/>
                </p:cNvSpPr>
                <p:nvPr userDrawn="1"/>
              </p:nvSpPr>
              <p:spPr bwMode="auto">
                <a:xfrm rot="187092">
                  <a:off x="1955" y="573"/>
                  <a:ext cx="272" cy="34"/>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9" name="Oval 159"/>
                <p:cNvSpPr>
                  <a:spLocks noChangeArrowheads="1"/>
                </p:cNvSpPr>
                <p:nvPr userDrawn="1"/>
              </p:nvSpPr>
              <p:spPr bwMode="auto">
                <a:xfrm rot="10143706">
                  <a:off x="1937" y="526"/>
                  <a:ext cx="272" cy="44"/>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55" name="Oval 160"/>
              <p:cNvSpPr>
                <a:spLocks noChangeArrowheads="1"/>
              </p:cNvSpPr>
              <p:nvPr userDrawn="1"/>
            </p:nvSpPr>
            <p:spPr bwMode="auto">
              <a:xfrm>
                <a:off x="1918" y="619"/>
                <a:ext cx="47" cy="183"/>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6" name="Oval 161"/>
              <p:cNvSpPr>
                <a:spLocks noChangeArrowheads="1"/>
              </p:cNvSpPr>
              <p:nvPr userDrawn="1"/>
            </p:nvSpPr>
            <p:spPr bwMode="auto">
              <a:xfrm>
                <a:off x="1876" y="528"/>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7" name="Oval 162"/>
              <p:cNvSpPr>
                <a:spLocks noChangeArrowheads="1"/>
              </p:cNvSpPr>
              <p:nvPr userDrawn="1"/>
            </p:nvSpPr>
            <p:spPr bwMode="auto">
              <a:xfrm>
                <a:off x="1970" y="528"/>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51" name="Oval 163"/>
            <p:cNvSpPr>
              <a:spLocks noChangeArrowheads="1"/>
            </p:cNvSpPr>
            <p:nvPr userDrawn="1"/>
          </p:nvSpPr>
          <p:spPr bwMode="auto">
            <a:xfrm flipH="1">
              <a:off x="340" y="3657"/>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2" name="Oval 164"/>
            <p:cNvSpPr>
              <a:spLocks noChangeArrowheads="1"/>
            </p:cNvSpPr>
            <p:nvPr userDrawn="1"/>
          </p:nvSpPr>
          <p:spPr bwMode="auto">
            <a:xfrm flipH="1">
              <a:off x="295"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62" name="Group 165"/>
          <p:cNvGrpSpPr>
            <a:grpSpLocks/>
          </p:cNvGrpSpPr>
          <p:nvPr/>
        </p:nvGrpSpPr>
        <p:grpSpPr bwMode="auto">
          <a:xfrm rot="-2197408">
            <a:off x="8172450" y="5157788"/>
            <a:ext cx="511175" cy="322262"/>
            <a:chOff x="295" y="3385"/>
            <a:chExt cx="408" cy="340"/>
          </a:xfrm>
        </p:grpSpPr>
        <p:grpSp>
          <p:nvGrpSpPr>
            <p:cNvPr id="163" name="Group 166"/>
            <p:cNvGrpSpPr>
              <a:grpSpLocks/>
            </p:cNvGrpSpPr>
            <p:nvPr userDrawn="1"/>
          </p:nvGrpSpPr>
          <p:grpSpPr bwMode="auto">
            <a:xfrm rot="2362656">
              <a:off x="295" y="3385"/>
              <a:ext cx="408" cy="273"/>
              <a:chOff x="1701" y="527"/>
              <a:chExt cx="498" cy="273"/>
            </a:xfrm>
          </p:grpSpPr>
          <p:grpSp>
            <p:nvGrpSpPr>
              <p:cNvPr id="166" name="Group 167"/>
              <p:cNvGrpSpPr>
                <a:grpSpLocks/>
              </p:cNvGrpSpPr>
              <p:nvPr userDrawn="1"/>
            </p:nvGrpSpPr>
            <p:grpSpPr bwMode="auto">
              <a:xfrm rot="228844">
                <a:off x="1927" y="618"/>
                <a:ext cx="272" cy="90"/>
                <a:chOff x="1927" y="527"/>
                <a:chExt cx="272" cy="90"/>
              </a:xfrm>
            </p:grpSpPr>
            <p:sp>
              <p:nvSpPr>
                <p:cNvPr id="173" name="Oval 168"/>
                <p:cNvSpPr>
                  <a:spLocks noChangeArrowheads="1"/>
                </p:cNvSpPr>
                <p:nvPr userDrawn="1"/>
              </p:nvSpPr>
              <p:spPr bwMode="auto">
                <a:xfrm rot="187092">
                  <a:off x="1872" y="504"/>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4" name="Oval 169"/>
                <p:cNvSpPr>
                  <a:spLocks noChangeArrowheads="1"/>
                </p:cNvSpPr>
                <p:nvPr userDrawn="1"/>
              </p:nvSpPr>
              <p:spPr bwMode="auto">
                <a:xfrm rot="10143706">
                  <a:off x="1868" y="464"/>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67" name="Group 170"/>
              <p:cNvGrpSpPr>
                <a:grpSpLocks/>
              </p:cNvGrpSpPr>
              <p:nvPr userDrawn="1"/>
            </p:nvGrpSpPr>
            <p:grpSpPr bwMode="auto">
              <a:xfrm rot="10800000">
                <a:off x="1701" y="618"/>
                <a:ext cx="272" cy="90"/>
                <a:chOff x="1927" y="527"/>
                <a:chExt cx="272" cy="90"/>
              </a:xfrm>
            </p:grpSpPr>
            <p:sp>
              <p:nvSpPr>
                <p:cNvPr id="171" name="Oval 171"/>
                <p:cNvSpPr>
                  <a:spLocks noChangeArrowheads="1"/>
                </p:cNvSpPr>
                <p:nvPr userDrawn="1"/>
              </p:nvSpPr>
              <p:spPr bwMode="auto">
                <a:xfrm rot="187092">
                  <a:off x="1945" y="666"/>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2" name="Oval 172"/>
                <p:cNvSpPr>
                  <a:spLocks noChangeArrowheads="1"/>
                </p:cNvSpPr>
                <p:nvPr userDrawn="1"/>
              </p:nvSpPr>
              <p:spPr bwMode="auto">
                <a:xfrm rot="10143706">
                  <a:off x="1944" y="624"/>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68" name="Oval 173"/>
              <p:cNvSpPr>
                <a:spLocks noChangeArrowheads="1"/>
              </p:cNvSpPr>
              <p:nvPr userDrawn="1"/>
            </p:nvSpPr>
            <p:spPr bwMode="auto">
              <a:xfrm>
                <a:off x="1912" y="565"/>
                <a:ext cx="45" cy="184"/>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9" name="Oval 174"/>
              <p:cNvSpPr>
                <a:spLocks noChangeArrowheads="1"/>
              </p:cNvSpPr>
              <p:nvPr userDrawn="1"/>
            </p:nvSpPr>
            <p:spPr bwMode="auto">
              <a:xfrm>
                <a:off x="1866" y="487"/>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0" name="Oval 175"/>
              <p:cNvSpPr>
                <a:spLocks noChangeArrowheads="1"/>
              </p:cNvSpPr>
              <p:nvPr userDrawn="1"/>
            </p:nvSpPr>
            <p:spPr bwMode="auto">
              <a:xfrm>
                <a:off x="1962" y="488"/>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64" name="Oval 176"/>
            <p:cNvSpPr>
              <a:spLocks noChangeArrowheads="1"/>
            </p:cNvSpPr>
            <p:nvPr userDrawn="1"/>
          </p:nvSpPr>
          <p:spPr bwMode="auto">
            <a:xfrm flipH="1">
              <a:off x="340" y="3654"/>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5" name="Oval 177"/>
            <p:cNvSpPr>
              <a:spLocks noChangeArrowheads="1"/>
            </p:cNvSpPr>
            <p:nvPr userDrawn="1"/>
          </p:nvSpPr>
          <p:spPr bwMode="auto">
            <a:xfrm flipH="1">
              <a:off x="295" y="3701"/>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75" name="Group 178"/>
          <p:cNvGrpSpPr>
            <a:grpSpLocks/>
          </p:cNvGrpSpPr>
          <p:nvPr/>
        </p:nvGrpSpPr>
        <p:grpSpPr bwMode="auto">
          <a:xfrm>
            <a:off x="6156325" y="5734050"/>
            <a:ext cx="576263" cy="466725"/>
            <a:chOff x="295" y="3385"/>
            <a:chExt cx="408" cy="340"/>
          </a:xfrm>
        </p:grpSpPr>
        <p:grpSp>
          <p:nvGrpSpPr>
            <p:cNvPr id="176" name="Group 179"/>
            <p:cNvGrpSpPr>
              <a:grpSpLocks/>
            </p:cNvGrpSpPr>
            <p:nvPr userDrawn="1"/>
          </p:nvGrpSpPr>
          <p:grpSpPr bwMode="auto">
            <a:xfrm rot="2362656">
              <a:off x="295" y="3385"/>
              <a:ext cx="408" cy="273"/>
              <a:chOff x="1701" y="527"/>
              <a:chExt cx="498" cy="273"/>
            </a:xfrm>
          </p:grpSpPr>
          <p:grpSp>
            <p:nvGrpSpPr>
              <p:cNvPr id="179" name="Group 180"/>
              <p:cNvGrpSpPr>
                <a:grpSpLocks/>
              </p:cNvGrpSpPr>
              <p:nvPr userDrawn="1"/>
            </p:nvGrpSpPr>
            <p:grpSpPr bwMode="auto">
              <a:xfrm rot="228844">
                <a:off x="1927" y="618"/>
                <a:ext cx="272" cy="90"/>
                <a:chOff x="1927" y="527"/>
                <a:chExt cx="272" cy="90"/>
              </a:xfrm>
            </p:grpSpPr>
            <p:sp>
              <p:nvSpPr>
                <p:cNvPr id="186" name="Oval 181"/>
                <p:cNvSpPr>
                  <a:spLocks noChangeArrowheads="1"/>
                </p:cNvSpPr>
                <p:nvPr userDrawn="1"/>
              </p:nvSpPr>
              <p:spPr bwMode="auto">
                <a:xfrm rot="187092">
                  <a:off x="1921" y="573"/>
                  <a:ext cx="272" cy="43"/>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7" name="Oval 182"/>
                <p:cNvSpPr>
                  <a:spLocks noChangeArrowheads="1"/>
                </p:cNvSpPr>
                <p:nvPr userDrawn="1"/>
              </p:nvSpPr>
              <p:spPr bwMode="auto">
                <a:xfrm rot="10143706">
                  <a:off x="1896" y="530"/>
                  <a:ext cx="272" cy="42"/>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0" name="Group 183"/>
              <p:cNvGrpSpPr>
                <a:grpSpLocks/>
              </p:cNvGrpSpPr>
              <p:nvPr userDrawn="1"/>
            </p:nvGrpSpPr>
            <p:grpSpPr bwMode="auto">
              <a:xfrm rot="10800000">
                <a:off x="1701" y="618"/>
                <a:ext cx="272" cy="90"/>
                <a:chOff x="1927" y="527"/>
                <a:chExt cx="272" cy="90"/>
              </a:xfrm>
            </p:grpSpPr>
            <p:sp>
              <p:nvSpPr>
                <p:cNvPr id="184" name="Oval 184"/>
                <p:cNvSpPr>
                  <a:spLocks noChangeArrowheads="1"/>
                </p:cNvSpPr>
                <p:nvPr userDrawn="1"/>
              </p:nvSpPr>
              <p:spPr bwMode="auto">
                <a:xfrm rot="187092">
                  <a:off x="1978" y="572"/>
                  <a:ext cx="272" cy="34"/>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5" name="Oval 185"/>
                <p:cNvSpPr>
                  <a:spLocks noChangeArrowheads="1"/>
                </p:cNvSpPr>
                <p:nvPr userDrawn="1"/>
              </p:nvSpPr>
              <p:spPr bwMode="auto">
                <a:xfrm rot="10143706">
                  <a:off x="1980" y="523"/>
                  <a:ext cx="272" cy="42"/>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81" name="Oval 186"/>
              <p:cNvSpPr>
                <a:spLocks noChangeArrowheads="1"/>
              </p:cNvSpPr>
              <p:nvPr userDrawn="1"/>
            </p:nvSpPr>
            <p:spPr bwMode="auto">
              <a:xfrm>
                <a:off x="1924" y="618"/>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2" name="Oval 187"/>
              <p:cNvSpPr>
                <a:spLocks noChangeArrowheads="1"/>
              </p:cNvSpPr>
              <p:nvPr userDrawn="1"/>
            </p:nvSpPr>
            <p:spPr bwMode="auto">
              <a:xfrm>
                <a:off x="1879" y="527"/>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3" name="Oval 188"/>
              <p:cNvSpPr>
                <a:spLocks noChangeArrowheads="1"/>
              </p:cNvSpPr>
              <p:nvPr userDrawn="1"/>
            </p:nvSpPr>
            <p:spPr bwMode="auto">
              <a:xfrm>
                <a:off x="1960" y="523"/>
                <a:ext cx="45" cy="44"/>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77" name="Oval 189"/>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8" name="Oval 190"/>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8" name="Group 191"/>
          <p:cNvGrpSpPr>
            <a:grpSpLocks/>
          </p:cNvGrpSpPr>
          <p:nvPr/>
        </p:nvGrpSpPr>
        <p:grpSpPr bwMode="auto">
          <a:xfrm rot="1401958">
            <a:off x="6372225" y="5957888"/>
            <a:ext cx="503238" cy="1800225"/>
            <a:chOff x="3470" y="572"/>
            <a:chExt cx="317" cy="1134"/>
          </a:xfrm>
        </p:grpSpPr>
        <p:sp>
          <p:nvSpPr>
            <p:cNvPr id="189" name="Arc 192"/>
            <p:cNvSpPr>
              <a:spLocks/>
            </p:cNvSpPr>
            <p:nvPr userDrawn="1"/>
          </p:nvSpPr>
          <p:spPr bwMode="auto">
            <a:xfrm>
              <a:off x="3506" y="697"/>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190" name="Oval 193"/>
            <p:cNvSpPr>
              <a:spLocks noChangeArrowheads="1"/>
            </p:cNvSpPr>
            <p:nvPr userDrawn="1"/>
          </p:nvSpPr>
          <p:spPr bwMode="auto">
            <a:xfrm rot="-3515713">
              <a:off x="3535" y="784"/>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1" name="Oval 194"/>
            <p:cNvSpPr>
              <a:spLocks noChangeArrowheads="1"/>
            </p:cNvSpPr>
            <p:nvPr userDrawn="1"/>
          </p:nvSpPr>
          <p:spPr bwMode="auto">
            <a:xfrm rot="-1615679">
              <a:off x="3467" y="696"/>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2" name="Oval 195"/>
            <p:cNvSpPr>
              <a:spLocks noChangeArrowheads="1"/>
            </p:cNvSpPr>
            <p:nvPr userDrawn="1"/>
          </p:nvSpPr>
          <p:spPr bwMode="auto">
            <a:xfrm rot="6199228">
              <a:off x="3535"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3" name="Oval 196"/>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4" name="Oval 197"/>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5" name="Oval 198"/>
            <p:cNvSpPr>
              <a:spLocks noChangeArrowheads="1"/>
            </p:cNvSpPr>
            <p:nvPr userDrawn="1"/>
          </p:nvSpPr>
          <p:spPr bwMode="auto">
            <a:xfrm rot="-4126769">
              <a:off x="3480" y="746"/>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6" name="Oval 199"/>
            <p:cNvSpPr>
              <a:spLocks noChangeArrowheads="1"/>
            </p:cNvSpPr>
            <p:nvPr userDrawn="1"/>
          </p:nvSpPr>
          <p:spPr bwMode="auto">
            <a:xfrm rot="-2624767">
              <a:off x="3578" y="653"/>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7" name="Oval 200"/>
            <p:cNvSpPr>
              <a:spLocks noChangeArrowheads="1"/>
            </p:cNvSpPr>
            <p:nvPr userDrawn="1"/>
          </p:nvSpPr>
          <p:spPr bwMode="auto">
            <a:xfrm rot="-5400000">
              <a:off x="3554" y="828"/>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8" name="Oval 201"/>
            <p:cNvSpPr>
              <a:spLocks noChangeArrowheads="1"/>
            </p:cNvSpPr>
            <p:nvPr userDrawn="1"/>
          </p:nvSpPr>
          <p:spPr bwMode="auto">
            <a:xfrm rot="-1495776">
              <a:off x="3616"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99" name="Group 202"/>
          <p:cNvGrpSpPr>
            <a:grpSpLocks/>
          </p:cNvGrpSpPr>
          <p:nvPr/>
        </p:nvGrpSpPr>
        <p:grpSpPr bwMode="auto">
          <a:xfrm flipH="1">
            <a:off x="1692275" y="6453188"/>
            <a:ext cx="503238" cy="1800225"/>
            <a:chOff x="3470" y="572"/>
            <a:chExt cx="317" cy="1134"/>
          </a:xfrm>
        </p:grpSpPr>
        <p:sp>
          <p:nvSpPr>
            <p:cNvPr id="200" name="Arc 203"/>
            <p:cNvSpPr>
              <a:spLocks/>
            </p:cNvSpPr>
            <p:nvPr userDrawn="1"/>
          </p:nvSpPr>
          <p:spPr bwMode="auto">
            <a:xfrm>
              <a:off x="3507" y="698"/>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201" name="Oval 204"/>
            <p:cNvSpPr>
              <a:spLocks noChangeArrowheads="1"/>
            </p:cNvSpPr>
            <p:nvPr userDrawn="1"/>
          </p:nvSpPr>
          <p:spPr bwMode="auto">
            <a:xfrm rot="-3515713">
              <a:off x="3536" y="785"/>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2" name="Oval 205"/>
            <p:cNvSpPr>
              <a:spLocks noChangeArrowheads="1"/>
            </p:cNvSpPr>
            <p:nvPr userDrawn="1"/>
          </p:nvSpPr>
          <p:spPr bwMode="auto">
            <a:xfrm rot="-1615679">
              <a:off x="3470"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3" name="Oval 206"/>
            <p:cNvSpPr>
              <a:spLocks noChangeArrowheads="1"/>
            </p:cNvSpPr>
            <p:nvPr userDrawn="1"/>
          </p:nvSpPr>
          <p:spPr bwMode="auto">
            <a:xfrm rot="6199228">
              <a:off x="3536"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4" name="Oval 207"/>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5" name="Oval 208"/>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6" name="Oval 209"/>
            <p:cNvSpPr>
              <a:spLocks noChangeArrowheads="1"/>
            </p:cNvSpPr>
            <p:nvPr userDrawn="1"/>
          </p:nvSpPr>
          <p:spPr bwMode="auto">
            <a:xfrm rot="-4126769">
              <a:off x="3499" y="743"/>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7" name="Oval 210"/>
            <p:cNvSpPr>
              <a:spLocks noChangeArrowheads="1"/>
            </p:cNvSpPr>
            <p:nvPr userDrawn="1"/>
          </p:nvSpPr>
          <p:spPr bwMode="auto">
            <a:xfrm rot="-2624767">
              <a:off x="3581"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8" name="Oval 211"/>
            <p:cNvSpPr>
              <a:spLocks noChangeArrowheads="1"/>
            </p:cNvSpPr>
            <p:nvPr userDrawn="1"/>
          </p:nvSpPr>
          <p:spPr bwMode="auto">
            <a:xfrm rot="-5400000">
              <a:off x="3572" y="825"/>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9" name="Oval 212"/>
            <p:cNvSpPr>
              <a:spLocks noChangeArrowheads="1"/>
            </p:cNvSpPr>
            <p:nvPr userDrawn="1"/>
          </p:nvSpPr>
          <p:spPr bwMode="auto">
            <a:xfrm rot="-1495776">
              <a:off x="3617"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0" name="Group 213"/>
          <p:cNvGrpSpPr>
            <a:grpSpLocks/>
          </p:cNvGrpSpPr>
          <p:nvPr/>
        </p:nvGrpSpPr>
        <p:grpSpPr bwMode="auto">
          <a:xfrm rot="538637">
            <a:off x="7308850" y="5516563"/>
            <a:ext cx="815975" cy="2030412"/>
            <a:chOff x="4377" y="300"/>
            <a:chExt cx="514" cy="1279"/>
          </a:xfrm>
        </p:grpSpPr>
        <p:sp>
          <p:nvSpPr>
            <p:cNvPr id="211" name="Arc 214"/>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212" name="Oval 215"/>
            <p:cNvSpPr>
              <a:spLocks noChangeArrowheads="1"/>
            </p:cNvSpPr>
            <p:nvPr userDrawn="1"/>
          </p:nvSpPr>
          <p:spPr bwMode="auto">
            <a:xfrm rot="-3515713">
              <a:off x="4454" y="546"/>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3" name="Oval 216"/>
            <p:cNvSpPr>
              <a:spLocks noChangeArrowheads="1"/>
            </p:cNvSpPr>
            <p:nvPr userDrawn="1"/>
          </p:nvSpPr>
          <p:spPr bwMode="auto">
            <a:xfrm rot="-1615679">
              <a:off x="4361" y="444"/>
              <a:ext cx="143"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4" name="Oval 217"/>
            <p:cNvSpPr>
              <a:spLocks noChangeArrowheads="1"/>
            </p:cNvSpPr>
            <p:nvPr userDrawn="1"/>
          </p:nvSpPr>
          <p:spPr bwMode="auto">
            <a:xfrm rot="6199228">
              <a:off x="4453" y="341"/>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5" name="Oval 218"/>
            <p:cNvSpPr>
              <a:spLocks noChangeArrowheads="1"/>
            </p:cNvSpPr>
            <p:nvPr userDrawn="1"/>
          </p:nvSpPr>
          <p:spPr bwMode="auto">
            <a:xfrm>
              <a:off x="4601" y="490"/>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6" name="Oval 219"/>
            <p:cNvSpPr>
              <a:spLocks noChangeArrowheads="1"/>
            </p:cNvSpPr>
            <p:nvPr userDrawn="1"/>
          </p:nvSpPr>
          <p:spPr bwMode="auto">
            <a:xfrm rot="-4126769">
              <a:off x="4418" y="484"/>
              <a:ext cx="151" cy="48"/>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7" name="Oval 220"/>
            <p:cNvSpPr>
              <a:spLocks noChangeArrowheads="1"/>
            </p:cNvSpPr>
            <p:nvPr userDrawn="1"/>
          </p:nvSpPr>
          <p:spPr bwMode="auto">
            <a:xfrm rot="-2624767">
              <a:off x="4507" y="389"/>
              <a:ext cx="142"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8" name="Oval 221"/>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9" name="Oval 222"/>
            <p:cNvSpPr>
              <a:spLocks noChangeArrowheads="1"/>
            </p:cNvSpPr>
            <p:nvPr userDrawn="1"/>
          </p:nvSpPr>
          <p:spPr bwMode="auto">
            <a:xfrm rot="-1495776">
              <a:off x="4567" y="451"/>
              <a:ext cx="142"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0" name="Oval 223"/>
            <p:cNvSpPr>
              <a:spLocks noChangeArrowheads="1"/>
            </p:cNvSpPr>
            <p:nvPr userDrawn="1"/>
          </p:nvSpPr>
          <p:spPr bwMode="auto">
            <a:xfrm rot="-2742706">
              <a:off x="4546" y="667"/>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1" name="Oval 224"/>
            <p:cNvSpPr>
              <a:spLocks noChangeArrowheads="1"/>
            </p:cNvSpPr>
            <p:nvPr userDrawn="1"/>
          </p:nvSpPr>
          <p:spPr bwMode="auto">
            <a:xfrm rot="-2742706">
              <a:off x="4582" y="709"/>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2" name="Oval 225"/>
            <p:cNvSpPr>
              <a:spLocks noChangeArrowheads="1"/>
            </p:cNvSpPr>
            <p:nvPr userDrawn="1"/>
          </p:nvSpPr>
          <p:spPr bwMode="auto">
            <a:xfrm rot="1036516">
              <a:off x="4740" y="754"/>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3" name="Oval 226"/>
            <p:cNvSpPr>
              <a:spLocks noChangeArrowheads="1"/>
            </p:cNvSpPr>
            <p:nvPr userDrawn="1"/>
          </p:nvSpPr>
          <p:spPr bwMode="auto">
            <a:xfrm rot="403513">
              <a:off x="4629" y="567"/>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4" name="Oval 227"/>
            <p:cNvSpPr>
              <a:spLocks noChangeArrowheads="1"/>
            </p:cNvSpPr>
            <p:nvPr userDrawn="1"/>
          </p:nvSpPr>
          <p:spPr bwMode="auto">
            <a:xfrm rot="347087">
              <a:off x="4681" y="652"/>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5" name="Oval 228"/>
            <p:cNvSpPr>
              <a:spLocks noChangeArrowheads="1"/>
            </p:cNvSpPr>
            <p:nvPr userDrawn="1"/>
          </p:nvSpPr>
          <p:spPr bwMode="auto">
            <a:xfrm rot="-2685850">
              <a:off x="4642" y="792"/>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26" name="AutoShape 229"/>
          <p:cNvSpPr>
            <a:spLocks noChangeArrowheads="1"/>
          </p:cNvSpPr>
          <p:nvPr/>
        </p:nvSpPr>
        <p:spPr bwMode="auto">
          <a:xfrm rot="19980577">
            <a:off x="7091363" y="7051675"/>
            <a:ext cx="360362" cy="908050"/>
          </a:xfrm>
          <a:prstGeom prst="moon">
            <a:avLst>
              <a:gd name="adj" fmla="val 0"/>
            </a:avLst>
          </a:prstGeom>
          <a:gradFill rotWithShape="1">
            <a:gsLst>
              <a:gs pos="0">
                <a:schemeClr val="folHlink"/>
              </a:gs>
              <a:gs pos="100000">
                <a:schemeClr val="folHlink">
                  <a:gamma/>
                  <a:shade val="46275"/>
                  <a:invGamma/>
                </a:schemeClr>
              </a:gs>
            </a:gsLst>
            <a:lin ang="5400000" scaled="1"/>
          </a:gradFill>
          <a:ln>
            <a:noFill/>
          </a:ln>
          <a:effectLst>
            <a:prstShdw prst="shdw17" dist="17961" dir="2700000">
              <a:schemeClr val="folHlink">
                <a:gamma/>
                <a:shade val="60000"/>
                <a:invGamma/>
              </a:schemeClr>
            </a:prstShdw>
          </a:effectLs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a:ln>
                <a:noFill/>
              </a:ln>
              <a:solidFill>
                <a:srgbClr val="000000"/>
              </a:solidFill>
              <a:effectLst/>
              <a:uLnTx/>
              <a:uFillTx/>
              <a:latin typeface="Arial" charset="0"/>
              <a:ea typeface="標楷體" panose="03000509000000000000" pitchFamily="65" charset="-120"/>
              <a:cs typeface="+mn-cs"/>
            </a:endParaRPr>
          </a:p>
        </p:txBody>
      </p:sp>
      <p:grpSp>
        <p:nvGrpSpPr>
          <p:cNvPr id="227" name="Group 230"/>
          <p:cNvGrpSpPr>
            <a:grpSpLocks/>
          </p:cNvGrpSpPr>
          <p:nvPr/>
        </p:nvGrpSpPr>
        <p:grpSpPr bwMode="auto">
          <a:xfrm rot="-4249260">
            <a:off x="731838" y="3994150"/>
            <a:ext cx="503238" cy="503237"/>
            <a:chOff x="295" y="3385"/>
            <a:chExt cx="408" cy="340"/>
          </a:xfrm>
        </p:grpSpPr>
        <p:grpSp>
          <p:nvGrpSpPr>
            <p:cNvPr id="228" name="Group 231"/>
            <p:cNvGrpSpPr>
              <a:grpSpLocks/>
            </p:cNvGrpSpPr>
            <p:nvPr userDrawn="1"/>
          </p:nvGrpSpPr>
          <p:grpSpPr bwMode="auto">
            <a:xfrm rot="2362656">
              <a:off x="295" y="3385"/>
              <a:ext cx="408" cy="273"/>
              <a:chOff x="1701" y="527"/>
              <a:chExt cx="498" cy="273"/>
            </a:xfrm>
          </p:grpSpPr>
          <p:grpSp>
            <p:nvGrpSpPr>
              <p:cNvPr id="231" name="Group 232"/>
              <p:cNvGrpSpPr>
                <a:grpSpLocks/>
              </p:cNvGrpSpPr>
              <p:nvPr userDrawn="1"/>
            </p:nvGrpSpPr>
            <p:grpSpPr bwMode="auto">
              <a:xfrm rot="228844">
                <a:off x="1927" y="618"/>
                <a:ext cx="272" cy="90"/>
                <a:chOff x="1927" y="527"/>
                <a:chExt cx="272" cy="90"/>
              </a:xfrm>
            </p:grpSpPr>
            <p:sp>
              <p:nvSpPr>
                <p:cNvPr id="238" name="Oval 233"/>
                <p:cNvSpPr>
                  <a:spLocks noChangeArrowheads="1"/>
                </p:cNvSpPr>
                <p:nvPr userDrawn="1"/>
              </p:nvSpPr>
              <p:spPr bwMode="auto">
                <a:xfrm rot="187092">
                  <a:off x="1901" y="518"/>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9" name="Oval 234"/>
                <p:cNvSpPr>
                  <a:spLocks noChangeArrowheads="1"/>
                </p:cNvSpPr>
                <p:nvPr userDrawn="1"/>
              </p:nvSpPr>
              <p:spPr bwMode="auto">
                <a:xfrm rot="10143706">
                  <a:off x="1903" y="471"/>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32" name="Group 235"/>
              <p:cNvGrpSpPr>
                <a:grpSpLocks/>
              </p:cNvGrpSpPr>
              <p:nvPr userDrawn="1"/>
            </p:nvGrpSpPr>
            <p:grpSpPr bwMode="auto">
              <a:xfrm rot="10800000">
                <a:off x="1701" y="618"/>
                <a:ext cx="272" cy="90"/>
                <a:chOff x="1927" y="527"/>
                <a:chExt cx="272" cy="90"/>
              </a:xfrm>
            </p:grpSpPr>
            <p:sp>
              <p:nvSpPr>
                <p:cNvPr id="236" name="Oval 236"/>
                <p:cNvSpPr>
                  <a:spLocks noChangeArrowheads="1"/>
                </p:cNvSpPr>
                <p:nvPr userDrawn="1"/>
              </p:nvSpPr>
              <p:spPr bwMode="auto">
                <a:xfrm rot="187092">
                  <a:off x="1934" y="620"/>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7" name="Oval 237"/>
                <p:cNvSpPr>
                  <a:spLocks noChangeArrowheads="1"/>
                </p:cNvSpPr>
                <p:nvPr userDrawn="1"/>
              </p:nvSpPr>
              <p:spPr bwMode="auto">
                <a:xfrm rot="10143706">
                  <a:off x="1934" y="573"/>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33" name="Oval 238"/>
              <p:cNvSpPr>
                <a:spLocks noChangeArrowheads="1"/>
              </p:cNvSpPr>
              <p:nvPr userDrawn="1"/>
            </p:nvSpPr>
            <p:spPr bwMode="auto">
              <a:xfrm>
                <a:off x="1911" y="590"/>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4" name="Oval 239"/>
              <p:cNvSpPr>
                <a:spLocks noChangeArrowheads="1"/>
              </p:cNvSpPr>
              <p:nvPr userDrawn="1"/>
            </p:nvSpPr>
            <p:spPr bwMode="auto">
              <a:xfrm>
                <a:off x="1882" y="489"/>
                <a:ext cx="46"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5" name="Oval 240"/>
              <p:cNvSpPr>
                <a:spLocks noChangeArrowheads="1"/>
              </p:cNvSpPr>
              <p:nvPr userDrawn="1"/>
            </p:nvSpPr>
            <p:spPr bwMode="auto">
              <a:xfrm>
                <a:off x="1969" y="489"/>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29" name="Oval 241"/>
            <p:cNvSpPr>
              <a:spLocks noChangeArrowheads="1"/>
            </p:cNvSpPr>
            <p:nvPr userDrawn="1"/>
          </p:nvSpPr>
          <p:spPr bwMode="auto">
            <a:xfrm flipH="1">
              <a:off x="334" y="3658"/>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0" name="Oval 242"/>
            <p:cNvSpPr>
              <a:spLocks noChangeArrowheads="1"/>
            </p:cNvSpPr>
            <p:nvPr userDrawn="1"/>
          </p:nvSpPr>
          <p:spPr bwMode="auto">
            <a:xfrm flipH="1">
              <a:off x="287"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8754" name="Rectangle 82"/>
          <p:cNvSpPr>
            <a:spLocks noGrp="1" noChangeArrowheads="1"/>
          </p:cNvSpPr>
          <p:nvPr>
            <p:ph type="ctrTitle"/>
          </p:nvPr>
        </p:nvSpPr>
        <p:spPr>
          <a:xfrm>
            <a:off x="685800" y="2130425"/>
            <a:ext cx="7772400" cy="1470025"/>
          </a:xfrm>
        </p:spPr>
        <p:txBody>
          <a:bodyPr/>
          <a:lstStyle>
            <a:lvl1pPr>
              <a:defRPr/>
            </a:lvl1pPr>
          </a:lstStyle>
          <a:p>
            <a:pPr lvl="0"/>
            <a:r>
              <a:rPr lang="zh-TW" altLang="en-US" noProof="0" smtClean="0"/>
              <a:t>按一下以編輯母片標題樣式</a:t>
            </a:r>
          </a:p>
        </p:txBody>
      </p:sp>
      <p:sp>
        <p:nvSpPr>
          <p:cNvPr id="28755" name="Rectangle 83"/>
          <p:cNvSpPr>
            <a:spLocks noGrp="1" noChangeArrowheads="1"/>
          </p:cNvSpPr>
          <p:nvPr>
            <p:ph type="subTitle" idx="1"/>
          </p:nvPr>
        </p:nvSpPr>
        <p:spPr>
          <a:xfrm>
            <a:off x="1371600" y="3886200"/>
            <a:ext cx="6400800" cy="1752600"/>
          </a:xfrm>
        </p:spPr>
        <p:txBody>
          <a:bodyPr/>
          <a:lstStyle>
            <a:lvl1pPr marL="0" indent="0" algn="ctr">
              <a:buFontTx/>
              <a:buNone/>
              <a:defRPr/>
            </a:lvl1pPr>
          </a:lstStyle>
          <a:p>
            <a:pPr lvl="0"/>
            <a:r>
              <a:rPr lang="zh-TW" altLang="en-US" noProof="0" smtClean="0"/>
              <a:t>按一下以編輯母片副標題樣式</a:t>
            </a:r>
          </a:p>
        </p:txBody>
      </p:sp>
      <p:sp>
        <p:nvSpPr>
          <p:cNvPr id="240" name="Rectangle 84"/>
          <p:cNvSpPr>
            <a:spLocks noGrp="1" noChangeArrowheads="1"/>
          </p:cNvSpPr>
          <p:nvPr>
            <p:ph type="dt" sz="half" idx="10"/>
          </p:nvPr>
        </p:nvSpPr>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241" name="Rectangle 85"/>
          <p:cNvSpPr>
            <a:spLocks noGrp="1" noChangeArrowheads="1"/>
          </p:cNvSpPr>
          <p:nvPr>
            <p:ph type="ftr" sz="quarter" idx="11"/>
          </p:nvPr>
        </p:nvSpPr>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242" name="Rectangle 8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F200FCD-3CC7-4A9E-9F2F-C7B56D0A5A60}"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3913946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mph" presetSubtype="0" repeatCount="indefinite" fill="hold" nodeType="withEffect">
                                  <p:stCondLst>
                                    <p:cond delay="0"/>
                                  </p:stCondLst>
                                  <p:childTnLst>
                                    <p:animEffect transition="out" filter="fade">
                                      <p:cBhvr>
                                        <p:cTn id="6" dur="500" tmFilter="0, 0; .2, .5; .8, .5; 1, 0"/>
                                        <p:tgtEl>
                                          <p:spTgt spid="110"/>
                                        </p:tgtEl>
                                      </p:cBhvr>
                                    </p:animEffect>
                                    <p:animScale>
                                      <p:cBhvr>
                                        <p:cTn id="7" dur="250" autoRev="1" fill="hold"/>
                                        <p:tgtEl>
                                          <p:spTgt spid="110"/>
                                        </p:tgtEl>
                                      </p:cBhvr>
                                      <p:by x="105000" y="105000"/>
                                    </p:animScale>
                                  </p:childTnLst>
                                </p:cTn>
                              </p:par>
                              <p:par>
                                <p:cTn id="8" presetID="26" presetClass="emph" presetSubtype="0" repeatCount="indefinite" fill="hold" nodeType="withEffect">
                                  <p:stCondLst>
                                    <p:cond delay="0"/>
                                  </p:stCondLst>
                                  <p:childTnLst>
                                    <p:animEffect transition="out" filter="fade">
                                      <p:cBhvr>
                                        <p:cTn id="9" dur="2000" tmFilter="0, 0; .2, .5; .8, .5; 1, 0"/>
                                        <p:tgtEl>
                                          <p:spTgt spid="162"/>
                                        </p:tgtEl>
                                      </p:cBhvr>
                                    </p:animEffect>
                                    <p:animScale>
                                      <p:cBhvr>
                                        <p:cTn id="10" dur="1000" autoRev="1" fill="hold"/>
                                        <p:tgtEl>
                                          <p:spTgt spid="162"/>
                                        </p:tgtEl>
                                      </p:cBhvr>
                                      <p:by x="105000" y="105000"/>
                                    </p:animScale>
                                  </p:childTnLst>
                                </p:cTn>
                              </p:par>
                              <p:par>
                                <p:cTn id="11" presetID="26" presetClass="emph" presetSubtype="0" repeatCount="indefinite" fill="hold" nodeType="withEffect">
                                  <p:stCondLst>
                                    <p:cond delay="0"/>
                                  </p:stCondLst>
                                  <p:childTnLst>
                                    <p:animEffect transition="out" filter="fade">
                                      <p:cBhvr>
                                        <p:cTn id="12" dur="2000" tmFilter="0, 0; .2, .5; .8, .5; 1, 0"/>
                                        <p:tgtEl>
                                          <p:spTgt spid="227"/>
                                        </p:tgtEl>
                                      </p:cBhvr>
                                    </p:animEffect>
                                    <p:animScale>
                                      <p:cBhvr>
                                        <p:cTn id="13" dur="1000" autoRev="1" fill="hold"/>
                                        <p:tgtEl>
                                          <p:spTgt spid="227"/>
                                        </p:tgtEl>
                                      </p:cBhvr>
                                      <p:by x="105000" y="105000"/>
                                    </p:animScale>
                                  </p:childTnLst>
                                </p:cTn>
                              </p:par>
                              <p:par>
                                <p:cTn id="14" presetID="60" presetClass="path" presetSubtype="0" accel="50000" decel="50000" fill="hold" nodeType="withEffect">
                                  <p:stCondLst>
                                    <p:cond delay="0"/>
                                  </p:stCondLst>
                                  <p:childTnLst>
                                    <p:animMotion origin="layout" path="M 0.01563 -0.08832 C 0.02205 -0.04624 0.03698 0.01295 0.09219 0.01203 C 0.17205 0.01203 0.17795 -0.18566 0.27327 -0.18613 C 0.35903 -0.18613 0.3132 -0.01364 0.39584 -0.01433 C 0.48212 -0.01433 0.43577 -0.13942 0.52795 -0.13942 C 0.61042 -0.13942 0.56459 -0.0548 0.6382 -0.0548 C 0.70903 -0.0548 0.67223 -0.11954 0.73664 -0.11954 C 0.77344 -0.11954 0.77605 -0.10196 0.77934 -0.08832 " pathEditMode="relative" rAng="0" ptsTypes="ffffffff">
                                      <p:cBhvr>
                                        <p:cTn id="15" dur="3000" fill="hold"/>
                                        <p:tgtEl>
                                          <p:spTgt spid="136"/>
                                        </p:tgtEl>
                                        <p:attrNameLst>
                                          <p:attrName>ppt_x</p:attrName>
                                          <p:attrName>ppt_y</p:attrName>
                                        </p:attrNameLst>
                                      </p:cBhvr>
                                      <p:rCtr x="3817700" y="1620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9F87F45F-B80C-4933-BDE3-F7A560CB05FF}"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13539636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TW" altLang="en-US" smtClean="0"/>
              <a:t>按一下以編輯母片文字樣式</a:t>
            </a:r>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BF1AFC28-EA7E-4EF6-9C91-618112314C1A}"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28845565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468313" y="1628775"/>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4659313" y="1628775"/>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695C93E9-EAF7-4A55-A086-9AB1957C7D52}"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23796564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8"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9"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FC199F54-42F9-488D-9B81-3CC6FE2DF58C}"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34277188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4"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4EEC405C-47AF-4EA2-B813-D774D5B288B0}"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35579207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3"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4"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FFEB9BB9-CE4F-4D49-ABB5-577CAE77A523}"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10761429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2EDEA813-5094-4C85-8033-2E4118DB15F3}"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13493763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smtClean="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E9FDAB6C-1CC8-4780-8D09-56DACCC2F2E6}"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2863511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3A207A9C-F75E-47D8-8F3E-93EEF1AF9259}"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25179010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38925" y="274638"/>
            <a:ext cx="2058988" cy="5880100"/>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457200" y="274638"/>
            <a:ext cx="6029325" cy="5880100"/>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B3E7157E-5F58-436C-9038-9CEC2CD38BF9}"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424533950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showMasterPhAnim="0" type="title" preserve="1">
  <p:cSld name="标题幻灯片">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4" name="Rectangle 127"/>
          <p:cNvSpPr>
            <a:spLocks noChangeArrowheads="1"/>
          </p:cNvSpPr>
          <p:nvPr/>
        </p:nvSpPr>
        <p:spPr bwMode="gray">
          <a:xfrm>
            <a:off x="0" y="0"/>
            <a:ext cx="9144000" cy="1828800"/>
          </a:xfrm>
          <a:prstGeom prst="rect">
            <a:avLst/>
          </a:prstGeom>
          <a:gradFill rotWithShape="1">
            <a:gsLst>
              <a:gs pos="0">
                <a:schemeClr val="accent1"/>
              </a:gs>
              <a:gs pos="100000">
                <a:schemeClr val="accent1">
                  <a:gamma/>
                  <a:tint val="0"/>
                  <a:invGamma/>
                  <a:alpha val="0"/>
                </a:schemeClr>
              </a:gs>
            </a:gsLst>
            <a:lin ang="5400000" scaled="1"/>
          </a:gradFill>
          <a:ln w="9525">
            <a:noFill/>
            <a:miter lim="800000"/>
            <a:headEnd/>
            <a:tailEnd/>
          </a:ln>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grpSp>
        <p:nvGrpSpPr>
          <p:cNvPr id="5" name="Group 15"/>
          <p:cNvGrpSpPr>
            <a:grpSpLocks/>
          </p:cNvGrpSpPr>
          <p:nvPr/>
        </p:nvGrpSpPr>
        <p:grpSpPr bwMode="auto">
          <a:xfrm>
            <a:off x="152400" y="381000"/>
            <a:ext cx="6838950" cy="3365500"/>
            <a:chOff x="664" y="1951"/>
            <a:chExt cx="4308" cy="2120"/>
          </a:xfrm>
        </p:grpSpPr>
        <p:sp>
          <p:nvSpPr>
            <p:cNvPr id="6" name="Freeform 16"/>
            <p:cNvSpPr>
              <a:spLocks/>
            </p:cNvSpPr>
            <p:nvPr/>
          </p:nvSpPr>
          <p:spPr bwMode="invGray">
            <a:xfrm>
              <a:off x="743" y="2045"/>
              <a:ext cx="1267" cy="1938"/>
            </a:xfrm>
            <a:custGeom>
              <a:avLst/>
              <a:gdLst/>
              <a:ahLst/>
              <a:cxnLst>
                <a:cxn ang="0">
                  <a:pos x="116" y="258"/>
                </a:cxn>
                <a:cxn ang="0">
                  <a:pos x="320" y="210"/>
                </a:cxn>
                <a:cxn ang="0">
                  <a:pos x="434" y="240"/>
                </a:cxn>
                <a:cxn ang="0">
                  <a:pos x="416" y="444"/>
                </a:cxn>
                <a:cxn ang="0">
                  <a:pos x="272" y="582"/>
                </a:cxn>
                <a:cxn ang="0">
                  <a:pos x="218" y="714"/>
                </a:cxn>
                <a:cxn ang="0">
                  <a:pos x="284" y="964"/>
                </a:cxn>
                <a:cxn ang="0">
                  <a:pos x="316" y="960"/>
                </a:cxn>
                <a:cxn ang="0">
                  <a:pos x="328" y="906"/>
                </a:cxn>
                <a:cxn ang="0">
                  <a:pos x="478" y="1154"/>
                </a:cxn>
                <a:cxn ang="0">
                  <a:pos x="650" y="1200"/>
                </a:cxn>
                <a:cxn ang="0">
                  <a:pos x="794" y="1350"/>
                </a:cxn>
                <a:cxn ang="0">
                  <a:pos x="854" y="1422"/>
                </a:cxn>
                <a:cxn ang="0">
                  <a:pos x="770" y="1608"/>
                </a:cxn>
                <a:cxn ang="0">
                  <a:pos x="916" y="1782"/>
                </a:cxn>
                <a:cxn ang="0">
                  <a:pos x="1034" y="2022"/>
                </a:cxn>
                <a:cxn ang="0">
                  <a:pos x="1094" y="2310"/>
                </a:cxn>
                <a:cxn ang="0">
                  <a:pos x="1194" y="2540"/>
                </a:cxn>
                <a:cxn ang="0">
                  <a:pos x="1280" y="2520"/>
                </a:cxn>
                <a:cxn ang="0">
                  <a:pos x="1244" y="2394"/>
                </a:cxn>
                <a:cxn ang="0">
                  <a:pos x="1288" y="2306"/>
                </a:cxn>
                <a:cxn ang="0">
                  <a:pos x="1368" y="2228"/>
                </a:cxn>
                <a:cxn ang="0">
                  <a:pos x="1448" y="2076"/>
                </a:cxn>
                <a:cxn ang="0">
                  <a:pos x="1568" y="1950"/>
                </a:cxn>
                <a:cxn ang="0">
                  <a:pos x="1622" y="1746"/>
                </a:cxn>
                <a:cxn ang="0">
                  <a:pos x="1552" y="1538"/>
                </a:cxn>
                <a:cxn ang="0">
                  <a:pos x="1376" y="1410"/>
                </a:cxn>
                <a:cxn ang="0">
                  <a:pos x="1104" y="1280"/>
                </a:cxn>
                <a:cxn ang="0">
                  <a:pos x="974" y="1260"/>
                </a:cxn>
                <a:cxn ang="0">
                  <a:pos x="904" y="1268"/>
                </a:cxn>
                <a:cxn ang="0">
                  <a:pos x="794" y="1308"/>
                </a:cxn>
                <a:cxn ang="0">
                  <a:pos x="758" y="1174"/>
                </a:cxn>
                <a:cxn ang="0">
                  <a:pos x="736" y="1062"/>
                </a:cxn>
                <a:cxn ang="0">
                  <a:pos x="632" y="1104"/>
                </a:cxn>
                <a:cxn ang="0">
                  <a:pos x="568" y="950"/>
                </a:cxn>
                <a:cxn ang="0">
                  <a:pos x="740" y="912"/>
                </a:cxn>
                <a:cxn ang="0">
                  <a:pos x="842" y="906"/>
                </a:cxn>
                <a:cxn ang="0">
                  <a:pos x="896" y="900"/>
                </a:cxn>
                <a:cxn ang="0">
                  <a:pos x="1058" y="750"/>
                </a:cxn>
                <a:cxn ang="0">
                  <a:pos x="1184" y="678"/>
                </a:cxn>
                <a:cxn ang="0">
                  <a:pos x="1278" y="636"/>
                </a:cxn>
                <a:cxn ang="0">
                  <a:pos x="1340" y="538"/>
                </a:cxn>
                <a:cxn ang="0">
                  <a:pos x="1288" y="512"/>
                </a:cxn>
                <a:cxn ang="0">
                  <a:pos x="1526" y="456"/>
                </a:cxn>
                <a:cxn ang="0">
                  <a:pos x="1406" y="342"/>
                </a:cxn>
                <a:cxn ang="0">
                  <a:pos x="1328" y="264"/>
                </a:cxn>
                <a:cxn ang="0">
                  <a:pos x="1222" y="364"/>
                </a:cxn>
                <a:cxn ang="0">
                  <a:pos x="1110" y="444"/>
                </a:cxn>
                <a:cxn ang="0">
                  <a:pos x="1022" y="304"/>
                </a:cxn>
                <a:cxn ang="0">
                  <a:pos x="1212" y="240"/>
                </a:cxn>
                <a:cxn ang="0">
                  <a:pos x="1266" y="198"/>
                </a:cxn>
                <a:cxn ang="0">
                  <a:pos x="1328" y="172"/>
                </a:cxn>
                <a:cxn ang="0">
                  <a:pos x="1286" y="144"/>
                </a:cxn>
                <a:cxn ang="0">
                  <a:pos x="1262" y="120"/>
                </a:cxn>
                <a:cxn ang="0">
                  <a:pos x="1202" y="102"/>
                </a:cxn>
                <a:cxn ang="0">
                  <a:pos x="1106" y="136"/>
                </a:cxn>
                <a:cxn ang="0">
                  <a:pos x="950" y="120"/>
                </a:cxn>
                <a:cxn ang="0">
                  <a:pos x="550" y="0"/>
                </a:cxn>
                <a:cxn ang="0">
                  <a:pos x="344" y="32"/>
                </a:cxn>
                <a:cxn ang="0">
                  <a:pos x="290" y="102"/>
                </a:cxn>
                <a:cxn ang="0">
                  <a:pos x="128" y="174"/>
                </a:cxn>
                <a:cxn ang="0">
                  <a:pos x="128" y="216"/>
                </a:cxn>
                <a:cxn ang="0">
                  <a:pos x="2" y="252"/>
                </a:cxn>
              </a:cxnLst>
              <a:rect l="0" t="0" r="r" b="b"/>
              <a:pathLst>
                <a:path w="1692" h="2586">
                  <a:moveTo>
                    <a:pt x="2" y="252"/>
                  </a:moveTo>
                  <a:lnTo>
                    <a:pt x="68" y="264"/>
                  </a:lnTo>
                  <a:lnTo>
                    <a:pt x="116" y="258"/>
                  </a:lnTo>
                  <a:lnTo>
                    <a:pt x="188" y="216"/>
                  </a:lnTo>
                  <a:lnTo>
                    <a:pt x="236" y="210"/>
                  </a:lnTo>
                  <a:lnTo>
                    <a:pt x="320" y="210"/>
                  </a:lnTo>
                  <a:lnTo>
                    <a:pt x="368" y="216"/>
                  </a:lnTo>
                  <a:lnTo>
                    <a:pt x="398" y="246"/>
                  </a:lnTo>
                  <a:lnTo>
                    <a:pt x="434" y="240"/>
                  </a:lnTo>
                  <a:lnTo>
                    <a:pt x="422" y="294"/>
                  </a:lnTo>
                  <a:lnTo>
                    <a:pt x="404" y="354"/>
                  </a:lnTo>
                  <a:lnTo>
                    <a:pt x="416" y="444"/>
                  </a:lnTo>
                  <a:lnTo>
                    <a:pt x="408" y="480"/>
                  </a:lnTo>
                  <a:lnTo>
                    <a:pt x="380" y="474"/>
                  </a:lnTo>
                  <a:lnTo>
                    <a:pt x="272" y="582"/>
                  </a:lnTo>
                  <a:lnTo>
                    <a:pt x="236" y="628"/>
                  </a:lnTo>
                  <a:lnTo>
                    <a:pt x="242" y="672"/>
                  </a:lnTo>
                  <a:lnTo>
                    <a:pt x="218" y="714"/>
                  </a:lnTo>
                  <a:lnTo>
                    <a:pt x="268" y="774"/>
                  </a:lnTo>
                  <a:lnTo>
                    <a:pt x="262" y="844"/>
                  </a:lnTo>
                  <a:lnTo>
                    <a:pt x="284" y="964"/>
                  </a:lnTo>
                  <a:lnTo>
                    <a:pt x="320" y="1010"/>
                  </a:lnTo>
                  <a:lnTo>
                    <a:pt x="324" y="970"/>
                  </a:lnTo>
                  <a:lnTo>
                    <a:pt x="316" y="960"/>
                  </a:lnTo>
                  <a:lnTo>
                    <a:pt x="302" y="834"/>
                  </a:lnTo>
                  <a:lnTo>
                    <a:pt x="326" y="830"/>
                  </a:lnTo>
                  <a:lnTo>
                    <a:pt x="328" y="906"/>
                  </a:lnTo>
                  <a:lnTo>
                    <a:pt x="380" y="996"/>
                  </a:lnTo>
                  <a:lnTo>
                    <a:pt x="368" y="1074"/>
                  </a:lnTo>
                  <a:lnTo>
                    <a:pt x="478" y="1154"/>
                  </a:lnTo>
                  <a:lnTo>
                    <a:pt x="564" y="1164"/>
                  </a:lnTo>
                  <a:lnTo>
                    <a:pt x="612" y="1208"/>
                  </a:lnTo>
                  <a:lnTo>
                    <a:pt x="650" y="1200"/>
                  </a:lnTo>
                  <a:lnTo>
                    <a:pt x="680" y="1224"/>
                  </a:lnTo>
                  <a:lnTo>
                    <a:pt x="698" y="1272"/>
                  </a:lnTo>
                  <a:lnTo>
                    <a:pt x="794" y="1350"/>
                  </a:lnTo>
                  <a:lnTo>
                    <a:pt x="842" y="1308"/>
                  </a:lnTo>
                  <a:lnTo>
                    <a:pt x="848" y="1350"/>
                  </a:lnTo>
                  <a:lnTo>
                    <a:pt x="854" y="1422"/>
                  </a:lnTo>
                  <a:lnTo>
                    <a:pt x="786" y="1490"/>
                  </a:lnTo>
                  <a:lnTo>
                    <a:pt x="788" y="1542"/>
                  </a:lnTo>
                  <a:lnTo>
                    <a:pt x="770" y="1608"/>
                  </a:lnTo>
                  <a:lnTo>
                    <a:pt x="802" y="1634"/>
                  </a:lnTo>
                  <a:lnTo>
                    <a:pt x="848" y="1668"/>
                  </a:lnTo>
                  <a:lnTo>
                    <a:pt x="916" y="1782"/>
                  </a:lnTo>
                  <a:lnTo>
                    <a:pt x="956" y="1800"/>
                  </a:lnTo>
                  <a:lnTo>
                    <a:pt x="1010" y="1848"/>
                  </a:lnTo>
                  <a:lnTo>
                    <a:pt x="1034" y="2022"/>
                  </a:lnTo>
                  <a:lnTo>
                    <a:pt x="1058" y="2178"/>
                  </a:lnTo>
                  <a:lnTo>
                    <a:pt x="1046" y="2244"/>
                  </a:lnTo>
                  <a:lnTo>
                    <a:pt x="1094" y="2310"/>
                  </a:lnTo>
                  <a:lnTo>
                    <a:pt x="1118" y="2364"/>
                  </a:lnTo>
                  <a:lnTo>
                    <a:pt x="1138" y="2458"/>
                  </a:lnTo>
                  <a:lnTo>
                    <a:pt x="1194" y="2540"/>
                  </a:lnTo>
                  <a:lnTo>
                    <a:pt x="1286" y="2586"/>
                  </a:lnTo>
                  <a:lnTo>
                    <a:pt x="1382" y="2574"/>
                  </a:lnTo>
                  <a:lnTo>
                    <a:pt x="1280" y="2520"/>
                  </a:lnTo>
                  <a:lnTo>
                    <a:pt x="1266" y="2472"/>
                  </a:lnTo>
                  <a:lnTo>
                    <a:pt x="1288" y="2428"/>
                  </a:lnTo>
                  <a:lnTo>
                    <a:pt x="1244" y="2394"/>
                  </a:lnTo>
                  <a:lnTo>
                    <a:pt x="1284" y="2334"/>
                  </a:lnTo>
                  <a:lnTo>
                    <a:pt x="1244" y="2300"/>
                  </a:lnTo>
                  <a:lnTo>
                    <a:pt x="1288" y="2306"/>
                  </a:lnTo>
                  <a:lnTo>
                    <a:pt x="1286" y="2244"/>
                  </a:lnTo>
                  <a:lnTo>
                    <a:pt x="1330" y="2268"/>
                  </a:lnTo>
                  <a:lnTo>
                    <a:pt x="1368" y="2228"/>
                  </a:lnTo>
                  <a:lnTo>
                    <a:pt x="1334" y="2160"/>
                  </a:lnTo>
                  <a:lnTo>
                    <a:pt x="1382" y="2184"/>
                  </a:lnTo>
                  <a:lnTo>
                    <a:pt x="1448" y="2076"/>
                  </a:lnTo>
                  <a:lnTo>
                    <a:pt x="1468" y="2052"/>
                  </a:lnTo>
                  <a:lnTo>
                    <a:pt x="1476" y="1982"/>
                  </a:lnTo>
                  <a:lnTo>
                    <a:pt x="1568" y="1950"/>
                  </a:lnTo>
                  <a:lnTo>
                    <a:pt x="1612" y="1880"/>
                  </a:lnTo>
                  <a:lnTo>
                    <a:pt x="1628" y="1830"/>
                  </a:lnTo>
                  <a:lnTo>
                    <a:pt x="1622" y="1746"/>
                  </a:lnTo>
                  <a:lnTo>
                    <a:pt x="1692" y="1644"/>
                  </a:lnTo>
                  <a:lnTo>
                    <a:pt x="1652" y="1578"/>
                  </a:lnTo>
                  <a:lnTo>
                    <a:pt x="1552" y="1538"/>
                  </a:lnTo>
                  <a:lnTo>
                    <a:pt x="1448" y="1500"/>
                  </a:lnTo>
                  <a:lnTo>
                    <a:pt x="1376" y="1494"/>
                  </a:lnTo>
                  <a:lnTo>
                    <a:pt x="1376" y="1410"/>
                  </a:lnTo>
                  <a:lnTo>
                    <a:pt x="1262" y="1356"/>
                  </a:lnTo>
                  <a:lnTo>
                    <a:pt x="1166" y="1272"/>
                  </a:lnTo>
                  <a:lnTo>
                    <a:pt x="1104" y="1280"/>
                  </a:lnTo>
                  <a:lnTo>
                    <a:pt x="1048" y="1276"/>
                  </a:lnTo>
                  <a:lnTo>
                    <a:pt x="1020" y="1244"/>
                  </a:lnTo>
                  <a:lnTo>
                    <a:pt x="974" y="1260"/>
                  </a:lnTo>
                  <a:lnTo>
                    <a:pt x="984" y="1238"/>
                  </a:lnTo>
                  <a:lnTo>
                    <a:pt x="934" y="1268"/>
                  </a:lnTo>
                  <a:lnTo>
                    <a:pt x="904" y="1268"/>
                  </a:lnTo>
                  <a:lnTo>
                    <a:pt x="872" y="1314"/>
                  </a:lnTo>
                  <a:lnTo>
                    <a:pt x="836" y="1272"/>
                  </a:lnTo>
                  <a:lnTo>
                    <a:pt x="794" y="1308"/>
                  </a:lnTo>
                  <a:lnTo>
                    <a:pt x="748" y="1278"/>
                  </a:lnTo>
                  <a:lnTo>
                    <a:pt x="758" y="1242"/>
                  </a:lnTo>
                  <a:lnTo>
                    <a:pt x="758" y="1174"/>
                  </a:lnTo>
                  <a:lnTo>
                    <a:pt x="698" y="1176"/>
                  </a:lnTo>
                  <a:lnTo>
                    <a:pt x="668" y="1140"/>
                  </a:lnTo>
                  <a:lnTo>
                    <a:pt x="736" y="1062"/>
                  </a:lnTo>
                  <a:lnTo>
                    <a:pt x="712" y="1050"/>
                  </a:lnTo>
                  <a:lnTo>
                    <a:pt x="658" y="1062"/>
                  </a:lnTo>
                  <a:lnTo>
                    <a:pt x="632" y="1104"/>
                  </a:lnTo>
                  <a:lnTo>
                    <a:pt x="596" y="1110"/>
                  </a:lnTo>
                  <a:lnTo>
                    <a:pt x="538" y="1066"/>
                  </a:lnTo>
                  <a:lnTo>
                    <a:pt x="568" y="950"/>
                  </a:lnTo>
                  <a:lnTo>
                    <a:pt x="632" y="894"/>
                  </a:lnTo>
                  <a:lnTo>
                    <a:pt x="686" y="894"/>
                  </a:lnTo>
                  <a:lnTo>
                    <a:pt x="740" y="912"/>
                  </a:lnTo>
                  <a:lnTo>
                    <a:pt x="736" y="900"/>
                  </a:lnTo>
                  <a:lnTo>
                    <a:pt x="766" y="868"/>
                  </a:lnTo>
                  <a:lnTo>
                    <a:pt x="842" y="906"/>
                  </a:lnTo>
                  <a:lnTo>
                    <a:pt x="848" y="966"/>
                  </a:lnTo>
                  <a:lnTo>
                    <a:pt x="884" y="984"/>
                  </a:lnTo>
                  <a:lnTo>
                    <a:pt x="896" y="900"/>
                  </a:lnTo>
                  <a:lnTo>
                    <a:pt x="878" y="858"/>
                  </a:lnTo>
                  <a:lnTo>
                    <a:pt x="998" y="806"/>
                  </a:lnTo>
                  <a:lnTo>
                    <a:pt x="1058" y="750"/>
                  </a:lnTo>
                  <a:lnTo>
                    <a:pt x="1100" y="696"/>
                  </a:lnTo>
                  <a:lnTo>
                    <a:pt x="1130" y="672"/>
                  </a:lnTo>
                  <a:lnTo>
                    <a:pt x="1184" y="678"/>
                  </a:lnTo>
                  <a:lnTo>
                    <a:pt x="1190" y="636"/>
                  </a:lnTo>
                  <a:lnTo>
                    <a:pt x="1280" y="588"/>
                  </a:lnTo>
                  <a:lnTo>
                    <a:pt x="1278" y="636"/>
                  </a:lnTo>
                  <a:lnTo>
                    <a:pt x="1360" y="602"/>
                  </a:lnTo>
                  <a:lnTo>
                    <a:pt x="1322" y="570"/>
                  </a:lnTo>
                  <a:lnTo>
                    <a:pt x="1340" y="538"/>
                  </a:lnTo>
                  <a:lnTo>
                    <a:pt x="1320" y="522"/>
                  </a:lnTo>
                  <a:lnTo>
                    <a:pt x="1286" y="546"/>
                  </a:lnTo>
                  <a:lnTo>
                    <a:pt x="1288" y="512"/>
                  </a:lnTo>
                  <a:lnTo>
                    <a:pt x="1400" y="504"/>
                  </a:lnTo>
                  <a:lnTo>
                    <a:pt x="1490" y="480"/>
                  </a:lnTo>
                  <a:lnTo>
                    <a:pt x="1526" y="456"/>
                  </a:lnTo>
                  <a:lnTo>
                    <a:pt x="1484" y="394"/>
                  </a:lnTo>
                  <a:cubicBezTo>
                    <a:pt x="1474" y="370"/>
                    <a:pt x="1479" y="319"/>
                    <a:pt x="1466" y="310"/>
                  </a:cubicBezTo>
                  <a:cubicBezTo>
                    <a:pt x="1456" y="300"/>
                    <a:pt x="1423" y="343"/>
                    <a:pt x="1406" y="342"/>
                  </a:cubicBezTo>
                  <a:lnTo>
                    <a:pt x="1376" y="312"/>
                  </a:lnTo>
                  <a:lnTo>
                    <a:pt x="1376" y="270"/>
                  </a:lnTo>
                  <a:lnTo>
                    <a:pt x="1328" y="264"/>
                  </a:lnTo>
                  <a:lnTo>
                    <a:pt x="1312" y="252"/>
                  </a:lnTo>
                  <a:lnTo>
                    <a:pt x="1256" y="314"/>
                  </a:lnTo>
                  <a:lnTo>
                    <a:pt x="1222" y="364"/>
                  </a:lnTo>
                  <a:lnTo>
                    <a:pt x="1172" y="402"/>
                  </a:lnTo>
                  <a:lnTo>
                    <a:pt x="1136" y="474"/>
                  </a:lnTo>
                  <a:lnTo>
                    <a:pt x="1110" y="444"/>
                  </a:lnTo>
                  <a:lnTo>
                    <a:pt x="1128" y="394"/>
                  </a:lnTo>
                  <a:lnTo>
                    <a:pt x="1038" y="334"/>
                  </a:lnTo>
                  <a:lnTo>
                    <a:pt x="1022" y="304"/>
                  </a:lnTo>
                  <a:lnTo>
                    <a:pt x="1122" y="226"/>
                  </a:lnTo>
                  <a:lnTo>
                    <a:pt x="1184" y="222"/>
                  </a:lnTo>
                  <a:lnTo>
                    <a:pt x="1212" y="240"/>
                  </a:lnTo>
                  <a:lnTo>
                    <a:pt x="1248" y="220"/>
                  </a:lnTo>
                  <a:lnTo>
                    <a:pt x="1300" y="220"/>
                  </a:lnTo>
                  <a:lnTo>
                    <a:pt x="1266" y="198"/>
                  </a:lnTo>
                  <a:lnTo>
                    <a:pt x="1208" y="196"/>
                  </a:lnTo>
                  <a:lnTo>
                    <a:pt x="1250" y="174"/>
                  </a:lnTo>
                  <a:lnTo>
                    <a:pt x="1328" y="172"/>
                  </a:lnTo>
                  <a:lnTo>
                    <a:pt x="1364" y="132"/>
                  </a:lnTo>
                  <a:cubicBezTo>
                    <a:pt x="1346" y="124"/>
                    <a:pt x="1343" y="119"/>
                    <a:pt x="1324" y="122"/>
                  </a:cubicBezTo>
                  <a:cubicBezTo>
                    <a:pt x="1310" y="124"/>
                    <a:pt x="1294" y="132"/>
                    <a:pt x="1286" y="144"/>
                  </a:cubicBezTo>
                  <a:cubicBezTo>
                    <a:pt x="1282" y="149"/>
                    <a:pt x="1274" y="148"/>
                    <a:pt x="1268" y="150"/>
                  </a:cubicBezTo>
                  <a:cubicBezTo>
                    <a:pt x="1266" y="144"/>
                    <a:pt x="1259" y="138"/>
                    <a:pt x="1262" y="132"/>
                  </a:cubicBezTo>
                  <a:cubicBezTo>
                    <a:pt x="1269" y="118"/>
                    <a:pt x="1303" y="134"/>
                    <a:pt x="1262" y="120"/>
                  </a:cubicBezTo>
                  <a:cubicBezTo>
                    <a:pt x="1221" y="134"/>
                    <a:pt x="1252" y="105"/>
                    <a:pt x="1262" y="90"/>
                  </a:cubicBezTo>
                  <a:cubicBezTo>
                    <a:pt x="1260" y="84"/>
                    <a:pt x="1262" y="75"/>
                    <a:pt x="1256" y="72"/>
                  </a:cubicBezTo>
                  <a:cubicBezTo>
                    <a:pt x="1238" y="63"/>
                    <a:pt x="1202" y="102"/>
                    <a:pt x="1202" y="102"/>
                  </a:cubicBezTo>
                  <a:cubicBezTo>
                    <a:pt x="1198" y="108"/>
                    <a:pt x="1186" y="140"/>
                    <a:pt x="1180" y="144"/>
                  </a:cubicBezTo>
                  <a:cubicBezTo>
                    <a:pt x="1169" y="151"/>
                    <a:pt x="1148" y="122"/>
                    <a:pt x="1148" y="122"/>
                  </a:cubicBezTo>
                  <a:cubicBezTo>
                    <a:pt x="1138" y="123"/>
                    <a:pt x="1121" y="137"/>
                    <a:pt x="1106" y="136"/>
                  </a:cubicBezTo>
                  <a:cubicBezTo>
                    <a:pt x="1091" y="135"/>
                    <a:pt x="1074" y="117"/>
                    <a:pt x="1056" y="116"/>
                  </a:cubicBezTo>
                  <a:cubicBezTo>
                    <a:pt x="1038" y="115"/>
                    <a:pt x="1016" y="131"/>
                    <a:pt x="998" y="132"/>
                  </a:cubicBezTo>
                  <a:cubicBezTo>
                    <a:pt x="997" y="132"/>
                    <a:pt x="956" y="125"/>
                    <a:pt x="950" y="120"/>
                  </a:cubicBezTo>
                  <a:cubicBezTo>
                    <a:pt x="918" y="94"/>
                    <a:pt x="960" y="108"/>
                    <a:pt x="920" y="90"/>
                  </a:cubicBezTo>
                  <a:cubicBezTo>
                    <a:pt x="852" y="60"/>
                    <a:pt x="806" y="58"/>
                    <a:pt x="730" y="54"/>
                  </a:cubicBezTo>
                  <a:cubicBezTo>
                    <a:pt x="656" y="39"/>
                    <a:pt x="625" y="15"/>
                    <a:pt x="550" y="0"/>
                  </a:cubicBezTo>
                  <a:cubicBezTo>
                    <a:pt x="510" y="2"/>
                    <a:pt x="486" y="5"/>
                    <a:pt x="446" y="8"/>
                  </a:cubicBezTo>
                  <a:cubicBezTo>
                    <a:pt x="424" y="9"/>
                    <a:pt x="423" y="14"/>
                    <a:pt x="406" y="18"/>
                  </a:cubicBezTo>
                  <a:cubicBezTo>
                    <a:pt x="389" y="22"/>
                    <a:pt x="353" y="24"/>
                    <a:pt x="344" y="32"/>
                  </a:cubicBezTo>
                  <a:cubicBezTo>
                    <a:pt x="346" y="38"/>
                    <a:pt x="354" y="60"/>
                    <a:pt x="350" y="64"/>
                  </a:cubicBezTo>
                  <a:cubicBezTo>
                    <a:pt x="274" y="50"/>
                    <a:pt x="250" y="81"/>
                    <a:pt x="236" y="82"/>
                  </a:cubicBezTo>
                  <a:cubicBezTo>
                    <a:pt x="278" y="110"/>
                    <a:pt x="270" y="72"/>
                    <a:pt x="290" y="102"/>
                  </a:cubicBezTo>
                  <a:cubicBezTo>
                    <a:pt x="234" y="121"/>
                    <a:pt x="178" y="104"/>
                    <a:pt x="128" y="138"/>
                  </a:cubicBezTo>
                  <a:cubicBezTo>
                    <a:pt x="126" y="144"/>
                    <a:pt x="122" y="150"/>
                    <a:pt x="122" y="156"/>
                  </a:cubicBezTo>
                  <a:cubicBezTo>
                    <a:pt x="122" y="162"/>
                    <a:pt x="132" y="170"/>
                    <a:pt x="128" y="174"/>
                  </a:cubicBezTo>
                  <a:cubicBezTo>
                    <a:pt x="126" y="182"/>
                    <a:pt x="109" y="197"/>
                    <a:pt x="112" y="202"/>
                  </a:cubicBezTo>
                  <a:cubicBezTo>
                    <a:pt x="124" y="206"/>
                    <a:pt x="137" y="195"/>
                    <a:pt x="146" y="204"/>
                  </a:cubicBezTo>
                  <a:cubicBezTo>
                    <a:pt x="151" y="209"/>
                    <a:pt x="135" y="213"/>
                    <a:pt x="128" y="216"/>
                  </a:cubicBezTo>
                  <a:cubicBezTo>
                    <a:pt x="116" y="221"/>
                    <a:pt x="104" y="226"/>
                    <a:pt x="92" y="228"/>
                  </a:cubicBezTo>
                  <a:cubicBezTo>
                    <a:pt x="48" y="237"/>
                    <a:pt x="72" y="233"/>
                    <a:pt x="20" y="240"/>
                  </a:cubicBezTo>
                  <a:cubicBezTo>
                    <a:pt x="0" y="247"/>
                    <a:pt x="2" y="240"/>
                    <a:pt x="2" y="252"/>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 name="Freeform 17"/>
            <p:cNvSpPr>
              <a:spLocks/>
            </p:cNvSpPr>
            <p:nvPr/>
          </p:nvSpPr>
          <p:spPr bwMode="invGray">
            <a:xfrm>
              <a:off x="703" y="2230"/>
              <a:ext cx="34" cy="28"/>
            </a:xfrm>
            <a:custGeom>
              <a:avLst/>
              <a:gdLst/>
              <a:ahLst/>
              <a:cxnLst>
                <a:cxn ang="0">
                  <a:pos x="16" y="4"/>
                </a:cxn>
                <a:cxn ang="0">
                  <a:pos x="0" y="22"/>
                </a:cxn>
                <a:cxn ang="0">
                  <a:pos x="22" y="38"/>
                </a:cxn>
                <a:cxn ang="0">
                  <a:pos x="46" y="26"/>
                </a:cxn>
                <a:cxn ang="0">
                  <a:pos x="30" y="0"/>
                </a:cxn>
                <a:cxn ang="0">
                  <a:pos x="16" y="4"/>
                </a:cxn>
              </a:cxnLst>
              <a:rect l="0" t="0" r="r" b="b"/>
              <a:pathLst>
                <a:path w="46" h="38">
                  <a:moveTo>
                    <a:pt x="16" y="4"/>
                  </a:moveTo>
                  <a:lnTo>
                    <a:pt x="0" y="22"/>
                  </a:lnTo>
                  <a:lnTo>
                    <a:pt x="22" y="38"/>
                  </a:lnTo>
                  <a:lnTo>
                    <a:pt x="46" y="26"/>
                  </a:lnTo>
                  <a:lnTo>
                    <a:pt x="30" y="0"/>
                  </a:lnTo>
                  <a:lnTo>
                    <a:pt x="16" y="4"/>
                  </a:ln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 name="Freeform 18"/>
            <p:cNvSpPr>
              <a:spLocks/>
            </p:cNvSpPr>
            <p:nvPr/>
          </p:nvSpPr>
          <p:spPr bwMode="invGray">
            <a:xfrm>
              <a:off x="1010" y="2353"/>
              <a:ext cx="39" cy="32"/>
            </a:xfrm>
            <a:custGeom>
              <a:avLst/>
              <a:gdLst/>
              <a:ahLst/>
              <a:cxnLst>
                <a:cxn ang="0">
                  <a:pos x="12" y="0"/>
                </a:cxn>
                <a:cxn ang="0">
                  <a:pos x="26" y="44"/>
                </a:cxn>
                <a:cxn ang="0">
                  <a:pos x="42" y="42"/>
                </a:cxn>
                <a:cxn ang="0">
                  <a:pos x="38" y="16"/>
                </a:cxn>
                <a:cxn ang="0">
                  <a:pos x="26" y="2"/>
                </a:cxn>
                <a:cxn ang="0">
                  <a:pos x="12" y="0"/>
                </a:cxn>
              </a:cxnLst>
              <a:rect l="0" t="0" r="r" b="b"/>
              <a:pathLst>
                <a:path w="52" h="44">
                  <a:moveTo>
                    <a:pt x="12" y="0"/>
                  </a:moveTo>
                  <a:cubicBezTo>
                    <a:pt x="16" y="14"/>
                    <a:pt x="18" y="32"/>
                    <a:pt x="26" y="44"/>
                  </a:cubicBezTo>
                  <a:cubicBezTo>
                    <a:pt x="31" y="43"/>
                    <a:pt x="37" y="44"/>
                    <a:pt x="42" y="42"/>
                  </a:cubicBezTo>
                  <a:cubicBezTo>
                    <a:pt x="52" y="38"/>
                    <a:pt x="48" y="19"/>
                    <a:pt x="38" y="16"/>
                  </a:cubicBezTo>
                  <a:cubicBezTo>
                    <a:pt x="33" y="9"/>
                    <a:pt x="34" y="5"/>
                    <a:pt x="26" y="2"/>
                  </a:cubicBezTo>
                  <a:cubicBezTo>
                    <a:pt x="4" y="4"/>
                    <a:pt x="0" y="8"/>
                    <a:pt x="12"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 name="Freeform 19"/>
            <p:cNvSpPr>
              <a:spLocks/>
            </p:cNvSpPr>
            <p:nvPr/>
          </p:nvSpPr>
          <p:spPr bwMode="invGray">
            <a:xfrm>
              <a:off x="1792" y="2409"/>
              <a:ext cx="98" cy="74"/>
            </a:xfrm>
            <a:custGeom>
              <a:avLst/>
              <a:gdLst/>
              <a:ahLst/>
              <a:cxnLst>
                <a:cxn ang="0">
                  <a:pos x="97" y="0"/>
                </a:cxn>
                <a:cxn ang="0">
                  <a:pos x="79" y="8"/>
                </a:cxn>
                <a:cxn ang="0">
                  <a:pos x="53" y="24"/>
                </a:cxn>
                <a:cxn ang="0">
                  <a:pos x="39" y="40"/>
                </a:cxn>
                <a:cxn ang="0">
                  <a:pos x="21" y="52"/>
                </a:cxn>
                <a:cxn ang="0">
                  <a:pos x="63" y="82"/>
                </a:cxn>
                <a:cxn ang="0">
                  <a:pos x="79" y="94"/>
                </a:cxn>
                <a:cxn ang="0">
                  <a:pos x="85" y="92"/>
                </a:cxn>
                <a:cxn ang="0">
                  <a:pos x="89" y="86"/>
                </a:cxn>
                <a:cxn ang="0">
                  <a:pos x="97" y="98"/>
                </a:cxn>
                <a:cxn ang="0">
                  <a:pos x="123" y="86"/>
                </a:cxn>
                <a:cxn ang="0">
                  <a:pos x="129" y="74"/>
                </a:cxn>
                <a:cxn ang="0">
                  <a:pos x="101" y="40"/>
                </a:cxn>
                <a:cxn ang="0">
                  <a:pos x="115" y="24"/>
                </a:cxn>
                <a:cxn ang="0">
                  <a:pos x="111" y="4"/>
                </a:cxn>
                <a:cxn ang="0">
                  <a:pos x="97" y="0"/>
                </a:cxn>
              </a:cxnLst>
              <a:rect l="0" t="0" r="r" b="b"/>
              <a:pathLst>
                <a:path w="131" h="98">
                  <a:moveTo>
                    <a:pt x="97" y="0"/>
                  </a:moveTo>
                  <a:cubicBezTo>
                    <a:pt x="83" y="5"/>
                    <a:pt x="89" y="2"/>
                    <a:pt x="79" y="8"/>
                  </a:cubicBezTo>
                  <a:cubicBezTo>
                    <a:pt x="76" y="18"/>
                    <a:pt x="62" y="18"/>
                    <a:pt x="53" y="24"/>
                  </a:cubicBezTo>
                  <a:cubicBezTo>
                    <a:pt x="49" y="29"/>
                    <a:pt x="44" y="36"/>
                    <a:pt x="39" y="40"/>
                  </a:cubicBezTo>
                  <a:cubicBezTo>
                    <a:pt x="34" y="45"/>
                    <a:pt x="21" y="52"/>
                    <a:pt x="21" y="52"/>
                  </a:cubicBezTo>
                  <a:cubicBezTo>
                    <a:pt x="0" y="84"/>
                    <a:pt x="41" y="75"/>
                    <a:pt x="63" y="82"/>
                  </a:cubicBezTo>
                  <a:cubicBezTo>
                    <a:pt x="68" y="89"/>
                    <a:pt x="71" y="91"/>
                    <a:pt x="79" y="94"/>
                  </a:cubicBezTo>
                  <a:cubicBezTo>
                    <a:pt x="81" y="93"/>
                    <a:pt x="83" y="93"/>
                    <a:pt x="85" y="92"/>
                  </a:cubicBezTo>
                  <a:cubicBezTo>
                    <a:pt x="87" y="90"/>
                    <a:pt x="87" y="85"/>
                    <a:pt x="89" y="86"/>
                  </a:cubicBezTo>
                  <a:cubicBezTo>
                    <a:pt x="93" y="88"/>
                    <a:pt x="97" y="98"/>
                    <a:pt x="97" y="98"/>
                  </a:cubicBezTo>
                  <a:cubicBezTo>
                    <a:pt x="112" y="95"/>
                    <a:pt x="111" y="90"/>
                    <a:pt x="123" y="86"/>
                  </a:cubicBezTo>
                  <a:cubicBezTo>
                    <a:pt x="124" y="82"/>
                    <a:pt x="128" y="78"/>
                    <a:pt x="129" y="74"/>
                  </a:cubicBezTo>
                  <a:cubicBezTo>
                    <a:pt x="131" y="61"/>
                    <a:pt x="108" y="47"/>
                    <a:pt x="101" y="40"/>
                  </a:cubicBezTo>
                  <a:cubicBezTo>
                    <a:pt x="103" y="33"/>
                    <a:pt x="115" y="24"/>
                    <a:pt x="115" y="24"/>
                  </a:cubicBezTo>
                  <a:cubicBezTo>
                    <a:pt x="121" y="15"/>
                    <a:pt x="124" y="8"/>
                    <a:pt x="111" y="4"/>
                  </a:cubicBezTo>
                  <a:cubicBezTo>
                    <a:pt x="101" y="7"/>
                    <a:pt x="97" y="13"/>
                    <a:pt x="97"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 name="Freeform 20"/>
            <p:cNvSpPr>
              <a:spLocks/>
            </p:cNvSpPr>
            <p:nvPr/>
          </p:nvSpPr>
          <p:spPr bwMode="invGray">
            <a:xfrm>
              <a:off x="1318" y="2793"/>
              <a:ext cx="158" cy="84"/>
            </a:xfrm>
            <a:custGeom>
              <a:avLst/>
              <a:gdLst/>
              <a:ahLst/>
              <a:cxnLst>
                <a:cxn ang="0">
                  <a:pos x="47" y="12"/>
                </a:cxn>
                <a:cxn ang="0">
                  <a:pos x="17" y="12"/>
                </a:cxn>
                <a:cxn ang="0">
                  <a:pos x="5" y="16"/>
                </a:cxn>
                <a:cxn ang="0">
                  <a:pos x="25" y="52"/>
                </a:cxn>
                <a:cxn ang="0">
                  <a:pos x="51" y="44"/>
                </a:cxn>
                <a:cxn ang="0">
                  <a:pos x="93" y="54"/>
                </a:cxn>
                <a:cxn ang="0">
                  <a:pos x="111" y="60"/>
                </a:cxn>
                <a:cxn ang="0">
                  <a:pos x="133" y="88"/>
                </a:cxn>
                <a:cxn ang="0">
                  <a:pos x="141" y="112"/>
                </a:cxn>
                <a:cxn ang="0">
                  <a:pos x="157" y="100"/>
                </a:cxn>
                <a:cxn ang="0">
                  <a:pos x="169" y="96"/>
                </a:cxn>
                <a:cxn ang="0">
                  <a:pos x="187" y="102"/>
                </a:cxn>
                <a:cxn ang="0">
                  <a:pos x="195" y="80"/>
                </a:cxn>
                <a:cxn ang="0">
                  <a:pos x="153" y="54"/>
                </a:cxn>
                <a:cxn ang="0">
                  <a:pos x="105" y="20"/>
                </a:cxn>
                <a:cxn ang="0">
                  <a:pos x="53" y="26"/>
                </a:cxn>
                <a:cxn ang="0">
                  <a:pos x="47" y="12"/>
                </a:cxn>
              </a:cxnLst>
              <a:rect l="0" t="0" r="r" b="b"/>
              <a:pathLst>
                <a:path w="212" h="112">
                  <a:moveTo>
                    <a:pt x="47" y="12"/>
                  </a:moveTo>
                  <a:cubicBezTo>
                    <a:pt x="39" y="0"/>
                    <a:pt x="28" y="7"/>
                    <a:pt x="17" y="12"/>
                  </a:cubicBezTo>
                  <a:cubicBezTo>
                    <a:pt x="13" y="14"/>
                    <a:pt x="5" y="16"/>
                    <a:pt x="5" y="16"/>
                  </a:cubicBezTo>
                  <a:cubicBezTo>
                    <a:pt x="0" y="31"/>
                    <a:pt x="10" y="48"/>
                    <a:pt x="25" y="52"/>
                  </a:cubicBezTo>
                  <a:cubicBezTo>
                    <a:pt x="37" y="50"/>
                    <a:pt x="41" y="47"/>
                    <a:pt x="51" y="44"/>
                  </a:cubicBezTo>
                  <a:cubicBezTo>
                    <a:pt x="65" y="53"/>
                    <a:pt x="76" y="53"/>
                    <a:pt x="93" y="54"/>
                  </a:cubicBezTo>
                  <a:cubicBezTo>
                    <a:pt x="99" y="56"/>
                    <a:pt x="111" y="60"/>
                    <a:pt x="111" y="60"/>
                  </a:cubicBezTo>
                  <a:cubicBezTo>
                    <a:pt x="120" y="69"/>
                    <a:pt x="129" y="75"/>
                    <a:pt x="133" y="88"/>
                  </a:cubicBezTo>
                  <a:cubicBezTo>
                    <a:pt x="125" y="100"/>
                    <a:pt x="126" y="107"/>
                    <a:pt x="141" y="112"/>
                  </a:cubicBezTo>
                  <a:cubicBezTo>
                    <a:pt x="145" y="106"/>
                    <a:pt x="150" y="103"/>
                    <a:pt x="157" y="100"/>
                  </a:cubicBezTo>
                  <a:cubicBezTo>
                    <a:pt x="161" y="98"/>
                    <a:pt x="169" y="96"/>
                    <a:pt x="169" y="96"/>
                  </a:cubicBezTo>
                  <a:cubicBezTo>
                    <a:pt x="175" y="98"/>
                    <a:pt x="187" y="102"/>
                    <a:pt x="187" y="102"/>
                  </a:cubicBezTo>
                  <a:cubicBezTo>
                    <a:pt x="203" y="100"/>
                    <a:pt x="212" y="94"/>
                    <a:pt x="195" y="80"/>
                  </a:cubicBezTo>
                  <a:cubicBezTo>
                    <a:pt x="183" y="70"/>
                    <a:pt x="165" y="66"/>
                    <a:pt x="153" y="54"/>
                  </a:cubicBezTo>
                  <a:cubicBezTo>
                    <a:pt x="141" y="42"/>
                    <a:pt x="122" y="26"/>
                    <a:pt x="105" y="20"/>
                  </a:cubicBezTo>
                  <a:cubicBezTo>
                    <a:pt x="85" y="21"/>
                    <a:pt x="71" y="20"/>
                    <a:pt x="53" y="26"/>
                  </a:cubicBezTo>
                  <a:cubicBezTo>
                    <a:pt x="47" y="24"/>
                    <a:pt x="33" y="12"/>
                    <a:pt x="47" y="12"/>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1" name="Freeform 21"/>
            <p:cNvSpPr>
              <a:spLocks/>
            </p:cNvSpPr>
            <p:nvPr/>
          </p:nvSpPr>
          <p:spPr bwMode="invGray">
            <a:xfrm>
              <a:off x="1448" y="2857"/>
              <a:ext cx="99" cy="41"/>
            </a:xfrm>
            <a:custGeom>
              <a:avLst/>
              <a:gdLst/>
              <a:ahLst/>
              <a:cxnLst>
                <a:cxn ang="0">
                  <a:pos x="57" y="0"/>
                </a:cxn>
                <a:cxn ang="0">
                  <a:pos x="43" y="6"/>
                </a:cxn>
                <a:cxn ang="0">
                  <a:pos x="31" y="30"/>
                </a:cxn>
                <a:cxn ang="0">
                  <a:pos x="15" y="34"/>
                </a:cxn>
                <a:cxn ang="0">
                  <a:pos x="3" y="42"/>
                </a:cxn>
                <a:cxn ang="0">
                  <a:pos x="13" y="54"/>
                </a:cxn>
                <a:cxn ang="0">
                  <a:pos x="133" y="34"/>
                </a:cxn>
                <a:cxn ang="0">
                  <a:pos x="123" y="16"/>
                </a:cxn>
                <a:cxn ang="0">
                  <a:pos x="105" y="8"/>
                </a:cxn>
                <a:cxn ang="0">
                  <a:pos x="101" y="24"/>
                </a:cxn>
                <a:cxn ang="0">
                  <a:pos x="89" y="18"/>
                </a:cxn>
                <a:cxn ang="0">
                  <a:pos x="67" y="14"/>
                </a:cxn>
                <a:cxn ang="0">
                  <a:pos x="57" y="0"/>
                </a:cxn>
              </a:cxnLst>
              <a:rect l="0" t="0" r="r" b="b"/>
              <a:pathLst>
                <a:path w="133" h="54">
                  <a:moveTo>
                    <a:pt x="57" y="0"/>
                  </a:moveTo>
                  <a:cubicBezTo>
                    <a:pt x="53" y="3"/>
                    <a:pt x="46" y="2"/>
                    <a:pt x="43" y="6"/>
                  </a:cubicBezTo>
                  <a:cubicBezTo>
                    <a:pt x="36" y="14"/>
                    <a:pt x="43" y="26"/>
                    <a:pt x="31" y="30"/>
                  </a:cubicBezTo>
                  <a:cubicBezTo>
                    <a:pt x="26" y="32"/>
                    <a:pt x="20" y="31"/>
                    <a:pt x="15" y="34"/>
                  </a:cubicBezTo>
                  <a:cubicBezTo>
                    <a:pt x="11" y="36"/>
                    <a:pt x="3" y="42"/>
                    <a:pt x="3" y="42"/>
                  </a:cubicBezTo>
                  <a:cubicBezTo>
                    <a:pt x="0" y="51"/>
                    <a:pt x="5" y="51"/>
                    <a:pt x="13" y="54"/>
                  </a:cubicBezTo>
                  <a:cubicBezTo>
                    <a:pt x="51" y="51"/>
                    <a:pt x="97" y="46"/>
                    <a:pt x="133" y="34"/>
                  </a:cubicBezTo>
                  <a:cubicBezTo>
                    <a:pt x="129" y="28"/>
                    <a:pt x="128" y="21"/>
                    <a:pt x="123" y="16"/>
                  </a:cubicBezTo>
                  <a:cubicBezTo>
                    <a:pt x="118" y="11"/>
                    <a:pt x="105" y="8"/>
                    <a:pt x="105" y="8"/>
                  </a:cubicBezTo>
                  <a:cubicBezTo>
                    <a:pt x="84" y="13"/>
                    <a:pt x="106" y="19"/>
                    <a:pt x="101" y="24"/>
                  </a:cubicBezTo>
                  <a:cubicBezTo>
                    <a:pt x="99" y="26"/>
                    <a:pt x="89" y="18"/>
                    <a:pt x="89" y="18"/>
                  </a:cubicBezTo>
                  <a:cubicBezTo>
                    <a:pt x="83" y="15"/>
                    <a:pt x="73" y="15"/>
                    <a:pt x="67" y="14"/>
                  </a:cubicBezTo>
                  <a:cubicBezTo>
                    <a:pt x="58" y="8"/>
                    <a:pt x="62" y="12"/>
                    <a:pt x="57"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2" name="Freeform 22"/>
            <p:cNvSpPr>
              <a:spLocks/>
            </p:cNvSpPr>
            <p:nvPr/>
          </p:nvSpPr>
          <p:spPr bwMode="invGray">
            <a:xfrm>
              <a:off x="1553" y="2883"/>
              <a:ext cx="38" cy="18"/>
            </a:xfrm>
            <a:custGeom>
              <a:avLst/>
              <a:gdLst/>
              <a:ahLst/>
              <a:cxnLst>
                <a:cxn ang="0">
                  <a:pos x="13" y="0"/>
                </a:cxn>
                <a:cxn ang="0">
                  <a:pos x="7" y="18"/>
                </a:cxn>
                <a:cxn ang="0">
                  <a:pos x="27" y="24"/>
                </a:cxn>
                <a:cxn ang="0">
                  <a:pos x="33" y="4"/>
                </a:cxn>
                <a:cxn ang="0">
                  <a:pos x="13" y="0"/>
                </a:cxn>
              </a:cxnLst>
              <a:rect l="0" t="0" r="r" b="b"/>
              <a:pathLst>
                <a:path w="51" h="24">
                  <a:moveTo>
                    <a:pt x="13" y="0"/>
                  </a:moveTo>
                  <a:cubicBezTo>
                    <a:pt x="12" y="2"/>
                    <a:pt x="0" y="12"/>
                    <a:pt x="7" y="18"/>
                  </a:cubicBezTo>
                  <a:cubicBezTo>
                    <a:pt x="12" y="22"/>
                    <a:pt x="27" y="24"/>
                    <a:pt x="27" y="24"/>
                  </a:cubicBezTo>
                  <a:cubicBezTo>
                    <a:pt x="44" y="22"/>
                    <a:pt x="51" y="16"/>
                    <a:pt x="33" y="4"/>
                  </a:cubicBezTo>
                  <a:cubicBezTo>
                    <a:pt x="29" y="1"/>
                    <a:pt x="14" y="0"/>
                    <a:pt x="1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3" name="Freeform 23"/>
            <p:cNvSpPr>
              <a:spLocks/>
            </p:cNvSpPr>
            <p:nvPr/>
          </p:nvSpPr>
          <p:spPr bwMode="invGray">
            <a:xfrm>
              <a:off x="1609" y="2886"/>
              <a:ext cx="12" cy="25"/>
            </a:xfrm>
            <a:custGeom>
              <a:avLst/>
              <a:gdLst/>
              <a:ahLst/>
              <a:cxnLst>
                <a:cxn ang="0">
                  <a:pos x="14" y="0"/>
                </a:cxn>
                <a:cxn ang="0">
                  <a:pos x="0" y="14"/>
                </a:cxn>
                <a:cxn ang="0">
                  <a:pos x="16" y="34"/>
                </a:cxn>
                <a:cxn ang="0">
                  <a:pos x="12" y="18"/>
                </a:cxn>
                <a:cxn ang="0">
                  <a:pos x="16" y="6"/>
                </a:cxn>
                <a:cxn ang="0">
                  <a:pos x="14" y="0"/>
                </a:cxn>
              </a:cxnLst>
              <a:rect l="0" t="0" r="r" b="b"/>
              <a:pathLst>
                <a:path w="16" h="34">
                  <a:moveTo>
                    <a:pt x="14" y="0"/>
                  </a:moveTo>
                  <a:cubicBezTo>
                    <a:pt x="5" y="3"/>
                    <a:pt x="2" y="4"/>
                    <a:pt x="0" y="14"/>
                  </a:cubicBezTo>
                  <a:cubicBezTo>
                    <a:pt x="3" y="26"/>
                    <a:pt x="4" y="30"/>
                    <a:pt x="16" y="34"/>
                  </a:cubicBezTo>
                  <a:cubicBezTo>
                    <a:pt x="15" y="29"/>
                    <a:pt x="11" y="23"/>
                    <a:pt x="12" y="18"/>
                  </a:cubicBezTo>
                  <a:cubicBezTo>
                    <a:pt x="12" y="14"/>
                    <a:pt x="16" y="6"/>
                    <a:pt x="16" y="6"/>
                  </a:cubicBezTo>
                  <a:cubicBezTo>
                    <a:pt x="9" y="1"/>
                    <a:pt x="8" y="3"/>
                    <a:pt x="14"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4" name="Freeform 24"/>
            <p:cNvSpPr>
              <a:spLocks/>
            </p:cNvSpPr>
            <p:nvPr/>
          </p:nvSpPr>
          <p:spPr bwMode="invGray">
            <a:xfrm>
              <a:off x="1426" y="2040"/>
              <a:ext cx="180" cy="88"/>
            </a:xfrm>
            <a:custGeom>
              <a:avLst/>
              <a:gdLst/>
              <a:ahLst/>
              <a:cxnLst>
                <a:cxn ang="0">
                  <a:pos x="64" y="1"/>
                </a:cxn>
                <a:cxn ang="0">
                  <a:pos x="24" y="31"/>
                </a:cxn>
                <a:cxn ang="0">
                  <a:pos x="6" y="37"/>
                </a:cxn>
                <a:cxn ang="0">
                  <a:pos x="0" y="39"/>
                </a:cxn>
                <a:cxn ang="0">
                  <a:pos x="26" y="59"/>
                </a:cxn>
                <a:cxn ang="0">
                  <a:pos x="38" y="63"/>
                </a:cxn>
                <a:cxn ang="0">
                  <a:pos x="68" y="47"/>
                </a:cxn>
                <a:cxn ang="0">
                  <a:pos x="80" y="43"/>
                </a:cxn>
                <a:cxn ang="0">
                  <a:pos x="82" y="55"/>
                </a:cxn>
                <a:cxn ang="0">
                  <a:pos x="64" y="61"/>
                </a:cxn>
                <a:cxn ang="0">
                  <a:pos x="72" y="73"/>
                </a:cxn>
                <a:cxn ang="0">
                  <a:pos x="40" y="87"/>
                </a:cxn>
                <a:cxn ang="0">
                  <a:pos x="70" y="109"/>
                </a:cxn>
                <a:cxn ang="0">
                  <a:pos x="82" y="113"/>
                </a:cxn>
                <a:cxn ang="0">
                  <a:pos x="118" y="103"/>
                </a:cxn>
                <a:cxn ang="0">
                  <a:pos x="150" y="105"/>
                </a:cxn>
                <a:cxn ang="0">
                  <a:pos x="168" y="117"/>
                </a:cxn>
                <a:cxn ang="0">
                  <a:pos x="204" y="109"/>
                </a:cxn>
                <a:cxn ang="0">
                  <a:pos x="224" y="103"/>
                </a:cxn>
                <a:cxn ang="0">
                  <a:pos x="222" y="77"/>
                </a:cxn>
                <a:cxn ang="0">
                  <a:pos x="234" y="69"/>
                </a:cxn>
                <a:cxn ang="0">
                  <a:pos x="238" y="47"/>
                </a:cxn>
                <a:cxn ang="0">
                  <a:pos x="210" y="57"/>
                </a:cxn>
                <a:cxn ang="0">
                  <a:pos x="200" y="43"/>
                </a:cxn>
                <a:cxn ang="0">
                  <a:pos x="172" y="45"/>
                </a:cxn>
                <a:cxn ang="0">
                  <a:pos x="134" y="9"/>
                </a:cxn>
                <a:cxn ang="0">
                  <a:pos x="94" y="11"/>
                </a:cxn>
                <a:cxn ang="0">
                  <a:pos x="82" y="1"/>
                </a:cxn>
                <a:cxn ang="0">
                  <a:pos x="64" y="1"/>
                </a:cxn>
              </a:cxnLst>
              <a:rect l="0" t="0" r="r" b="b"/>
              <a:pathLst>
                <a:path w="240" h="117">
                  <a:moveTo>
                    <a:pt x="64" y="1"/>
                  </a:moveTo>
                  <a:cubicBezTo>
                    <a:pt x="57" y="21"/>
                    <a:pt x="44" y="24"/>
                    <a:pt x="24" y="31"/>
                  </a:cubicBezTo>
                  <a:cubicBezTo>
                    <a:pt x="18" y="33"/>
                    <a:pt x="12" y="35"/>
                    <a:pt x="6" y="37"/>
                  </a:cubicBezTo>
                  <a:cubicBezTo>
                    <a:pt x="4" y="38"/>
                    <a:pt x="0" y="39"/>
                    <a:pt x="0" y="39"/>
                  </a:cubicBezTo>
                  <a:cubicBezTo>
                    <a:pt x="3" y="55"/>
                    <a:pt x="12" y="54"/>
                    <a:pt x="26" y="59"/>
                  </a:cubicBezTo>
                  <a:cubicBezTo>
                    <a:pt x="30" y="60"/>
                    <a:pt x="38" y="63"/>
                    <a:pt x="38" y="63"/>
                  </a:cubicBezTo>
                  <a:cubicBezTo>
                    <a:pt x="50" y="59"/>
                    <a:pt x="57" y="54"/>
                    <a:pt x="68" y="47"/>
                  </a:cubicBezTo>
                  <a:cubicBezTo>
                    <a:pt x="72" y="45"/>
                    <a:pt x="80" y="43"/>
                    <a:pt x="80" y="43"/>
                  </a:cubicBezTo>
                  <a:cubicBezTo>
                    <a:pt x="82" y="46"/>
                    <a:pt x="88" y="51"/>
                    <a:pt x="82" y="55"/>
                  </a:cubicBezTo>
                  <a:cubicBezTo>
                    <a:pt x="77" y="59"/>
                    <a:pt x="64" y="61"/>
                    <a:pt x="64" y="61"/>
                  </a:cubicBezTo>
                  <a:cubicBezTo>
                    <a:pt x="58" y="70"/>
                    <a:pt x="63" y="70"/>
                    <a:pt x="72" y="73"/>
                  </a:cubicBezTo>
                  <a:cubicBezTo>
                    <a:pt x="77" y="88"/>
                    <a:pt x="50" y="86"/>
                    <a:pt x="40" y="87"/>
                  </a:cubicBezTo>
                  <a:cubicBezTo>
                    <a:pt x="47" y="94"/>
                    <a:pt x="60" y="106"/>
                    <a:pt x="70" y="109"/>
                  </a:cubicBezTo>
                  <a:cubicBezTo>
                    <a:pt x="74" y="110"/>
                    <a:pt x="82" y="113"/>
                    <a:pt x="82" y="113"/>
                  </a:cubicBezTo>
                  <a:cubicBezTo>
                    <a:pt x="99" y="111"/>
                    <a:pt x="104" y="108"/>
                    <a:pt x="118" y="103"/>
                  </a:cubicBezTo>
                  <a:cubicBezTo>
                    <a:pt x="129" y="104"/>
                    <a:pt x="140" y="103"/>
                    <a:pt x="150" y="105"/>
                  </a:cubicBezTo>
                  <a:cubicBezTo>
                    <a:pt x="157" y="107"/>
                    <a:pt x="168" y="117"/>
                    <a:pt x="168" y="117"/>
                  </a:cubicBezTo>
                  <a:cubicBezTo>
                    <a:pt x="193" y="115"/>
                    <a:pt x="188" y="116"/>
                    <a:pt x="204" y="109"/>
                  </a:cubicBezTo>
                  <a:cubicBezTo>
                    <a:pt x="210" y="106"/>
                    <a:pt x="224" y="103"/>
                    <a:pt x="224" y="103"/>
                  </a:cubicBezTo>
                  <a:cubicBezTo>
                    <a:pt x="223" y="98"/>
                    <a:pt x="217" y="82"/>
                    <a:pt x="222" y="77"/>
                  </a:cubicBezTo>
                  <a:cubicBezTo>
                    <a:pt x="225" y="73"/>
                    <a:pt x="234" y="69"/>
                    <a:pt x="234" y="69"/>
                  </a:cubicBezTo>
                  <a:cubicBezTo>
                    <a:pt x="237" y="59"/>
                    <a:pt x="240" y="59"/>
                    <a:pt x="238" y="47"/>
                  </a:cubicBezTo>
                  <a:cubicBezTo>
                    <a:pt x="228" y="49"/>
                    <a:pt x="219" y="51"/>
                    <a:pt x="210" y="57"/>
                  </a:cubicBezTo>
                  <a:cubicBezTo>
                    <a:pt x="201" y="71"/>
                    <a:pt x="201" y="50"/>
                    <a:pt x="200" y="43"/>
                  </a:cubicBezTo>
                  <a:cubicBezTo>
                    <a:pt x="189" y="45"/>
                    <a:pt x="182" y="48"/>
                    <a:pt x="172" y="45"/>
                  </a:cubicBezTo>
                  <a:cubicBezTo>
                    <a:pt x="161" y="34"/>
                    <a:pt x="148" y="14"/>
                    <a:pt x="134" y="9"/>
                  </a:cubicBezTo>
                  <a:cubicBezTo>
                    <a:pt x="119" y="11"/>
                    <a:pt x="108" y="13"/>
                    <a:pt x="94" y="11"/>
                  </a:cubicBezTo>
                  <a:cubicBezTo>
                    <a:pt x="92" y="9"/>
                    <a:pt x="85" y="2"/>
                    <a:pt x="82" y="1"/>
                  </a:cubicBezTo>
                  <a:cubicBezTo>
                    <a:pt x="74" y="0"/>
                    <a:pt x="72" y="9"/>
                    <a:pt x="64" y="1"/>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5" name="Freeform 25"/>
            <p:cNvSpPr>
              <a:spLocks/>
            </p:cNvSpPr>
            <p:nvPr/>
          </p:nvSpPr>
          <p:spPr bwMode="invGray">
            <a:xfrm>
              <a:off x="1506" y="1999"/>
              <a:ext cx="146" cy="60"/>
            </a:xfrm>
            <a:custGeom>
              <a:avLst/>
              <a:gdLst/>
              <a:ahLst/>
              <a:cxnLst>
                <a:cxn ang="0">
                  <a:pos x="97" y="10"/>
                </a:cxn>
                <a:cxn ang="0">
                  <a:pos x="13" y="24"/>
                </a:cxn>
                <a:cxn ang="0">
                  <a:pos x="9" y="34"/>
                </a:cxn>
                <a:cxn ang="0">
                  <a:pos x="57" y="52"/>
                </a:cxn>
                <a:cxn ang="0">
                  <a:pos x="135" y="74"/>
                </a:cxn>
                <a:cxn ang="0">
                  <a:pos x="175" y="68"/>
                </a:cxn>
                <a:cxn ang="0">
                  <a:pos x="187" y="64"/>
                </a:cxn>
                <a:cxn ang="0">
                  <a:pos x="175" y="44"/>
                </a:cxn>
                <a:cxn ang="0">
                  <a:pos x="163" y="36"/>
                </a:cxn>
                <a:cxn ang="0">
                  <a:pos x="129" y="26"/>
                </a:cxn>
                <a:cxn ang="0">
                  <a:pos x="97" y="10"/>
                </a:cxn>
              </a:cxnLst>
              <a:rect l="0" t="0" r="r" b="b"/>
              <a:pathLst>
                <a:path w="194" h="80">
                  <a:moveTo>
                    <a:pt x="97" y="10"/>
                  </a:moveTo>
                  <a:cubicBezTo>
                    <a:pt x="70" y="19"/>
                    <a:pt x="42" y="22"/>
                    <a:pt x="13" y="24"/>
                  </a:cubicBezTo>
                  <a:cubicBezTo>
                    <a:pt x="9" y="25"/>
                    <a:pt x="0" y="26"/>
                    <a:pt x="9" y="34"/>
                  </a:cubicBezTo>
                  <a:cubicBezTo>
                    <a:pt x="21" y="44"/>
                    <a:pt x="43" y="43"/>
                    <a:pt x="57" y="52"/>
                  </a:cubicBezTo>
                  <a:cubicBezTo>
                    <a:pt x="75" y="80"/>
                    <a:pt x="104" y="73"/>
                    <a:pt x="135" y="74"/>
                  </a:cubicBezTo>
                  <a:cubicBezTo>
                    <a:pt x="153" y="73"/>
                    <a:pt x="159" y="73"/>
                    <a:pt x="175" y="68"/>
                  </a:cubicBezTo>
                  <a:cubicBezTo>
                    <a:pt x="179" y="67"/>
                    <a:pt x="187" y="64"/>
                    <a:pt x="187" y="64"/>
                  </a:cubicBezTo>
                  <a:cubicBezTo>
                    <a:pt x="194" y="53"/>
                    <a:pt x="184" y="49"/>
                    <a:pt x="175" y="44"/>
                  </a:cubicBezTo>
                  <a:cubicBezTo>
                    <a:pt x="171" y="42"/>
                    <a:pt x="163" y="36"/>
                    <a:pt x="163" y="36"/>
                  </a:cubicBezTo>
                  <a:cubicBezTo>
                    <a:pt x="140" y="41"/>
                    <a:pt x="147" y="38"/>
                    <a:pt x="129" y="26"/>
                  </a:cubicBezTo>
                  <a:cubicBezTo>
                    <a:pt x="123" y="17"/>
                    <a:pt x="107" y="0"/>
                    <a:pt x="97" y="1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6" name="Freeform 26"/>
            <p:cNvSpPr>
              <a:spLocks/>
            </p:cNvSpPr>
            <p:nvPr/>
          </p:nvSpPr>
          <p:spPr bwMode="invGray">
            <a:xfrm>
              <a:off x="1711" y="2069"/>
              <a:ext cx="233" cy="190"/>
            </a:xfrm>
            <a:custGeom>
              <a:avLst/>
              <a:gdLst/>
              <a:ahLst/>
              <a:cxnLst>
                <a:cxn ang="0">
                  <a:pos x="67" y="9"/>
                </a:cxn>
                <a:cxn ang="0">
                  <a:pos x="51" y="23"/>
                </a:cxn>
                <a:cxn ang="0">
                  <a:pos x="21" y="39"/>
                </a:cxn>
                <a:cxn ang="0">
                  <a:pos x="53" y="77"/>
                </a:cxn>
                <a:cxn ang="0">
                  <a:pos x="79" y="85"/>
                </a:cxn>
                <a:cxn ang="0">
                  <a:pos x="103" y="99"/>
                </a:cxn>
                <a:cxn ang="0">
                  <a:pos x="127" y="85"/>
                </a:cxn>
                <a:cxn ang="0">
                  <a:pos x="143" y="101"/>
                </a:cxn>
                <a:cxn ang="0">
                  <a:pos x="149" y="127"/>
                </a:cxn>
                <a:cxn ang="0">
                  <a:pos x="115" y="151"/>
                </a:cxn>
                <a:cxn ang="0">
                  <a:pos x="89" y="173"/>
                </a:cxn>
                <a:cxn ang="0">
                  <a:pos x="69" y="169"/>
                </a:cxn>
                <a:cxn ang="0">
                  <a:pos x="57" y="165"/>
                </a:cxn>
                <a:cxn ang="0">
                  <a:pos x="43" y="187"/>
                </a:cxn>
                <a:cxn ang="0">
                  <a:pos x="39" y="199"/>
                </a:cxn>
                <a:cxn ang="0">
                  <a:pos x="73" y="205"/>
                </a:cxn>
                <a:cxn ang="0">
                  <a:pos x="95" y="203"/>
                </a:cxn>
                <a:cxn ang="0">
                  <a:pos x="115" y="231"/>
                </a:cxn>
                <a:cxn ang="0">
                  <a:pos x="127" y="235"/>
                </a:cxn>
                <a:cxn ang="0">
                  <a:pos x="139" y="239"/>
                </a:cxn>
                <a:cxn ang="0">
                  <a:pos x="155" y="251"/>
                </a:cxn>
                <a:cxn ang="0">
                  <a:pos x="181" y="237"/>
                </a:cxn>
                <a:cxn ang="0">
                  <a:pos x="203" y="235"/>
                </a:cxn>
                <a:cxn ang="0">
                  <a:pos x="229" y="213"/>
                </a:cxn>
                <a:cxn ang="0">
                  <a:pos x="225" y="185"/>
                </a:cxn>
                <a:cxn ang="0">
                  <a:pos x="217" y="173"/>
                </a:cxn>
                <a:cxn ang="0">
                  <a:pos x="233" y="167"/>
                </a:cxn>
                <a:cxn ang="0">
                  <a:pos x="245" y="183"/>
                </a:cxn>
                <a:cxn ang="0">
                  <a:pos x="247" y="197"/>
                </a:cxn>
                <a:cxn ang="0">
                  <a:pos x="261" y="193"/>
                </a:cxn>
                <a:cxn ang="0">
                  <a:pos x="303" y="169"/>
                </a:cxn>
                <a:cxn ang="0">
                  <a:pos x="293" y="147"/>
                </a:cxn>
                <a:cxn ang="0">
                  <a:pos x="259" y="123"/>
                </a:cxn>
                <a:cxn ang="0">
                  <a:pos x="265" y="107"/>
                </a:cxn>
                <a:cxn ang="0">
                  <a:pos x="277" y="103"/>
                </a:cxn>
                <a:cxn ang="0">
                  <a:pos x="253" y="63"/>
                </a:cxn>
                <a:cxn ang="0">
                  <a:pos x="233" y="59"/>
                </a:cxn>
                <a:cxn ang="0">
                  <a:pos x="221" y="55"/>
                </a:cxn>
                <a:cxn ang="0">
                  <a:pos x="201" y="33"/>
                </a:cxn>
                <a:cxn ang="0">
                  <a:pos x="155" y="45"/>
                </a:cxn>
                <a:cxn ang="0">
                  <a:pos x="167" y="25"/>
                </a:cxn>
                <a:cxn ang="0">
                  <a:pos x="139" y="17"/>
                </a:cxn>
                <a:cxn ang="0">
                  <a:pos x="119" y="19"/>
                </a:cxn>
                <a:cxn ang="0">
                  <a:pos x="67" y="9"/>
                </a:cxn>
              </a:cxnLst>
              <a:rect l="0" t="0" r="r" b="b"/>
              <a:pathLst>
                <a:path w="310" h="254">
                  <a:moveTo>
                    <a:pt x="67" y="9"/>
                  </a:moveTo>
                  <a:cubicBezTo>
                    <a:pt x="63" y="15"/>
                    <a:pt x="51" y="23"/>
                    <a:pt x="51" y="23"/>
                  </a:cubicBezTo>
                  <a:cubicBezTo>
                    <a:pt x="43" y="34"/>
                    <a:pt x="33" y="35"/>
                    <a:pt x="21" y="39"/>
                  </a:cubicBezTo>
                  <a:cubicBezTo>
                    <a:pt x="0" y="71"/>
                    <a:pt x="30" y="74"/>
                    <a:pt x="53" y="77"/>
                  </a:cubicBezTo>
                  <a:cubicBezTo>
                    <a:pt x="61" y="89"/>
                    <a:pt x="63" y="87"/>
                    <a:pt x="79" y="85"/>
                  </a:cubicBezTo>
                  <a:cubicBezTo>
                    <a:pt x="88" y="88"/>
                    <a:pt x="93" y="96"/>
                    <a:pt x="103" y="99"/>
                  </a:cubicBezTo>
                  <a:cubicBezTo>
                    <a:pt x="117" y="96"/>
                    <a:pt x="116" y="89"/>
                    <a:pt x="127" y="85"/>
                  </a:cubicBezTo>
                  <a:cubicBezTo>
                    <a:pt x="134" y="90"/>
                    <a:pt x="138" y="94"/>
                    <a:pt x="143" y="101"/>
                  </a:cubicBezTo>
                  <a:cubicBezTo>
                    <a:pt x="140" y="116"/>
                    <a:pt x="134" y="117"/>
                    <a:pt x="149" y="127"/>
                  </a:cubicBezTo>
                  <a:cubicBezTo>
                    <a:pt x="161" y="144"/>
                    <a:pt x="126" y="147"/>
                    <a:pt x="115" y="151"/>
                  </a:cubicBezTo>
                  <a:cubicBezTo>
                    <a:pt x="109" y="160"/>
                    <a:pt x="100" y="169"/>
                    <a:pt x="89" y="173"/>
                  </a:cubicBezTo>
                  <a:cubicBezTo>
                    <a:pt x="81" y="172"/>
                    <a:pt x="76" y="171"/>
                    <a:pt x="69" y="169"/>
                  </a:cubicBezTo>
                  <a:cubicBezTo>
                    <a:pt x="65" y="168"/>
                    <a:pt x="57" y="165"/>
                    <a:pt x="57" y="165"/>
                  </a:cubicBezTo>
                  <a:cubicBezTo>
                    <a:pt x="46" y="169"/>
                    <a:pt x="46" y="177"/>
                    <a:pt x="43" y="187"/>
                  </a:cubicBezTo>
                  <a:cubicBezTo>
                    <a:pt x="42" y="191"/>
                    <a:pt x="39" y="199"/>
                    <a:pt x="39" y="199"/>
                  </a:cubicBezTo>
                  <a:cubicBezTo>
                    <a:pt x="50" y="203"/>
                    <a:pt x="61" y="204"/>
                    <a:pt x="73" y="205"/>
                  </a:cubicBezTo>
                  <a:cubicBezTo>
                    <a:pt x="82" y="203"/>
                    <a:pt x="86" y="201"/>
                    <a:pt x="95" y="203"/>
                  </a:cubicBezTo>
                  <a:cubicBezTo>
                    <a:pt x="107" y="211"/>
                    <a:pt x="111" y="218"/>
                    <a:pt x="115" y="231"/>
                  </a:cubicBezTo>
                  <a:cubicBezTo>
                    <a:pt x="116" y="235"/>
                    <a:pt x="123" y="234"/>
                    <a:pt x="127" y="235"/>
                  </a:cubicBezTo>
                  <a:cubicBezTo>
                    <a:pt x="131" y="236"/>
                    <a:pt x="139" y="239"/>
                    <a:pt x="139" y="239"/>
                  </a:cubicBezTo>
                  <a:cubicBezTo>
                    <a:pt x="144" y="246"/>
                    <a:pt x="147" y="248"/>
                    <a:pt x="155" y="251"/>
                  </a:cubicBezTo>
                  <a:cubicBezTo>
                    <a:pt x="169" y="250"/>
                    <a:pt x="187" y="254"/>
                    <a:pt x="181" y="237"/>
                  </a:cubicBezTo>
                  <a:cubicBezTo>
                    <a:pt x="184" y="220"/>
                    <a:pt x="192" y="228"/>
                    <a:pt x="203" y="235"/>
                  </a:cubicBezTo>
                  <a:cubicBezTo>
                    <a:pt x="224" y="233"/>
                    <a:pt x="224" y="232"/>
                    <a:pt x="229" y="213"/>
                  </a:cubicBezTo>
                  <a:cubicBezTo>
                    <a:pt x="229" y="211"/>
                    <a:pt x="229" y="192"/>
                    <a:pt x="225" y="185"/>
                  </a:cubicBezTo>
                  <a:cubicBezTo>
                    <a:pt x="223" y="181"/>
                    <a:pt x="217" y="173"/>
                    <a:pt x="217" y="173"/>
                  </a:cubicBezTo>
                  <a:cubicBezTo>
                    <a:pt x="220" y="163"/>
                    <a:pt x="224" y="165"/>
                    <a:pt x="233" y="167"/>
                  </a:cubicBezTo>
                  <a:cubicBezTo>
                    <a:pt x="240" y="172"/>
                    <a:pt x="242" y="175"/>
                    <a:pt x="245" y="183"/>
                  </a:cubicBezTo>
                  <a:cubicBezTo>
                    <a:pt x="246" y="188"/>
                    <a:pt x="244" y="193"/>
                    <a:pt x="247" y="197"/>
                  </a:cubicBezTo>
                  <a:cubicBezTo>
                    <a:pt x="250" y="201"/>
                    <a:pt x="256" y="194"/>
                    <a:pt x="261" y="193"/>
                  </a:cubicBezTo>
                  <a:cubicBezTo>
                    <a:pt x="276" y="188"/>
                    <a:pt x="290" y="178"/>
                    <a:pt x="303" y="169"/>
                  </a:cubicBezTo>
                  <a:cubicBezTo>
                    <a:pt x="310" y="158"/>
                    <a:pt x="302" y="153"/>
                    <a:pt x="293" y="147"/>
                  </a:cubicBezTo>
                  <a:cubicBezTo>
                    <a:pt x="281" y="129"/>
                    <a:pt x="283" y="126"/>
                    <a:pt x="259" y="123"/>
                  </a:cubicBezTo>
                  <a:cubicBezTo>
                    <a:pt x="256" y="115"/>
                    <a:pt x="257" y="111"/>
                    <a:pt x="265" y="107"/>
                  </a:cubicBezTo>
                  <a:cubicBezTo>
                    <a:pt x="269" y="105"/>
                    <a:pt x="277" y="103"/>
                    <a:pt x="277" y="103"/>
                  </a:cubicBezTo>
                  <a:cubicBezTo>
                    <a:pt x="287" y="88"/>
                    <a:pt x="269" y="66"/>
                    <a:pt x="253" y="63"/>
                  </a:cubicBezTo>
                  <a:cubicBezTo>
                    <a:pt x="239" y="60"/>
                    <a:pt x="244" y="62"/>
                    <a:pt x="233" y="59"/>
                  </a:cubicBezTo>
                  <a:cubicBezTo>
                    <a:pt x="229" y="58"/>
                    <a:pt x="221" y="55"/>
                    <a:pt x="221" y="55"/>
                  </a:cubicBezTo>
                  <a:cubicBezTo>
                    <a:pt x="200" y="60"/>
                    <a:pt x="217" y="38"/>
                    <a:pt x="201" y="33"/>
                  </a:cubicBezTo>
                  <a:cubicBezTo>
                    <a:pt x="185" y="35"/>
                    <a:pt x="169" y="36"/>
                    <a:pt x="155" y="45"/>
                  </a:cubicBezTo>
                  <a:cubicBezTo>
                    <a:pt x="145" y="30"/>
                    <a:pt x="152" y="30"/>
                    <a:pt x="167" y="25"/>
                  </a:cubicBezTo>
                  <a:cubicBezTo>
                    <a:pt x="163" y="10"/>
                    <a:pt x="155" y="15"/>
                    <a:pt x="139" y="17"/>
                  </a:cubicBezTo>
                  <a:cubicBezTo>
                    <a:pt x="131" y="20"/>
                    <a:pt x="127" y="22"/>
                    <a:pt x="119" y="19"/>
                  </a:cubicBezTo>
                  <a:cubicBezTo>
                    <a:pt x="106" y="0"/>
                    <a:pt x="74" y="29"/>
                    <a:pt x="67" y="9"/>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7" name="Freeform 27"/>
            <p:cNvSpPr>
              <a:spLocks/>
            </p:cNvSpPr>
            <p:nvPr/>
          </p:nvSpPr>
          <p:spPr bwMode="invGray">
            <a:xfrm>
              <a:off x="1709" y="1987"/>
              <a:ext cx="44" cy="37"/>
            </a:xfrm>
            <a:custGeom>
              <a:avLst/>
              <a:gdLst/>
              <a:ahLst/>
              <a:cxnLst>
                <a:cxn ang="0">
                  <a:pos x="26" y="0"/>
                </a:cxn>
                <a:cxn ang="0">
                  <a:pos x="0" y="10"/>
                </a:cxn>
                <a:cxn ang="0">
                  <a:pos x="30" y="40"/>
                </a:cxn>
                <a:cxn ang="0">
                  <a:pos x="48" y="50"/>
                </a:cxn>
                <a:cxn ang="0">
                  <a:pos x="58" y="28"/>
                </a:cxn>
                <a:cxn ang="0">
                  <a:pos x="44" y="8"/>
                </a:cxn>
                <a:cxn ang="0">
                  <a:pos x="26" y="0"/>
                </a:cxn>
              </a:cxnLst>
              <a:rect l="0" t="0" r="r" b="b"/>
              <a:pathLst>
                <a:path w="59" h="50">
                  <a:moveTo>
                    <a:pt x="26" y="0"/>
                  </a:moveTo>
                  <a:cubicBezTo>
                    <a:pt x="13" y="2"/>
                    <a:pt x="7" y="0"/>
                    <a:pt x="0" y="10"/>
                  </a:cubicBezTo>
                  <a:cubicBezTo>
                    <a:pt x="4" y="22"/>
                    <a:pt x="18" y="36"/>
                    <a:pt x="30" y="40"/>
                  </a:cubicBezTo>
                  <a:cubicBezTo>
                    <a:pt x="37" y="42"/>
                    <a:pt x="48" y="50"/>
                    <a:pt x="48" y="50"/>
                  </a:cubicBezTo>
                  <a:cubicBezTo>
                    <a:pt x="57" y="44"/>
                    <a:pt x="55" y="37"/>
                    <a:pt x="58" y="28"/>
                  </a:cubicBezTo>
                  <a:cubicBezTo>
                    <a:pt x="55" y="11"/>
                    <a:pt x="59" y="18"/>
                    <a:pt x="44" y="8"/>
                  </a:cubicBezTo>
                  <a:cubicBezTo>
                    <a:pt x="42" y="6"/>
                    <a:pt x="26" y="5"/>
                    <a:pt x="26"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8" name="Freeform 28"/>
            <p:cNvSpPr>
              <a:spLocks/>
            </p:cNvSpPr>
            <p:nvPr/>
          </p:nvSpPr>
          <p:spPr bwMode="invGray">
            <a:xfrm>
              <a:off x="1625" y="2057"/>
              <a:ext cx="65" cy="42"/>
            </a:xfrm>
            <a:custGeom>
              <a:avLst/>
              <a:gdLst/>
              <a:ahLst/>
              <a:cxnLst>
                <a:cxn ang="0">
                  <a:pos x="44" y="7"/>
                </a:cxn>
                <a:cxn ang="0">
                  <a:pos x="24" y="25"/>
                </a:cxn>
                <a:cxn ang="0">
                  <a:pos x="4" y="27"/>
                </a:cxn>
                <a:cxn ang="0">
                  <a:pos x="16" y="57"/>
                </a:cxn>
                <a:cxn ang="0">
                  <a:pos x="74" y="35"/>
                </a:cxn>
                <a:cxn ang="0">
                  <a:pos x="86" y="17"/>
                </a:cxn>
                <a:cxn ang="0">
                  <a:pos x="56" y="7"/>
                </a:cxn>
                <a:cxn ang="0">
                  <a:pos x="44" y="7"/>
                </a:cxn>
              </a:cxnLst>
              <a:rect l="0" t="0" r="r" b="b"/>
              <a:pathLst>
                <a:path w="86" h="57">
                  <a:moveTo>
                    <a:pt x="44" y="7"/>
                  </a:moveTo>
                  <a:cubicBezTo>
                    <a:pt x="39" y="14"/>
                    <a:pt x="31" y="20"/>
                    <a:pt x="24" y="25"/>
                  </a:cubicBezTo>
                  <a:cubicBezTo>
                    <a:pt x="16" y="19"/>
                    <a:pt x="12" y="22"/>
                    <a:pt x="4" y="27"/>
                  </a:cubicBezTo>
                  <a:cubicBezTo>
                    <a:pt x="0" y="38"/>
                    <a:pt x="4" y="53"/>
                    <a:pt x="16" y="57"/>
                  </a:cubicBezTo>
                  <a:cubicBezTo>
                    <a:pt x="33" y="51"/>
                    <a:pt x="60" y="45"/>
                    <a:pt x="74" y="35"/>
                  </a:cubicBezTo>
                  <a:cubicBezTo>
                    <a:pt x="78" y="29"/>
                    <a:pt x="86" y="17"/>
                    <a:pt x="86" y="17"/>
                  </a:cubicBezTo>
                  <a:cubicBezTo>
                    <a:pt x="80" y="0"/>
                    <a:pt x="74" y="5"/>
                    <a:pt x="56" y="7"/>
                  </a:cubicBezTo>
                  <a:cubicBezTo>
                    <a:pt x="43" y="11"/>
                    <a:pt x="44" y="15"/>
                    <a:pt x="44" y="7"/>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9" name="Freeform 29"/>
            <p:cNvSpPr>
              <a:spLocks/>
            </p:cNvSpPr>
            <p:nvPr/>
          </p:nvSpPr>
          <p:spPr bwMode="invGray">
            <a:xfrm>
              <a:off x="1693" y="2065"/>
              <a:ext cx="54" cy="25"/>
            </a:xfrm>
            <a:custGeom>
              <a:avLst/>
              <a:gdLst/>
              <a:ahLst/>
              <a:cxnLst>
                <a:cxn ang="0">
                  <a:pos x="40" y="0"/>
                </a:cxn>
                <a:cxn ang="0">
                  <a:pos x="10" y="16"/>
                </a:cxn>
                <a:cxn ang="0">
                  <a:pos x="24" y="34"/>
                </a:cxn>
                <a:cxn ang="0">
                  <a:pos x="52" y="28"/>
                </a:cxn>
                <a:cxn ang="0">
                  <a:pos x="64" y="20"/>
                </a:cxn>
                <a:cxn ang="0">
                  <a:pos x="40" y="0"/>
                </a:cxn>
              </a:cxnLst>
              <a:rect l="0" t="0" r="r" b="b"/>
              <a:pathLst>
                <a:path w="73" h="34">
                  <a:moveTo>
                    <a:pt x="40" y="0"/>
                  </a:moveTo>
                  <a:cubicBezTo>
                    <a:pt x="30" y="6"/>
                    <a:pt x="20" y="10"/>
                    <a:pt x="10" y="16"/>
                  </a:cubicBezTo>
                  <a:cubicBezTo>
                    <a:pt x="0" y="31"/>
                    <a:pt x="13" y="30"/>
                    <a:pt x="24" y="34"/>
                  </a:cubicBezTo>
                  <a:cubicBezTo>
                    <a:pt x="44" y="31"/>
                    <a:pt x="35" y="34"/>
                    <a:pt x="52" y="28"/>
                  </a:cubicBezTo>
                  <a:cubicBezTo>
                    <a:pt x="57" y="26"/>
                    <a:pt x="64" y="20"/>
                    <a:pt x="64" y="20"/>
                  </a:cubicBezTo>
                  <a:cubicBezTo>
                    <a:pt x="73" y="7"/>
                    <a:pt x="48" y="8"/>
                    <a:pt x="40"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0" name="Freeform 30"/>
            <p:cNvSpPr>
              <a:spLocks/>
            </p:cNvSpPr>
            <p:nvPr/>
          </p:nvSpPr>
          <p:spPr bwMode="invGray">
            <a:xfrm>
              <a:off x="1664" y="2029"/>
              <a:ext cx="64" cy="34"/>
            </a:xfrm>
            <a:custGeom>
              <a:avLst/>
              <a:gdLst/>
              <a:ahLst/>
              <a:cxnLst>
                <a:cxn ang="0">
                  <a:pos x="58" y="10"/>
                </a:cxn>
                <a:cxn ang="0">
                  <a:pos x="28" y="4"/>
                </a:cxn>
                <a:cxn ang="0">
                  <a:pos x="0" y="18"/>
                </a:cxn>
                <a:cxn ang="0">
                  <a:pos x="40" y="32"/>
                </a:cxn>
                <a:cxn ang="0">
                  <a:pos x="64" y="40"/>
                </a:cxn>
                <a:cxn ang="0">
                  <a:pos x="84" y="18"/>
                </a:cxn>
                <a:cxn ang="0">
                  <a:pos x="82" y="6"/>
                </a:cxn>
                <a:cxn ang="0">
                  <a:pos x="64" y="0"/>
                </a:cxn>
                <a:cxn ang="0">
                  <a:pos x="58" y="10"/>
                </a:cxn>
              </a:cxnLst>
              <a:rect l="0" t="0" r="r" b="b"/>
              <a:pathLst>
                <a:path w="85" h="45">
                  <a:moveTo>
                    <a:pt x="58" y="10"/>
                  </a:moveTo>
                  <a:cubicBezTo>
                    <a:pt x="39" y="16"/>
                    <a:pt x="45" y="10"/>
                    <a:pt x="28" y="4"/>
                  </a:cubicBezTo>
                  <a:cubicBezTo>
                    <a:pt x="7" y="6"/>
                    <a:pt x="5" y="2"/>
                    <a:pt x="0" y="18"/>
                  </a:cubicBezTo>
                  <a:cubicBezTo>
                    <a:pt x="5" y="34"/>
                    <a:pt x="26" y="31"/>
                    <a:pt x="40" y="32"/>
                  </a:cubicBezTo>
                  <a:cubicBezTo>
                    <a:pt x="50" y="42"/>
                    <a:pt x="49" y="45"/>
                    <a:pt x="64" y="40"/>
                  </a:cubicBezTo>
                  <a:cubicBezTo>
                    <a:pt x="69" y="32"/>
                    <a:pt x="77" y="25"/>
                    <a:pt x="84" y="18"/>
                  </a:cubicBezTo>
                  <a:cubicBezTo>
                    <a:pt x="83" y="14"/>
                    <a:pt x="85" y="9"/>
                    <a:pt x="82" y="6"/>
                  </a:cubicBezTo>
                  <a:cubicBezTo>
                    <a:pt x="78" y="1"/>
                    <a:pt x="64" y="0"/>
                    <a:pt x="64" y="0"/>
                  </a:cubicBezTo>
                  <a:cubicBezTo>
                    <a:pt x="56" y="3"/>
                    <a:pt x="47" y="21"/>
                    <a:pt x="58" y="1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1" name="Freeform 31"/>
            <p:cNvSpPr>
              <a:spLocks/>
            </p:cNvSpPr>
            <p:nvPr/>
          </p:nvSpPr>
          <p:spPr bwMode="invGray">
            <a:xfrm>
              <a:off x="1637" y="1997"/>
              <a:ext cx="44" cy="24"/>
            </a:xfrm>
            <a:custGeom>
              <a:avLst/>
              <a:gdLst/>
              <a:ahLst/>
              <a:cxnLst>
                <a:cxn ang="0">
                  <a:pos x="16" y="4"/>
                </a:cxn>
                <a:cxn ang="0">
                  <a:pos x="0" y="18"/>
                </a:cxn>
                <a:cxn ang="0">
                  <a:pos x="20" y="28"/>
                </a:cxn>
                <a:cxn ang="0">
                  <a:pos x="28" y="20"/>
                </a:cxn>
                <a:cxn ang="0">
                  <a:pos x="52" y="12"/>
                </a:cxn>
                <a:cxn ang="0">
                  <a:pos x="44" y="0"/>
                </a:cxn>
                <a:cxn ang="0">
                  <a:pos x="16" y="4"/>
                </a:cxn>
              </a:cxnLst>
              <a:rect l="0" t="0" r="r" b="b"/>
              <a:pathLst>
                <a:path w="58" h="31">
                  <a:moveTo>
                    <a:pt x="16" y="4"/>
                  </a:moveTo>
                  <a:cubicBezTo>
                    <a:pt x="2" y="13"/>
                    <a:pt x="7" y="8"/>
                    <a:pt x="0" y="18"/>
                  </a:cubicBezTo>
                  <a:cubicBezTo>
                    <a:pt x="5" y="26"/>
                    <a:pt x="11" y="25"/>
                    <a:pt x="20" y="28"/>
                  </a:cubicBezTo>
                  <a:cubicBezTo>
                    <a:pt x="36" y="23"/>
                    <a:pt x="17" y="31"/>
                    <a:pt x="28" y="20"/>
                  </a:cubicBezTo>
                  <a:cubicBezTo>
                    <a:pt x="33" y="15"/>
                    <a:pt x="46" y="13"/>
                    <a:pt x="52" y="12"/>
                  </a:cubicBezTo>
                  <a:cubicBezTo>
                    <a:pt x="58" y="3"/>
                    <a:pt x="53" y="3"/>
                    <a:pt x="44" y="0"/>
                  </a:cubicBezTo>
                  <a:cubicBezTo>
                    <a:pt x="38" y="1"/>
                    <a:pt x="20" y="8"/>
                    <a:pt x="16" y="4"/>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2" name="Freeform 32"/>
            <p:cNvSpPr>
              <a:spLocks/>
            </p:cNvSpPr>
            <p:nvPr/>
          </p:nvSpPr>
          <p:spPr bwMode="invGray">
            <a:xfrm>
              <a:off x="1751" y="2000"/>
              <a:ext cx="114" cy="77"/>
            </a:xfrm>
            <a:custGeom>
              <a:avLst/>
              <a:gdLst/>
              <a:ahLst/>
              <a:cxnLst>
                <a:cxn ang="0">
                  <a:pos x="38" y="0"/>
                </a:cxn>
                <a:cxn ang="0">
                  <a:pos x="14" y="6"/>
                </a:cxn>
                <a:cxn ang="0">
                  <a:pos x="4" y="38"/>
                </a:cxn>
                <a:cxn ang="0">
                  <a:pos x="12" y="56"/>
                </a:cxn>
                <a:cxn ang="0">
                  <a:pos x="0" y="72"/>
                </a:cxn>
                <a:cxn ang="0">
                  <a:pos x="56" y="86"/>
                </a:cxn>
                <a:cxn ang="0">
                  <a:pos x="82" y="92"/>
                </a:cxn>
                <a:cxn ang="0">
                  <a:pos x="152" y="86"/>
                </a:cxn>
                <a:cxn ang="0">
                  <a:pos x="76" y="70"/>
                </a:cxn>
                <a:cxn ang="0">
                  <a:pos x="54" y="62"/>
                </a:cxn>
                <a:cxn ang="0">
                  <a:pos x="44" y="52"/>
                </a:cxn>
                <a:cxn ang="0">
                  <a:pos x="50" y="34"/>
                </a:cxn>
                <a:cxn ang="0">
                  <a:pos x="38" y="0"/>
                </a:cxn>
              </a:cxnLst>
              <a:rect l="0" t="0" r="r" b="b"/>
              <a:pathLst>
                <a:path w="152" h="102">
                  <a:moveTo>
                    <a:pt x="38" y="0"/>
                  </a:moveTo>
                  <a:cubicBezTo>
                    <a:pt x="22" y="5"/>
                    <a:pt x="30" y="3"/>
                    <a:pt x="14" y="6"/>
                  </a:cubicBezTo>
                  <a:cubicBezTo>
                    <a:pt x="18" y="22"/>
                    <a:pt x="22" y="32"/>
                    <a:pt x="4" y="38"/>
                  </a:cubicBezTo>
                  <a:cubicBezTo>
                    <a:pt x="1" y="47"/>
                    <a:pt x="7" y="49"/>
                    <a:pt x="12" y="56"/>
                  </a:cubicBezTo>
                  <a:cubicBezTo>
                    <a:pt x="10" y="65"/>
                    <a:pt x="9" y="69"/>
                    <a:pt x="0" y="72"/>
                  </a:cubicBezTo>
                  <a:cubicBezTo>
                    <a:pt x="5" y="88"/>
                    <a:pt x="45" y="85"/>
                    <a:pt x="56" y="86"/>
                  </a:cubicBezTo>
                  <a:cubicBezTo>
                    <a:pt x="72" y="97"/>
                    <a:pt x="63" y="95"/>
                    <a:pt x="82" y="92"/>
                  </a:cubicBezTo>
                  <a:cubicBezTo>
                    <a:pt x="86" y="92"/>
                    <a:pt x="147" y="102"/>
                    <a:pt x="152" y="86"/>
                  </a:cubicBezTo>
                  <a:cubicBezTo>
                    <a:pt x="123" y="66"/>
                    <a:pt x="128" y="72"/>
                    <a:pt x="76" y="70"/>
                  </a:cubicBezTo>
                  <a:cubicBezTo>
                    <a:pt x="62" y="56"/>
                    <a:pt x="81" y="73"/>
                    <a:pt x="54" y="62"/>
                  </a:cubicBezTo>
                  <a:cubicBezTo>
                    <a:pt x="50" y="60"/>
                    <a:pt x="48" y="55"/>
                    <a:pt x="44" y="52"/>
                  </a:cubicBezTo>
                  <a:cubicBezTo>
                    <a:pt x="41" y="43"/>
                    <a:pt x="42" y="39"/>
                    <a:pt x="50" y="34"/>
                  </a:cubicBezTo>
                  <a:cubicBezTo>
                    <a:pt x="52" y="27"/>
                    <a:pt x="42" y="9"/>
                    <a:pt x="38"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3" name="Freeform 33"/>
            <p:cNvSpPr>
              <a:spLocks/>
            </p:cNvSpPr>
            <p:nvPr/>
          </p:nvSpPr>
          <p:spPr bwMode="invGray">
            <a:xfrm>
              <a:off x="664" y="2245"/>
              <a:ext cx="25" cy="15"/>
            </a:xfrm>
            <a:custGeom>
              <a:avLst/>
              <a:gdLst/>
              <a:ahLst/>
              <a:cxnLst>
                <a:cxn ang="0">
                  <a:pos x="34" y="0"/>
                </a:cxn>
                <a:cxn ang="0">
                  <a:pos x="24" y="20"/>
                </a:cxn>
                <a:cxn ang="0">
                  <a:pos x="4" y="18"/>
                </a:cxn>
                <a:cxn ang="0">
                  <a:pos x="4" y="6"/>
                </a:cxn>
                <a:cxn ang="0">
                  <a:pos x="34" y="0"/>
                </a:cxn>
              </a:cxnLst>
              <a:rect l="0" t="0" r="r" b="b"/>
              <a:pathLst>
                <a:path w="34" h="20">
                  <a:moveTo>
                    <a:pt x="34" y="0"/>
                  </a:moveTo>
                  <a:cubicBezTo>
                    <a:pt x="32" y="10"/>
                    <a:pt x="34" y="17"/>
                    <a:pt x="24" y="20"/>
                  </a:cubicBezTo>
                  <a:cubicBezTo>
                    <a:pt x="17" y="19"/>
                    <a:pt x="10" y="20"/>
                    <a:pt x="4" y="18"/>
                  </a:cubicBezTo>
                  <a:cubicBezTo>
                    <a:pt x="0" y="17"/>
                    <a:pt x="2" y="7"/>
                    <a:pt x="4" y="6"/>
                  </a:cubicBezTo>
                  <a:cubicBezTo>
                    <a:pt x="12" y="0"/>
                    <a:pt x="24" y="0"/>
                    <a:pt x="34"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4" name="Freeform 34"/>
            <p:cNvSpPr>
              <a:spLocks/>
            </p:cNvSpPr>
            <p:nvPr/>
          </p:nvSpPr>
          <p:spPr bwMode="invGray">
            <a:xfrm>
              <a:off x="1421" y="2756"/>
              <a:ext cx="16" cy="12"/>
            </a:xfrm>
            <a:custGeom>
              <a:avLst/>
              <a:gdLst/>
              <a:ahLst/>
              <a:cxnLst>
                <a:cxn ang="0">
                  <a:pos x="3" y="0"/>
                </a:cxn>
                <a:cxn ang="0">
                  <a:pos x="13" y="16"/>
                </a:cxn>
                <a:cxn ang="0">
                  <a:pos x="3" y="0"/>
                </a:cxn>
              </a:cxnLst>
              <a:rect l="0" t="0" r="r" b="b"/>
              <a:pathLst>
                <a:path w="21" h="16">
                  <a:moveTo>
                    <a:pt x="3" y="0"/>
                  </a:moveTo>
                  <a:cubicBezTo>
                    <a:pt x="0" y="9"/>
                    <a:pt x="6" y="11"/>
                    <a:pt x="13" y="16"/>
                  </a:cubicBezTo>
                  <a:cubicBezTo>
                    <a:pt x="21" y="4"/>
                    <a:pt x="16" y="2"/>
                    <a:pt x="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5" name="Freeform 35"/>
            <p:cNvSpPr>
              <a:spLocks/>
            </p:cNvSpPr>
            <p:nvPr/>
          </p:nvSpPr>
          <p:spPr bwMode="invGray">
            <a:xfrm>
              <a:off x="1424" y="2781"/>
              <a:ext cx="16" cy="12"/>
            </a:xfrm>
            <a:custGeom>
              <a:avLst/>
              <a:gdLst/>
              <a:ahLst/>
              <a:cxnLst>
                <a:cxn ang="0">
                  <a:pos x="3" y="0"/>
                </a:cxn>
                <a:cxn ang="0">
                  <a:pos x="13" y="16"/>
                </a:cxn>
                <a:cxn ang="0">
                  <a:pos x="3" y="0"/>
                </a:cxn>
              </a:cxnLst>
              <a:rect l="0" t="0" r="r" b="b"/>
              <a:pathLst>
                <a:path w="21" h="16">
                  <a:moveTo>
                    <a:pt x="3" y="0"/>
                  </a:moveTo>
                  <a:cubicBezTo>
                    <a:pt x="0" y="9"/>
                    <a:pt x="6" y="11"/>
                    <a:pt x="13" y="16"/>
                  </a:cubicBezTo>
                  <a:cubicBezTo>
                    <a:pt x="21" y="4"/>
                    <a:pt x="16" y="2"/>
                    <a:pt x="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6" name="Freeform 36"/>
            <p:cNvSpPr>
              <a:spLocks/>
            </p:cNvSpPr>
            <p:nvPr/>
          </p:nvSpPr>
          <p:spPr bwMode="invGray">
            <a:xfrm>
              <a:off x="1628" y="2913"/>
              <a:ext cx="15" cy="12"/>
            </a:xfrm>
            <a:custGeom>
              <a:avLst/>
              <a:gdLst/>
              <a:ahLst/>
              <a:cxnLst>
                <a:cxn ang="0">
                  <a:pos x="3" y="0"/>
                </a:cxn>
                <a:cxn ang="0">
                  <a:pos x="13" y="16"/>
                </a:cxn>
                <a:cxn ang="0">
                  <a:pos x="3" y="0"/>
                </a:cxn>
              </a:cxnLst>
              <a:rect l="0" t="0" r="r" b="b"/>
              <a:pathLst>
                <a:path w="21" h="16">
                  <a:moveTo>
                    <a:pt x="3" y="0"/>
                  </a:moveTo>
                  <a:cubicBezTo>
                    <a:pt x="0" y="9"/>
                    <a:pt x="6" y="11"/>
                    <a:pt x="13" y="16"/>
                  </a:cubicBezTo>
                  <a:cubicBezTo>
                    <a:pt x="21" y="4"/>
                    <a:pt x="16" y="2"/>
                    <a:pt x="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7" name="Freeform 37"/>
            <p:cNvSpPr>
              <a:spLocks/>
            </p:cNvSpPr>
            <p:nvPr/>
          </p:nvSpPr>
          <p:spPr bwMode="invGray">
            <a:xfrm>
              <a:off x="1752" y="2429"/>
              <a:ext cx="38" cy="18"/>
            </a:xfrm>
            <a:custGeom>
              <a:avLst/>
              <a:gdLst/>
              <a:ahLst/>
              <a:cxnLst>
                <a:cxn ang="0">
                  <a:pos x="13" y="0"/>
                </a:cxn>
                <a:cxn ang="0">
                  <a:pos x="7" y="18"/>
                </a:cxn>
                <a:cxn ang="0">
                  <a:pos x="27" y="24"/>
                </a:cxn>
                <a:cxn ang="0">
                  <a:pos x="33" y="4"/>
                </a:cxn>
                <a:cxn ang="0">
                  <a:pos x="13" y="0"/>
                </a:cxn>
              </a:cxnLst>
              <a:rect l="0" t="0" r="r" b="b"/>
              <a:pathLst>
                <a:path w="51" h="24">
                  <a:moveTo>
                    <a:pt x="13" y="0"/>
                  </a:moveTo>
                  <a:cubicBezTo>
                    <a:pt x="12" y="2"/>
                    <a:pt x="0" y="12"/>
                    <a:pt x="7" y="18"/>
                  </a:cubicBezTo>
                  <a:cubicBezTo>
                    <a:pt x="12" y="22"/>
                    <a:pt x="27" y="24"/>
                    <a:pt x="27" y="24"/>
                  </a:cubicBezTo>
                  <a:cubicBezTo>
                    <a:pt x="44" y="22"/>
                    <a:pt x="51" y="16"/>
                    <a:pt x="33" y="4"/>
                  </a:cubicBezTo>
                  <a:cubicBezTo>
                    <a:pt x="29" y="1"/>
                    <a:pt x="14" y="0"/>
                    <a:pt x="1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8" name="Freeform 38"/>
            <p:cNvSpPr>
              <a:spLocks/>
            </p:cNvSpPr>
            <p:nvPr/>
          </p:nvSpPr>
          <p:spPr bwMode="invGray">
            <a:xfrm>
              <a:off x="1652" y="2224"/>
              <a:ext cx="38" cy="18"/>
            </a:xfrm>
            <a:custGeom>
              <a:avLst/>
              <a:gdLst/>
              <a:ahLst/>
              <a:cxnLst>
                <a:cxn ang="0">
                  <a:pos x="13" y="0"/>
                </a:cxn>
                <a:cxn ang="0">
                  <a:pos x="7" y="18"/>
                </a:cxn>
                <a:cxn ang="0">
                  <a:pos x="27" y="24"/>
                </a:cxn>
                <a:cxn ang="0">
                  <a:pos x="33" y="4"/>
                </a:cxn>
                <a:cxn ang="0">
                  <a:pos x="13" y="0"/>
                </a:cxn>
              </a:cxnLst>
              <a:rect l="0" t="0" r="r" b="b"/>
              <a:pathLst>
                <a:path w="51" h="24">
                  <a:moveTo>
                    <a:pt x="13" y="0"/>
                  </a:moveTo>
                  <a:cubicBezTo>
                    <a:pt x="12" y="2"/>
                    <a:pt x="0" y="12"/>
                    <a:pt x="7" y="18"/>
                  </a:cubicBezTo>
                  <a:cubicBezTo>
                    <a:pt x="12" y="22"/>
                    <a:pt x="27" y="24"/>
                    <a:pt x="27" y="24"/>
                  </a:cubicBezTo>
                  <a:cubicBezTo>
                    <a:pt x="44" y="22"/>
                    <a:pt x="51" y="16"/>
                    <a:pt x="33" y="4"/>
                  </a:cubicBezTo>
                  <a:cubicBezTo>
                    <a:pt x="29" y="1"/>
                    <a:pt x="14" y="0"/>
                    <a:pt x="1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29" name="Freeform 39"/>
            <p:cNvSpPr>
              <a:spLocks/>
            </p:cNvSpPr>
            <p:nvPr/>
          </p:nvSpPr>
          <p:spPr bwMode="invGray">
            <a:xfrm>
              <a:off x="1717" y="2045"/>
              <a:ext cx="39" cy="18"/>
            </a:xfrm>
            <a:custGeom>
              <a:avLst/>
              <a:gdLst/>
              <a:ahLst/>
              <a:cxnLst>
                <a:cxn ang="0">
                  <a:pos x="13" y="0"/>
                </a:cxn>
                <a:cxn ang="0">
                  <a:pos x="7" y="18"/>
                </a:cxn>
                <a:cxn ang="0">
                  <a:pos x="27" y="24"/>
                </a:cxn>
                <a:cxn ang="0">
                  <a:pos x="33" y="4"/>
                </a:cxn>
                <a:cxn ang="0">
                  <a:pos x="13" y="0"/>
                </a:cxn>
              </a:cxnLst>
              <a:rect l="0" t="0" r="r" b="b"/>
              <a:pathLst>
                <a:path w="51" h="24">
                  <a:moveTo>
                    <a:pt x="13" y="0"/>
                  </a:moveTo>
                  <a:cubicBezTo>
                    <a:pt x="12" y="2"/>
                    <a:pt x="0" y="12"/>
                    <a:pt x="7" y="18"/>
                  </a:cubicBezTo>
                  <a:cubicBezTo>
                    <a:pt x="12" y="22"/>
                    <a:pt x="27" y="24"/>
                    <a:pt x="27" y="24"/>
                  </a:cubicBezTo>
                  <a:cubicBezTo>
                    <a:pt x="44" y="22"/>
                    <a:pt x="51" y="16"/>
                    <a:pt x="33" y="4"/>
                  </a:cubicBezTo>
                  <a:cubicBezTo>
                    <a:pt x="29" y="1"/>
                    <a:pt x="14" y="0"/>
                    <a:pt x="1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0" name="Freeform 40"/>
            <p:cNvSpPr>
              <a:spLocks/>
            </p:cNvSpPr>
            <p:nvPr/>
          </p:nvSpPr>
          <p:spPr bwMode="invGray">
            <a:xfrm>
              <a:off x="1780" y="2153"/>
              <a:ext cx="38" cy="18"/>
            </a:xfrm>
            <a:custGeom>
              <a:avLst/>
              <a:gdLst/>
              <a:ahLst/>
              <a:cxnLst>
                <a:cxn ang="0">
                  <a:pos x="13" y="0"/>
                </a:cxn>
                <a:cxn ang="0">
                  <a:pos x="7" y="18"/>
                </a:cxn>
                <a:cxn ang="0">
                  <a:pos x="27" y="24"/>
                </a:cxn>
                <a:cxn ang="0">
                  <a:pos x="33" y="4"/>
                </a:cxn>
                <a:cxn ang="0">
                  <a:pos x="13" y="0"/>
                </a:cxn>
              </a:cxnLst>
              <a:rect l="0" t="0" r="r" b="b"/>
              <a:pathLst>
                <a:path w="51" h="24">
                  <a:moveTo>
                    <a:pt x="13" y="0"/>
                  </a:moveTo>
                  <a:cubicBezTo>
                    <a:pt x="12" y="2"/>
                    <a:pt x="0" y="12"/>
                    <a:pt x="7" y="18"/>
                  </a:cubicBezTo>
                  <a:cubicBezTo>
                    <a:pt x="12" y="22"/>
                    <a:pt x="27" y="24"/>
                    <a:pt x="27" y="24"/>
                  </a:cubicBezTo>
                  <a:cubicBezTo>
                    <a:pt x="44" y="22"/>
                    <a:pt x="51" y="16"/>
                    <a:pt x="33" y="4"/>
                  </a:cubicBezTo>
                  <a:cubicBezTo>
                    <a:pt x="29" y="1"/>
                    <a:pt x="14" y="0"/>
                    <a:pt x="1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1" name="Freeform 41"/>
            <p:cNvSpPr>
              <a:spLocks/>
            </p:cNvSpPr>
            <p:nvPr/>
          </p:nvSpPr>
          <p:spPr bwMode="invGray">
            <a:xfrm>
              <a:off x="1796" y="1951"/>
              <a:ext cx="696" cy="346"/>
            </a:xfrm>
            <a:custGeom>
              <a:avLst/>
              <a:gdLst/>
              <a:ahLst/>
              <a:cxnLst>
                <a:cxn ang="0">
                  <a:pos x="28" y="56"/>
                </a:cxn>
                <a:cxn ang="0">
                  <a:pos x="6" y="92"/>
                </a:cxn>
                <a:cxn ang="0">
                  <a:pos x="36" y="100"/>
                </a:cxn>
                <a:cxn ang="0">
                  <a:pos x="16" y="116"/>
                </a:cxn>
                <a:cxn ang="0">
                  <a:pos x="104" y="136"/>
                </a:cxn>
                <a:cxn ang="0">
                  <a:pos x="142" y="130"/>
                </a:cxn>
                <a:cxn ang="0">
                  <a:pos x="250" y="78"/>
                </a:cxn>
                <a:cxn ang="0">
                  <a:pos x="300" y="66"/>
                </a:cxn>
                <a:cxn ang="0">
                  <a:pos x="324" y="80"/>
                </a:cxn>
                <a:cxn ang="0">
                  <a:pos x="272" y="88"/>
                </a:cxn>
                <a:cxn ang="0">
                  <a:pos x="242" y="112"/>
                </a:cxn>
                <a:cxn ang="0">
                  <a:pos x="254" y="120"/>
                </a:cxn>
                <a:cxn ang="0">
                  <a:pos x="260" y="158"/>
                </a:cxn>
                <a:cxn ang="0">
                  <a:pos x="350" y="192"/>
                </a:cxn>
                <a:cxn ang="0">
                  <a:pos x="336" y="210"/>
                </a:cxn>
                <a:cxn ang="0">
                  <a:pos x="368" y="246"/>
                </a:cxn>
                <a:cxn ang="0">
                  <a:pos x="348" y="266"/>
                </a:cxn>
                <a:cxn ang="0">
                  <a:pos x="324" y="294"/>
                </a:cxn>
                <a:cxn ang="0">
                  <a:pos x="294" y="324"/>
                </a:cxn>
                <a:cxn ang="0">
                  <a:pos x="292" y="420"/>
                </a:cxn>
                <a:cxn ang="0">
                  <a:pos x="332" y="446"/>
                </a:cxn>
                <a:cxn ang="0">
                  <a:pos x="388" y="448"/>
                </a:cxn>
                <a:cxn ang="0">
                  <a:pos x="412" y="422"/>
                </a:cxn>
                <a:cxn ang="0">
                  <a:pos x="506" y="356"/>
                </a:cxn>
                <a:cxn ang="0">
                  <a:pos x="572" y="334"/>
                </a:cxn>
                <a:cxn ang="0">
                  <a:pos x="646" y="308"/>
                </a:cxn>
                <a:cxn ang="0">
                  <a:pos x="720" y="290"/>
                </a:cxn>
                <a:cxn ang="0">
                  <a:pos x="762" y="260"/>
                </a:cxn>
                <a:cxn ang="0">
                  <a:pos x="800" y="200"/>
                </a:cxn>
                <a:cxn ang="0">
                  <a:pos x="802" y="154"/>
                </a:cxn>
                <a:cxn ang="0">
                  <a:pos x="802" y="124"/>
                </a:cxn>
                <a:cxn ang="0">
                  <a:pos x="832" y="90"/>
                </a:cxn>
                <a:cxn ang="0">
                  <a:pos x="876" y="94"/>
                </a:cxn>
                <a:cxn ang="0">
                  <a:pos x="922" y="52"/>
                </a:cxn>
                <a:cxn ang="0">
                  <a:pos x="888" y="56"/>
                </a:cxn>
                <a:cxn ang="0">
                  <a:pos x="848" y="46"/>
                </a:cxn>
                <a:cxn ang="0">
                  <a:pos x="794" y="22"/>
                </a:cxn>
                <a:cxn ang="0">
                  <a:pos x="642" y="26"/>
                </a:cxn>
                <a:cxn ang="0">
                  <a:pos x="584" y="38"/>
                </a:cxn>
                <a:cxn ang="0">
                  <a:pos x="556" y="38"/>
                </a:cxn>
                <a:cxn ang="0">
                  <a:pos x="516" y="54"/>
                </a:cxn>
                <a:cxn ang="0">
                  <a:pos x="478" y="30"/>
                </a:cxn>
                <a:cxn ang="0">
                  <a:pos x="432" y="40"/>
                </a:cxn>
                <a:cxn ang="0">
                  <a:pos x="366" y="52"/>
                </a:cxn>
                <a:cxn ang="0">
                  <a:pos x="410" y="38"/>
                </a:cxn>
                <a:cxn ang="0">
                  <a:pos x="352" y="8"/>
                </a:cxn>
                <a:cxn ang="0">
                  <a:pos x="334" y="2"/>
                </a:cxn>
                <a:cxn ang="0">
                  <a:pos x="314" y="8"/>
                </a:cxn>
                <a:cxn ang="0">
                  <a:pos x="240" y="16"/>
                </a:cxn>
                <a:cxn ang="0">
                  <a:pos x="160" y="28"/>
                </a:cxn>
                <a:cxn ang="0">
                  <a:pos x="108" y="26"/>
                </a:cxn>
                <a:cxn ang="0">
                  <a:pos x="114" y="68"/>
                </a:cxn>
                <a:cxn ang="0">
                  <a:pos x="104" y="52"/>
                </a:cxn>
                <a:cxn ang="0">
                  <a:pos x="60" y="42"/>
                </a:cxn>
              </a:cxnLst>
              <a:rect l="0" t="0" r="r" b="b"/>
              <a:pathLst>
                <a:path w="929" h="462">
                  <a:moveTo>
                    <a:pt x="60" y="42"/>
                  </a:moveTo>
                  <a:cubicBezTo>
                    <a:pt x="40" y="45"/>
                    <a:pt x="42" y="46"/>
                    <a:pt x="28" y="56"/>
                  </a:cubicBezTo>
                  <a:cubicBezTo>
                    <a:pt x="26" y="74"/>
                    <a:pt x="27" y="75"/>
                    <a:pt x="10" y="78"/>
                  </a:cubicBezTo>
                  <a:cubicBezTo>
                    <a:pt x="4" y="82"/>
                    <a:pt x="0" y="82"/>
                    <a:pt x="6" y="92"/>
                  </a:cubicBezTo>
                  <a:cubicBezTo>
                    <a:pt x="10" y="98"/>
                    <a:pt x="21" y="96"/>
                    <a:pt x="28" y="98"/>
                  </a:cubicBezTo>
                  <a:cubicBezTo>
                    <a:pt x="31" y="99"/>
                    <a:pt x="36" y="100"/>
                    <a:pt x="36" y="100"/>
                  </a:cubicBezTo>
                  <a:cubicBezTo>
                    <a:pt x="47" y="99"/>
                    <a:pt x="69" y="97"/>
                    <a:pt x="50" y="110"/>
                  </a:cubicBezTo>
                  <a:cubicBezTo>
                    <a:pt x="37" y="108"/>
                    <a:pt x="24" y="104"/>
                    <a:pt x="16" y="116"/>
                  </a:cubicBezTo>
                  <a:cubicBezTo>
                    <a:pt x="24" y="141"/>
                    <a:pt x="68" y="125"/>
                    <a:pt x="94" y="126"/>
                  </a:cubicBezTo>
                  <a:cubicBezTo>
                    <a:pt x="98" y="129"/>
                    <a:pt x="100" y="134"/>
                    <a:pt x="104" y="136"/>
                  </a:cubicBezTo>
                  <a:cubicBezTo>
                    <a:pt x="108" y="138"/>
                    <a:pt x="116" y="140"/>
                    <a:pt x="116" y="140"/>
                  </a:cubicBezTo>
                  <a:cubicBezTo>
                    <a:pt x="129" y="138"/>
                    <a:pt x="133" y="139"/>
                    <a:pt x="142" y="130"/>
                  </a:cubicBezTo>
                  <a:cubicBezTo>
                    <a:pt x="151" y="104"/>
                    <a:pt x="179" y="110"/>
                    <a:pt x="202" y="102"/>
                  </a:cubicBezTo>
                  <a:cubicBezTo>
                    <a:pt x="219" y="96"/>
                    <a:pt x="233" y="84"/>
                    <a:pt x="250" y="78"/>
                  </a:cubicBezTo>
                  <a:cubicBezTo>
                    <a:pt x="260" y="75"/>
                    <a:pt x="269" y="74"/>
                    <a:pt x="280" y="72"/>
                  </a:cubicBezTo>
                  <a:cubicBezTo>
                    <a:pt x="287" y="71"/>
                    <a:pt x="300" y="66"/>
                    <a:pt x="300" y="66"/>
                  </a:cubicBezTo>
                  <a:cubicBezTo>
                    <a:pt x="311" y="49"/>
                    <a:pt x="336" y="54"/>
                    <a:pt x="354" y="60"/>
                  </a:cubicBezTo>
                  <a:cubicBezTo>
                    <a:pt x="367" y="79"/>
                    <a:pt x="335" y="79"/>
                    <a:pt x="324" y="80"/>
                  </a:cubicBezTo>
                  <a:cubicBezTo>
                    <a:pt x="312" y="83"/>
                    <a:pt x="306" y="93"/>
                    <a:pt x="292" y="96"/>
                  </a:cubicBezTo>
                  <a:cubicBezTo>
                    <a:pt x="284" y="94"/>
                    <a:pt x="279" y="90"/>
                    <a:pt x="272" y="88"/>
                  </a:cubicBezTo>
                  <a:cubicBezTo>
                    <a:pt x="253" y="91"/>
                    <a:pt x="232" y="96"/>
                    <a:pt x="214" y="102"/>
                  </a:cubicBezTo>
                  <a:cubicBezTo>
                    <a:pt x="223" y="108"/>
                    <a:pt x="231" y="109"/>
                    <a:pt x="242" y="112"/>
                  </a:cubicBezTo>
                  <a:cubicBezTo>
                    <a:pt x="245" y="113"/>
                    <a:pt x="250" y="114"/>
                    <a:pt x="250" y="114"/>
                  </a:cubicBezTo>
                  <a:cubicBezTo>
                    <a:pt x="251" y="116"/>
                    <a:pt x="255" y="118"/>
                    <a:pt x="254" y="120"/>
                  </a:cubicBezTo>
                  <a:cubicBezTo>
                    <a:pt x="252" y="124"/>
                    <a:pt x="242" y="128"/>
                    <a:pt x="242" y="128"/>
                  </a:cubicBezTo>
                  <a:cubicBezTo>
                    <a:pt x="233" y="141"/>
                    <a:pt x="247" y="154"/>
                    <a:pt x="260" y="158"/>
                  </a:cubicBezTo>
                  <a:cubicBezTo>
                    <a:pt x="282" y="155"/>
                    <a:pt x="295" y="151"/>
                    <a:pt x="318" y="150"/>
                  </a:cubicBezTo>
                  <a:cubicBezTo>
                    <a:pt x="334" y="155"/>
                    <a:pt x="345" y="176"/>
                    <a:pt x="350" y="192"/>
                  </a:cubicBezTo>
                  <a:cubicBezTo>
                    <a:pt x="349" y="195"/>
                    <a:pt x="350" y="199"/>
                    <a:pt x="348" y="202"/>
                  </a:cubicBezTo>
                  <a:cubicBezTo>
                    <a:pt x="345" y="206"/>
                    <a:pt x="336" y="210"/>
                    <a:pt x="336" y="210"/>
                  </a:cubicBezTo>
                  <a:cubicBezTo>
                    <a:pt x="327" y="224"/>
                    <a:pt x="332" y="235"/>
                    <a:pt x="348" y="240"/>
                  </a:cubicBezTo>
                  <a:cubicBezTo>
                    <a:pt x="358" y="237"/>
                    <a:pt x="362" y="237"/>
                    <a:pt x="368" y="246"/>
                  </a:cubicBezTo>
                  <a:cubicBezTo>
                    <a:pt x="360" y="252"/>
                    <a:pt x="346" y="246"/>
                    <a:pt x="338" y="252"/>
                  </a:cubicBezTo>
                  <a:cubicBezTo>
                    <a:pt x="326" y="260"/>
                    <a:pt x="346" y="265"/>
                    <a:pt x="348" y="266"/>
                  </a:cubicBezTo>
                  <a:cubicBezTo>
                    <a:pt x="352" y="278"/>
                    <a:pt x="347" y="279"/>
                    <a:pt x="336" y="286"/>
                  </a:cubicBezTo>
                  <a:cubicBezTo>
                    <a:pt x="332" y="289"/>
                    <a:pt x="324" y="294"/>
                    <a:pt x="324" y="294"/>
                  </a:cubicBezTo>
                  <a:cubicBezTo>
                    <a:pt x="315" y="308"/>
                    <a:pt x="320" y="303"/>
                    <a:pt x="310" y="310"/>
                  </a:cubicBezTo>
                  <a:cubicBezTo>
                    <a:pt x="306" y="316"/>
                    <a:pt x="294" y="324"/>
                    <a:pt x="294" y="324"/>
                  </a:cubicBezTo>
                  <a:cubicBezTo>
                    <a:pt x="285" y="338"/>
                    <a:pt x="288" y="331"/>
                    <a:pt x="284" y="342"/>
                  </a:cubicBezTo>
                  <a:cubicBezTo>
                    <a:pt x="285" y="374"/>
                    <a:pt x="283" y="393"/>
                    <a:pt x="292" y="420"/>
                  </a:cubicBezTo>
                  <a:cubicBezTo>
                    <a:pt x="295" y="429"/>
                    <a:pt x="307" y="435"/>
                    <a:pt x="314" y="440"/>
                  </a:cubicBezTo>
                  <a:cubicBezTo>
                    <a:pt x="319" y="444"/>
                    <a:pt x="332" y="446"/>
                    <a:pt x="332" y="446"/>
                  </a:cubicBezTo>
                  <a:cubicBezTo>
                    <a:pt x="340" y="457"/>
                    <a:pt x="345" y="459"/>
                    <a:pt x="358" y="462"/>
                  </a:cubicBezTo>
                  <a:cubicBezTo>
                    <a:pt x="376" y="459"/>
                    <a:pt x="375" y="457"/>
                    <a:pt x="388" y="448"/>
                  </a:cubicBezTo>
                  <a:cubicBezTo>
                    <a:pt x="390" y="441"/>
                    <a:pt x="394" y="435"/>
                    <a:pt x="400" y="430"/>
                  </a:cubicBezTo>
                  <a:cubicBezTo>
                    <a:pt x="404" y="427"/>
                    <a:pt x="412" y="422"/>
                    <a:pt x="412" y="422"/>
                  </a:cubicBezTo>
                  <a:cubicBezTo>
                    <a:pt x="417" y="415"/>
                    <a:pt x="451" y="367"/>
                    <a:pt x="458" y="364"/>
                  </a:cubicBezTo>
                  <a:cubicBezTo>
                    <a:pt x="475" y="356"/>
                    <a:pt x="486" y="357"/>
                    <a:pt x="506" y="356"/>
                  </a:cubicBezTo>
                  <a:cubicBezTo>
                    <a:pt x="525" y="350"/>
                    <a:pt x="533" y="342"/>
                    <a:pt x="554" y="340"/>
                  </a:cubicBezTo>
                  <a:cubicBezTo>
                    <a:pt x="560" y="338"/>
                    <a:pt x="566" y="336"/>
                    <a:pt x="572" y="334"/>
                  </a:cubicBezTo>
                  <a:cubicBezTo>
                    <a:pt x="576" y="333"/>
                    <a:pt x="584" y="330"/>
                    <a:pt x="584" y="330"/>
                  </a:cubicBezTo>
                  <a:cubicBezTo>
                    <a:pt x="603" y="311"/>
                    <a:pt x="618" y="310"/>
                    <a:pt x="646" y="308"/>
                  </a:cubicBezTo>
                  <a:cubicBezTo>
                    <a:pt x="665" y="304"/>
                    <a:pt x="684" y="303"/>
                    <a:pt x="704" y="302"/>
                  </a:cubicBezTo>
                  <a:cubicBezTo>
                    <a:pt x="712" y="299"/>
                    <a:pt x="712" y="293"/>
                    <a:pt x="720" y="290"/>
                  </a:cubicBezTo>
                  <a:cubicBezTo>
                    <a:pt x="732" y="285"/>
                    <a:pt x="743" y="285"/>
                    <a:pt x="754" y="278"/>
                  </a:cubicBezTo>
                  <a:cubicBezTo>
                    <a:pt x="756" y="271"/>
                    <a:pt x="760" y="267"/>
                    <a:pt x="762" y="260"/>
                  </a:cubicBezTo>
                  <a:cubicBezTo>
                    <a:pt x="763" y="247"/>
                    <a:pt x="762" y="233"/>
                    <a:pt x="764" y="220"/>
                  </a:cubicBezTo>
                  <a:cubicBezTo>
                    <a:pt x="764" y="219"/>
                    <a:pt x="794" y="204"/>
                    <a:pt x="800" y="200"/>
                  </a:cubicBezTo>
                  <a:cubicBezTo>
                    <a:pt x="807" y="189"/>
                    <a:pt x="808" y="186"/>
                    <a:pt x="820" y="182"/>
                  </a:cubicBezTo>
                  <a:cubicBezTo>
                    <a:pt x="825" y="166"/>
                    <a:pt x="814" y="162"/>
                    <a:pt x="802" y="154"/>
                  </a:cubicBezTo>
                  <a:cubicBezTo>
                    <a:pt x="797" y="151"/>
                    <a:pt x="790" y="142"/>
                    <a:pt x="790" y="142"/>
                  </a:cubicBezTo>
                  <a:cubicBezTo>
                    <a:pt x="786" y="131"/>
                    <a:pt x="792" y="127"/>
                    <a:pt x="802" y="124"/>
                  </a:cubicBezTo>
                  <a:cubicBezTo>
                    <a:pt x="810" y="116"/>
                    <a:pt x="813" y="98"/>
                    <a:pt x="820" y="94"/>
                  </a:cubicBezTo>
                  <a:cubicBezTo>
                    <a:pt x="824" y="92"/>
                    <a:pt x="832" y="90"/>
                    <a:pt x="832" y="90"/>
                  </a:cubicBezTo>
                  <a:cubicBezTo>
                    <a:pt x="844" y="92"/>
                    <a:pt x="848" y="92"/>
                    <a:pt x="856" y="100"/>
                  </a:cubicBezTo>
                  <a:cubicBezTo>
                    <a:pt x="863" y="98"/>
                    <a:pt x="876" y="94"/>
                    <a:pt x="876" y="94"/>
                  </a:cubicBezTo>
                  <a:cubicBezTo>
                    <a:pt x="889" y="81"/>
                    <a:pt x="906" y="77"/>
                    <a:pt x="924" y="74"/>
                  </a:cubicBezTo>
                  <a:cubicBezTo>
                    <a:pt x="929" y="67"/>
                    <a:pt x="929" y="58"/>
                    <a:pt x="922" y="52"/>
                  </a:cubicBezTo>
                  <a:cubicBezTo>
                    <a:pt x="918" y="49"/>
                    <a:pt x="910" y="44"/>
                    <a:pt x="910" y="44"/>
                  </a:cubicBezTo>
                  <a:cubicBezTo>
                    <a:pt x="894" y="47"/>
                    <a:pt x="899" y="49"/>
                    <a:pt x="888" y="56"/>
                  </a:cubicBezTo>
                  <a:cubicBezTo>
                    <a:pt x="884" y="58"/>
                    <a:pt x="876" y="60"/>
                    <a:pt x="876" y="60"/>
                  </a:cubicBezTo>
                  <a:cubicBezTo>
                    <a:pt x="853" y="59"/>
                    <a:pt x="810" y="59"/>
                    <a:pt x="848" y="46"/>
                  </a:cubicBezTo>
                  <a:cubicBezTo>
                    <a:pt x="844" y="33"/>
                    <a:pt x="831" y="37"/>
                    <a:pt x="818" y="36"/>
                  </a:cubicBezTo>
                  <a:cubicBezTo>
                    <a:pt x="809" y="33"/>
                    <a:pt x="802" y="27"/>
                    <a:pt x="794" y="22"/>
                  </a:cubicBezTo>
                  <a:cubicBezTo>
                    <a:pt x="790" y="20"/>
                    <a:pt x="782" y="18"/>
                    <a:pt x="782" y="18"/>
                  </a:cubicBezTo>
                  <a:cubicBezTo>
                    <a:pt x="727" y="19"/>
                    <a:pt x="688" y="11"/>
                    <a:pt x="642" y="26"/>
                  </a:cubicBezTo>
                  <a:cubicBezTo>
                    <a:pt x="635" y="16"/>
                    <a:pt x="632" y="18"/>
                    <a:pt x="620" y="20"/>
                  </a:cubicBezTo>
                  <a:cubicBezTo>
                    <a:pt x="611" y="34"/>
                    <a:pt x="600" y="36"/>
                    <a:pt x="584" y="38"/>
                  </a:cubicBezTo>
                  <a:cubicBezTo>
                    <a:pt x="575" y="44"/>
                    <a:pt x="581" y="46"/>
                    <a:pt x="578" y="56"/>
                  </a:cubicBezTo>
                  <a:cubicBezTo>
                    <a:pt x="572" y="47"/>
                    <a:pt x="566" y="41"/>
                    <a:pt x="556" y="38"/>
                  </a:cubicBezTo>
                  <a:cubicBezTo>
                    <a:pt x="553" y="38"/>
                    <a:pt x="539" y="39"/>
                    <a:pt x="534" y="42"/>
                  </a:cubicBezTo>
                  <a:cubicBezTo>
                    <a:pt x="528" y="46"/>
                    <a:pt x="516" y="54"/>
                    <a:pt x="516" y="54"/>
                  </a:cubicBezTo>
                  <a:cubicBezTo>
                    <a:pt x="507" y="52"/>
                    <a:pt x="503" y="51"/>
                    <a:pt x="500" y="42"/>
                  </a:cubicBezTo>
                  <a:cubicBezTo>
                    <a:pt x="505" y="28"/>
                    <a:pt x="488" y="31"/>
                    <a:pt x="478" y="30"/>
                  </a:cubicBezTo>
                  <a:cubicBezTo>
                    <a:pt x="469" y="33"/>
                    <a:pt x="473" y="37"/>
                    <a:pt x="464" y="40"/>
                  </a:cubicBezTo>
                  <a:cubicBezTo>
                    <a:pt x="447" y="34"/>
                    <a:pt x="451" y="27"/>
                    <a:pt x="432" y="40"/>
                  </a:cubicBezTo>
                  <a:cubicBezTo>
                    <a:pt x="427" y="54"/>
                    <a:pt x="427" y="52"/>
                    <a:pt x="410" y="50"/>
                  </a:cubicBezTo>
                  <a:cubicBezTo>
                    <a:pt x="391" y="52"/>
                    <a:pt x="385" y="54"/>
                    <a:pt x="366" y="52"/>
                  </a:cubicBezTo>
                  <a:cubicBezTo>
                    <a:pt x="357" y="49"/>
                    <a:pt x="356" y="46"/>
                    <a:pt x="364" y="40"/>
                  </a:cubicBezTo>
                  <a:cubicBezTo>
                    <a:pt x="380" y="42"/>
                    <a:pt x="395" y="43"/>
                    <a:pt x="410" y="38"/>
                  </a:cubicBezTo>
                  <a:cubicBezTo>
                    <a:pt x="426" y="15"/>
                    <a:pt x="386" y="21"/>
                    <a:pt x="370" y="20"/>
                  </a:cubicBezTo>
                  <a:cubicBezTo>
                    <a:pt x="364" y="16"/>
                    <a:pt x="358" y="12"/>
                    <a:pt x="352" y="8"/>
                  </a:cubicBezTo>
                  <a:cubicBezTo>
                    <a:pt x="348" y="5"/>
                    <a:pt x="340" y="0"/>
                    <a:pt x="340" y="0"/>
                  </a:cubicBezTo>
                  <a:cubicBezTo>
                    <a:pt x="338" y="1"/>
                    <a:pt x="336" y="1"/>
                    <a:pt x="334" y="2"/>
                  </a:cubicBezTo>
                  <a:cubicBezTo>
                    <a:pt x="331" y="3"/>
                    <a:pt x="329" y="3"/>
                    <a:pt x="326" y="4"/>
                  </a:cubicBezTo>
                  <a:cubicBezTo>
                    <a:pt x="322" y="5"/>
                    <a:pt x="314" y="8"/>
                    <a:pt x="314" y="8"/>
                  </a:cubicBezTo>
                  <a:cubicBezTo>
                    <a:pt x="305" y="22"/>
                    <a:pt x="288" y="6"/>
                    <a:pt x="276" y="2"/>
                  </a:cubicBezTo>
                  <a:cubicBezTo>
                    <a:pt x="270" y="3"/>
                    <a:pt x="241" y="16"/>
                    <a:pt x="240" y="16"/>
                  </a:cubicBezTo>
                  <a:cubicBezTo>
                    <a:pt x="226" y="17"/>
                    <a:pt x="212" y="17"/>
                    <a:pt x="198" y="18"/>
                  </a:cubicBezTo>
                  <a:cubicBezTo>
                    <a:pt x="183" y="19"/>
                    <a:pt x="172" y="20"/>
                    <a:pt x="160" y="28"/>
                  </a:cubicBezTo>
                  <a:cubicBezTo>
                    <a:pt x="146" y="26"/>
                    <a:pt x="141" y="27"/>
                    <a:pt x="130" y="20"/>
                  </a:cubicBezTo>
                  <a:cubicBezTo>
                    <a:pt x="123" y="22"/>
                    <a:pt x="115" y="24"/>
                    <a:pt x="108" y="26"/>
                  </a:cubicBezTo>
                  <a:cubicBezTo>
                    <a:pt x="102" y="35"/>
                    <a:pt x="113" y="41"/>
                    <a:pt x="122" y="44"/>
                  </a:cubicBezTo>
                  <a:cubicBezTo>
                    <a:pt x="125" y="52"/>
                    <a:pt x="114" y="68"/>
                    <a:pt x="114" y="68"/>
                  </a:cubicBezTo>
                  <a:cubicBezTo>
                    <a:pt x="112" y="79"/>
                    <a:pt x="111" y="82"/>
                    <a:pt x="100" y="78"/>
                  </a:cubicBezTo>
                  <a:cubicBezTo>
                    <a:pt x="93" y="67"/>
                    <a:pt x="100" y="63"/>
                    <a:pt x="104" y="52"/>
                  </a:cubicBezTo>
                  <a:cubicBezTo>
                    <a:pt x="96" y="44"/>
                    <a:pt x="91" y="36"/>
                    <a:pt x="80" y="32"/>
                  </a:cubicBezTo>
                  <a:cubicBezTo>
                    <a:pt x="73" y="34"/>
                    <a:pt x="67" y="39"/>
                    <a:pt x="60" y="42"/>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2" name="Freeform 42"/>
            <p:cNvSpPr>
              <a:spLocks/>
            </p:cNvSpPr>
            <p:nvPr/>
          </p:nvSpPr>
          <p:spPr bwMode="invGray">
            <a:xfrm>
              <a:off x="2009" y="2135"/>
              <a:ext cx="39" cy="24"/>
            </a:xfrm>
            <a:custGeom>
              <a:avLst/>
              <a:gdLst/>
              <a:ahLst/>
              <a:cxnLst>
                <a:cxn ang="0">
                  <a:pos x="34" y="0"/>
                </a:cxn>
                <a:cxn ang="0">
                  <a:pos x="8" y="20"/>
                </a:cxn>
                <a:cxn ang="0">
                  <a:pos x="24" y="32"/>
                </a:cxn>
                <a:cxn ang="0">
                  <a:pos x="42" y="30"/>
                </a:cxn>
                <a:cxn ang="0">
                  <a:pos x="34" y="0"/>
                </a:cxn>
              </a:cxnLst>
              <a:rect l="0" t="0" r="r" b="b"/>
              <a:pathLst>
                <a:path w="52" h="32">
                  <a:moveTo>
                    <a:pt x="34" y="0"/>
                  </a:moveTo>
                  <a:cubicBezTo>
                    <a:pt x="30" y="12"/>
                    <a:pt x="19" y="16"/>
                    <a:pt x="8" y="20"/>
                  </a:cubicBezTo>
                  <a:cubicBezTo>
                    <a:pt x="0" y="32"/>
                    <a:pt x="14" y="31"/>
                    <a:pt x="24" y="32"/>
                  </a:cubicBezTo>
                  <a:cubicBezTo>
                    <a:pt x="30" y="31"/>
                    <a:pt x="36" y="32"/>
                    <a:pt x="42" y="30"/>
                  </a:cubicBezTo>
                  <a:cubicBezTo>
                    <a:pt x="52" y="26"/>
                    <a:pt x="34" y="3"/>
                    <a:pt x="34"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3" name="Freeform 43"/>
            <p:cNvSpPr>
              <a:spLocks/>
            </p:cNvSpPr>
            <p:nvPr/>
          </p:nvSpPr>
          <p:spPr bwMode="invGray">
            <a:xfrm>
              <a:off x="2292" y="2201"/>
              <a:ext cx="128" cy="54"/>
            </a:xfrm>
            <a:custGeom>
              <a:avLst/>
              <a:gdLst/>
              <a:ahLst/>
              <a:cxnLst>
                <a:cxn ang="0">
                  <a:pos x="102" y="8"/>
                </a:cxn>
                <a:cxn ang="0">
                  <a:pos x="66" y="4"/>
                </a:cxn>
                <a:cxn ang="0">
                  <a:pos x="54" y="0"/>
                </a:cxn>
                <a:cxn ang="0">
                  <a:pos x="0" y="28"/>
                </a:cxn>
                <a:cxn ang="0">
                  <a:pos x="28" y="40"/>
                </a:cxn>
                <a:cxn ang="0">
                  <a:pos x="42" y="60"/>
                </a:cxn>
                <a:cxn ang="0">
                  <a:pos x="66" y="68"/>
                </a:cxn>
                <a:cxn ang="0">
                  <a:pos x="78" y="72"/>
                </a:cxn>
                <a:cxn ang="0">
                  <a:pos x="130" y="60"/>
                </a:cxn>
                <a:cxn ang="0">
                  <a:pos x="172" y="44"/>
                </a:cxn>
                <a:cxn ang="0">
                  <a:pos x="148" y="18"/>
                </a:cxn>
                <a:cxn ang="0">
                  <a:pos x="136" y="4"/>
                </a:cxn>
                <a:cxn ang="0">
                  <a:pos x="102" y="8"/>
                </a:cxn>
              </a:cxnLst>
              <a:rect l="0" t="0" r="r" b="b"/>
              <a:pathLst>
                <a:path w="172" h="72">
                  <a:moveTo>
                    <a:pt x="102" y="8"/>
                  </a:moveTo>
                  <a:cubicBezTo>
                    <a:pt x="89" y="12"/>
                    <a:pt x="78" y="8"/>
                    <a:pt x="66" y="4"/>
                  </a:cubicBezTo>
                  <a:cubicBezTo>
                    <a:pt x="62" y="3"/>
                    <a:pt x="54" y="0"/>
                    <a:pt x="54" y="0"/>
                  </a:cubicBezTo>
                  <a:cubicBezTo>
                    <a:pt x="38" y="5"/>
                    <a:pt x="12" y="16"/>
                    <a:pt x="0" y="28"/>
                  </a:cubicBezTo>
                  <a:cubicBezTo>
                    <a:pt x="4" y="39"/>
                    <a:pt x="18" y="39"/>
                    <a:pt x="28" y="40"/>
                  </a:cubicBezTo>
                  <a:cubicBezTo>
                    <a:pt x="39" y="44"/>
                    <a:pt x="41" y="60"/>
                    <a:pt x="42" y="60"/>
                  </a:cubicBezTo>
                  <a:cubicBezTo>
                    <a:pt x="50" y="63"/>
                    <a:pt x="58" y="65"/>
                    <a:pt x="66" y="68"/>
                  </a:cubicBezTo>
                  <a:cubicBezTo>
                    <a:pt x="70" y="69"/>
                    <a:pt x="78" y="72"/>
                    <a:pt x="78" y="72"/>
                  </a:cubicBezTo>
                  <a:cubicBezTo>
                    <a:pt x="92" y="71"/>
                    <a:pt x="117" y="69"/>
                    <a:pt x="130" y="60"/>
                  </a:cubicBezTo>
                  <a:cubicBezTo>
                    <a:pt x="148" y="48"/>
                    <a:pt x="150" y="46"/>
                    <a:pt x="172" y="44"/>
                  </a:cubicBezTo>
                  <a:cubicBezTo>
                    <a:pt x="169" y="29"/>
                    <a:pt x="162" y="23"/>
                    <a:pt x="148" y="18"/>
                  </a:cubicBezTo>
                  <a:cubicBezTo>
                    <a:pt x="145" y="10"/>
                    <a:pt x="144" y="7"/>
                    <a:pt x="136" y="4"/>
                  </a:cubicBezTo>
                  <a:cubicBezTo>
                    <a:pt x="134" y="4"/>
                    <a:pt x="105" y="11"/>
                    <a:pt x="102" y="8"/>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4" name="Freeform 44"/>
            <p:cNvSpPr>
              <a:spLocks/>
            </p:cNvSpPr>
            <p:nvPr/>
          </p:nvSpPr>
          <p:spPr bwMode="invGray">
            <a:xfrm>
              <a:off x="2393" y="2038"/>
              <a:ext cx="39" cy="24"/>
            </a:xfrm>
            <a:custGeom>
              <a:avLst/>
              <a:gdLst/>
              <a:ahLst/>
              <a:cxnLst>
                <a:cxn ang="0">
                  <a:pos x="34" y="0"/>
                </a:cxn>
                <a:cxn ang="0">
                  <a:pos x="8" y="20"/>
                </a:cxn>
                <a:cxn ang="0">
                  <a:pos x="24" y="32"/>
                </a:cxn>
                <a:cxn ang="0">
                  <a:pos x="42" y="30"/>
                </a:cxn>
                <a:cxn ang="0">
                  <a:pos x="34" y="0"/>
                </a:cxn>
              </a:cxnLst>
              <a:rect l="0" t="0" r="r" b="b"/>
              <a:pathLst>
                <a:path w="52" h="32">
                  <a:moveTo>
                    <a:pt x="34" y="0"/>
                  </a:moveTo>
                  <a:cubicBezTo>
                    <a:pt x="30" y="12"/>
                    <a:pt x="19" y="16"/>
                    <a:pt x="8" y="20"/>
                  </a:cubicBezTo>
                  <a:cubicBezTo>
                    <a:pt x="0" y="32"/>
                    <a:pt x="14" y="31"/>
                    <a:pt x="24" y="32"/>
                  </a:cubicBezTo>
                  <a:cubicBezTo>
                    <a:pt x="30" y="31"/>
                    <a:pt x="36" y="32"/>
                    <a:pt x="42" y="30"/>
                  </a:cubicBezTo>
                  <a:cubicBezTo>
                    <a:pt x="52" y="26"/>
                    <a:pt x="34" y="3"/>
                    <a:pt x="34"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5" name="Freeform 45"/>
            <p:cNvSpPr>
              <a:spLocks/>
            </p:cNvSpPr>
            <p:nvPr/>
          </p:nvSpPr>
          <p:spPr bwMode="invGray">
            <a:xfrm>
              <a:off x="2662" y="2006"/>
              <a:ext cx="155" cy="63"/>
            </a:xfrm>
            <a:custGeom>
              <a:avLst/>
              <a:gdLst/>
              <a:ahLst/>
              <a:cxnLst>
                <a:cxn ang="0">
                  <a:pos x="191" y="7"/>
                </a:cxn>
                <a:cxn ang="0">
                  <a:pos x="103" y="9"/>
                </a:cxn>
                <a:cxn ang="0">
                  <a:pos x="109" y="25"/>
                </a:cxn>
                <a:cxn ang="0">
                  <a:pos x="107" y="33"/>
                </a:cxn>
                <a:cxn ang="0">
                  <a:pos x="89" y="27"/>
                </a:cxn>
                <a:cxn ang="0">
                  <a:pos x="77" y="19"/>
                </a:cxn>
                <a:cxn ang="0">
                  <a:pos x="23" y="27"/>
                </a:cxn>
                <a:cxn ang="0">
                  <a:pos x="31" y="49"/>
                </a:cxn>
                <a:cxn ang="0">
                  <a:pos x="55" y="53"/>
                </a:cxn>
                <a:cxn ang="0">
                  <a:pos x="75" y="73"/>
                </a:cxn>
                <a:cxn ang="0">
                  <a:pos x="89" y="85"/>
                </a:cxn>
                <a:cxn ang="0">
                  <a:pos x="109" y="67"/>
                </a:cxn>
                <a:cxn ang="0">
                  <a:pos x="121" y="59"/>
                </a:cxn>
                <a:cxn ang="0">
                  <a:pos x="127" y="47"/>
                </a:cxn>
                <a:cxn ang="0">
                  <a:pos x="167" y="35"/>
                </a:cxn>
                <a:cxn ang="0">
                  <a:pos x="187" y="31"/>
                </a:cxn>
                <a:cxn ang="0">
                  <a:pos x="199" y="27"/>
                </a:cxn>
                <a:cxn ang="0">
                  <a:pos x="191" y="7"/>
                </a:cxn>
              </a:cxnLst>
              <a:rect l="0" t="0" r="r" b="b"/>
              <a:pathLst>
                <a:path w="206" h="85">
                  <a:moveTo>
                    <a:pt x="191" y="7"/>
                  </a:moveTo>
                  <a:cubicBezTo>
                    <a:pt x="165" y="6"/>
                    <a:pt x="130" y="0"/>
                    <a:pt x="103" y="9"/>
                  </a:cubicBezTo>
                  <a:cubicBezTo>
                    <a:pt x="100" y="18"/>
                    <a:pt x="101" y="20"/>
                    <a:pt x="109" y="25"/>
                  </a:cubicBezTo>
                  <a:cubicBezTo>
                    <a:pt x="111" y="28"/>
                    <a:pt x="118" y="34"/>
                    <a:pt x="107" y="33"/>
                  </a:cubicBezTo>
                  <a:cubicBezTo>
                    <a:pt x="101" y="32"/>
                    <a:pt x="89" y="27"/>
                    <a:pt x="89" y="27"/>
                  </a:cubicBezTo>
                  <a:cubicBezTo>
                    <a:pt x="86" y="24"/>
                    <a:pt x="82" y="18"/>
                    <a:pt x="77" y="19"/>
                  </a:cubicBezTo>
                  <a:cubicBezTo>
                    <a:pt x="52" y="22"/>
                    <a:pt x="57" y="25"/>
                    <a:pt x="23" y="27"/>
                  </a:cubicBezTo>
                  <a:cubicBezTo>
                    <a:pt x="0" y="31"/>
                    <a:pt x="18" y="45"/>
                    <a:pt x="31" y="49"/>
                  </a:cubicBezTo>
                  <a:cubicBezTo>
                    <a:pt x="43" y="53"/>
                    <a:pt x="35" y="51"/>
                    <a:pt x="55" y="53"/>
                  </a:cubicBezTo>
                  <a:cubicBezTo>
                    <a:pt x="63" y="59"/>
                    <a:pt x="66" y="67"/>
                    <a:pt x="75" y="73"/>
                  </a:cubicBezTo>
                  <a:cubicBezTo>
                    <a:pt x="78" y="81"/>
                    <a:pt x="81" y="82"/>
                    <a:pt x="89" y="85"/>
                  </a:cubicBezTo>
                  <a:cubicBezTo>
                    <a:pt x="104" y="81"/>
                    <a:pt x="99" y="75"/>
                    <a:pt x="109" y="67"/>
                  </a:cubicBezTo>
                  <a:cubicBezTo>
                    <a:pt x="113" y="64"/>
                    <a:pt x="121" y="59"/>
                    <a:pt x="121" y="59"/>
                  </a:cubicBezTo>
                  <a:cubicBezTo>
                    <a:pt x="123" y="55"/>
                    <a:pt x="124" y="50"/>
                    <a:pt x="127" y="47"/>
                  </a:cubicBezTo>
                  <a:cubicBezTo>
                    <a:pt x="132" y="41"/>
                    <a:pt x="158" y="37"/>
                    <a:pt x="167" y="35"/>
                  </a:cubicBezTo>
                  <a:cubicBezTo>
                    <a:pt x="174" y="34"/>
                    <a:pt x="181" y="33"/>
                    <a:pt x="187" y="31"/>
                  </a:cubicBezTo>
                  <a:cubicBezTo>
                    <a:pt x="191" y="30"/>
                    <a:pt x="199" y="27"/>
                    <a:pt x="199" y="27"/>
                  </a:cubicBezTo>
                  <a:cubicBezTo>
                    <a:pt x="206" y="16"/>
                    <a:pt x="199" y="15"/>
                    <a:pt x="191" y="7"/>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6" name="Freeform 46"/>
            <p:cNvSpPr>
              <a:spLocks/>
            </p:cNvSpPr>
            <p:nvPr/>
          </p:nvSpPr>
          <p:spPr bwMode="invGray">
            <a:xfrm>
              <a:off x="2759" y="2039"/>
              <a:ext cx="48" cy="21"/>
            </a:xfrm>
            <a:custGeom>
              <a:avLst/>
              <a:gdLst/>
              <a:ahLst/>
              <a:cxnLst>
                <a:cxn ang="0">
                  <a:pos x="36" y="6"/>
                </a:cxn>
                <a:cxn ang="0">
                  <a:pos x="8" y="4"/>
                </a:cxn>
                <a:cxn ang="0">
                  <a:pos x="24" y="28"/>
                </a:cxn>
                <a:cxn ang="0">
                  <a:pos x="54" y="14"/>
                </a:cxn>
                <a:cxn ang="0">
                  <a:pos x="36" y="6"/>
                </a:cxn>
              </a:cxnLst>
              <a:rect l="0" t="0" r="r" b="b"/>
              <a:pathLst>
                <a:path w="64" h="28">
                  <a:moveTo>
                    <a:pt x="36" y="6"/>
                  </a:moveTo>
                  <a:cubicBezTo>
                    <a:pt x="32" y="18"/>
                    <a:pt x="19" y="0"/>
                    <a:pt x="8" y="4"/>
                  </a:cubicBezTo>
                  <a:cubicBezTo>
                    <a:pt x="0" y="16"/>
                    <a:pt x="14" y="27"/>
                    <a:pt x="24" y="28"/>
                  </a:cubicBezTo>
                  <a:cubicBezTo>
                    <a:pt x="30" y="27"/>
                    <a:pt x="48" y="16"/>
                    <a:pt x="54" y="14"/>
                  </a:cubicBezTo>
                  <a:cubicBezTo>
                    <a:pt x="64" y="10"/>
                    <a:pt x="36" y="9"/>
                    <a:pt x="36" y="6"/>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7" name="Freeform 47"/>
            <p:cNvSpPr>
              <a:spLocks/>
            </p:cNvSpPr>
            <p:nvPr/>
          </p:nvSpPr>
          <p:spPr bwMode="invGray">
            <a:xfrm>
              <a:off x="2467" y="2311"/>
              <a:ext cx="109" cy="132"/>
            </a:xfrm>
            <a:custGeom>
              <a:avLst/>
              <a:gdLst/>
              <a:ahLst/>
              <a:cxnLst>
                <a:cxn ang="0">
                  <a:pos x="24" y="19"/>
                </a:cxn>
                <a:cxn ang="0">
                  <a:pos x="0" y="25"/>
                </a:cxn>
                <a:cxn ang="0">
                  <a:pos x="14" y="43"/>
                </a:cxn>
                <a:cxn ang="0">
                  <a:pos x="34" y="87"/>
                </a:cxn>
                <a:cxn ang="0">
                  <a:pos x="52" y="91"/>
                </a:cxn>
                <a:cxn ang="0">
                  <a:pos x="50" y="107"/>
                </a:cxn>
                <a:cxn ang="0">
                  <a:pos x="28" y="113"/>
                </a:cxn>
                <a:cxn ang="0">
                  <a:pos x="16" y="131"/>
                </a:cxn>
                <a:cxn ang="0">
                  <a:pos x="18" y="137"/>
                </a:cxn>
                <a:cxn ang="0">
                  <a:pos x="30" y="141"/>
                </a:cxn>
                <a:cxn ang="0">
                  <a:pos x="18" y="169"/>
                </a:cxn>
                <a:cxn ang="0">
                  <a:pos x="20" y="175"/>
                </a:cxn>
                <a:cxn ang="0">
                  <a:pos x="34" y="171"/>
                </a:cxn>
                <a:cxn ang="0">
                  <a:pos x="58" y="169"/>
                </a:cxn>
                <a:cxn ang="0">
                  <a:pos x="92" y="171"/>
                </a:cxn>
                <a:cxn ang="0">
                  <a:pos x="110" y="169"/>
                </a:cxn>
                <a:cxn ang="0">
                  <a:pos x="122" y="165"/>
                </a:cxn>
                <a:cxn ang="0">
                  <a:pos x="128" y="141"/>
                </a:cxn>
                <a:cxn ang="0">
                  <a:pos x="146" y="133"/>
                </a:cxn>
                <a:cxn ang="0">
                  <a:pos x="110" y="109"/>
                </a:cxn>
                <a:cxn ang="0">
                  <a:pos x="88" y="83"/>
                </a:cxn>
                <a:cxn ang="0">
                  <a:pos x="82" y="69"/>
                </a:cxn>
                <a:cxn ang="0">
                  <a:pos x="64" y="61"/>
                </a:cxn>
                <a:cxn ang="0">
                  <a:pos x="86" y="45"/>
                </a:cxn>
                <a:cxn ang="0">
                  <a:pos x="64" y="31"/>
                </a:cxn>
                <a:cxn ang="0">
                  <a:pos x="70" y="13"/>
                </a:cxn>
                <a:cxn ang="0">
                  <a:pos x="46" y="1"/>
                </a:cxn>
                <a:cxn ang="0">
                  <a:pos x="30" y="9"/>
                </a:cxn>
                <a:cxn ang="0">
                  <a:pos x="24" y="19"/>
                </a:cxn>
              </a:cxnLst>
              <a:rect l="0" t="0" r="r" b="b"/>
              <a:pathLst>
                <a:path w="146" h="176">
                  <a:moveTo>
                    <a:pt x="24" y="19"/>
                  </a:moveTo>
                  <a:cubicBezTo>
                    <a:pt x="13" y="23"/>
                    <a:pt x="7" y="15"/>
                    <a:pt x="0" y="25"/>
                  </a:cubicBezTo>
                  <a:cubicBezTo>
                    <a:pt x="2" y="32"/>
                    <a:pt x="14" y="43"/>
                    <a:pt x="14" y="43"/>
                  </a:cubicBezTo>
                  <a:cubicBezTo>
                    <a:pt x="19" y="58"/>
                    <a:pt x="20" y="78"/>
                    <a:pt x="34" y="87"/>
                  </a:cubicBezTo>
                  <a:cubicBezTo>
                    <a:pt x="42" y="84"/>
                    <a:pt x="45" y="86"/>
                    <a:pt x="52" y="91"/>
                  </a:cubicBezTo>
                  <a:cubicBezTo>
                    <a:pt x="57" y="105"/>
                    <a:pt x="60" y="101"/>
                    <a:pt x="50" y="107"/>
                  </a:cubicBezTo>
                  <a:cubicBezTo>
                    <a:pt x="38" y="105"/>
                    <a:pt x="32" y="101"/>
                    <a:pt x="28" y="113"/>
                  </a:cubicBezTo>
                  <a:cubicBezTo>
                    <a:pt x="32" y="129"/>
                    <a:pt x="33" y="128"/>
                    <a:pt x="16" y="131"/>
                  </a:cubicBezTo>
                  <a:cubicBezTo>
                    <a:pt x="17" y="133"/>
                    <a:pt x="16" y="136"/>
                    <a:pt x="18" y="137"/>
                  </a:cubicBezTo>
                  <a:cubicBezTo>
                    <a:pt x="21" y="139"/>
                    <a:pt x="30" y="141"/>
                    <a:pt x="30" y="141"/>
                  </a:cubicBezTo>
                  <a:cubicBezTo>
                    <a:pt x="28" y="152"/>
                    <a:pt x="21" y="159"/>
                    <a:pt x="18" y="169"/>
                  </a:cubicBezTo>
                  <a:cubicBezTo>
                    <a:pt x="19" y="171"/>
                    <a:pt x="18" y="174"/>
                    <a:pt x="20" y="175"/>
                  </a:cubicBezTo>
                  <a:cubicBezTo>
                    <a:pt x="22" y="176"/>
                    <a:pt x="32" y="171"/>
                    <a:pt x="34" y="171"/>
                  </a:cubicBezTo>
                  <a:cubicBezTo>
                    <a:pt x="42" y="170"/>
                    <a:pt x="50" y="170"/>
                    <a:pt x="58" y="169"/>
                  </a:cubicBezTo>
                  <a:cubicBezTo>
                    <a:pt x="70" y="167"/>
                    <a:pt x="80" y="167"/>
                    <a:pt x="92" y="171"/>
                  </a:cubicBezTo>
                  <a:cubicBezTo>
                    <a:pt x="98" y="170"/>
                    <a:pt x="104" y="170"/>
                    <a:pt x="110" y="169"/>
                  </a:cubicBezTo>
                  <a:cubicBezTo>
                    <a:pt x="114" y="168"/>
                    <a:pt x="122" y="165"/>
                    <a:pt x="122" y="165"/>
                  </a:cubicBezTo>
                  <a:cubicBezTo>
                    <a:pt x="124" y="158"/>
                    <a:pt x="123" y="147"/>
                    <a:pt x="128" y="141"/>
                  </a:cubicBezTo>
                  <a:cubicBezTo>
                    <a:pt x="132" y="136"/>
                    <a:pt x="146" y="133"/>
                    <a:pt x="146" y="133"/>
                  </a:cubicBezTo>
                  <a:cubicBezTo>
                    <a:pt x="142" y="105"/>
                    <a:pt x="143" y="111"/>
                    <a:pt x="110" y="109"/>
                  </a:cubicBezTo>
                  <a:cubicBezTo>
                    <a:pt x="102" y="97"/>
                    <a:pt x="103" y="88"/>
                    <a:pt x="88" y="83"/>
                  </a:cubicBezTo>
                  <a:cubicBezTo>
                    <a:pt x="85" y="79"/>
                    <a:pt x="86" y="72"/>
                    <a:pt x="82" y="69"/>
                  </a:cubicBezTo>
                  <a:cubicBezTo>
                    <a:pt x="77" y="65"/>
                    <a:pt x="69" y="65"/>
                    <a:pt x="64" y="61"/>
                  </a:cubicBezTo>
                  <a:cubicBezTo>
                    <a:pt x="52" y="43"/>
                    <a:pt x="67" y="47"/>
                    <a:pt x="86" y="45"/>
                  </a:cubicBezTo>
                  <a:cubicBezTo>
                    <a:pt x="93" y="25"/>
                    <a:pt x="83" y="29"/>
                    <a:pt x="64" y="31"/>
                  </a:cubicBezTo>
                  <a:cubicBezTo>
                    <a:pt x="62" y="25"/>
                    <a:pt x="70" y="13"/>
                    <a:pt x="70" y="13"/>
                  </a:cubicBezTo>
                  <a:cubicBezTo>
                    <a:pt x="64" y="4"/>
                    <a:pt x="56" y="3"/>
                    <a:pt x="46" y="1"/>
                  </a:cubicBezTo>
                  <a:cubicBezTo>
                    <a:pt x="35" y="3"/>
                    <a:pt x="34" y="0"/>
                    <a:pt x="30" y="9"/>
                  </a:cubicBezTo>
                  <a:cubicBezTo>
                    <a:pt x="25" y="21"/>
                    <a:pt x="29" y="24"/>
                    <a:pt x="24" y="19"/>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8" name="Freeform 48"/>
            <p:cNvSpPr>
              <a:spLocks/>
            </p:cNvSpPr>
            <p:nvPr/>
          </p:nvSpPr>
          <p:spPr bwMode="invGray">
            <a:xfrm>
              <a:off x="2413" y="2359"/>
              <a:ext cx="69" cy="68"/>
            </a:xfrm>
            <a:custGeom>
              <a:avLst/>
              <a:gdLst/>
              <a:ahLst/>
              <a:cxnLst>
                <a:cxn ang="0">
                  <a:pos x="58" y="6"/>
                </a:cxn>
                <a:cxn ang="0">
                  <a:pos x="82" y="8"/>
                </a:cxn>
                <a:cxn ang="0">
                  <a:pos x="92" y="26"/>
                </a:cxn>
                <a:cxn ang="0">
                  <a:pos x="78" y="48"/>
                </a:cxn>
                <a:cxn ang="0">
                  <a:pos x="46" y="76"/>
                </a:cxn>
                <a:cxn ang="0">
                  <a:pos x="18" y="92"/>
                </a:cxn>
                <a:cxn ang="0">
                  <a:pos x="8" y="72"/>
                </a:cxn>
                <a:cxn ang="0">
                  <a:pos x="20" y="64"/>
                </a:cxn>
                <a:cxn ang="0">
                  <a:pos x="14" y="46"/>
                </a:cxn>
                <a:cxn ang="0">
                  <a:pos x="40" y="28"/>
                </a:cxn>
                <a:cxn ang="0">
                  <a:pos x="58" y="6"/>
                </a:cxn>
              </a:cxnLst>
              <a:rect l="0" t="0" r="r" b="b"/>
              <a:pathLst>
                <a:path w="92" h="92">
                  <a:moveTo>
                    <a:pt x="58" y="6"/>
                  </a:moveTo>
                  <a:cubicBezTo>
                    <a:pt x="67" y="0"/>
                    <a:pt x="73" y="2"/>
                    <a:pt x="82" y="8"/>
                  </a:cubicBezTo>
                  <a:cubicBezTo>
                    <a:pt x="91" y="22"/>
                    <a:pt x="88" y="15"/>
                    <a:pt x="92" y="26"/>
                  </a:cubicBezTo>
                  <a:cubicBezTo>
                    <a:pt x="89" y="36"/>
                    <a:pt x="82" y="37"/>
                    <a:pt x="78" y="48"/>
                  </a:cubicBezTo>
                  <a:cubicBezTo>
                    <a:pt x="85" y="69"/>
                    <a:pt x="60" y="71"/>
                    <a:pt x="46" y="76"/>
                  </a:cubicBezTo>
                  <a:cubicBezTo>
                    <a:pt x="40" y="86"/>
                    <a:pt x="28" y="86"/>
                    <a:pt x="18" y="92"/>
                  </a:cubicBezTo>
                  <a:cubicBezTo>
                    <a:pt x="9" y="90"/>
                    <a:pt x="0" y="84"/>
                    <a:pt x="8" y="72"/>
                  </a:cubicBezTo>
                  <a:cubicBezTo>
                    <a:pt x="11" y="68"/>
                    <a:pt x="20" y="64"/>
                    <a:pt x="20" y="64"/>
                  </a:cubicBezTo>
                  <a:cubicBezTo>
                    <a:pt x="23" y="55"/>
                    <a:pt x="21" y="53"/>
                    <a:pt x="14" y="46"/>
                  </a:cubicBezTo>
                  <a:cubicBezTo>
                    <a:pt x="18" y="30"/>
                    <a:pt x="28" y="36"/>
                    <a:pt x="40" y="28"/>
                  </a:cubicBezTo>
                  <a:cubicBezTo>
                    <a:pt x="56" y="17"/>
                    <a:pt x="50" y="24"/>
                    <a:pt x="58" y="6"/>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9" name="Freeform 49"/>
            <p:cNvSpPr>
              <a:spLocks/>
            </p:cNvSpPr>
            <p:nvPr/>
          </p:nvSpPr>
          <p:spPr bwMode="invGray">
            <a:xfrm>
              <a:off x="4099" y="3502"/>
              <a:ext cx="474" cy="495"/>
            </a:xfrm>
            <a:custGeom>
              <a:avLst/>
              <a:gdLst/>
              <a:ahLst/>
              <a:cxnLst>
                <a:cxn ang="0">
                  <a:pos x="212" y="11"/>
                </a:cxn>
                <a:cxn ang="0">
                  <a:pos x="176" y="19"/>
                </a:cxn>
                <a:cxn ang="0">
                  <a:pos x="144" y="51"/>
                </a:cxn>
                <a:cxn ang="0">
                  <a:pos x="104" y="59"/>
                </a:cxn>
                <a:cxn ang="0">
                  <a:pos x="84" y="75"/>
                </a:cxn>
                <a:cxn ang="0">
                  <a:pos x="68" y="115"/>
                </a:cxn>
                <a:cxn ang="0">
                  <a:pos x="36" y="167"/>
                </a:cxn>
                <a:cxn ang="0">
                  <a:pos x="0" y="179"/>
                </a:cxn>
                <a:cxn ang="0">
                  <a:pos x="72" y="323"/>
                </a:cxn>
                <a:cxn ang="0">
                  <a:pos x="120" y="427"/>
                </a:cxn>
                <a:cxn ang="0">
                  <a:pos x="144" y="443"/>
                </a:cxn>
                <a:cxn ang="0">
                  <a:pos x="168" y="451"/>
                </a:cxn>
                <a:cxn ang="0">
                  <a:pos x="228" y="431"/>
                </a:cxn>
                <a:cxn ang="0">
                  <a:pos x="252" y="423"/>
                </a:cxn>
                <a:cxn ang="0">
                  <a:pos x="300" y="451"/>
                </a:cxn>
                <a:cxn ang="0">
                  <a:pos x="324" y="527"/>
                </a:cxn>
                <a:cxn ang="0">
                  <a:pos x="336" y="523"/>
                </a:cxn>
                <a:cxn ang="0">
                  <a:pos x="344" y="511"/>
                </a:cxn>
                <a:cxn ang="0">
                  <a:pos x="368" y="547"/>
                </a:cxn>
                <a:cxn ang="0">
                  <a:pos x="404" y="571"/>
                </a:cxn>
                <a:cxn ang="0">
                  <a:pos x="436" y="603"/>
                </a:cxn>
                <a:cxn ang="0">
                  <a:pos x="444" y="615"/>
                </a:cxn>
                <a:cxn ang="0">
                  <a:pos x="456" y="623"/>
                </a:cxn>
                <a:cxn ang="0">
                  <a:pos x="484" y="655"/>
                </a:cxn>
                <a:cxn ang="0">
                  <a:pos x="492" y="631"/>
                </a:cxn>
                <a:cxn ang="0">
                  <a:pos x="540" y="659"/>
                </a:cxn>
                <a:cxn ang="0">
                  <a:pos x="588" y="655"/>
                </a:cxn>
                <a:cxn ang="0">
                  <a:pos x="616" y="531"/>
                </a:cxn>
                <a:cxn ang="0">
                  <a:pos x="632" y="463"/>
                </a:cxn>
                <a:cxn ang="0">
                  <a:pos x="620" y="367"/>
                </a:cxn>
                <a:cxn ang="0">
                  <a:pos x="536" y="271"/>
                </a:cxn>
                <a:cxn ang="0">
                  <a:pos x="528" y="235"/>
                </a:cxn>
                <a:cxn ang="0">
                  <a:pos x="460" y="179"/>
                </a:cxn>
                <a:cxn ang="0">
                  <a:pos x="472" y="155"/>
                </a:cxn>
                <a:cxn ang="0">
                  <a:pos x="456" y="131"/>
                </a:cxn>
                <a:cxn ang="0">
                  <a:pos x="416" y="79"/>
                </a:cxn>
                <a:cxn ang="0">
                  <a:pos x="392" y="31"/>
                </a:cxn>
                <a:cxn ang="0">
                  <a:pos x="388" y="19"/>
                </a:cxn>
                <a:cxn ang="0">
                  <a:pos x="364" y="151"/>
                </a:cxn>
                <a:cxn ang="0">
                  <a:pos x="324" y="115"/>
                </a:cxn>
                <a:cxn ang="0">
                  <a:pos x="292" y="111"/>
                </a:cxn>
                <a:cxn ang="0">
                  <a:pos x="272" y="87"/>
                </a:cxn>
                <a:cxn ang="0">
                  <a:pos x="264" y="63"/>
                </a:cxn>
                <a:cxn ang="0">
                  <a:pos x="276" y="55"/>
                </a:cxn>
                <a:cxn ang="0">
                  <a:pos x="240" y="19"/>
                </a:cxn>
                <a:cxn ang="0">
                  <a:pos x="216" y="11"/>
                </a:cxn>
                <a:cxn ang="0">
                  <a:pos x="204" y="7"/>
                </a:cxn>
                <a:cxn ang="0">
                  <a:pos x="212" y="11"/>
                </a:cxn>
              </a:cxnLst>
              <a:rect l="0" t="0" r="r" b="b"/>
              <a:pathLst>
                <a:path w="633" h="660">
                  <a:moveTo>
                    <a:pt x="212" y="11"/>
                  </a:moveTo>
                  <a:cubicBezTo>
                    <a:pt x="195" y="0"/>
                    <a:pt x="187" y="2"/>
                    <a:pt x="176" y="19"/>
                  </a:cubicBezTo>
                  <a:cubicBezTo>
                    <a:pt x="171" y="61"/>
                    <a:pt x="181" y="88"/>
                    <a:pt x="144" y="51"/>
                  </a:cubicBezTo>
                  <a:cubicBezTo>
                    <a:pt x="131" y="53"/>
                    <a:pt x="115" y="51"/>
                    <a:pt x="104" y="59"/>
                  </a:cubicBezTo>
                  <a:cubicBezTo>
                    <a:pt x="78" y="80"/>
                    <a:pt x="114" y="65"/>
                    <a:pt x="84" y="75"/>
                  </a:cubicBezTo>
                  <a:cubicBezTo>
                    <a:pt x="78" y="94"/>
                    <a:pt x="92" y="107"/>
                    <a:pt x="68" y="115"/>
                  </a:cubicBezTo>
                  <a:cubicBezTo>
                    <a:pt x="55" y="135"/>
                    <a:pt x="59" y="159"/>
                    <a:pt x="36" y="167"/>
                  </a:cubicBezTo>
                  <a:cubicBezTo>
                    <a:pt x="16" y="163"/>
                    <a:pt x="7" y="158"/>
                    <a:pt x="0" y="179"/>
                  </a:cubicBezTo>
                  <a:cubicBezTo>
                    <a:pt x="9" y="232"/>
                    <a:pt x="43" y="279"/>
                    <a:pt x="72" y="323"/>
                  </a:cubicBezTo>
                  <a:cubicBezTo>
                    <a:pt x="82" y="371"/>
                    <a:pt x="85" y="392"/>
                    <a:pt x="120" y="427"/>
                  </a:cubicBezTo>
                  <a:cubicBezTo>
                    <a:pt x="127" y="434"/>
                    <a:pt x="136" y="438"/>
                    <a:pt x="144" y="443"/>
                  </a:cubicBezTo>
                  <a:cubicBezTo>
                    <a:pt x="151" y="448"/>
                    <a:pt x="168" y="451"/>
                    <a:pt x="168" y="451"/>
                  </a:cubicBezTo>
                  <a:cubicBezTo>
                    <a:pt x="188" y="444"/>
                    <a:pt x="208" y="438"/>
                    <a:pt x="228" y="431"/>
                  </a:cubicBezTo>
                  <a:cubicBezTo>
                    <a:pt x="236" y="428"/>
                    <a:pt x="252" y="423"/>
                    <a:pt x="252" y="423"/>
                  </a:cubicBezTo>
                  <a:cubicBezTo>
                    <a:pt x="271" y="429"/>
                    <a:pt x="281" y="445"/>
                    <a:pt x="300" y="451"/>
                  </a:cubicBezTo>
                  <a:cubicBezTo>
                    <a:pt x="320" y="471"/>
                    <a:pt x="315" y="500"/>
                    <a:pt x="324" y="527"/>
                  </a:cubicBezTo>
                  <a:cubicBezTo>
                    <a:pt x="328" y="526"/>
                    <a:pt x="333" y="526"/>
                    <a:pt x="336" y="523"/>
                  </a:cubicBezTo>
                  <a:cubicBezTo>
                    <a:pt x="340" y="520"/>
                    <a:pt x="339" y="511"/>
                    <a:pt x="344" y="511"/>
                  </a:cubicBezTo>
                  <a:cubicBezTo>
                    <a:pt x="358" y="511"/>
                    <a:pt x="362" y="541"/>
                    <a:pt x="368" y="547"/>
                  </a:cubicBezTo>
                  <a:cubicBezTo>
                    <a:pt x="378" y="557"/>
                    <a:pt x="392" y="563"/>
                    <a:pt x="404" y="571"/>
                  </a:cubicBezTo>
                  <a:cubicBezTo>
                    <a:pt x="418" y="580"/>
                    <a:pt x="422" y="594"/>
                    <a:pt x="436" y="603"/>
                  </a:cubicBezTo>
                  <a:cubicBezTo>
                    <a:pt x="439" y="607"/>
                    <a:pt x="441" y="612"/>
                    <a:pt x="444" y="615"/>
                  </a:cubicBezTo>
                  <a:cubicBezTo>
                    <a:pt x="447" y="618"/>
                    <a:pt x="453" y="619"/>
                    <a:pt x="456" y="623"/>
                  </a:cubicBezTo>
                  <a:cubicBezTo>
                    <a:pt x="489" y="660"/>
                    <a:pt x="457" y="637"/>
                    <a:pt x="484" y="655"/>
                  </a:cubicBezTo>
                  <a:cubicBezTo>
                    <a:pt x="487" y="647"/>
                    <a:pt x="485" y="626"/>
                    <a:pt x="492" y="631"/>
                  </a:cubicBezTo>
                  <a:cubicBezTo>
                    <a:pt x="509" y="642"/>
                    <a:pt x="522" y="653"/>
                    <a:pt x="540" y="659"/>
                  </a:cubicBezTo>
                  <a:cubicBezTo>
                    <a:pt x="557" y="642"/>
                    <a:pt x="567" y="648"/>
                    <a:pt x="588" y="655"/>
                  </a:cubicBezTo>
                  <a:cubicBezTo>
                    <a:pt x="611" y="621"/>
                    <a:pt x="573" y="560"/>
                    <a:pt x="616" y="531"/>
                  </a:cubicBezTo>
                  <a:cubicBezTo>
                    <a:pt x="632" y="507"/>
                    <a:pt x="629" y="496"/>
                    <a:pt x="632" y="463"/>
                  </a:cubicBezTo>
                  <a:cubicBezTo>
                    <a:pt x="630" y="440"/>
                    <a:pt x="633" y="390"/>
                    <a:pt x="620" y="367"/>
                  </a:cubicBezTo>
                  <a:cubicBezTo>
                    <a:pt x="600" y="332"/>
                    <a:pt x="565" y="300"/>
                    <a:pt x="536" y="271"/>
                  </a:cubicBezTo>
                  <a:cubicBezTo>
                    <a:pt x="532" y="259"/>
                    <a:pt x="532" y="247"/>
                    <a:pt x="528" y="235"/>
                  </a:cubicBezTo>
                  <a:cubicBezTo>
                    <a:pt x="525" y="225"/>
                    <a:pt x="474" y="188"/>
                    <a:pt x="460" y="179"/>
                  </a:cubicBezTo>
                  <a:cubicBezTo>
                    <a:pt x="463" y="171"/>
                    <a:pt x="471" y="164"/>
                    <a:pt x="472" y="155"/>
                  </a:cubicBezTo>
                  <a:cubicBezTo>
                    <a:pt x="474" y="144"/>
                    <a:pt x="461" y="137"/>
                    <a:pt x="456" y="131"/>
                  </a:cubicBezTo>
                  <a:cubicBezTo>
                    <a:pt x="435" y="106"/>
                    <a:pt x="451" y="88"/>
                    <a:pt x="416" y="79"/>
                  </a:cubicBezTo>
                  <a:cubicBezTo>
                    <a:pt x="395" y="48"/>
                    <a:pt x="403" y="64"/>
                    <a:pt x="392" y="31"/>
                  </a:cubicBezTo>
                  <a:cubicBezTo>
                    <a:pt x="391" y="27"/>
                    <a:pt x="388" y="19"/>
                    <a:pt x="388" y="19"/>
                  </a:cubicBezTo>
                  <a:cubicBezTo>
                    <a:pt x="362" y="58"/>
                    <a:pt x="379" y="107"/>
                    <a:pt x="364" y="151"/>
                  </a:cubicBezTo>
                  <a:cubicBezTo>
                    <a:pt x="344" y="144"/>
                    <a:pt x="344" y="120"/>
                    <a:pt x="324" y="115"/>
                  </a:cubicBezTo>
                  <a:cubicBezTo>
                    <a:pt x="314" y="112"/>
                    <a:pt x="303" y="112"/>
                    <a:pt x="292" y="111"/>
                  </a:cubicBezTo>
                  <a:cubicBezTo>
                    <a:pt x="284" y="103"/>
                    <a:pt x="276" y="97"/>
                    <a:pt x="272" y="87"/>
                  </a:cubicBezTo>
                  <a:cubicBezTo>
                    <a:pt x="269" y="79"/>
                    <a:pt x="264" y="63"/>
                    <a:pt x="264" y="63"/>
                  </a:cubicBezTo>
                  <a:cubicBezTo>
                    <a:pt x="268" y="60"/>
                    <a:pt x="273" y="58"/>
                    <a:pt x="276" y="55"/>
                  </a:cubicBezTo>
                  <a:cubicBezTo>
                    <a:pt x="300" y="31"/>
                    <a:pt x="256" y="24"/>
                    <a:pt x="240" y="19"/>
                  </a:cubicBezTo>
                  <a:cubicBezTo>
                    <a:pt x="232" y="16"/>
                    <a:pt x="224" y="14"/>
                    <a:pt x="216" y="11"/>
                  </a:cubicBezTo>
                  <a:cubicBezTo>
                    <a:pt x="212" y="10"/>
                    <a:pt x="200" y="5"/>
                    <a:pt x="204" y="7"/>
                  </a:cubicBezTo>
                  <a:cubicBezTo>
                    <a:pt x="207" y="8"/>
                    <a:pt x="209" y="10"/>
                    <a:pt x="212" y="11"/>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0" name="Freeform 50"/>
            <p:cNvSpPr>
              <a:spLocks/>
            </p:cNvSpPr>
            <p:nvPr/>
          </p:nvSpPr>
          <p:spPr bwMode="invGray">
            <a:xfrm>
              <a:off x="4246" y="3241"/>
              <a:ext cx="319" cy="210"/>
            </a:xfrm>
            <a:custGeom>
              <a:avLst/>
              <a:gdLst/>
              <a:ahLst/>
              <a:cxnLst>
                <a:cxn ang="0">
                  <a:pos x="84" y="60"/>
                </a:cxn>
                <a:cxn ang="0">
                  <a:pos x="68" y="36"/>
                </a:cxn>
                <a:cxn ang="0">
                  <a:pos x="64" y="16"/>
                </a:cxn>
                <a:cxn ang="0">
                  <a:pos x="52" y="12"/>
                </a:cxn>
                <a:cxn ang="0">
                  <a:pos x="16" y="16"/>
                </a:cxn>
                <a:cxn ang="0">
                  <a:pos x="44" y="40"/>
                </a:cxn>
                <a:cxn ang="0">
                  <a:pos x="48" y="52"/>
                </a:cxn>
                <a:cxn ang="0">
                  <a:pos x="24" y="68"/>
                </a:cxn>
                <a:cxn ang="0">
                  <a:pos x="88" y="92"/>
                </a:cxn>
                <a:cxn ang="0">
                  <a:pos x="124" y="112"/>
                </a:cxn>
                <a:cxn ang="0">
                  <a:pos x="128" y="124"/>
                </a:cxn>
                <a:cxn ang="0">
                  <a:pos x="140" y="132"/>
                </a:cxn>
                <a:cxn ang="0">
                  <a:pos x="148" y="156"/>
                </a:cxn>
                <a:cxn ang="0">
                  <a:pos x="132" y="196"/>
                </a:cxn>
                <a:cxn ang="0">
                  <a:pos x="180" y="188"/>
                </a:cxn>
                <a:cxn ang="0">
                  <a:pos x="192" y="216"/>
                </a:cxn>
                <a:cxn ang="0">
                  <a:pos x="216" y="224"/>
                </a:cxn>
                <a:cxn ang="0">
                  <a:pos x="228" y="228"/>
                </a:cxn>
                <a:cxn ang="0">
                  <a:pos x="252" y="224"/>
                </a:cxn>
                <a:cxn ang="0">
                  <a:pos x="276" y="196"/>
                </a:cxn>
                <a:cxn ang="0">
                  <a:pos x="336" y="252"/>
                </a:cxn>
                <a:cxn ang="0">
                  <a:pos x="364" y="280"/>
                </a:cxn>
                <a:cxn ang="0">
                  <a:pos x="360" y="224"/>
                </a:cxn>
                <a:cxn ang="0">
                  <a:pos x="336" y="200"/>
                </a:cxn>
                <a:cxn ang="0">
                  <a:pos x="372" y="168"/>
                </a:cxn>
                <a:cxn ang="0">
                  <a:pos x="408" y="156"/>
                </a:cxn>
                <a:cxn ang="0">
                  <a:pos x="420" y="152"/>
                </a:cxn>
                <a:cxn ang="0">
                  <a:pos x="424" y="140"/>
                </a:cxn>
                <a:cxn ang="0">
                  <a:pos x="356" y="148"/>
                </a:cxn>
                <a:cxn ang="0">
                  <a:pos x="304" y="140"/>
                </a:cxn>
                <a:cxn ang="0">
                  <a:pos x="300" y="128"/>
                </a:cxn>
                <a:cxn ang="0">
                  <a:pos x="292" y="116"/>
                </a:cxn>
                <a:cxn ang="0">
                  <a:pos x="220" y="80"/>
                </a:cxn>
                <a:cxn ang="0">
                  <a:pos x="160" y="60"/>
                </a:cxn>
                <a:cxn ang="0">
                  <a:pos x="136" y="52"/>
                </a:cxn>
                <a:cxn ang="0">
                  <a:pos x="80" y="52"/>
                </a:cxn>
                <a:cxn ang="0">
                  <a:pos x="68" y="32"/>
                </a:cxn>
                <a:cxn ang="0">
                  <a:pos x="68" y="0"/>
                </a:cxn>
              </a:cxnLst>
              <a:rect l="0" t="0" r="r" b="b"/>
              <a:pathLst>
                <a:path w="426" h="280">
                  <a:moveTo>
                    <a:pt x="84" y="60"/>
                  </a:moveTo>
                  <a:cubicBezTo>
                    <a:pt x="79" y="52"/>
                    <a:pt x="70" y="45"/>
                    <a:pt x="68" y="36"/>
                  </a:cubicBezTo>
                  <a:cubicBezTo>
                    <a:pt x="67" y="29"/>
                    <a:pt x="68" y="22"/>
                    <a:pt x="64" y="16"/>
                  </a:cubicBezTo>
                  <a:cubicBezTo>
                    <a:pt x="62" y="12"/>
                    <a:pt x="56" y="13"/>
                    <a:pt x="52" y="12"/>
                  </a:cubicBezTo>
                  <a:cubicBezTo>
                    <a:pt x="40" y="13"/>
                    <a:pt x="27" y="11"/>
                    <a:pt x="16" y="16"/>
                  </a:cubicBezTo>
                  <a:cubicBezTo>
                    <a:pt x="0" y="24"/>
                    <a:pt x="43" y="40"/>
                    <a:pt x="44" y="40"/>
                  </a:cubicBezTo>
                  <a:cubicBezTo>
                    <a:pt x="45" y="44"/>
                    <a:pt x="50" y="49"/>
                    <a:pt x="48" y="52"/>
                  </a:cubicBezTo>
                  <a:cubicBezTo>
                    <a:pt x="42" y="60"/>
                    <a:pt x="24" y="68"/>
                    <a:pt x="24" y="68"/>
                  </a:cubicBezTo>
                  <a:cubicBezTo>
                    <a:pt x="38" y="88"/>
                    <a:pt x="65" y="89"/>
                    <a:pt x="88" y="92"/>
                  </a:cubicBezTo>
                  <a:cubicBezTo>
                    <a:pt x="101" y="96"/>
                    <a:pt x="124" y="112"/>
                    <a:pt x="124" y="112"/>
                  </a:cubicBezTo>
                  <a:cubicBezTo>
                    <a:pt x="125" y="116"/>
                    <a:pt x="125" y="121"/>
                    <a:pt x="128" y="124"/>
                  </a:cubicBezTo>
                  <a:cubicBezTo>
                    <a:pt x="131" y="128"/>
                    <a:pt x="137" y="128"/>
                    <a:pt x="140" y="132"/>
                  </a:cubicBezTo>
                  <a:cubicBezTo>
                    <a:pt x="144" y="139"/>
                    <a:pt x="148" y="156"/>
                    <a:pt x="148" y="156"/>
                  </a:cubicBezTo>
                  <a:cubicBezTo>
                    <a:pt x="144" y="171"/>
                    <a:pt x="137" y="181"/>
                    <a:pt x="132" y="196"/>
                  </a:cubicBezTo>
                  <a:cubicBezTo>
                    <a:pt x="151" y="209"/>
                    <a:pt x="167" y="207"/>
                    <a:pt x="180" y="188"/>
                  </a:cubicBezTo>
                  <a:cubicBezTo>
                    <a:pt x="182" y="196"/>
                    <a:pt x="184" y="211"/>
                    <a:pt x="192" y="216"/>
                  </a:cubicBezTo>
                  <a:cubicBezTo>
                    <a:pt x="199" y="220"/>
                    <a:pt x="208" y="221"/>
                    <a:pt x="216" y="224"/>
                  </a:cubicBezTo>
                  <a:cubicBezTo>
                    <a:pt x="220" y="225"/>
                    <a:pt x="228" y="228"/>
                    <a:pt x="228" y="228"/>
                  </a:cubicBezTo>
                  <a:cubicBezTo>
                    <a:pt x="236" y="227"/>
                    <a:pt x="245" y="228"/>
                    <a:pt x="252" y="224"/>
                  </a:cubicBezTo>
                  <a:cubicBezTo>
                    <a:pt x="269" y="216"/>
                    <a:pt x="252" y="204"/>
                    <a:pt x="276" y="196"/>
                  </a:cubicBezTo>
                  <a:cubicBezTo>
                    <a:pt x="296" y="209"/>
                    <a:pt x="322" y="231"/>
                    <a:pt x="336" y="252"/>
                  </a:cubicBezTo>
                  <a:cubicBezTo>
                    <a:pt x="354" y="280"/>
                    <a:pt x="343" y="273"/>
                    <a:pt x="364" y="280"/>
                  </a:cubicBezTo>
                  <a:cubicBezTo>
                    <a:pt x="376" y="262"/>
                    <a:pt x="375" y="241"/>
                    <a:pt x="360" y="224"/>
                  </a:cubicBezTo>
                  <a:cubicBezTo>
                    <a:pt x="352" y="216"/>
                    <a:pt x="336" y="200"/>
                    <a:pt x="336" y="200"/>
                  </a:cubicBezTo>
                  <a:cubicBezTo>
                    <a:pt x="323" y="162"/>
                    <a:pt x="322" y="174"/>
                    <a:pt x="372" y="168"/>
                  </a:cubicBezTo>
                  <a:cubicBezTo>
                    <a:pt x="384" y="164"/>
                    <a:pt x="396" y="160"/>
                    <a:pt x="408" y="156"/>
                  </a:cubicBezTo>
                  <a:cubicBezTo>
                    <a:pt x="412" y="155"/>
                    <a:pt x="420" y="152"/>
                    <a:pt x="420" y="152"/>
                  </a:cubicBezTo>
                  <a:cubicBezTo>
                    <a:pt x="421" y="148"/>
                    <a:pt x="426" y="144"/>
                    <a:pt x="424" y="140"/>
                  </a:cubicBezTo>
                  <a:cubicBezTo>
                    <a:pt x="420" y="131"/>
                    <a:pt x="365" y="146"/>
                    <a:pt x="356" y="148"/>
                  </a:cubicBezTo>
                  <a:cubicBezTo>
                    <a:pt x="339" y="146"/>
                    <a:pt x="316" y="152"/>
                    <a:pt x="304" y="140"/>
                  </a:cubicBezTo>
                  <a:cubicBezTo>
                    <a:pt x="301" y="137"/>
                    <a:pt x="302" y="132"/>
                    <a:pt x="300" y="128"/>
                  </a:cubicBezTo>
                  <a:cubicBezTo>
                    <a:pt x="298" y="124"/>
                    <a:pt x="296" y="119"/>
                    <a:pt x="292" y="116"/>
                  </a:cubicBezTo>
                  <a:cubicBezTo>
                    <a:pt x="272" y="98"/>
                    <a:pt x="244" y="91"/>
                    <a:pt x="220" y="80"/>
                  </a:cubicBezTo>
                  <a:cubicBezTo>
                    <a:pt x="201" y="72"/>
                    <a:pt x="180" y="67"/>
                    <a:pt x="160" y="60"/>
                  </a:cubicBezTo>
                  <a:cubicBezTo>
                    <a:pt x="152" y="57"/>
                    <a:pt x="136" y="52"/>
                    <a:pt x="136" y="52"/>
                  </a:cubicBezTo>
                  <a:cubicBezTo>
                    <a:pt x="113" y="55"/>
                    <a:pt x="98" y="64"/>
                    <a:pt x="80" y="52"/>
                  </a:cubicBezTo>
                  <a:cubicBezTo>
                    <a:pt x="70" y="38"/>
                    <a:pt x="74" y="44"/>
                    <a:pt x="68" y="32"/>
                  </a:cubicBezTo>
                  <a:lnTo>
                    <a:pt x="68" y="0"/>
                  </a:lnTo>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1" name="Freeform 51"/>
            <p:cNvSpPr>
              <a:spLocks/>
            </p:cNvSpPr>
            <p:nvPr/>
          </p:nvSpPr>
          <p:spPr bwMode="invGray">
            <a:xfrm>
              <a:off x="4255" y="3243"/>
              <a:ext cx="311" cy="211"/>
            </a:xfrm>
            <a:custGeom>
              <a:avLst/>
              <a:gdLst/>
              <a:ahLst/>
              <a:cxnLst>
                <a:cxn ang="0">
                  <a:pos x="0" y="1"/>
                </a:cxn>
                <a:cxn ang="0">
                  <a:pos x="20" y="37"/>
                </a:cxn>
                <a:cxn ang="0">
                  <a:pos x="28" y="49"/>
                </a:cxn>
                <a:cxn ang="0">
                  <a:pos x="84" y="89"/>
                </a:cxn>
                <a:cxn ang="0">
                  <a:pos x="120" y="113"/>
                </a:cxn>
                <a:cxn ang="0">
                  <a:pos x="132" y="121"/>
                </a:cxn>
                <a:cxn ang="0">
                  <a:pos x="136" y="169"/>
                </a:cxn>
                <a:cxn ang="0">
                  <a:pos x="116" y="201"/>
                </a:cxn>
                <a:cxn ang="0">
                  <a:pos x="136" y="197"/>
                </a:cxn>
                <a:cxn ang="0">
                  <a:pos x="148" y="189"/>
                </a:cxn>
                <a:cxn ang="0">
                  <a:pos x="160" y="201"/>
                </a:cxn>
                <a:cxn ang="0">
                  <a:pos x="184" y="217"/>
                </a:cxn>
                <a:cxn ang="0">
                  <a:pos x="208" y="233"/>
                </a:cxn>
                <a:cxn ang="0">
                  <a:pos x="240" y="221"/>
                </a:cxn>
                <a:cxn ang="0">
                  <a:pos x="248" y="197"/>
                </a:cxn>
                <a:cxn ang="0">
                  <a:pos x="268" y="201"/>
                </a:cxn>
                <a:cxn ang="0">
                  <a:pos x="292" y="209"/>
                </a:cxn>
                <a:cxn ang="0">
                  <a:pos x="340" y="281"/>
                </a:cxn>
                <a:cxn ang="0">
                  <a:pos x="356" y="277"/>
                </a:cxn>
                <a:cxn ang="0">
                  <a:pos x="352" y="253"/>
                </a:cxn>
                <a:cxn ang="0">
                  <a:pos x="316" y="197"/>
                </a:cxn>
                <a:cxn ang="0">
                  <a:pos x="360" y="173"/>
                </a:cxn>
                <a:cxn ang="0">
                  <a:pos x="408" y="145"/>
                </a:cxn>
                <a:cxn ang="0">
                  <a:pos x="409" y="120"/>
                </a:cxn>
                <a:cxn ang="0">
                  <a:pos x="367" y="138"/>
                </a:cxn>
                <a:cxn ang="0">
                  <a:pos x="308" y="137"/>
                </a:cxn>
                <a:cxn ang="0">
                  <a:pos x="264" y="97"/>
                </a:cxn>
                <a:cxn ang="0">
                  <a:pos x="180" y="61"/>
                </a:cxn>
                <a:cxn ang="0">
                  <a:pos x="132" y="33"/>
                </a:cxn>
                <a:cxn ang="0">
                  <a:pos x="92" y="41"/>
                </a:cxn>
                <a:cxn ang="0">
                  <a:pos x="76" y="57"/>
                </a:cxn>
                <a:cxn ang="0">
                  <a:pos x="56" y="17"/>
                </a:cxn>
                <a:cxn ang="0">
                  <a:pos x="0" y="1"/>
                </a:cxn>
              </a:cxnLst>
              <a:rect l="0" t="0" r="r" b="b"/>
              <a:pathLst>
                <a:path w="416" h="282">
                  <a:moveTo>
                    <a:pt x="0" y="1"/>
                  </a:moveTo>
                  <a:cubicBezTo>
                    <a:pt x="7" y="22"/>
                    <a:pt x="2" y="9"/>
                    <a:pt x="20" y="37"/>
                  </a:cubicBezTo>
                  <a:cubicBezTo>
                    <a:pt x="23" y="41"/>
                    <a:pt x="28" y="49"/>
                    <a:pt x="28" y="49"/>
                  </a:cubicBezTo>
                  <a:cubicBezTo>
                    <a:pt x="5" y="84"/>
                    <a:pt x="65" y="78"/>
                    <a:pt x="84" y="89"/>
                  </a:cubicBezTo>
                  <a:cubicBezTo>
                    <a:pt x="97" y="96"/>
                    <a:pt x="108" y="105"/>
                    <a:pt x="120" y="113"/>
                  </a:cubicBezTo>
                  <a:cubicBezTo>
                    <a:pt x="124" y="116"/>
                    <a:pt x="132" y="121"/>
                    <a:pt x="132" y="121"/>
                  </a:cubicBezTo>
                  <a:cubicBezTo>
                    <a:pt x="138" y="138"/>
                    <a:pt x="132" y="151"/>
                    <a:pt x="136" y="169"/>
                  </a:cubicBezTo>
                  <a:cubicBezTo>
                    <a:pt x="107" y="188"/>
                    <a:pt x="110" y="176"/>
                    <a:pt x="116" y="201"/>
                  </a:cubicBezTo>
                  <a:cubicBezTo>
                    <a:pt x="123" y="200"/>
                    <a:pt x="130" y="199"/>
                    <a:pt x="136" y="197"/>
                  </a:cubicBezTo>
                  <a:cubicBezTo>
                    <a:pt x="141" y="195"/>
                    <a:pt x="143" y="188"/>
                    <a:pt x="148" y="189"/>
                  </a:cubicBezTo>
                  <a:cubicBezTo>
                    <a:pt x="154" y="190"/>
                    <a:pt x="156" y="198"/>
                    <a:pt x="160" y="201"/>
                  </a:cubicBezTo>
                  <a:cubicBezTo>
                    <a:pt x="168" y="207"/>
                    <a:pt x="176" y="212"/>
                    <a:pt x="184" y="217"/>
                  </a:cubicBezTo>
                  <a:cubicBezTo>
                    <a:pt x="192" y="222"/>
                    <a:pt x="208" y="233"/>
                    <a:pt x="208" y="233"/>
                  </a:cubicBezTo>
                  <a:cubicBezTo>
                    <a:pt x="216" y="231"/>
                    <a:pt x="234" y="230"/>
                    <a:pt x="240" y="221"/>
                  </a:cubicBezTo>
                  <a:cubicBezTo>
                    <a:pt x="244" y="214"/>
                    <a:pt x="248" y="197"/>
                    <a:pt x="248" y="197"/>
                  </a:cubicBezTo>
                  <a:cubicBezTo>
                    <a:pt x="255" y="198"/>
                    <a:pt x="261" y="199"/>
                    <a:pt x="268" y="201"/>
                  </a:cubicBezTo>
                  <a:cubicBezTo>
                    <a:pt x="276" y="203"/>
                    <a:pt x="292" y="209"/>
                    <a:pt x="292" y="209"/>
                  </a:cubicBezTo>
                  <a:cubicBezTo>
                    <a:pt x="298" y="242"/>
                    <a:pt x="306" y="270"/>
                    <a:pt x="340" y="281"/>
                  </a:cubicBezTo>
                  <a:cubicBezTo>
                    <a:pt x="345" y="280"/>
                    <a:pt x="354" y="282"/>
                    <a:pt x="356" y="277"/>
                  </a:cubicBezTo>
                  <a:cubicBezTo>
                    <a:pt x="359" y="270"/>
                    <a:pt x="355" y="260"/>
                    <a:pt x="352" y="253"/>
                  </a:cubicBezTo>
                  <a:cubicBezTo>
                    <a:pt x="346" y="238"/>
                    <a:pt x="329" y="206"/>
                    <a:pt x="316" y="197"/>
                  </a:cubicBezTo>
                  <a:cubicBezTo>
                    <a:pt x="307" y="170"/>
                    <a:pt x="339" y="175"/>
                    <a:pt x="360" y="173"/>
                  </a:cubicBezTo>
                  <a:cubicBezTo>
                    <a:pt x="383" y="165"/>
                    <a:pt x="391" y="162"/>
                    <a:pt x="408" y="145"/>
                  </a:cubicBezTo>
                  <a:cubicBezTo>
                    <a:pt x="412" y="140"/>
                    <a:pt x="416" y="121"/>
                    <a:pt x="409" y="120"/>
                  </a:cubicBezTo>
                  <a:cubicBezTo>
                    <a:pt x="402" y="119"/>
                    <a:pt x="384" y="135"/>
                    <a:pt x="367" y="138"/>
                  </a:cubicBezTo>
                  <a:cubicBezTo>
                    <a:pt x="350" y="141"/>
                    <a:pt x="325" y="144"/>
                    <a:pt x="308" y="137"/>
                  </a:cubicBezTo>
                  <a:cubicBezTo>
                    <a:pt x="286" y="130"/>
                    <a:pt x="284" y="111"/>
                    <a:pt x="264" y="97"/>
                  </a:cubicBezTo>
                  <a:cubicBezTo>
                    <a:pt x="238" y="80"/>
                    <a:pt x="203" y="76"/>
                    <a:pt x="180" y="61"/>
                  </a:cubicBezTo>
                  <a:cubicBezTo>
                    <a:pt x="163" y="50"/>
                    <a:pt x="150" y="39"/>
                    <a:pt x="132" y="33"/>
                  </a:cubicBezTo>
                  <a:cubicBezTo>
                    <a:pt x="119" y="35"/>
                    <a:pt x="102" y="31"/>
                    <a:pt x="92" y="41"/>
                  </a:cubicBezTo>
                  <a:cubicBezTo>
                    <a:pt x="71" y="62"/>
                    <a:pt x="108" y="46"/>
                    <a:pt x="76" y="57"/>
                  </a:cubicBezTo>
                  <a:cubicBezTo>
                    <a:pt x="52" y="49"/>
                    <a:pt x="67" y="38"/>
                    <a:pt x="56" y="17"/>
                  </a:cubicBezTo>
                  <a:cubicBezTo>
                    <a:pt x="48" y="0"/>
                    <a:pt x="16" y="1"/>
                    <a:pt x="0" y="1"/>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2" name="Freeform 52"/>
            <p:cNvSpPr>
              <a:spLocks/>
            </p:cNvSpPr>
            <p:nvPr/>
          </p:nvSpPr>
          <p:spPr bwMode="invGray">
            <a:xfrm>
              <a:off x="4485" y="4013"/>
              <a:ext cx="45" cy="58"/>
            </a:xfrm>
            <a:custGeom>
              <a:avLst/>
              <a:gdLst/>
              <a:ahLst/>
              <a:cxnLst>
                <a:cxn ang="0">
                  <a:pos x="32" y="18"/>
                </a:cxn>
                <a:cxn ang="0">
                  <a:pos x="0" y="18"/>
                </a:cxn>
                <a:cxn ang="0">
                  <a:pos x="20" y="42"/>
                </a:cxn>
                <a:cxn ang="0">
                  <a:pos x="28" y="66"/>
                </a:cxn>
                <a:cxn ang="0">
                  <a:pos x="32" y="78"/>
                </a:cxn>
                <a:cxn ang="0">
                  <a:pos x="60" y="50"/>
                </a:cxn>
                <a:cxn ang="0">
                  <a:pos x="32" y="18"/>
                </a:cxn>
              </a:cxnLst>
              <a:rect l="0" t="0" r="r" b="b"/>
              <a:pathLst>
                <a:path w="60" h="78">
                  <a:moveTo>
                    <a:pt x="32" y="18"/>
                  </a:moveTo>
                  <a:cubicBezTo>
                    <a:pt x="16" y="7"/>
                    <a:pt x="12" y="0"/>
                    <a:pt x="0" y="18"/>
                  </a:cubicBezTo>
                  <a:cubicBezTo>
                    <a:pt x="6" y="27"/>
                    <a:pt x="15" y="33"/>
                    <a:pt x="20" y="42"/>
                  </a:cubicBezTo>
                  <a:cubicBezTo>
                    <a:pt x="24" y="49"/>
                    <a:pt x="25" y="58"/>
                    <a:pt x="28" y="66"/>
                  </a:cubicBezTo>
                  <a:cubicBezTo>
                    <a:pt x="29" y="70"/>
                    <a:pt x="32" y="78"/>
                    <a:pt x="32" y="78"/>
                  </a:cubicBezTo>
                  <a:cubicBezTo>
                    <a:pt x="52" y="73"/>
                    <a:pt x="54" y="69"/>
                    <a:pt x="60" y="50"/>
                  </a:cubicBezTo>
                  <a:cubicBezTo>
                    <a:pt x="54" y="32"/>
                    <a:pt x="50" y="27"/>
                    <a:pt x="32" y="18"/>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3" name="Freeform 53"/>
            <p:cNvSpPr>
              <a:spLocks/>
            </p:cNvSpPr>
            <p:nvPr/>
          </p:nvSpPr>
          <p:spPr bwMode="invGray">
            <a:xfrm>
              <a:off x="4621" y="3923"/>
              <a:ext cx="164" cy="85"/>
            </a:xfrm>
            <a:custGeom>
              <a:avLst/>
              <a:gdLst/>
              <a:ahLst/>
              <a:cxnLst>
                <a:cxn ang="0">
                  <a:pos x="47" y="73"/>
                </a:cxn>
                <a:cxn ang="0">
                  <a:pos x="39" y="61"/>
                </a:cxn>
                <a:cxn ang="0">
                  <a:pos x="15" y="69"/>
                </a:cxn>
                <a:cxn ang="0">
                  <a:pos x="39" y="113"/>
                </a:cxn>
                <a:cxn ang="0">
                  <a:pos x="123" y="89"/>
                </a:cxn>
                <a:cxn ang="0">
                  <a:pos x="147" y="73"/>
                </a:cxn>
                <a:cxn ang="0">
                  <a:pos x="171" y="65"/>
                </a:cxn>
                <a:cxn ang="0">
                  <a:pos x="219" y="19"/>
                </a:cxn>
                <a:cxn ang="0">
                  <a:pos x="210" y="0"/>
                </a:cxn>
                <a:cxn ang="0">
                  <a:pos x="179" y="17"/>
                </a:cxn>
                <a:cxn ang="0">
                  <a:pos x="107" y="41"/>
                </a:cxn>
                <a:cxn ang="0">
                  <a:pos x="83" y="45"/>
                </a:cxn>
                <a:cxn ang="0">
                  <a:pos x="59" y="53"/>
                </a:cxn>
                <a:cxn ang="0">
                  <a:pos x="47" y="73"/>
                </a:cxn>
              </a:cxnLst>
              <a:rect l="0" t="0" r="r" b="b"/>
              <a:pathLst>
                <a:path w="219" h="113">
                  <a:moveTo>
                    <a:pt x="47" y="73"/>
                  </a:moveTo>
                  <a:cubicBezTo>
                    <a:pt x="44" y="69"/>
                    <a:pt x="44" y="62"/>
                    <a:pt x="39" y="61"/>
                  </a:cubicBezTo>
                  <a:cubicBezTo>
                    <a:pt x="31" y="60"/>
                    <a:pt x="15" y="69"/>
                    <a:pt x="15" y="69"/>
                  </a:cubicBezTo>
                  <a:cubicBezTo>
                    <a:pt x="0" y="91"/>
                    <a:pt x="20" y="101"/>
                    <a:pt x="39" y="113"/>
                  </a:cubicBezTo>
                  <a:cubicBezTo>
                    <a:pt x="67" y="107"/>
                    <a:pt x="96" y="98"/>
                    <a:pt x="123" y="89"/>
                  </a:cubicBezTo>
                  <a:cubicBezTo>
                    <a:pt x="132" y="86"/>
                    <a:pt x="139" y="78"/>
                    <a:pt x="147" y="73"/>
                  </a:cubicBezTo>
                  <a:cubicBezTo>
                    <a:pt x="154" y="68"/>
                    <a:pt x="171" y="65"/>
                    <a:pt x="171" y="65"/>
                  </a:cubicBezTo>
                  <a:cubicBezTo>
                    <a:pt x="186" y="50"/>
                    <a:pt x="207" y="36"/>
                    <a:pt x="219" y="19"/>
                  </a:cubicBezTo>
                  <a:cubicBezTo>
                    <a:pt x="215" y="16"/>
                    <a:pt x="215" y="0"/>
                    <a:pt x="210" y="0"/>
                  </a:cubicBezTo>
                  <a:cubicBezTo>
                    <a:pt x="205" y="0"/>
                    <a:pt x="183" y="15"/>
                    <a:pt x="179" y="17"/>
                  </a:cubicBezTo>
                  <a:cubicBezTo>
                    <a:pt x="159" y="26"/>
                    <a:pt x="129" y="37"/>
                    <a:pt x="107" y="41"/>
                  </a:cubicBezTo>
                  <a:cubicBezTo>
                    <a:pt x="99" y="42"/>
                    <a:pt x="91" y="43"/>
                    <a:pt x="83" y="45"/>
                  </a:cubicBezTo>
                  <a:cubicBezTo>
                    <a:pt x="75" y="47"/>
                    <a:pt x="59" y="53"/>
                    <a:pt x="59" y="53"/>
                  </a:cubicBezTo>
                  <a:cubicBezTo>
                    <a:pt x="49" y="67"/>
                    <a:pt x="53" y="61"/>
                    <a:pt x="47" y="73"/>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4" name="Freeform 54"/>
            <p:cNvSpPr>
              <a:spLocks/>
            </p:cNvSpPr>
            <p:nvPr/>
          </p:nvSpPr>
          <p:spPr bwMode="invGray">
            <a:xfrm>
              <a:off x="4791" y="3873"/>
              <a:ext cx="104" cy="92"/>
            </a:xfrm>
            <a:custGeom>
              <a:avLst/>
              <a:gdLst/>
              <a:ahLst/>
              <a:cxnLst>
                <a:cxn ang="0">
                  <a:pos x="12" y="60"/>
                </a:cxn>
                <a:cxn ang="0">
                  <a:pos x="8" y="84"/>
                </a:cxn>
                <a:cxn ang="0">
                  <a:pos x="0" y="108"/>
                </a:cxn>
                <a:cxn ang="0">
                  <a:pos x="36" y="116"/>
                </a:cxn>
                <a:cxn ang="0">
                  <a:pos x="52" y="96"/>
                </a:cxn>
                <a:cxn ang="0">
                  <a:pos x="124" y="68"/>
                </a:cxn>
                <a:cxn ang="0">
                  <a:pos x="136" y="44"/>
                </a:cxn>
                <a:cxn ang="0">
                  <a:pos x="112" y="28"/>
                </a:cxn>
                <a:cxn ang="0">
                  <a:pos x="100" y="20"/>
                </a:cxn>
                <a:cxn ang="0">
                  <a:pos x="64" y="12"/>
                </a:cxn>
                <a:cxn ang="0">
                  <a:pos x="52" y="36"/>
                </a:cxn>
                <a:cxn ang="0">
                  <a:pos x="12" y="60"/>
                </a:cxn>
              </a:cxnLst>
              <a:rect l="0" t="0" r="r" b="b"/>
              <a:pathLst>
                <a:path w="139" h="122">
                  <a:moveTo>
                    <a:pt x="12" y="60"/>
                  </a:moveTo>
                  <a:cubicBezTo>
                    <a:pt x="11" y="68"/>
                    <a:pt x="10" y="76"/>
                    <a:pt x="8" y="84"/>
                  </a:cubicBezTo>
                  <a:cubicBezTo>
                    <a:pt x="6" y="92"/>
                    <a:pt x="0" y="108"/>
                    <a:pt x="0" y="108"/>
                  </a:cubicBezTo>
                  <a:cubicBezTo>
                    <a:pt x="14" y="118"/>
                    <a:pt x="19" y="122"/>
                    <a:pt x="36" y="116"/>
                  </a:cubicBezTo>
                  <a:cubicBezTo>
                    <a:pt x="46" y="86"/>
                    <a:pt x="31" y="122"/>
                    <a:pt x="52" y="96"/>
                  </a:cubicBezTo>
                  <a:cubicBezTo>
                    <a:pt x="83" y="57"/>
                    <a:pt x="30" y="74"/>
                    <a:pt x="124" y="68"/>
                  </a:cubicBezTo>
                  <a:cubicBezTo>
                    <a:pt x="125" y="67"/>
                    <a:pt x="139" y="48"/>
                    <a:pt x="136" y="44"/>
                  </a:cubicBezTo>
                  <a:cubicBezTo>
                    <a:pt x="130" y="36"/>
                    <a:pt x="120" y="33"/>
                    <a:pt x="112" y="28"/>
                  </a:cubicBezTo>
                  <a:cubicBezTo>
                    <a:pt x="108" y="25"/>
                    <a:pt x="100" y="20"/>
                    <a:pt x="100" y="20"/>
                  </a:cubicBezTo>
                  <a:cubicBezTo>
                    <a:pt x="89" y="4"/>
                    <a:pt x="92" y="0"/>
                    <a:pt x="64" y="12"/>
                  </a:cubicBezTo>
                  <a:cubicBezTo>
                    <a:pt x="57" y="15"/>
                    <a:pt x="55" y="30"/>
                    <a:pt x="52" y="36"/>
                  </a:cubicBezTo>
                  <a:cubicBezTo>
                    <a:pt x="46" y="49"/>
                    <a:pt x="26" y="60"/>
                    <a:pt x="12" y="6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5" name="Freeform 55"/>
            <p:cNvSpPr>
              <a:spLocks/>
            </p:cNvSpPr>
            <p:nvPr/>
          </p:nvSpPr>
          <p:spPr bwMode="invGray">
            <a:xfrm>
              <a:off x="4846" y="3832"/>
              <a:ext cx="37" cy="26"/>
            </a:xfrm>
            <a:custGeom>
              <a:avLst/>
              <a:gdLst/>
              <a:ahLst/>
              <a:cxnLst>
                <a:cxn ang="0">
                  <a:pos x="29" y="0"/>
                </a:cxn>
                <a:cxn ang="0">
                  <a:pos x="8" y="11"/>
                </a:cxn>
                <a:cxn ang="0">
                  <a:pos x="24" y="35"/>
                </a:cxn>
                <a:cxn ang="0">
                  <a:pos x="39" y="26"/>
                </a:cxn>
                <a:cxn ang="0">
                  <a:pos x="29" y="0"/>
                </a:cxn>
              </a:cxnLst>
              <a:rect l="0" t="0" r="r" b="b"/>
              <a:pathLst>
                <a:path w="49" h="35">
                  <a:moveTo>
                    <a:pt x="29" y="0"/>
                  </a:moveTo>
                  <a:cubicBezTo>
                    <a:pt x="25" y="12"/>
                    <a:pt x="19" y="7"/>
                    <a:pt x="8" y="11"/>
                  </a:cubicBezTo>
                  <a:cubicBezTo>
                    <a:pt x="0" y="23"/>
                    <a:pt x="14" y="34"/>
                    <a:pt x="24" y="35"/>
                  </a:cubicBezTo>
                  <a:cubicBezTo>
                    <a:pt x="30" y="34"/>
                    <a:pt x="33" y="28"/>
                    <a:pt x="39" y="26"/>
                  </a:cubicBezTo>
                  <a:cubicBezTo>
                    <a:pt x="49" y="22"/>
                    <a:pt x="29" y="3"/>
                    <a:pt x="29"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6" name="Freeform 56"/>
            <p:cNvSpPr>
              <a:spLocks/>
            </p:cNvSpPr>
            <p:nvPr/>
          </p:nvSpPr>
          <p:spPr bwMode="invGray">
            <a:xfrm>
              <a:off x="3123" y="3346"/>
              <a:ext cx="123" cy="201"/>
            </a:xfrm>
            <a:custGeom>
              <a:avLst/>
              <a:gdLst/>
              <a:ahLst/>
              <a:cxnLst>
                <a:cxn ang="0">
                  <a:pos x="128" y="0"/>
                </a:cxn>
                <a:cxn ang="0">
                  <a:pos x="104" y="28"/>
                </a:cxn>
                <a:cxn ang="0">
                  <a:pos x="88" y="64"/>
                </a:cxn>
                <a:cxn ang="0">
                  <a:pos x="36" y="84"/>
                </a:cxn>
                <a:cxn ang="0">
                  <a:pos x="28" y="96"/>
                </a:cxn>
                <a:cxn ang="0">
                  <a:pos x="16" y="100"/>
                </a:cxn>
                <a:cxn ang="0">
                  <a:pos x="20" y="132"/>
                </a:cxn>
                <a:cxn ang="0">
                  <a:pos x="28" y="156"/>
                </a:cxn>
                <a:cxn ang="0">
                  <a:pos x="0" y="200"/>
                </a:cxn>
                <a:cxn ang="0">
                  <a:pos x="28" y="260"/>
                </a:cxn>
                <a:cxn ang="0">
                  <a:pos x="52" y="268"/>
                </a:cxn>
                <a:cxn ang="0">
                  <a:pos x="88" y="216"/>
                </a:cxn>
                <a:cxn ang="0">
                  <a:pos x="104" y="192"/>
                </a:cxn>
                <a:cxn ang="0">
                  <a:pos x="128" y="116"/>
                </a:cxn>
                <a:cxn ang="0">
                  <a:pos x="140" y="76"/>
                </a:cxn>
                <a:cxn ang="0">
                  <a:pos x="164" y="72"/>
                </a:cxn>
                <a:cxn ang="0">
                  <a:pos x="128" y="0"/>
                </a:cxn>
              </a:cxnLst>
              <a:rect l="0" t="0" r="r" b="b"/>
              <a:pathLst>
                <a:path w="164" h="268">
                  <a:moveTo>
                    <a:pt x="128" y="0"/>
                  </a:moveTo>
                  <a:cubicBezTo>
                    <a:pt x="123" y="16"/>
                    <a:pt x="120" y="23"/>
                    <a:pt x="104" y="28"/>
                  </a:cubicBezTo>
                  <a:cubicBezTo>
                    <a:pt x="102" y="35"/>
                    <a:pt x="97" y="57"/>
                    <a:pt x="88" y="64"/>
                  </a:cubicBezTo>
                  <a:cubicBezTo>
                    <a:pt x="75" y="75"/>
                    <a:pt x="51" y="74"/>
                    <a:pt x="36" y="84"/>
                  </a:cubicBezTo>
                  <a:cubicBezTo>
                    <a:pt x="33" y="88"/>
                    <a:pt x="32" y="93"/>
                    <a:pt x="28" y="96"/>
                  </a:cubicBezTo>
                  <a:cubicBezTo>
                    <a:pt x="25" y="99"/>
                    <a:pt x="17" y="96"/>
                    <a:pt x="16" y="100"/>
                  </a:cubicBezTo>
                  <a:cubicBezTo>
                    <a:pt x="14" y="110"/>
                    <a:pt x="18" y="121"/>
                    <a:pt x="20" y="132"/>
                  </a:cubicBezTo>
                  <a:cubicBezTo>
                    <a:pt x="22" y="140"/>
                    <a:pt x="28" y="156"/>
                    <a:pt x="28" y="156"/>
                  </a:cubicBezTo>
                  <a:cubicBezTo>
                    <a:pt x="13" y="166"/>
                    <a:pt x="6" y="183"/>
                    <a:pt x="0" y="200"/>
                  </a:cubicBezTo>
                  <a:cubicBezTo>
                    <a:pt x="3" y="210"/>
                    <a:pt x="19" y="254"/>
                    <a:pt x="28" y="260"/>
                  </a:cubicBezTo>
                  <a:cubicBezTo>
                    <a:pt x="35" y="264"/>
                    <a:pt x="52" y="268"/>
                    <a:pt x="52" y="268"/>
                  </a:cubicBezTo>
                  <a:cubicBezTo>
                    <a:pt x="85" y="261"/>
                    <a:pt x="79" y="244"/>
                    <a:pt x="88" y="216"/>
                  </a:cubicBezTo>
                  <a:cubicBezTo>
                    <a:pt x="91" y="207"/>
                    <a:pt x="99" y="200"/>
                    <a:pt x="104" y="192"/>
                  </a:cubicBezTo>
                  <a:cubicBezTo>
                    <a:pt x="116" y="174"/>
                    <a:pt x="121" y="136"/>
                    <a:pt x="128" y="116"/>
                  </a:cubicBezTo>
                  <a:cubicBezTo>
                    <a:pt x="131" y="108"/>
                    <a:pt x="134" y="79"/>
                    <a:pt x="140" y="76"/>
                  </a:cubicBezTo>
                  <a:cubicBezTo>
                    <a:pt x="147" y="72"/>
                    <a:pt x="156" y="73"/>
                    <a:pt x="164" y="72"/>
                  </a:cubicBezTo>
                  <a:cubicBezTo>
                    <a:pt x="158" y="19"/>
                    <a:pt x="161" y="33"/>
                    <a:pt x="128"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7" name="Freeform 57"/>
            <p:cNvSpPr>
              <a:spLocks/>
            </p:cNvSpPr>
            <p:nvPr/>
          </p:nvSpPr>
          <p:spPr bwMode="invGray">
            <a:xfrm>
              <a:off x="3655" y="3034"/>
              <a:ext cx="49" cy="61"/>
            </a:xfrm>
            <a:custGeom>
              <a:avLst/>
              <a:gdLst/>
              <a:ahLst/>
              <a:cxnLst>
                <a:cxn ang="0">
                  <a:pos x="29" y="0"/>
                </a:cxn>
                <a:cxn ang="0">
                  <a:pos x="25" y="60"/>
                </a:cxn>
                <a:cxn ang="0">
                  <a:pos x="29" y="76"/>
                </a:cxn>
                <a:cxn ang="0">
                  <a:pos x="41" y="80"/>
                </a:cxn>
                <a:cxn ang="0">
                  <a:pos x="57" y="76"/>
                </a:cxn>
                <a:cxn ang="0">
                  <a:pos x="29" y="0"/>
                </a:cxn>
              </a:cxnLst>
              <a:rect l="0" t="0" r="r" b="b"/>
              <a:pathLst>
                <a:path w="66" h="81">
                  <a:moveTo>
                    <a:pt x="29" y="0"/>
                  </a:moveTo>
                  <a:cubicBezTo>
                    <a:pt x="0" y="10"/>
                    <a:pt x="20" y="38"/>
                    <a:pt x="25" y="60"/>
                  </a:cubicBezTo>
                  <a:cubicBezTo>
                    <a:pt x="26" y="65"/>
                    <a:pt x="26" y="72"/>
                    <a:pt x="29" y="76"/>
                  </a:cubicBezTo>
                  <a:cubicBezTo>
                    <a:pt x="32" y="79"/>
                    <a:pt x="37" y="79"/>
                    <a:pt x="41" y="80"/>
                  </a:cubicBezTo>
                  <a:cubicBezTo>
                    <a:pt x="46" y="79"/>
                    <a:pt x="55" y="81"/>
                    <a:pt x="57" y="76"/>
                  </a:cubicBezTo>
                  <a:cubicBezTo>
                    <a:pt x="66" y="53"/>
                    <a:pt x="45" y="16"/>
                    <a:pt x="29"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8" name="Freeform 58"/>
            <p:cNvSpPr>
              <a:spLocks/>
            </p:cNvSpPr>
            <p:nvPr/>
          </p:nvSpPr>
          <p:spPr bwMode="invGray">
            <a:xfrm>
              <a:off x="3988" y="3100"/>
              <a:ext cx="111" cy="183"/>
            </a:xfrm>
            <a:custGeom>
              <a:avLst/>
              <a:gdLst/>
              <a:ahLst/>
              <a:cxnLst>
                <a:cxn ang="0">
                  <a:pos x="96" y="0"/>
                </a:cxn>
                <a:cxn ang="0">
                  <a:pos x="60" y="84"/>
                </a:cxn>
                <a:cxn ang="0">
                  <a:pos x="36" y="92"/>
                </a:cxn>
                <a:cxn ang="0">
                  <a:pos x="12" y="108"/>
                </a:cxn>
                <a:cxn ang="0">
                  <a:pos x="40" y="188"/>
                </a:cxn>
                <a:cxn ang="0">
                  <a:pos x="52" y="224"/>
                </a:cxn>
                <a:cxn ang="0">
                  <a:pos x="60" y="236"/>
                </a:cxn>
                <a:cxn ang="0">
                  <a:pos x="84" y="244"/>
                </a:cxn>
                <a:cxn ang="0">
                  <a:pos x="96" y="196"/>
                </a:cxn>
                <a:cxn ang="0">
                  <a:pos x="124" y="168"/>
                </a:cxn>
                <a:cxn ang="0">
                  <a:pos x="112" y="68"/>
                </a:cxn>
                <a:cxn ang="0">
                  <a:pos x="140" y="48"/>
                </a:cxn>
                <a:cxn ang="0">
                  <a:pos x="112" y="20"/>
                </a:cxn>
                <a:cxn ang="0">
                  <a:pos x="96" y="0"/>
                </a:cxn>
              </a:cxnLst>
              <a:rect l="0" t="0" r="r" b="b"/>
              <a:pathLst>
                <a:path w="148" h="244">
                  <a:moveTo>
                    <a:pt x="96" y="0"/>
                  </a:moveTo>
                  <a:cubicBezTo>
                    <a:pt x="86" y="29"/>
                    <a:pt x="70" y="55"/>
                    <a:pt x="60" y="84"/>
                  </a:cubicBezTo>
                  <a:cubicBezTo>
                    <a:pt x="57" y="92"/>
                    <a:pt x="43" y="87"/>
                    <a:pt x="36" y="92"/>
                  </a:cubicBezTo>
                  <a:cubicBezTo>
                    <a:pt x="28" y="97"/>
                    <a:pt x="12" y="108"/>
                    <a:pt x="12" y="108"/>
                  </a:cubicBezTo>
                  <a:cubicBezTo>
                    <a:pt x="0" y="144"/>
                    <a:pt x="30" y="158"/>
                    <a:pt x="40" y="188"/>
                  </a:cubicBezTo>
                  <a:cubicBezTo>
                    <a:pt x="44" y="200"/>
                    <a:pt x="45" y="213"/>
                    <a:pt x="52" y="224"/>
                  </a:cubicBezTo>
                  <a:cubicBezTo>
                    <a:pt x="55" y="228"/>
                    <a:pt x="56" y="233"/>
                    <a:pt x="60" y="236"/>
                  </a:cubicBezTo>
                  <a:cubicBezTo>
                    <a:pt x="67" y="240"/>
                    <a:pt x="84" y="244"/>
                    <a:pt x="84" y="244"/>
                  </a:cubicBezTo>
                  <a:cubicBezTo>
                    <a:pt x="111" y="235"/>
                    <a:pt x="103" y="218"/>
                    <a:pt x="96" y="196"/>
                  </a:cubicBezTo>
                  <a:cubicBezTo>
                    <a:pt x="100" y="183"/>
                    <a:pt x="124" y="168"/>
                    <a:pt x="124" y="168"/>
                  </a:cubicBezTo>
                  <a:cubicBezTo>
                    <a:pt x="148" y="132"/>
                    <a:pt x="123" y="101"/>
                    <a:pt x="112" y="68"/>
                  </a:cubicBezTo>
                  <a:cubicBezTo>
                    <a:pt x="140" y="59"/>
                    <a:pt x="133" y="68"/>
                    <a:pt x="140" y="48"/>
                  </a:cubicBezTo>
                  <a:cubicBezTo>
                    <a:pt x="136" y="35"/>
                    <a:pt x="112" y="20"/>
                    <a:pt x="112" y="20"/>
                  </a:cubicBezTo>
                  <a:cubicBezTo>
                    <a:pt x="102" y="5"/>
                    <a:pt x="107" y="11"/>
                    <a:pt x="96"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9" name="Freeform 59"/>
            <p:cNvSpPr>
              <a:spLocks/>
            </p:cNvSpPr>
            <p:nvPr/>
          </p:nvSpPr>
          <p:spPr bwMode="invGray">
            <a:xfrm>
              <a:off x="3894" y="3043"/>
              <a:ext cx="72" cy="137"/>
            </a:xfrm>
            <a:custGeom>
              <a:avLst/>
              <a:gdLst/>
              <a:ahLst/>
              <a:cxnLst>
                <a:cxn ang="0">
                  <a:pos x="48" y="2"/>
                </a:cxn>
                <a:cxn ang="0">
                  <a:pos x="51" y="35"/>
                </a:cxn>
                <a:cxn ang="0">
                  <a:pos x="60" y="62"/>
                </a:cxn>
                <a:cxn ang="0">
                  <a:pos x="62" y="92"/>
                </a:cxn>
                <a:cxn ang="0">
                  <a:pos x="68" y="105"/>
                </a:cxn>
                <a:cxn ang="0">
                  <a:pos x="71" y="126"/>
                </a:cxn>
                <a:cxn ang="0">
                  <a:pos x="57" y="93"/>
                </a:cxn>
                <a:cxn ang="0">
                  <a:pos x="35" y="78"/>
                </a:cxn>
                <a:cxn ang="0">
                  <a:pos x="5" y="83"/>
                </a:cxn>
                <a:cxn ang="0">
                  <a:pos x="8" y="102"/>
                </a:cxn>
                <a:cxn ang="0">
                  <a:pos x="41" y="114"/>
                </a:cxn>
                <a:cxn ang="0">
                  <a:pos x="57" y="135"/>
                </a:cxn>
                <a:cxn ang="0">
                  <a:pos x="71" y="135"/>
                </a:cxn>
                <a:cxn ang="0">
                  <a:pos x="78" y="150"/>
                </a:cxn>
                <a:cxn ang="0">
                  <a:pos x="96" y="179"/>
                </a:cxn>
                <a:cxn ang="0">
                  <a:pos x="81" y="126"/>
                </a:cxn>
                <a:cxn ang="0">
                  <a:pos x="80" y="93"/>
                </a:cxn>
                <a:cxn ang="0">
                  <a:pos x="71" y="63"/>
                </a:cxn>
                <a:cxn ang="0">
                  <a:pos x="63" y="41"/>
                </a:cxn>
                <a:cxn ang="0">
                  <a:pos x="57" y="20"/>
                </a:cxn>
                <a:cxn ang="0">
                  <a:pos x="48" y="2"/>
                </a:cxn>
              </a:cxnLst>
              <a:rect l="0" t="0" r="r" b="b"/>
              <a:pathLst>
                <a:path w="96" h="183">
                  <a:moveTo>
                    <a:pt x="48" y="2"/>
                  </a:moveTo>
                  <a:cubicBezTo>
                    <a:pt x="47" y="4"/>
                    <a:pt x="49" y="25"/>
                    <a:pt x="51" y="35"/>
                  </a:cubicBezTo>
                  <a:cubicBezTo>
                    <a:pt x="53" y="45"/>
                    <a:pt x="58" y="53"/>
                    <a:pt x="60" y="62"/>
                  </a:cubicBezTo>
                  <a:cubicBezTo>
                    <a:pt x="62" y="71"/>
                    <a:pt x="61" y="85"/>
                    <a:pt x="62" y="92"/>
                  </a:cubicBezTo>
                  <a:cubicBezTo>
                    <a:pt x="63" y="99"/>
                    <a:pt x="67" y="99"/>
                    <a:pt x="68" y="105"/>
                  </a:cubicBezTo>
                  <a:cubicBezTo>
                    <a:pt x="69" y="111"/>
                    <a:pt x="73" y="128"/>
                    <a:pt x="71" y="126"/>
                  </a:cubicBezTo>
                  <a:cubicBezTo>
                    <a:pt x="69" y="124"/>
                    <a:pt x="63" y="101"/>
                    <a:pt x="57" y="93"/>
                  </a:cubicBezTo>
                  <a:cubicBezTo>
                    <a:pt x="51" y="85"/>
                    <a:pt x="44" y="80"/>
                    <a:pt x="35" y="78"/>
                  </a:cubicBezTo>
                  <a:cubicBezTo>
                    <a:pt x="26" y="76"/>
                    <a:pt x="10" y="79"/>
                    <a:pt x="5" y="83"/>
                  </a:cubicBezTo>
                  <a:cubicBezTo>
                    <a:pt x="0" y="87"/>
                    <a:pt x="2" y="97"/>
                    <a:pt x="8" y="102"/>
                  </a:cubicBezTo>
                  <a:cubicBezTo>
                    <a:pt x="14" y="107"/>
                    <a:pt x="33" y="109"/>
                    <a:pt x="41" y="114"/>
                  </a:cubicBezTo>
                  <a:cubicBezTo>
                    <a:pt x="49" y="119"/>
                    <a:pt x="52" y="132"/>
                    <a:pt x="57" y="135"/>
                  </a:cubicBezTo>
                  <a:cubicBezTo>
                    <a:pt x="62" y="138"/>
                    <a:pt x="68" y="133"/>
                    <a:pt x="71" y="135"/>
                  </a:cubicBezTo>
                  <a:cubicBezTo>
                    <a:pt x="74" y="137"/>
                    <a:pt x="74" y="143"/>
                    <a:pt x="78" y="150"/>
                  </a:cubicBezTo>
                  <a:cubicBezTo>
                    <a:pt x="82" y="157"/>
                    <a:pt x="96" y="183"/>
                    <a:pt x="96" y="179"/>
                  </a:cubicBezTo>
                  <a:cubicBezTo>
                    <a:pt x="96" y="175"/>
                    <a:pt x="84" y="140"/>
                    <a:pt x="81" y="126"/>
                  </a:cubicBezTo>
                  <a:cubicBezTo>
                    <a:pt x="78" y="112"/>
                    <a:pt x="82" y="104"/>
                    <a:pt x="80" y="93"/>
                  </a:cubicBezTo>
                  <a:cubicBezTo>
                    <a:pt x="78" y="82"/>
                    <a:pt x="74" y="72"/>
                    <a:pt x="71" y="63"/>
                  </a:cubicBezTo>
                  <a:cubicBezTo>
                    <a:pt x="68" y="54"/>
                    <a:pt x="65" y="48"/>
                    <a:pt x="63" y="41"/>
                  </a:cubicBezTo>
                  <a:cubicBezTo>
                    <a:pt x="61" y="34"/>
                    <a:pt x="59" y="26"/>
                    <a:pt x="57" y="20"/>
                  </a:cubicBezTo>
                  <a:cubicBezTo>
                    <a:pt x="55" y="14"/>
                    <a:pt x="49" y="0"/>
                    <a:pt x="48" y="2"/>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0" name="Freeform 60"/>
            <p:cNvSpPr>
              <a:spLocks/>
            </p:cNvSpPr>
            <p:nvPr/>
          </p:nvSpPr>
          <p:spPr bwMode="invGray">
            <a:xfrm>
              <a:off x="3943" y="3153"/>
              <a:ext cx="40" cy="131"/>
            </a:xfrm>
            <a:custGeom>
              <a:avLst/>
              <a:gdLst/>
              <a:ahLst/>
              <a:cxnLst>
                <a:cxn ang="0">
                  <a:pos x="6" y="0"/>
                </a:cxn>
                <a:cxn ang="0">
                  <a:pos x="0" y="25"/>
                </a:cxn>
                <a:cxn ang="0">
                  <a:pos x="9" y="54"/>
                </a:cxn>
                <a:cxn ang="0">
                  <a:pos x="18" y="94"/>
                </a:cxn>
                <a:cxn ang="0">
                  <a:pos x="34" y="129"/>
                </a:cxn>
                <a:cxn ang="0">
                  <a:pos x="54" y="175"/>
                </a:cxn>
                <a:cxn ang="0">
                  <a:pos x="40" y="115"/>
                </a:cxn>
                <a:cxn ang="0">
                  <a:pos x="34" y="93"/>
                </a:cxn>
                <a:cxn ang="0">
                  <a:pos x="28" y="61"/>
                </a:cxn>
                <a:cxn ang="0">
                  <a:pos x="25" y="46"/>
                </a:cxn>
                <a:cxn ang="0">
                  <a:pos x="16" y="37"/>
                </a:cxn>
                <a:cxn ang="0">
                  <a:pos x="6" y="0"/>
                </a:cxn>
              </a:cxnLst>
              <a:rect l="0" t="0" r="r" b="b"/>
              <a:pathLst>
                <a:path w="54" h="175">
                  <a:moveTo>
                    <a:pt x="6" y="0"/>
                  </a:moveTo>
                  <a:lnTo>
                    <a:pt x="0" y="25"/>
                  </a:lnTo>
                  <a:cubicBezTo>
                    <a:pt x="3" y="48"/>
                    <a:pt x="3" y="40"/>
                    <a:pt x="9" y="54"/>
                  </a:cubicBezTo>
                  <a:cubicBezTo>
                    <a:pt x="10" y="66"/>
                    <a:pt x="12" y="83"/>
                    <a:pt x="18" y="94"/>
                  </a:cubicBezTo>
                  <a:cubicBezTo>
                    <a:pt x="21" y="109"/>
                    <a:pt x="25" y="117"/>
                    <a:pt x="34" y="129"/>
                  </a:cubicBezTo>
                  <a:cubicBezTo>
                    <a:pt x="35" y="143"/>
                    <a:pt x="35" y="171"/>
                    <a:pt x="54" y="175"/>
                  </a:cubicBezTo>
                  <a:cubicBezTo>
                    <a:pt x="52" y="133"/>
                    <a:pt x="53" y="141"/>
                    <a:pt x="40" y="115"/>
                  </a:cubicBezTo>
                  <a:cubicBezTo>
                    <a:pt x="39" y="108"/>
                    <a:pt x="37" y="100"/>
                    <a:pt x="34" y="93"/>
                  </a:cubicBezTo>
                  <a:cubicBezTo>
                    <a:pt x="33" y="82"/>
                    <a:pt x="30" y="72"/>
                    <a:pt x="28" y="61"/>
                  </a:cubicBezTo>
                  <a:cubicBezTo>
                    <a:pt x="28" y="58"/>
                    <a:pt x="28" y="50"/>
                    <a:pt x="25" y="46"/>
                  </a:cubicBezTo>
                  <a:cubicBezTo>
                    <a:pt x="22" y="43"/>
                    <a:pt x="16" y="37"/>
                    <a:pt x="16" y="37"/>
                  </a:cubicBezTo>
                  <a:cubicBezTo>
                    <a:pt x="14" y="25"/>
                    <a:pt x="13" y="9"/>
                    <a:pt x="6"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1" name="Freeform 61"/>
            <p:cNvSpPr>
              <a:spLocks/>
            </p:cNvSpPr>
            <p:nvPr/>
          </p:nvSpPr>
          <p:spPr bwMode="invGray">
            <a:xfrm>
              <a:off x="3988" y="3290"/>
              <a:ext cx="65" cy="54"/>
            </a:xfrm>
            <a:custGeom>
              <a:avLst/>
              <a:gdLst/>
              <a:ahLst/>
              <a:cxnLst>
                <a:cxn ang="0">
                  <a:pos x="2" y="0"/>
                </a:cxn>
                <a:cxn ang="0">
                  <a:pos x="8" y="34"/>
                </a:cxn>
                <a:cxn ang="0">
                  <a:pos x="23" y="43"/>
                </a:cxn>
                <a:cxn ang="0">
                  <a:pos x="48" y="49"/>
                </a:cxn>
                <a:cxn ang="0">
                  <a:pos x="62" y="57"/>
                </a:cxn>
                <a:cxn ang="0">
                  <a:pos x="74" y="66"/>
                </a:cxn>
                <a:cxn ang="0">
                  <a:pos x="86" y="69"/>
                </a:cxn>
                <a:cxn ang="0">
                  <a:pos x="72" y="39"/>
                </a:cxn>
                <a:cxn ang="0">
                  <a:pos x="63" y="22"/>
                </a:cxn>
                <a:cxn ang="0">
                  <a:pos x="36" y="24"/>
                </a:cxn>
                <a:cxn ang="0">
                  <a:pos x="24" y="19"/>
                </a:cxn>
                <a:cxn ang="0">
                  <a:pos x="6" y="0"/>
                </a:cxn>
                <a:cxn ang="0">
                  <a:pos x="2" y="0"/>
                </a:cxn>
              </a:cxnLst>
              <a:rect l="0" t="0" r="r" b="b"/>
              <a:pathLst>
                <a:path w="86" h="73">
                  <a:moveTo>
                    <a:pt x="2" y="0"/>
                  </a:moveTo>
                  <a:cubicBezTo>
                    <a:pt x="3" y="17"/>
                    <a:pt x="0" y="23"/>
                    <a:pt x="8" y="34"/>
                  </a:cubicBezTo>
                  <a:cubicBezTo>
                    <a:pt x="10" y="43"/>
                    <a:pt x="14" y="42"/>
                    <a:pt x="23" y="43"/>
                  </a:cubicBezTo>
                  <a:cubicBezTo>
                    <a:pt x="30" y="47"/>
                    <a:pt x="40" y="48"/>
                    <a:pt x="48" y="49"/>
                  </a:cubicBezTo>
                  <a:cubicBezTo>
                    <a:pt x="53" y="51"/>
                    <a:pt x="57" y="54"/>
                    <a:pt x="62" y="57"/>
                  </a:cubicBezTo>
                  <a:cubicBezTo>
                    <a:pt x="66" y="62"/>
                    <a:pt x="68" y="64"/>
                    <a:pt x="74" y="66"/>
                  </a:cubicBezTo>
                  <a:cubicBezTo>
                    <a:pt x="78" y="72"/>
                    <a:pt x="79" y="73"/>
                    <a:pt x="86" y="69"/>
                  </a:cubicBezTo>
                  <a:cubicBezTo>
                    <a:pt x="83" y="53"/>
                    <a:pt x="80" y="52"/>
                    <a:pt x="72" y="39"/>
                  </a:cubicBezTo>
                  <a:cubicBezTo>
                    <a:pt x="68" y="34"/>
                    <a:pt x="63" y="22"/>
                    <a:pt x="63" y="22"/>
                  </a:cubicBezTo>
                  <a:cubicBezTo>
                    <a:pt x="52" y="26"/>
                    <a:pt x="48" y="26"/>
                    <a:pt x="36" y="24"/>
                  </a:cubicBezTo>
                  <a:cubicBezTo>
                    <a:pt x="24" y="15"/>
                    <a:pt x="43" y="29"/>
                    <a:pt x="24" y="19"/>
                  </a:cubicBezTo>
                  <a:cubicBezTo>
                    <a:pt x="15" y="15"/>
                    <a:pt x="16" y="2"/>
                    <a:pt x="6" y="0"/>
                  </a:cubicBezTo>
                  <a:cubicBezTo>
                    <a:pt x="1" y="4"/>
                    <a:pt x="2" y="5"/>
                    <a:pt x="2"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2" name="Freeform 62"/>
            <p:cNvSpPr>
              <a:spLocks/>
            </p:cNvSpPr>
            <p:nvPr/>
          </p:nvSpPr>
          <p:spPr bwMode="invGray">
            <a:xfrm>
              <a:off x="4092" y="3195"/>
              <a:ext cx="83" cy="117"/>
            </a:xfrm>
            <a:custGeom>
              <a:avLst/>
              <a:gdLst/>
              <a:ahLst/>
              <a:cxnLst>
                <a:cxn ang="0">
                  <a:pos x="98" y="0"/>
                </a:cxn>
                <a:cxn ang="0">
                  <a:pos x="75" y="10"/>
                </a:cxn>
                <a:cxn ang="0">
                  <a:pos x="23" y="15"/>
                </a:cxn>
                <a:cxn ang="0">
                  <a:pos x="14" y="33"/>
                </a:cxn>
                <a:cxn ang="0">
                  <a:pos x="11" y="61"/>
                </a:cxn>
                <a:cxn ang="0">
                  <a:pos x="14" y="75"/>
                </a:cxn>
                <a:cxn ang="0">
                  <a:pos x="3" y="88"/>
                </a:cxn>
                <a:cxn ang="0">
                  <a:pos x="14" y="109"/>
                </a:cxn>
                <a:cxn ang="0">
                  <a:pos x="23" y="124"/>
                </a:cxn>
                <a:cxn ang="0">
                  <a:pos x="15" y="144"/>
                </a:cxn>
                <a:cxn ang="0">
                  <a:pos x="24" y="156"/>
                </a:cxn>
                <a:cxn ang="0">
                  <a:pos x="42" y="144"/>
                </a:cxn>
                <a:cxn ang="0">
                  <a:pos x="50" y="93"/>
                </a:cxn>
                <a:cxn ang="0">
                  <a:pos x="56" y="126"/>
                </a:cxn>
                <a:cxn ang="0">
                  <a:pos x="65" y="145"/>
                </a:cxn>
                <a:cxn ang="0">
                  <a:pos x="62" y="112"/>
                </a:cxn>
                <a:cxn ang="0">
                  <a:pos x="72" y="73"/>
                </a:cxn>
                <a:cxn ang="0">
                  <a:pos x="69" y="51"/>
                </a:cxn>
                <a:cxn ang="0">
                  <a:pos x="54" y="60"/>
                </a:cxn>
                <a:cxn ang="0">
                  <a:pos x="35" y="54"/>
                </a:cxn>
                <a:cxn ang="0">
                  <a:pos x="41" y="36"/>
                </a:cxn>
                <a:cxn ang="0">
                  <a:pos x="62" y="34"/>
                </a:cxn>
                <a:cxn ang="0">
                  <a:pos x="78" y="39"/>
                </a:cxn>
                <a:cxn ang="0">
                  <a:pos x="98" y="30"/>
                </a:cxn>
                <a:cxn ang="0">
                  <a:pos x="111" y="13"/>
                </a:cxn>
                <a:cxn ang="0">
                  <a:pos x="98" y="0"/>
                </a:cxn>
              </a:cxnLst>
              <a:rect l="0" t="0" r="r" b="b"/>
              <a:pathLst>
                <a:path w="111" h="156">
                  <a:moveTo>
                    <a:pt x="98" y="0"/>
                  </a:moveTo>
                  <a:cubicBezTo>
                    <a:pt x="75" y="2"/>
                    <a:pt x="87" y="8"/>
                    <a:pt x="75" y="10"/>
                  </a:cubicBezTo>
                  <a:cubicBezTo>
                    <a:pt x="72" y="10"/>
                    <a:pt x="25" y="3"/>
                    <a:pt x="23" y="15"/>
                  </a:cubicBezTo>
                  <a:cubicBezTo>
                    <a:pt x="25" y="26"/>
                    <a:pt x="23" y="27"/>
                    <a:pt x="14" y="33"/>
                  </a:cubicBezTo>
                  <a:cubicBezTo>
                    <a:pt x="15" y="43"/>
                    <a:pt x="20" y="54"/>
                    <a:pt x="11" y="61"/>
                  </a:cubicBezTo>
                  <a:cubicBezTo>
                    <a:pt x="8" y="68"/>
                    <a:pt x="10" y="69"/>
                    <a:pt x="14" y="75"/>
                  </a:cubicBezTo>
                  <a:cubicBezTo>
                    <a:pt x="16" y="84"/>
                    <a:pt x="12" y="86"/>
                    <a:pt x="3" y="88"/>
                  </a:cubicBezTo>
                  <a:cubicBezTo>
                    <a:pt x="1" y="99"/>
                    <a:pt x="0" y="106"/>
                    <a:pt x="14" y="109"/>
                  </a:cubicBezTo>
                  <a:cubicBezTo>
                    <a:pt x="21" y="112"/>
                    <a:pt x="20" y="118"/>
                    <a:pt x="23" y="124"/>
                  </a:cubicBezTo>
                  <a:cubicBezTo>
                    <a:pt x="25" y="133"/>
                    <a:pt x="23" y="139"/>
                    <a:pt x="15" y="144"/>
                  </a:cubicBezTo>
                  <a:cubicBezTo>
                    <a:pt x="17" y="150"/>
                    <a:pt x="18" y="153"/>
                    <a:pt x="24" y="156"/>
                  </a:cubicBezTo>
                  <a:cubicBezTo>
                    <a:pt x="31" y="154"/>
                    <a:pt x="36" y="148"/>
                    <a:pt x="42" y="144"/>
                  </a:cubicBezTo>
                  <a:cubicBezTo>
                    <a:pt x="41" y="128"/>
                    <a:pt x="33" y="103"/>
                    <a:pt x="50" y="93"/>
                  </a:cubicBezTo>
                  <a:cubicBezTo>
                    <a:pt x="52" y="105"/>
                    <a:pt x="46" y="116"/>
                    <a:pt x="56" y="126"/>
                  </a:cubicBezTo>
                  <a:cubicBezTo>
                    <a:pt x="57" y="134"/>
                    <a:pt x="58" y="141"/>
                    <a:pt x="65" y="145"/>
                  </a:cubicBezTo>
                  <a:cubicBezTo>
                    <a:pt x="70" y="134"/>
                    <a:pt x="64" y="123"/>
                    <a:pt x="62" y="112"/>
                  </a:cubicBezTo>
                  <a:cubicBezTo>
                    <a:pt x="65" y="97"/>
                    <a:pt x="55" y="81"/>
                    <a:pt x="72" y="73"/>
                  </a:cubicBezTo>
                  <a:cubicBezTo>
                    <a:pt x="79" y="64"/>
                    <a:pt x="75" y="59"/>
                    <a:pt x="69" y="51"/>
                  </a:cubicBezTo>
                  <a:cubicBezTo>
                    <a:pt x="61" y="52"/>
                    <a:pt x="61" y="56"/>
                    <a:pt x="54" y="60"/>
                  </a:cubicBezTo>
                  <a:cubicBezTo>
                    <a:pt x="37" y="57"/>
                    <a:pt x="43" y="60"/>
                    <a:pt x="35" y="54"/>
                  </a:cubicBezTo>
                  <a:cubicBezTo>
                    <a:pt x="31" y="45"/>
                    <a:pt x="28" y="39"/>
                    <a:pt x="41" y="36"/>
                  </a:cubicBezTo>
                  <a:cubicBezTo>
                    <a:pt x="49" y="32"/>
                    <a:pt x="53" y="33"/>
                    <a:pt x="62" y="34"/>
                  </a:cubicBezTo>
                  <a:cubicBezTo>
                    <a:pt x="67" y="36"/>
                    <a:pt x="73" y="36"/>
                    <a:pt x="78" y="39"/>
                  </a:cubicBezTo>
                  <a:cubicBezTo>
                    <a:pt x="85" y="36"/>
                    <a:pt x="90" y="31"/>
                    <a:pt x="98" y="30"/>
                  </a:cubicBezTo>
                  <a:cubicBezTo>
                    <a:pt x="104" y="26"/>
                    <a:pt x="107" y="19"/>
                    <a:pt x="111" y="13"/>
                  </a:cubicBezTo>
                  <a:cubicBezTo>
                    <a:pt x="107" y="8"/>
                    <a:pt x="102" y="4"/>
                    <a:pt x="98"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3" name="Freeform 63"/>
            <p:cNvSpPr>
              <a:spLocks/>
            </p:cNvSpPr>
            <p:nvPr/>
          </p:nvSpPr>
          <p:spPr bwMode="invGray">
            <a:xfrm>
              <a:off x="4064" y="2777"/>
              <a:ext cx="22" cy="71"/>
            </a:xfrm>
            <a:custGeom>
              <a:avLst/>
              <a:gdLst/>
              <a:ahLst/>
              <a:cxnLst>
                <a:cxn ang="0">
                  <a:pos x="12" y="0"/>
                </a:cxn>
                <a:cxn ang="0">
                  <a:pos x="0" y="16"/>
                </a:cxn>
                <a:cxn ang="0">
                  <a:pos x="6" y="37"/>
                </a:cxn>
                <a:cxn ang="0">
                  <a:pos x="1" y="61"/>
                </a:cxn>
                <a:cxn ang="0">
                  <a:pos x="16" y="94"/>
                </a:cxn>
                <a:cxn ang="0">
                  <a:pos x="30" y="82"/>
                </a:cxn>
                <a:cxn ang="0">
                  <a:pos x="22" y="61"/>
                </a:cxn>
                <a:cxn ang="0">
                  <a:pos x="12" y="0"/>
                </a:cxn>
              </a:cxnLst>
              <a:rect l="0" t="0" r="r" b="b"/>
              <a:pathLst>
                <a:path w="30" h="94">
                  <a:moveTo>
                    <a:pt x="12" y="0"/>
                  </a:moveTo>
                  <a:cubicBezTo>
                    <a:pt x="9" y="6"/>
                    <a:pt x="4" y="11"/>
                    <a:pt x="0" y="16"/>
                  </a:cubicBezTo>
                  <a:cubicBezTo>
                    <a:pt x="1" y="23"/>
                    <a:pt x="3" y="30"/>
                    <a:pt x="6" y="37"/>
                  </a:cubicBezTo>
                  <a:cubicBezTo>
                    <a:pt x="3" y="45"/>
                    <a:pt x="4" y="53"/>
                    <a:pt x="1" y="61"/>
                  </a:cubicBezTo>
                  <a:cubicBezTo>
                    <a:pt x="3" y="81"/>
                    <a:pt x="2" y="83"/>
                    <a:pt x="16" y="94"/>
                  </a:cubicBezTo>
                  <a:cubicBezTo>
                    <a:pt x="24" y="92"/>
                    <a:pt x="27" y="90"/>
                    <a:pt x="30" y="82"/>
                  </a:cubicBezTo>
                  <a:cubicBezTo>
                    <a:pt x="28" y="73"/>
                    <a:pt x="26" y="69"/>
                    <a:pt x="22" y="61"/>
                  </a:cubicBezTo>
                  <a:cubicBezTo>
                    <a:pt x="19" y="40"/>
                    <a:pt x="18" y="20"/>
                    <a:pt x="12"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4" name="Freeform 64"/>
            <p:cNvSpPr>
              <a:spLocks/>
            </p:cNvSpPr>
            <p:nvPr/>
          </p:nvSpPr>
          <p:spPr bwMode="invGray">
            <a:xfrm>
              <a:off x="4078" y="2896"/>
              <a:ext cx="61" cy="118"/>
            </a:xfrm>
            <a:custGeom>
              <a:avLst/>
              <a:gdLst/>
              <a:ahLst/>
              <a:cxnLst>
                <a:cxn ang="0">
                  <a:pos x="12" y="2"/>
                </a:cxn>
                <a:cxn ang="0">
                  <a:pos x="0" y="20"/>
                </a:cxn>
                <a:cxn ang="0">
                  <a:pos x="8" y="49"/>
                </a:cxn>
                <a:cxn ang="0">
                  <a:pos x="6" y="107"/>
                </a:cxn>
                <a:cxn ang="0">
                  <a:pos x="17" y="103"/>
                </a:cxn>
                <a:cxn ang="0">
                  <a:pos x="20" y="115"/>
                </a:cxn>
                <a:cxn ang="0">
                  <a:pos x="29" y="122"/>
                </a:cxn>
                <a:cxn ang="0">
                  <a:pos x="38" y="140"/>
                </a:cxn>
                <a:cxn ang="0">
                  <a:pos x="48" y="128"/>
                </a:cxn>
                <a:cxn ang="0">
                  <a:pos x="65" y="134"/>
                </a:cxn>
                <a:cxn ang="0">
                  <a:pos x="63" y="109"/>
                </a:cxn>
                <a:cxn ang="0">
                  <a:pos x="48" y="104"/>
                </a:cxn>
                <a:cxn ang="0">
                  <a:pos x="39" y="91"/>
                </a:cxn>
                <a:cxn ang="0">
                  <a:pos x="33" y="73"/>
                </a:cxn>
                <a:cxn ang="0">
                  <a:pos x="41" y="53"/>
                </a:cxn>
                <a:cxn ang="0">
                  <a:pos x="35" y="35"/>
                </a:cxn>
                <a:cxn ang="0">
                  <a:pos x="42" y="20"/>
                </a:cxn>
                <a:cxn ang="0">
                  <a:pos x="29" y="4"/>
                </a:cxn>
                <a:cxn ang="0">
                  <a:pos x="18" y="7"/>
                </a:cxn>
                <a:cxn ang="0">
                  <a:pos x="12" y="2"/>
                </a:cxn>
              </a:cxnLst>
              <a:rect l="0" t="0" r="r" b="b"/>
              <a:pathLst>
                <a:path w="81" h="158">
                  <a:moveTo>
                    <a:pt x="12" y="2"/>
                  </a:moveTo>
                  <a:cubicBezTo>
                    <a:pt x="8" y="8"/>
                    <a:pt x="3" y="13"/>
                    <a:pt x="0" y="20"/>
                  </a:cubicBezTo>
                  <a:cubicBezTo>
                    <a:pt x="5" y="31"/>
                    <a:pt x="6" y="35"/>
                    <a:pt x="8" y="49"/>
                  </a:cubicBezTo>
                  <a:cubicBezTo>
                    <a:pt x="7" y="69"/>
                    <a:pt x="4" y="87"/>
                    <a:pt x="6" y="107"/>
                  </a:cubicBezTo>
                  <a:cubicBezTo>
                    <a:pt x="8" y="106"/>
                    <a:pt x="14" y="101"/>
                    <a:pt x="17" y="103"/>
                  </a:cubicBezTo>
                  <a:cubicBezTo>
                    <a:pt x="20" y="105"/>
                    <a:pt x="17" y="112"/>
                    <a:pt x="20" y="115"/>
                  </a:cubicBezTo>
                  <a:cubicBezTo>
                    <a:pt x="22" y="118"/>
                    <a:pt x="29" y="122"/>
                    <a:pt x="29" y="122"/>
                  </a:cubicBezTo>
                  <a:cubicBezTo>
                    <a:pt x="29" y="133"/>
                    <a:pt x="27" y="158"/>
                    <a:pt x="38" y="140"/>
                  </a:cubicBezTo>
                  <a:cubicBezTo>
                    <a:pt x="39" y="133"/>
                    <a:pt x="41" y="131"/>
                    <a:pt x="48" y="128"/>
                  </a:cubicBezTo>
                  <a:cubicBezTo>
                    <a:pt x="55" y="130"/>
                    <a:pt x="59" y="133"/>
                    <a:pt x="65" y="134"/>
                  </a:cubicBezTo>
                  <a:cubicBezTo>
                    <a:pt x="81" y="131"/>
                    <a:pt x="76" y="112"/>
                    <a:pt x="63" y="109"/>
                  </a:cubicBezTo>
                  <a:cubicBezTo>
                    <a:pt x="58" y="107"/>
                    <a:pt x="53" y="106"/>
                    <a:pt x="48" y="104"/>
                  </a:cubicBezTo>
                  <a:cubicBezTo>
                    <a:pt x="45" y="100"/>
                    <a:pt x="42" y="95"/>
                    <a:pt x="39" y="91"/>
                  </a:cubicBezTo>
                  <a:cubicBezTo>
                    <a:pt x="38" y="85"/>
                    <a:pt x="36" y="79"/>
                    <a:pt x="33" y="73"/>
                  </a:cubicBezTo>
                  <a:cubicBezTo>
                    <a:pt x="31" y="64"/>
                    <a:pt x="33" y="58"/>
                    <a:pt x="41" y="53"/>
                  </a:cubicBezTo>
                  <a:cubicBezTo>
                    <a:pt x="48" y="44"/>
                    <a:pt x="47" y="38"/>
                    <a:pt x="35" y="35"/>
                  </a:cubicBezTo>
                  <a:cubicBezTo>
                    <a:pt x="36" y="28"/>
                    <a:pt x="39" y="26"/>
                    <a:pt x="42" y="20"/>
                  </a:cubicBezTo>
                  <a:cubicBezTo>
                    <a:pt x="41" y="13"/>
                    <a:pt x="35" y="8"/>
                    <a:pt x="29" y="4"/>
                  </a:cubicBezTo>
                  <a:cubicBezTo>
                    <a:pt x="25" y="9"/>
                    <a:pt x="23" y="13"/>
                    <a:pt x="18" y="7"/>
                  </a:cubicBezTo>
                  <a:cubicBezTo>
                    <a:pt x="17" y="0"/>
                    <a:pt x="19" y="2"/>
                    <a:pt x="12" y="2"/>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5" name="Freeform 65"/>
            <p:cNvSpPr>
              <a:spLocks/>
            </p:cNvSpPr>
            <p:nvPr/>
          </p:nvSpPr>
          <p:spPr bwMode="invGray">
            <a:xfrm>
              <a:off x="4121" y="3052"/>
              <a:ext cx="64" cy="79"/>
            </a:xfrm>
            <a:custGeom>
              <a:avLst/>
              <a:gdLst/>
              <a:ahLst/>
              <a:cxnLst>
                <a:cxn ang="0">
                  <a:pos x="52" y="0"/>
                </a:cxn>
                <a:cxn ang="0">
                  <a:pos x="44" y="18"/>
                </a:cxn>
                <a:cxn ang="0">
                  <a:pos x="32" y="30"/>
                </a:cxn>
                <a:cxn ang="0">
                  <a:pos x="16" y="35"/>
                </a:cxn>
                <a:cxn ang="0">
                  <a:pos x="8" y="48"/>
                </a:cxn>
                <a:cxn ang="0">
                  <a:pos x="4" y="74"/>
                </a:cxn>
                <a:cxn ang="0">
                  <a:pos x="13" y="71"/>
                </a:cxn>
                <a:cxn ang="0">
                  <a:pos x="25" y="62"/>
                </a:cxn>
                <a:cxn ang="0">
                  <a:pos x="34" y="69"/>
                </a:cxn>
                <a:cxn ang="0">
                  <a:pos x="58" y="99"/>
                </a:cxn>
                <a:cxn ang="0">
                  <a:pos x="71" y="72"/>
                </a:cxn>
                <a:cxn ang="0">
                  <a:pos x="85" y="68"/>
                </a:cxn>
                <a:cxn ang="0">
                  <a:pos x="74" y="39"/>
                </a:cxn>
                <a:cxn ang="0">
                  <a:pos x="52" y="0"/>
                </a:cxn>
              </a:cxnLst>
              <a:rect l="0" t="0" r="r" b="b"/>
              <a:pathLst>
                <a:path w="85" h="105">
                  <a:moveTo>
                    <a:pt x="52" y="0"/>
                  </a:moveTo>
                  <a:cubicBezTo>
                    <a:pt x="50" y="6"/>
                    <a:pt x="47" y="12"/>
                    <a:pt x="44" y="18"/>
                  </a:cubicBezTo>
                  <a:cubicBezTo>
                    <a:pt x="43" y="28"/>
                    <a:pt x="42" y="28"/>
                    <a:pt x="32" y="30"/>
                  </a:cubicBezTo>
                  <a:cubicBezTo>
                    <a:pt x="27" y="33"/>
                    <a:pt x="21" y="33"/>
                    <a:pt x="16" y="35"/>
                  </a:cubicBezTo>
                  <a:cubicBezTo>
                    <a:pt x="13" y="39"/>
                    <a:pt x="11" y="44"/>
                    <a:pt x="8" y="48"/>
                  </a:cubicBezTo>
                  <a:cubicBezTo>
                    <a:pt x="4" y="66"/>
                    <a:pt x="0" y="42"/>
                    <a:pt x="4" y="74"/>
                  </a:cubicBezTo>
                  <a:cubicBezTo>
                    <a:pt x="7" y="73"/>
                    <a:pt x="10" y="73"/>
                    <a:pt x="13" y="71"/>
                  </a:cubicBezTo>
                  <a:cubicBezTo>
                    <a:pt x="19" y="67"/>
                    <a:pt x="17" y="64"/>
                    <a:pt x="25" y="62"/>
                  </a:cubicBezTo>
                  <a:cubicBezTo>
                    <a:pt x="32" y="59"/>
                    <a:pt x="31" y="64"/>
                    <a:pt x="34" y="69"/>
                  </a:cubicBezTo>
                  <a:cubicBezTo>
                    <a:pt x="37" y="82"/>
                    <a:pt x="44" y="96"/>
                    <a:pt x="58" y="99"/>
                  </a:cubicBezTo>
                  <a:cubicBezTo>
                    <a:pt x="70" y="105"/>
                    <a:pt x="60" y="78"/>
                    <a:pt x="71" y="72"/>
                  </a:cubicBezTo>
                  <a:cubicBezTo>
                    <a:pt x="78" y="74"/>
                    <a:pt x="80" y="74"/>
                    <a:pt x="85" y="68"/>
                  </a:cubicBezTo>
                  <a:cubicBezTo>
                    <a:pt x="82" y="56"/>
                    <a:pt x="80" y="49"/>
                    <a:pt x="74" y="39"/>
                  </a:cubicBezTo>
                  <a:cubicBezTo>
                    <a:pt x="73" y="6"/>
                    <a:pt x="80" y="6"/>
                    <a:pt x="52"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6" name="Freeform 66"/>
            <p:cNvSpPr>
              <a:spLocks/>
            </p:cNvSpPr>
            <p:nvPr/>
          </p:nvSpPr>
          <p:spPr bwMode="invGray">
            <a:xfrm>
              <a:off x="4197" y="3193"/>
              <a:ext cx="29" cy="49"/>
            </a:xfrm>
            <a:custGeom>
              <a:avLst/>
              <a:gdLst/>
              <a:ahLst/>
              <a:cxnLst>
                <a:cxn ang="0">
                  <a:pos x="6" y="27"/>
                </a:cxn>
                <a:cxn ang="0">
                  <a:pos x="26" y="66"/>
                </a:cxn>
                <a:cxn ang="0">
                  <a:pos x="30" y="52"/>
                </a:cxn>
                <a:cxn ang="0">
                  <a:pos x="38" y="40"/>
                </a:cxn>
                <a:cxn ang="0">
                  <a:pos x="30" y="25"/>
                </a:cxn>
                <a:cxn ang="0">
                  <a:pos x="20" y="13"/>
                </a:cxn>
                <a:cxn ang="0">
                  <a:pos x="11" y="1"/>
                </a:cxn>
                <a:cxn ang="0">
                  <a:pos x="2" y="12"/>
                </a:cxn>
                <a:cxn ang="0">
                  <a:pos x="6" y="27"/>
                </a:cxn>
              </a:cxnLst>
              <a:rect l="0" t="0" r="r" b="b"/>
              <a:pathLst>
                <a:path w="38" h="66">
                  <a:moveTo>
                    <a:pt x="6" y="27"/>
                  </a:moveTo>
                  <a:cubicBezTo>
                    <a:pt x="8" y="52"/>
                    <a:pt x="5" y="58"/>
                    <a:pt x="26" y="66"/>
                  </a:cubicBezTo>
                  <a:cubicBezTo>
                    <a:pt x="36" y="63"/>
                    <a:pt x="33" y="61"/>
                    <a:pt x="30" y="52"/>
                  </a:cubicBezTo>
                  <a:cubicBezTo>
                    <a:pt x="28" y="41"/>
                    <a:pt x="34" y="49"/>
                    <a:pt x="38" y="40"/>
                  </a:cubicBezTo>
                  <a:cubicBezTo>
                    <a:pt x="34" y="35"/>
                    <a:pt x="33" y="30"/>
                    <a:pt x="30" y="25"/>
                  </a:cubicBezTo>
                  <a:cubicBezTo>
                    <a:pt x="29" y="14"/>
                    <a:pt x="30" y="0"/>
                    <a:pt x="20" y="13"/>
                  </a:cubicBezTo>
                  <a:cubicBezTo>
                    <a:pt x="14" y="9"/>
                    <a:pt x="12" y="8"/>
                    <a:pt x="11" y="1"/>
                  </a:cubicBezTo>
                  <a:cubicBezTo>
                    <a:pt x="5" y="4"/>
                    <a:pt x="3" y="5"/>
                    <a:pt x="2" y="12"/>
                  </a:cubicBezTo>
                  <a:cubicBezTo>
                    <a:pt x="3" y="25"/>
                    <a:pt x="0" y="21"/>
                    <a:pt x="6" y="27"/>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7" name="Freeform 67"/>
            <p:cNvSpPr>
              <a:spLocks/>
            </p:cNvSpPr>
            <p:nvPr/>
          </p:nvSpPr>
          <p:spPr bwMode="invGray">
            <a:xfrm>
              <a:off x="4181" y="3275"/>
              <a:ext cx="18" cy="17"/>
            </a:xfrm>
            <a:custGeom>
              <a:avLst/>
              <a:gdLst/>
              <a:ahLst/>
              <a:cxnLst>
                <a:cxn ang="0">
                  <a:pos x="0" y="0"/>
                </a:cxn>
                <a:cxn ang="0">
                  <a:pos x="6" y="23"/>
                </a:cxn>
                <a:cxn ang="0">
                  <a:pos x="24" y="11"/>
                </a:cxn>
                <a:cxn ang="0">
                  <a:pos x="0" y="0"/>
                </a:cxn>
              </a:cxnLst>
              <a:rect l="0" t="0" r="r" b="b"/>
              <a:pathLst>
                <a:path w="24" h="23">
                  <a:moveTo>
                    <a:pt x="0" y="0"/>
                  </a:moveTo>
                  <a:cubicBezTo>
                    <a:pt x="1" y="8"/>
                    <a:pt x="3" y="16"/>
                    <a:pt x="6" y="23"/>
                  </a:cubicBezTo>
                  <a:cubicBezTo>
                    <a:pt x="19" y="20"/>
                    <a:pt x="19" y="22"/>
                    <a:pt x="24" y="11"/>
                  </a:cubicBezTo>
                  <a:cubicBezTo>
                    <a:pt x="20" y="0"/>
                    <a:pt x="4" y="8"/>
                    <a:pt x="0"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8" name="Freeform 68"/>
            <p:cNvSpPr>
              <a:spLocks/>
            </p:cNvSpPr>
            <p:nvPr/>
          </p:nvSpPr>
          <p:spPr bwMode="invGray">
            <a:xfrm>
              <a:off x="4208" y="3265"/>
              <a:ext cx="45" cy="37"/>
            </a:xfrm>
            <a:custGeom>
              <a:avLst/>
              <a:gdLst/>
              <a:ahLst/>
              <a:cxnLst>
                <a:cxn ang="0">
                  <a:pos x="9" y="0"/>
                </a:cxn>
                <a:cxn ang="0">
                  <a:pos x="0" y="18"/>
                </a:cxn>
                <a:cxn ang="0">
                  <a:pos x="28" y="33"/>
                </a:cxn>
                <a:cxn ang="0">
                  <a:pos x="42" y="46"/>
                </a:cxn>
                <a:cxn ang="0">
                  <a:pos x="60" y="42"/>
                </a:cxn>
                <a:cxn ang="0">
                  <a:pos x="49" y="24"/>
                </a:cxn>
                <a:cxn ang="0">
                  <a:pos x="28" y="3"/>
                </a:cxn>
                <a:cxn ang="0">
                  <a:pos x="19" y="16"/>
                </a:cxn>
                <a:cxn ang="0">
                  <a:pos x="9" y="0"/>
                </a:cxn>
              </a:cxnLst>
              <a:rect l="0" t="0" r="r" b="b"/>
              <a:pathLst>
                <a:path w="60" h="49">
                  <a:moveTo>
                    <a:pt x="9" y="0"/>
                  </a:moveTo>
                  <a:cubicBezTo>
                    <a:pt x="8" y="7"/>
                    <a:pt x="0" y="18"/>
                    <a:pt x="0" y="18"/>
                  </a:cubicBezTo>
                  <a:cubicBezTo>
                    <a:pt x="2" y="36"/>
                    <a:pt x="9" y="31"/>
                    <a:pt x="28" y="33"/>
                  </a:cubicBezTo>
                  <a:cubicBezTo>
                    <a:pt x="33" y="40"/>
                    <a:pt x="33" y="44"/>
                    <a:pt x="42" y="46"/>
                  </a:cubicBezTo>
                  <a:cubicBezTo>
                    <a:pt x="49" y="49"/>
                    <a:pt x="56" y="49"/>
                    <a:pt x="60" y="42"/>
                  </a:cubicBezTo>
                  <a:cubicBezTo>
                    <a:pt x="58" y="32"/>
                    <a:pt x="59" y="26"/>
                    <a:pt x="49" y="24"/>
                  </a:cubicBezTo>
                  <a:cubicBezTo>
                    <a:pt x="47" y="12"/>
                    <a:pt x="41" y="5"/>
                    <a:pt x="28" y="3"/>
                  </a:cubicBezTo>
                  <a:cubicBezTo>
                    <a:pt x="23" y="10"/>
                    <a:pt x="30" y="23"/>
                    <a:pt x="19" y="16"/>
                  </a:cubicBezTo>
                  <a:cubicBezTo>
                    <a:pt x="17" y="6"/>
                    <a:pt x="20" y="0"/>
                    <a:pt x="9"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9" name="Freeform 69"/>
            <p:cNvSpPr>
              <a:spLocks/>
            </p:cNvSpPr>
            <p:nvPr/>
          </p:nvSpPr>
          <p:spPr bwMode="invGray">
            <a:xfrm>
              <a:off x="4277" y="3335"/>
              <a:ext cx="24" cy="33"/>
            </a:xfrm>
            <a:custGeom>
              <a:avLst/>
              <a:gdLst/>
              <a:ahLst/>
              <a:cxnLst>
                <a:cxn ang="0">
                  <a:pos x="28" y="0"/>
                </a:cxn>
                <a:cxn ang="0">
                  <a:pos x="10" y="11"/>
                </a:cxn>
                <a:cxn ang="0">
                  <a:pos x="12" y="32"/>
                </a:cxn>
                <a:cxn ang="0">
                  <a:pos x="24" y="36"/>
                </a:cxn>
                <a:cxn ang="0">
                  <a:pos x="28" y="0"/>
                </a:cxn>
              </a:cxnLst>
              <a:rect l="0" t="0" r="r" b="b"/>
              <a:pathLst>
                <a:path w="32" h="44">
                  <a:moveTo>
                    <a:pt x="28" y="0"/>
                  </a:moveTo>
                  <a:cubicBezTo>
                    <a:pt x="32" y="10"/>
                    <a:pt x="18" y="9"/>
                    <a:pt x="10" y="11"/>
                  </a:cubicBezTo>
                  <a:cubicBezTo>
                    <a:pt x="0" y="18"/>
                    <a:pt x="7" y="24"/>
                    <a:pt x="12" y="32"/>
                  </a:cubicBezTo>
                  <a:cubicBezTo>
                    <a:pt x="14" y="44"/>
                    <a:pt x="15" y="41"/>
                    <a:pt x="24" y="36"/>
                  </a:cubicBezTo>
                  <a:cubicBezTo>
                    <a:pt x="32" y="25"/>
                    <a:pt x="29" y="14"/>
                    <a:pt x="28"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0" name="Freeform 70"/>
            <p:cNvSpPr>
              <a:spLocks/>
            </p:cNvSpPr>
            <p:nvPr/>
          </p:nvSpPr>
          <p:spPr bwMode="invGray">
            <a:xfrm>
              <a:off x="4544" y="3293"/>
              <a:ext cx="46" cy="47"/>
            </a:xfrm>
            <a:custGeom>
              <a:avLst/>
              <a:gdLst/>
              <a:ahLst/>
              <a:cxnLst>
                <a:cxn ang="0">
                  <a:pos x="7" y="0"/>
                </a:cxn>
                <a:cxn ang="0">
                  <a:pos x="0" y="14"/>
                </a:cxn>
                <a:cxn ang="0">
                  <a:pos x="24" y="35"/>
                </a:cxn>
                <a:cxn ang="0">
                  <a:pos x="36" y="54"/>
                </a:cxn>
                <a:cxn ang="0">
                  <a:pos x="46" y="63"/>
                </a:cxn>
                <a:cxn ang="0">
                  <a:pos x="61" y="56"/>
                </a:cxn>
                <a:cxn ang="0">
                  <a:pos x="33" y="17"/>
                </a:cxn>
                <a:cxn ang="0">
                  <a:pos x="7" y="0"/>
                </a:cxn>
              </a:cxnLst>
              <a:rect l="0" t="0" r="r" b="b"/>
              <a:pathLst>
                <a:path w="61" h="63">
                  <a:moveTo>
                    <a:pt x="7" y="0"/>
                  </a:moveTo>
                  <a:cubicBezTo>
                    <a:pt x="6" y="6"/>
                    <a:pt x="3" y="9"/>
                    <a:pt x="0" y="14"/>
                  </a:cubicBezTo>
                  <a:cubicBezTo>
                    <a:pt x="7" y="23"/>
                    <a:pt x="13" y="31"/>
                    <a:pt x="24" y="35"/>
                  </a:cubicBezTo>
                  <a:cubicBezTo>
                    <a:pt x="27" y="42"/>
                    <a:pt x="31" y="48"/>
                    <a:pt x="36" y="54"/>
                  </a:cubicBezTo>
                  <a:cubicBezTo>
                    <a:pt x="37" y="61"/>
                    <a:pt x="40" y="59"/>
                    <a:pt x="46" y="63"/>
                  </a:cubicBezTo>
                  <a:cubicBezTo>
                    <a:pt x="54" y="62"/>
                    <a:pt x="56" y="62"/>
                    <a:pt x="61" y="56"/>
                  </a:cubicBezTo>
                  <a:cubicBezTo>
                    <a:pt x="59" y="46"/>
                    <a:pt x="42" y="23"/>
                    <a:pt x="33" y="17"/>
                  </a:cubicBezTo>
                  <a:cubicBezTo>
                    <a:pt x="23" y="10"/>
                    <a:pt x="14" y="9"/>
                    <a:pt x="7"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1" name="Freeform 71"/>
            <p:cNvSpPr>
              <a:spLocks/>
            </p:cNvSpPr>
            <p:nvPr/>
          </p:nvSpPr>
          <p:spPr bwMode="invGray">
            <a:xfrm>
              <a:off x="4147" y="3352"/>
              <a:ext cx="46" cy="50"/>
            </a:xfrm>
            <a:custGeom>
              <a:avLst/>
              <a:gdLst/>
              <a:ahLst/>
              <a:cxnLst>
                <a:cxn ang="0">
                  <a:pos x="28" y="7"/>
                </a:cxn>
                <a:cxn ang="0">
                  <a:pos x="30" y="34"/>
                </a:cxn>
                <a:cxn ang="0">
                  <a:pos x="16" y="43"/>
                </a:cxn>
                <a:cxn ang="0">
                  <a:pos x="22" y="67"/>
                </a:cxn>
                <a:cxn ang="0">
                  <a:pos x="48" y="58"/>
                </a:cxn>
                <a:cxn ang="0">
                  <a:pos x="60" y="47"/>
                </a:cxn>
                <a:cxn ang="0">
                  <a:pos x="51" y="28"/>
                </a:cxn>
                <a:cxn ang="0">
                  <a:pos x="57" y="14"/>
                </a:cxn>
                <a:cxn ang="0">
                  <a:pos x="55" y="2"/>
                </a:cxn>
                <a:cxn ang="0">
                  <a:pos x="46" y="4"/>
                </a:cxn>
                <a:cxn ang="0">
                  <a:pos x="51" y="5"/>
                </a:cxn>
                <a:cxn ang="0">
                  <a:pos x="49" y="16"/>
                </a:cxn>
                <a:cxn ang="0">
                  <a:pos x="43" y="23"/>
                </a:cxn>
                <a:cxn ang="0">
                  <a:pos x="28" y="7"/>
                </a:cxn>
              </a:cxnLst>
              <a:rect l="0" t="0" r="r" b="b"/>
              <a:pathLst>
                <a:path w="61" h="67">
                  <a:moveTo>
                    <a:pt x="28" y="7"/>
                  </a:moveTo>
                  <a:cubicBezTo>
                    <a:pt x="17" y="15"/>
                    <a:pt x="24" y="25"/>
                    <a:pt x="30" y="34"/>
                  </a:cubicBezTo>
                  <a:cubicBezTo>
                    <a:pt x="27" y="44"/>
                    <a:pt x="26" y="44"/>
                    <a:pt x="16" y="43"/>
                  </a:cubicBezTo>
                  <a:cubicBezTo>
                    <a:pt x="0" y="46"/>
                    <a:pt x="13" y="63"/>
                    <a:pt x="22" y="67"/>
                  </a:cubicBezTo>
                  <a:cubicBezTo>
                    <a:pt x="31" y="65"/>
                    <a:pt x="39" y="60"/>
                    <a:pt x="48" y="58"/>
                  </a:cubicBezTo>
                  <a:cubicBezTo>
                    <a:pt x="51" y="52"/>
                    <a:pt x="54" y="50"/>
                    <a:pt x="60" y="47"/>
                  </a:cubicBezTo>
                  <a:cubicBezTo>
                    <a:pt x="61" y="40"/>
                    <a:pt x="51" y="28"/>
                    <a:pt x="51" y="28"/>
                  </a:cubicBezTo>
                  <a:cubicBezTo>
                    <a:pt x="52" y="22"/>
                    <a:pt x="55" y="19"/>
                    <a:pt x="57" y="14"/>
                  </a:cubicBezTo>
                  <a:cubicBezTo>
                    <a:pt x="56" y="10"/>
                    <a:pt x="58" y="5"/>
                    <a:pt x="55" y="2"/>
                  </a:cubicBezTo>
                  <a:cubicBezTo>
                    <a:pt x="53" y="0"/>
                    <a:pt x="48" y="2"/>
                    <a:pt x="46" y="4"/>
                  </a:cubicBezTo>
                  <a:cubicBezTo>
                    <a:pt x="45" y="5"/>
                    <a:pt x="49" y="5"/>
                    <a:pt x="51" y="5"/>
                  </a:cubicBezTo>
                  <a:cubicBezTo>
                    <a:pt x="57" y="10"/>
                    <a:pt x="52" y="9"/>
                    <a:pt x="49" y="16"/>
                  </a:cubicBezTo>
                  <a:cubicBezTo>
                    <a:pt x="58" y="23"/>
                    <a:pt x="50" y="22"/>
                    <a:pt x="43" y="23"/>
                  </a:cubicBezTo>
                  <a:cubicBezTo>
                    <a:pt x="34" y="22"/>
                    <a:pt x="31" y="16"/>
                    <a:pt x="28" y="7"/>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2" name="Freeform 72"/>
            <p:cNvSpPr>
              <a:spLocks/>
            </p:cNvSpPr>
            <p:nvPr/>
          </p:nvSpPr>
          <p:spPr bwMode="invGray">
            <a:xfrm>
              <a:off x="4098" y="3371"/>
              <a:ext cx="32" cy="27"/>
            </a:xfrm>
            <a:custGeom>
              <a:avLst/>
              <a:gdLst/>
              <a:ahLst/>
              <a:cxnLst>
                <a:cxn ang="0">
                  <a:pos x="21" y="3"/>
                </a:cxn>
                <a:cxn ang="0">
                  <a:pos x="6" y="6"/>
                </a:cxn>
                <a:cxn ang="0">
                  <a:pos x="33" y="36"/>
                </a:cxn>
                <a:cxn ang="0">
                  <a:pos x="42" y="30"/>
                </a:cxn>
                <a:cxn ang="0">
                  <a:pos x="21" y="3"/>
                </a:cxn>
              </a:cxnLst>
              <a:rect l="0" t="0" r="r" b="b"/>
              <a:pathLst>
                <a:path w="43" h="36">
                  <a:moveTo>
                    <a:pt x="21" y="3"/>
                  </a:moveTo>
                  <a:cubicBezTo>
                    <a:pt x="14" y="0"/>
                    <a:pt x="12" y="2"/>
                    <a:pt x="6" y="6"/>
                  </a:cubicBezTo>
                  <a:cubicBezTo>
                    <a:pt x="0" y="17"/>
                    <a:pt x="23" y="32"/>
                    <a:pt x="33" y="36"/>
                  </a:cubicBezTo>
                  <a:cubicBezTo>
                    <a:pt x="36" y="35"/>
                    <a:pt x="42" y="34"/>
                    <a:pt x="42" y="30"/>
                  </a:cubicBezTo>
                  <a:cubicBezTo>
                    <a:pt x="43" y="24"/>
                    <a:pt x="27" y="3"/>
                    <a:pt x="21" y="3"/>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3" name="Freeform 73"/>
            <p:cNvSpPr>
              <a:spLocks/>
            </p:cNvSpPr>
            <p:nvPr/>
          </p:nvSpPr>
          <p:spPr bwMode="invGray">
            <a:xfrm>
              <a:off x="4077" y="3342"/>
              <a:ext cx="24" cy="31"/>
            </a:xfrm>
            <a:custGeom>
              <a:avLst/>
              <a:gdLst/>
              <a:ahLst/>
              <a:cxnLst>
                <a:cxn ang="0">
                  <a:pos x="21" y="0"/>
                </a:cxn>
                <a:cxn ang="0">
                  <a:pos x="0" y="26"/>
                </a:cxn>
                <a:cxn ang="0">
                  <a:pos x="16" y="24"/>
                </a:cxn>
                <a:cxn ang="0">
                  <a:pos x="19" y="29"/>
                </a:cxn>
                <a:cxn ang="0">
                  <a:pos x="16" y="35"/>
                </a:cxn>
                <a:cxn ang="0">
                  <a:pos x="30" y="21"/>
                </a:cxn>
                <a:cxn ang="0">
                  <a:pos x="24" y="9"/>
                </a:cxn>
                <a:cxn ang="0">
                  <a:pos x="21" y="0"/>
                </a:cxn>
              </a:cxnLst>
              <a:rect l="0" t="0" r="r" b="b"/>
              <a:pathLst>
                <a:path w="32" h="41">
                  <a:moveTo>
                    <a:pt x="21" y="0"/>
                  </a:moveTo>
                  <a:cubicBezTo>
                    <a:pt x="15" y="10"/>
                    <a:pt x="6" y="16"/>
                    <a:pt x="0" y="26"/>
                  </a:cubicBezTo>
                  <a:cubicBezTo>
                    <a:pt x="7" y="27"/>
                    <a:pt x="10" y="27"/>
                    <a:pt x="16" y="24"/>
                  </a:cubicBezTo>
                  <a:cubicBezTo>
                    <a:pt x="17" y="26"/>
                    <a:pt x="19" y="27"/>
                    <a:pt x="19" y="29"/>
                  </a:cubicBezTo>
                  <a:cubicBezTo>
                    <a:pt x="19" y="31"/>
                    <a:pt x="15" y="33"/>
                    <a:pt x="16" y="35"/>
                  </a:cubicBezTo>
                  <a:cubicBezTo>
                    <a:pt x="19" y="41"/>
                    <a:pt x="29" y="23"/>
                    <a:pt x="30" y="21"/>
                  </a:cubicBezTo>
                  <a:cubicBezTo>
                    <a:pt x="32" y="9"/>
                    <a:pt x="26" y="19"/>
                    <a:pt x="24" y="9"/>
                  </a:cubicBezTo>
                  <a:cubicBezTo>
                    <a:pt x="25" y="1"/>
                    <a:pt x="27" y="4"/>
                    <a:pt x="21"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4" name="Freeform 74"/>
            <p:cNvSpPr>
              <a:spLocks/>
            </p:cNvSpPr>
            <p:nvPr/>
          </p:nvSpPr>
          <p:spPr bwMode="invGray">
            <a:xfrm>
              <a:off x="4111" y="3353"/>
              <a:ext cx="34" cy="24"/>
            </a:xfrm>
            <a:custGeom>
              <a:avLst/>
              <a:gdLst/>
              <a:ahLst/>
              <a:cxnLst>
                <a:cxn ang="0">
                  <a:pos x="21" y="0"/>
                </a:cxn>
                <a:cxn ang="0">
                  <a:pos x="0" y="7"/>
                </a:cxn>
                <a:cxn ang="0">
                  <a:pos x="27" y="31"/>
                </a:cxn>
                <a:cxn ang="0">
                  <a:pos x="45" y="24"/>
                </a:cxn>
                <a:cxn ang="0">
                  <a:pos x="22" y="10"/>
                </a:cxn>
                <a:cxn ang="0">
                  <a:pos x="21" y="0"/>
                </a:cxn>
              </a:cxnLst>
              <a:rect l="0" t="0" r="r" b="b"/>
              <a:pathLst>
                <a:path w="45" h="32">
                  <a:moveTo>
                    <a:pt x="21" y="0"/>
                  </a:moveTo>
                  <a:cubicBezTo>
                    <a:pt x="10" y="1"/>
                    <a:pt x="8" y="1"/>
                    <a:pt x="0" y="7"/>
                  </a:cubicBezTo>
                  <a:cubicBezTo>
                    <a:pt x="3" y="20"/>
                    <a:pt x="15" y="29"/>
                    <a:pt x="27" y="31"/>
                  </a:cubicBezTo>
                  <a:cubicBezTo>
                    <a:pt x="36" y="30"/>
                    <a:pt x="41" y="32"/>
                    <a:pt x="45" y="24"/>
                  </a:cubicBezTo>
                  <a:cubicBezTo>
                    <a:pt x="32" y="16"/>
                    <a:pt x="30" y="23"/>
                    <a:pt x="22" y="10"/>
                  </a:cubicBezTo>
                  <a:cubicBezTo>
                    <a:pt x="21" y="2"/>
                    <a:pt x="21" y="5"/>
                    <a:pt x="21"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5" name="Freeform 75"/>
            <p:cNvSpPr>
              <a:spLocks/>
            </p:cNvSpPr>
            <p:nvPr/>
          </p:nvSpPr>
          <p:spPr bwMode="invGray">
            <a:xfrm>
              <a:off x="4062" y="3021"/>
              <a:ext cx="27" cy="55"/>
            </a:xfrm>
            <a:custGeom>
              <a:avLst/>
              <a:gdLst/>
              <a:ahLst/>
              <a:cxnLst>
                <a:cxn ang="0">
                  <a:pos x="30" y="0"/>
                </a:cxn>
                <a:cxn ang="0">
                  <a:pos x="21" y="15"/>
                </a:cxn>
                <a:cxn ang="0">
                  <a:pos x="9" y="36"/>
                </a:cxn>
                <a:cxn ang="0">
                  <a:pos x="0" y="59"/>
                </a:cxn>
                <a:cxn ang="0">
                  <a:pos x="8" y="74"/>
                </a:cxn>
                <a:cxn ang="0">
                  <a:pos x="20" y="59"/>
                </a:cxn>
                <a:cxn ang="0">
                  <a:pos x="35" y="32"/>
                </a:cxn>
                <a:cxn ang="0">
                  <a:pos x="30" y="0"/>
                </a:cxn>
              </a:cxnLst>
              <a:rect l="0" t="0" r="r" b="b"/>
              <a:pathLst>
                <a:path w="35" h="74">
                  <a:moveTo>
                    <a:pt x="30" y="0"/>
                  </a:moveTo>
                  <a:cubicBezTo>
                    <a:pt x="33" y="8"/>
                    <a:pt x="29" y="14"/>
                    <a:pt x="21" y="15"/>
                  </a:cubicBezTo>
                  <a:cubicBezTo>
                    <a:pt x="19" y="27"/>
                    <a:pt x="24" y="33"/>
                    <a:pt x="9" y="36"/>
                  </a:cubicBezTo>
                  <a:cubicBezTo>
                    <a:pt x="13" y="50"/>
                    <a:pt x="12" y="52"/>
                    <a:pt x="0" y="59"/>
                  </a:cubicBezTo>
                  <a:cubicBezTo>
                    <a:pt x="3" y="64"/>
                    <a:pt x="5" y="69"/>
                    <a:pt x="8" y="74"/>
                  </a:cubicBezTo>
                  <a:cubicBezTo>
                    <a:pt x="15" y="71"/>
                    <a:pt x="16" y="65"/>
                    <a:pt x="20" y="59"/>
                  </a:cubicBezTo>
                  <a:cubicBezTo>
                    <a:pt x="22" y="47"/>
                    <a:pt x="28" y="41"/>
                    <a:pt x="35" y="32"/>
                  </a:cubicBezTo>
                  <a:cubicBezTo>
                    <a:pt x="34" y="26"/>
                    <a:pt x="30" y="8"/>
                    <a:pt x="30"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6" name="Freeform 76"/>
            <p:cNvSpPr>
              <a:spLocks/>
            </p:cNvSpPr>
            <p:nvPr/>
          </p:nvSpPr>
          <p:spPr bwMode="invGray">
            <a:xfrm>
              <a:off x="4113" y="3012"/>
              <a:ext cx="19" cy="55"/>
            </a:xfrm>
            <a:custGeom>
              <a:avLst/>
              <a:gdLst/>
              <a:ahLst/>
              <a:cxnLst>
                <a:cxn ang="0">
                  <a:pos x="13" y="7"/>
                </a:cxn>
                <a:cxn ang="0">
                  <a:pos x="4" y="8"/>
                </a:cxn>
                <a:cxn ang="0">
                  <a:pos x="0" y="22"/>
                </a:cxn>
                <a:cxn ang="0">
                  <a:pos x="15" y="41"/>
                </a:cxn>
                <a:cxn ang="0">
                  <a:pos x="25" y="56"/>
                </a:cxn>
                <a:cxn ang="0">
                  <a:pos x="16" y="20"/>
                </a:cxn>
                <a:cxn ang="0">
                  <a:pos x="13" y="7"/>
                </a:cxn>
              </a:cxnLst>
              <a:rect l="0" t="0" r="r" b="b"/>
              <a:pathLst>
                <a:path w="25" h="73">
                  <a:moveTo>
                    <a:pt x="13" y="7"/>
                  </a:moveTo>
                  <a:cubicBezTo>
                    <a:pt x="9" y="0"/>
                    <a:pt x="7" y="2"/>
                    <a:pt x="4" y="8"/>
                  </a:cubicBezTo>
                  <a:cubicBezTo>
                    <a:pt x="3" y="13"/>
                    <a:pt x="1" y="17"/>
                    <a:pt x="0" y="22"/>
                  </a:cubicBezTo>
                  <a:cubicBezTo>
                    <a:pt x="1" y="35"/>
                    <a:pt x="6" y="33"/>
                    <a:pt x="15" y="41"/>
                  </a:cubicBezTo>
                  <a:cubicBezTo>
                    <a:pt x="16" y="52"/>
                    <a:pt x="15" y="73"/>
                    <a:pt x="25" y="56"/>
                  </a:cubicBezTo>
                  <a:cubicBezTo>
                    <a:pt x="24" y="33"/>
                    <a:pt x="23" y="36"/>
                    <a:pt x="16" y="20"/>
                  </a:cubicBezTo>
                  <a:cubicBezTo>
                    <a:pt x="15" y="11"/>
                    <a:pt x="16" y="15"/>
                    <a:pt x="13" y="7"/>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7" name="Freeform 77"/>
            <p:cNvSpPr>
              <a:spLocks/>
            </p:cNvSpPr>
            <p:nvPr/>
          </p:nvSpPr>
          <p:spPr bwMode="invGray">
            <a:xfrm>
              <a:off x="4135" y="2995"/>
              <a:ext cx="10" cy="25"/>
            </a:xfrm>
            <a:custGeom>
              <a:avLst/>
              <a:gdLst/>
              <a:ahLst/>
              <a:cxnLst>
                <a:cxn ang="0">
                  <a:pos x="11" y="0"/>
                </a:cxn>
                <a:cxn ang="0">
                  <a:pos x="1" y="10"/>
                </a:cxn>
                <a:cxn ang="0">
                  <a:pos x="11" y="25"/>
                </a:cxn>
                <a:cxn ang="0">
                  <a:pos x="11" y="0"/>
                </a:cxn>
              </a:cxnLst>
              <a:rect l="0" t="0" r="r" b="b"/>
              <a:pathLst>
                <a:path w="14" h="33">
                  <a:moveTo>
                    <a:pt x="11" y="0"/>
                  </a:moveTo>
                  <a:cubicBezTo>
                    <a:pt x="7" y="3"/>
                    <a:pt x="5" y="7"/>
                    <a:pt x="1" y="10"/>
                  </a:cubicBezTo>
                  <a:cubicBezTo>
                    <a:pt x="2" y="18"/>
                    <a:pt x="0" y="33"/>
                    <a:pt x="11" y="25"/>
                  </a:cubicBezTo>
                  <a:cubicBezTo>
                    <a:pt x="14" y="15"/>
                    <a:pt x="5" y="4"/>
                    <a:pt x="11"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8" name="Freeform 78"/>
            <p:cNvSpPr>
              <a:spLocks/>
            </p:cNvSpPr>
            <p:nvPr/>
          </p:nvSpPr>
          <p:spPr bwMode="invGray">
            <a:xfrm>
              <a:off x="4145" y="3007"/>
              <a:ext cx="21" cy="48"/>
            </a:xfrm>
            <a:custGeom>
              <a:avLst/>
              <a:gdLst/>
              <a:ahLst/>
              <a:cxnLst>
                <a:cxn ang="0">
                  <a:pos x="5" y="0"/>
                </a:cxn>
                <a:cxn ang="0">
                  <a:pos x="11" y="14"/>
                </a:cxn>
                <a:cxn ang="0">
                  <a:pos x="20" y="21"/>
                </a:cxn>
                <a:cxn ang="0">
                  <a:pos x="8" y="39"/>
                </a:cxn>
                <a:cxn ang="0">
                  <a:pos x="0" y="56"/>
                </a:cxn>
                <a:cxn ang="0">
                  <a:pos x="11" y="57"/>
                </a:cxn>
                <a:cxn ang="0">
                  <a:pos x="26" y="26"/>
                </a:cxn>
                <a:cxn ang="0">
                  <a:pos x="5" y="0"/>
                </a:cxn>
              </a:cxnLst>
              <a:rect l="0" t="0" r="r" b="b"/>
              <a:pathLst>
                <a:path w="28" h="64">
                  <a:moveTo>
                    <a:pt x="5" y="0"/>
                  </a:moveTo>
                  <a:cubicBezTo>
                    <a:pt x="6" y="5"/>
                    <a:pt x="7" y="10"/>
                    <a:pt x="11" y="14"/>
                  </a:cubicBezTo>
                  <a:cubicBezTo>
                    <a:pt x="14" y="17"/>
                    <a:pt x="20" y="21"/>
                    <a:pt x="20" y="21"/>
                  </a:cubicBezTo>
                  <a:cubicBezTo>
                    <a:pt x="9" y="27"/>
                    <a:pt x="0" y="23"/>
                    <a:pt x="8" y="39"/>
                  </a:cubicBezTo>
                  <a:cubicBezTo>
                    <a:pt x="6" y="47"/>
                    <a:pt x="4" y="50"/>
                    <a:pt x="0" y="56"/>
                  </a:cubicBezTo>
                  <a:cubicBezTo>
                    <a:pt x="4" y="62"/>
                    <a:pt x="7" y="64"/>
                    <a:pt x="11" y="57"/>
                  </a:cubicBezTo>
                  <a:cubicBezTo>
                    <a:pt x="13" y="43"/>
                    <a:pt x="10" y="29"/>
                    <a:pt x="26" y="26"/>
                  </a:cubicBezTo>
                  <a:cubicBezTo>
                    <a:pt x="28" y="15"/>
                    <a:pt x="14" y="4"/>
                    <a:pt x="5"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69" name="Freeform 79"/>
            <p:cNvSpPr>
              <a:spLocks/>
            </p:cNvSpPr>
            <p:nvPr/>
          </p:nvSpPr>
          <p:spPr bwMode="invGray">
            <a:xfrm>
              <a:off x="3876" y="3076"/>
              <a:ext cx="12" cy="27"/>
            </a:xfrm>
            <a:custGeom>
              <a:avLst/>
              <a:gdLst/>
              <a:ahLst/>
              <a:cxnLst>
                <a:cxn ang="0">
                  <a:pos x="14" y="3"/>
                </a:cxn>
                <a:cxn ang="0">
                  <a:pos x="0" y="7"/>
                </a:cxn>
                <a:cxn ang="0">
                  <a:pos x="8" y="22"/>
                </a:cxn>
                <a:cxn ang="0">
                  <a:pos x="14" y="3"/>
                </a:cxn>
              </a:cxnLst>
              <a:rect l="0" t="0" r="r" b="b"/>
              <a:pathLst>
                <a:path w="16" h="36">
                  <a:moveTo>
                    <a:pt x="14" y="3"/>
                  </a:moveTo>
                  <a:cubicBezTo>
                    <a:pt x="7" y="0"/>
                    <a:pt x="4" y="1"/>
                    <a:pt x="0" y="7"/>
                  </a:cubicBezTo>
                  <a:cubicBezTo>
                    <a:pt x="3" y="14"/>
                    <a:pt x="2" y="17"/>
                    <a:pt x="8" y="22"/>
                  </a:cubicBezTo>
                  <a:cubicBezTo>
                    <a:pt x="16" y="36"/>
                    <a:pt x="11" y="7"/>
                    <a:pt x="14" y="3"/>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0" name="Freeform 80"/>
            <p:cNvSpPr>
              <a:spLocks/>
            </p:cNvSpPr>
            <p:nvPr/>
          </p:nvSpPr>
          <p:spPr bwMode="invGray">
            <a:xfrm>
              <a:off x="3866" y="3053"/>
              <a:ext cx="10" cy="15"/>
            </a:xfrm>
            <a:custGeom>
              <a:avLst/>
              <a:gdLst/>
              <a:ahLst/>
              <a:cxnLst>
                <a:cxn ang="0">
                  <a:pos x="10" y="5"/>
                </a:cxn>
                <a:cxn ang="0">
                  <a:pos x="1" y="11"/>
                </a:cxn>
                <a:cxn ang="0">
                  <a:pos x="9" y="20"/>
                </a:cxn>
                <a:cxn ang="0">
                  <a:pos x="10" y="5"/>
                </a:cxn>
              </a:cxnLst>
              <a:rect l="0" t="0" r="r" b="b"/>
              <a:pathLst>
                <a:path w="13" h="20">
                  <a:moveTo>
                    <a:pt x="10" y="5"/>
                  </a:moveTo>
                  <a:cubicBezTo>
                    <a:pt x="3" y="0"/>
                    <a:pt x="5" y="6"/>
                    <a:pt x="1" y="11"/>
                  </a:cubicBezTo>
                  <a:cubicBezTo>
                    <a:pt x="0" y="18"/>
                    <a:pt x="2" y="19"/>
                    <a:pt x="9" y="20"/>
                  </a:cubicBezTo>
                  <a:cubicBezTo>
                    <a:pt x="13" y="14"/>
                    <a:pt x="10"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 name="Freeform 81"/>
            <p:cNvSpPr>
              <a:spLocks/>
            </p:cNvSpPr>
            <p:nvPr/>
          </p:nvSpPr>
          <p:spPr bwMode="invGray">
            <a:xfrm>
              <a:off x="3862" y="3035"/>
              <a:ext cx="12" cy="14"/>
            </a:xfrm>
            <a:custGeom>
              <a:avLst/>
              <a:gdLst/>
              <a:ahLst/>
              <a:cxnLst>
                <a:cxn ang="0">
                  <a:pos x="10" y="5"/>
                </a:cxn>
                <a:cxn ang="0">
                  <a:pos x="0" y="10"/>
                </a:cxn>
                <a:cxn ang="0">
                  <a:pos x="12" y="19"/>
                </a:cxn>
                <a:cxn ang="0">
                  <a:pos x="10" y="5"/>
                </a:cxn>
              </a:cxnLst>
              <a:rect l="0" t="0" r="r" b="b"/>
              <a:pathLst>
                <a:path w="16" h="19">
                  <a:moveTo>
                    <a:pt x="10" y="5"/>
                  </a:moveTo>
                  <a:cubicBezTo>
                    <a:pt x="4" y="0"/>
                    <a:pt x="1" y="3"/>
                    <a:pt x="0" y="10"/>
                  </a:cubicBezTo>
                  <a:cubicBezTo>
                    <a:pt x="4" y="15"/>
                    <a:pt x="7" y="16"/>
                    <a:pt x="12" y="19"/>
                  </a:cubicBezTo>
                  <a:cubicBezTo>
                    <a:pt x="16" y="12"/>
                    <a:pt x="14"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2" name="Freeform 82"/>
            <p:cNvSpPr>
              <a:spLocks/>
            </p:cNvSpPr>
            <p:nvPr/>
          </p:nvSpPr>
          <p:spPr bwMode="invGray">
            <a:xfrm>
              <a:off x="3850" y="2995"/>
              <a:ext cx="11" cy="19"/>
            </a:xfrm>
            <a:custGeom>
              <a:avLst/>
              <a:gdLst/>
              <a:ahLst/>
              <a:cxnLst>
                <a:cxn ang="0">
                  <a:pos x="6" y="0"/>
                </a:cxn>
                <a:cxn ang="0">
                  <a:pos x="0" y="13"/>
                </a:cxn>
                <a:cxn ang="0">
                  <a:pos x="12" y="24"/>
                </a:cxn>
                <a:cxn ang="0">
                  <a:pos x="6" y="0"/>
                </a:cxn>
              </a:cxnLst>
              <a:rect l="0" t="0" r="r" b="b"/>
              <a:pathLst>
                <a:path w="14" h="25">
                  <a:moveTo>
                    <a:pt x="6" y="0"/>
                  </a:moveTo>
                  <a:cubicBezTo>
                    <a:pt x="4" y="5"/>
                    <a:pt x="3" y="9"/>
                    <a:pt x="0" y="13"/>
                  </a:cubicBezTo>
                  <a:cubicBezTo>
                    <a:pt x="1" y="24"/>
                    <a:pt x="1" y="25"/>
                    <a:pt x="12" y="24"/>
                  </a:cubicBezTo>
                  <a:cubicBezTo>
                    <a:pt x="14" y="12"/>
                    <a:pt x="8" y="10"/>
                    <a:pt x="6"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3" name="Freeform 83"/>
            <p:cNvSpPr>
              <a:spLocks/>
            </p:cNvSpPr>
            <p:nvPr/>
          </p:nvSpPr>
          <p:spPr bwMode="invGray">
            <a:xfrm>
              <a:off x="3852" y="3020"/>
              <a:ext cx="16" cy="13"/>
            </a:xfrm>
            <a:custGeom>
              <a:avLst/>
              <a:gdLst/>
              <a:ahLst/>
              <a:cxnLst>
                <a:cxn ang="0">
                  <a:pos x="13" y="0"/>
                </a:cxn>
                <a:cxn ang="0">
                  <a:pos x="19" y="18"/>
                </a:cxn>
                <a:cxn ang="0">
                  <a:pos x="14" y="6"/>
                </a:cxn>
                <a:cxn ang="0">
                  <a:pos x="13" y="0"/>
                </a:cxn>
              </a:cxnLst>
              <a:rect l="0" t="0" r="r" b="b"/>
              <a:pathLst>
                <a:path w="22" h="18">
                  <a:moveTo>
                    <a:pt x="13" y="0"/>
                  </a:moveTo>
                  <a:cubicBezTo>
                    <a:pt x="0" y="8"/>
                    <a:pt x="9" y="12"/>
                    <a:pt x="19" y="18"/>
                  </a:cubicBezTo>
                  <a:cubicBezTo>
                    <a:pt x="20" y="11"/>
                    <a:pt x="22" y="8"/>
                    <a:pt x="14" y="6"/>
                  </a:cubicBezTo>
                  <a:cubicBezTo>
                    <a:pt x="9" y="3"/>
                    <a:pt x="9" y="5"/>
                    <a:pt x="13"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4" name="Freeform 84"/>
            <p:cNvSpPr>
              <a:spLocks/>
            </p:cNvSpPr>
            <p:nvPr/>
          </p:nvSpPr>
          <p:spPr bwMode="invGray">
            <a:xfrm>
              <a:off x="4688" y="3643"/>
              <a:ext cx="45" cy="60"/>
            </a:xfrm>
            <a:custGeom>
              <a:avLst/>
              <a:gdLst/>
              <a:ahLst/>
              <a:cxnLst>
                <a:cxn ang="0">
                  <a:pos x="10" y="7"/>
                </a:cxn>
                <a:cxn ang="0">
                  <a:pos x="3" y="18"/>
                </a:cxn>
                <a:cxn ang="0">
                  <a:pos x="15" y="39"/>
                </a:cxn>
                <a:cxn ang="0">
                  <a:pos x="27" y="54"/>
                </a:cxn>
                <a:cxn ang="0">
                  <a:pos x="40" y="63"/>
                </a:cxn>
                <a:cxn ang="0">
                  <a:pos x="51" y="81"/>
                </a:cxn>
                <a:cxn ang="0">
                  <a:pos x="52" y="57"/>
                </a:cxn>
                <a:cxn ang="0">
                  <a:pos x="43" y="37"/>
                </a:cxn>
                <a:cxn ang="0">
                  <a:pos x="25" y="18"/>
                </a:cxn>
                <a:cxn ang="0">
                  <a:pos x="10" y="7"/>
                </a:cxn>
              </a:cxnLst>
              <a:rect l="0" t="0" r="r" b="b"/>
              <a:pathLst>
                <a:path w="60" h="81">
                  <a:moveTo>
                    <a:pt x="10" y="7"/>
                  </a:moveTo>
                  <a:cubicBezTo>
                    <a:pt x="0" y="0"/>
                    <a:pt x="0" y="9"/>
                    <a:pt x="3" y="18"/>
                  </a:cubicBezTo>
                  <a:cubicBezTo>
                    <a:pt x="5" y="25"/>
                    <a:pt x="12" y="32"/>
                    <a:pt x="15" y="39"/>
                  </a:cubicBezTo>
                  <a:cubicBezTo>
                    <a:pt x="16" y="51"/>
                    <a:pt x="17" y="51"/>
                    <a:pt x="27" y="54"/>
                  </a:cubicBezTo>
                  <a:cubicBezTo>
                    <a:pt x="31" y="57"/>
                    <a:pt x="36" y="60"/>
                    <a:pt x="40" y="63"/>
                  </a:cubicBezTo>
                  <a:cubicBezTo>
                    <a:pt x="43" y="70"/>
                    <a:pt x="45" y="77"/>
                    <a:pt x="51" y="81"/>
                  </a:cubicBezTo>
                  <a:cubicBezTo>
                    <a:pt x="60" y="75"/>
                    <a:pt x="56" y="66"/>
                    <a:pt x="52" y="57"/>
                  </a:cubicBezTo>
                  <a:cubicBezTo>
                    <a:pt x="51" y="49"/>
                    <a:pt x="50" y="41"/>
                    <a:pt x="43" y="37"/>
                  </a:cubicBezTo>
                  <a:cubicBezTo>
                    <a:pt x="37" y="30"/>
                    <a:pt x="33" y="23"/>
                    <a:pt x="25" y="18"/>
                  </a:cubicBezTo>
                  <a:cubicBezTo>
                    <a:pt x="20" y="12"/>
                    <a:pt x="17" y="9"/>
                    <a:pt x="10" y="7"/>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5" name="Freeform 85"/>
            <p:cNvSpPr>
              <a:spLocks/>
            </p:cNvSpPr>
            <p:nvPr/>
          </p:nvSpPr>
          <p:spPr bwMode="invGray">
            <a:xfrm>
              <a:off x="4919" y="3594"/>
              <a:ext cx="53" cy="46"/>
            </a:xfrm>
            <a:custGeom>
              <a:avLst/>
              <a:gdLst/>
              <a:ahLst/>
              <a:cxnLst>
                <a:cxn ang="0">
                  <a:pos x="28" y="23"/>
                </a:cxn>
                <a:cxn ang="0">
                  <a:pos x="13" y="32"/>
                </a:cxn>
                <a:cxn ang="0">
                  <a:pos x="1" y="44"/>
                </a:cxn>
                <a:cxn ang="0">
                  <a:pos x="13" y="59"/>
                </a:cxn>
                <a:cxn ang="0">
                  <a:pos x="28" y="44"/>
                </a:cxn>
                <a:cxn ang="0">
                  <a:pos x="40" y="23"/>
                </a:cxn>
                <a:cxn ang="0">
                  <a:pos x="55" y="0"/>
                </a:cxn>
                <a:cxn ang="0">
                  <a:pos x="71" y="11"/>
                </a:cxn>
                <a:cxn ang="0">
                  <a:pos x="35" y="23"/>
                </a:cxn>
                <a:cxn ang="0">
                  <a:pos x="28" y="23"/>
                </a:cxn>
              </a:cxnLst>
              <a:rect l="0" t="0" r="r" b="b"/>
              <a:pathLst>
                <a:path w="71" h="61">
                  <a:moveTo>
                    <a:pt x="28" y="23"/>
                  </a:moveTo>
                  <a:cubicBezTo>
                    <a:pt x="25" y="33"/>
                    <a:pt x="25" y="33"/>
                    <a:pt x="13" y="32"/>
                  </a:cubicBezTo>
                  <a:cubicBezTo>
                    <a:pt x="2" y="33"/>
                    <a:pt x="3" y="34"/>
                    <a:pt x="1" y="44"/>
                  </a:cubicBezTo>
                  <a:cubicBezTo>
                    <a:pt x="2" y="60"/>
                    <a:pt x="0" y="61"/>
                    <a:pt x="13" y="59"/>
                  </a:cubicBezTo>
                  <a:cubicBezTo>
                    <a:pt x="19" y="54"/>
                    <a:pt x="21" y="48"/>
                    <a:pt x="28" y="44"/>
                  </a:cubicBezTo>
                  <a:cubicBezTo>
                    <a:pt x="30" y="33"/>
                    <a:pt x="28" y="25"/>
                    <a:pt x="40" y="23"/>
                  </a:cubicBezTo>
                  <a:cubicBezTo>
                    <a:pt x="42" y="12"/>
                    <a:pt x="44" y="4"/>
                    <a:pt x="55" y="0"/>
                  </a:cubicBezTo>
                  <a:cubicBezTo>
                    <a:pt x="65" y="2"/>
                    <a:pt x="69" y="1"/>
                    <a:pt x="71" y="11"/>
                  </a:cubicBezTo>
                  <a:cubicBezTo>
                    <a:pt x="63" y="22"/>
                    <a:pt x="48" y="21"/>
                    <a:pt x="35" y="23"/>
                  </a:cubicBezTo>
                  <a:cubicBezTo>
                    <a:pt x="30" y="27"/>
                    <a:pt x="32" y="27"/>
                    <a:pt x="28" y="23"/>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6" name="Freeform 86"/>
            <p:cNvSpPr>
              <a:spLocks/>
            </p:cNvSpPr>
            <p:nvPr/>
          </p:nvSpPr>
          <p:spPr bwMode="invGray">
            <a:xfrm>
              <a:off x="4759" y="3569"/>
              <a:ext cx="17" cy="23"/>
            </a:xfrm>
            <a:custGeom>
              <a:avLst/>
              <a:gdLst/>
              <a:ahLst/>
              <a:cxnLst>
                <a:cxn ang="0">
                  <a:pos x="9" y="0"/>
                </a:cxn>
                <a:cxn ang="0">
                  <a:pos x="0" y="14"/>
                </a:cxn>
                <a:cxn ang="0">
                  <a:pos x="12" y="30"/>
                </a:cxn>
                <a:cxn ang="0">
                  <a:pos x="9" y="0"/>
                </a:cxn>
              </a:cxnLst>
              <a:rect l="0" t="0" r="r" b="b"/>
              <a:pathLst>
                <a:path w="23" h="30">
                  <a:moveTo>
                    <a:pt x="9" y="0"/>
                  </a:moveTo>
                  <a:cubicBezTo>
                    <a:pt x="8" y="7"/>
                    <a:pt x="3" y="8"/>
                    <a:pt x="0" y="14"/>
                  </a:cubicBezTo>
                  <a:cubicBezTo>
                    <a:pt x="3" y="21"/>
                    <a:pt x="8" y="24"/>
                    <a:pt x="12" y="30"/>
                  </a:cubicBezTo>
                  <a:cubicBezTo>
                    <a:pt x="23" y="15"/>
                    <a:pt x="4" y="9"/>
                    <a:pt x="9"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7" name="Freeform 87"/>
            <p:cNvSpPr>
              <a:spLocks/>
            </p:cNvSpPr>
            <p:nvPr/>
          </p:nvSpPr>
          <p:spPr bwMode="invGray">
            <a:xfrm>
              <a:off x="4751" y="3547"/>
              <a:ext cx="20" cy="17"/>
            </a:xfrm>
            <a:custGeom>
              <a:avLst/>
              <a:gdLst/>
              <a:ahLst/>
              <a:cxnLst>
                <a:cxn ang="0">
                  <a:pos x="19" y="0"/>
                </a:cxn>
                <a:cxn ang="0">
                  <a:pos x="0" y="14"/>
                </a:cxn>
                <a:cxn ang="0">
                  <a:pos x="21" y="20"/>
                </a:cxn>
                <a:cxn ang="0">
                  <a:pos x="19" y="0"/>
                </a:cxn>
              </a:cxnLst>
              <a:rect l="0" t="0" r="r" b="b"/>
              <a:pathLst>
                <a:path w="26" h="23">
                  <a:moveTo>
                    <a:pt x="19" y="0"/>
                  </a:moveTo>
                  <a:cubicBezTo>
                    <a:pt x="17" y="12"/>
                    <a:pt x="10" y="11"/>
                    <a:pt x="0" y="14"/>
                  </a:cubicBezTo>
                  <a:cubicBezTo>
                    <a:pt x="5" y="23"/>
                    <a:pt x="11" y="22"/>
                    <a:pt x="21" y="20"/>
                  </a:cubicBezTo>
                  <a:cubicBezTo>
                    <a:pt x="26" y="12"/>
                    <a:pt x="23" y="7"/>
                    <a:pt x="19"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8" name="Freeform 88"/>
            <p:cNvSpPr>
              <a:spLocks/>
            </p:cNvSpPr>
            <p:nvPr/>
          </p:nvSpPr>
          <p:spPr bwMode="invGray">
            <a:xfrm>
              <a:off x="4598" y="3353"/>
              <a:ext cx="24" cy="33"/>
            </a:xfrm>
            <a:custGeom>
              <a:avLst/>
              <a:gdLst/>
              <a:ahLst/>
              <a:cxnLst>
                <a:cxn ang="0">
                  <a:pos x="28" y="0"/>
                </a:cxn>
                <a:cxn ang="0">
                  <a:pos x="10" y="11"/>
                </a:cxn>
                <a:cxn ang="0">
                  <a:pos x="12" y="32"/>
                </a:cxn>
                <a:cxn ang="0">
                  <a:pos x="24" y="36"/>
                </a:cxn>
                <a:cxn ang="0">
                  <a:pos x="28" y="0"/>
                </a:cxn>
              </a:cxnLst>
              <a:rect l="0" t="0" r="r" b="b"/>
              <a:pathLst>
                <a:path w="32" h="44">
                  <a:moveTo>
                    <a:pt x="28" y="0"/>
                  </a:moveTo>
                  <a:cubicBezTo>
                    <a:pt x="32" y="10"/>
                    <a:pt x="18" y="9"/>
                    <a:pt x="10" y="11"/>
                  </a:cubicBezTo>
                  <a:cubicBezTo>
                    <a:pt x="0" y="18"/>
                    <a:pt x="7" y="24"/>
                    <a:pt x="12" y="32"/>
                  </a:cubicBezTo>
                  <a:cubicBezTo>
                    <a:pt x="14" y="44"/>
                    <a:pt x="15" y="41"/>
                    <a:pt x="24" y="36"/>
                  </a:cubicBezTo>
                  <a:cubicBezTo>
                    <a:pt x="32" y="25"/>
                    <a:pt x="29" y="14"/>
                    <a:pt x="28"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9" name="Freeform 89"/>
            <p:cNvSpPr>
              <a:spLocks/>
            </p:cNvSpPr>
            <p:nvPr/>
          </p:nvSpPr>
          <p:spPr bwMode="invGray">
            <a:xfrm>
              <a:off x="4632" y="3396"/>
              <a:ext cx="26" cy="33"/>
            </a:xfrm>
            <a:custGeom>
              <a:avLst/>
              <a:gdLst/>
              <a:ahLst/>
              <a:cxnLst>
                <a:cxn ang="0">
                  <a:pos x="30" y="0"/>
                </a:cxn>
                <a:cxn ang="0">
                  <a:pos x="10" y="9"/>
                </a:cxn>
                <a:cxn ang="0">
                  <a:pos x="14" y="32"/>
                </a:cxn>
                <a:cxn ang="0">
                  <a:pos x="26" y="36"/>
                </a:cxn>
                <a:cxn ang="0">
                  <a:pos x="30" y="0"/>
                </a:cxn>
              </a:cxnLst>
              <a:rect l="0" t="0" r="r" b="b"/>
              <a:pathLst>
                <a:path w="34" h="44">
                  <a:moveTo>
                    <a:pt x="30" y="0"/>
                  </a:moveTo>
                  <a:cubicBezTo>
                    <a:pt x="34" y="10"/>
                    <a:pt x="18" y="7"/>
                    <a:pt x="10" y="9"/>
                  </a:cubicBezTo>
                  <a:cubicBezTo>
                    <a:pt x="0" y="16"/>
                    <a:pt x="9" y="24"/>
                    <a:pt x="14" y="32"/>
                  </a:cubicBezTo>
                  <a:cubicBezTo>
                    <a:pt x="16" y="44"/>
                    <a:pt x="17" y="41"/>
                    <a:pt x="26" y="36"/>
                  </a:cubicBezTo>
                  <a:cubicBezTo>
                    <a:pt x="34" y="25"/>
                    <a:pt x="31" y="14"/>
                    <a:pt x="30"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0" name="Freeform 90"/>
            <p:cNvSpPr>
              <a:spLocks/>
            </p:cNvSpPr>
            <p:nvPr/>
          </p:nvSpPr>
          <p:spPr bwMode="invGray">
            <a:xfrm>
              <a:off x="4659" y="3459"/>
              <a:ext cx="28" cy="28"/>
            </a:xfrm>
            <a:custGeom>
              <a:avLst/>
              <a:gdLst/>
              <a:ahLst/>
              <a:cxnLst>
                <a:cxn ang="0">
                  <a:pos x="34" y="2"/>
                </a:cxn>
                <a:cxn ang="0">
                  <a:pos x="10" y="2"/>
                </a:cxn>
                <a:cxn ang="0">
                  <a:pos x="14" y="25"/>
                </a:cxn>
                <a:cxn ang="0">
                  <a:pos x="26" y="29"/>
                </a:cxn>
                <a:cxn ang="0">
                  <a:pos x="34" y="2"/>
                </a:cxn>
              </a:cxnLst>
              <a:rect l="0" t="0" r="r" b="b"/>
              <a:pathLst>
                <a:path w="38" h="37">
                  <a:moveTo>
                    <a:pt x="34" y="2"/>
                  </a:moveTo>
                  <a:cubicBezTo>
                    <a:pt x="38" y="12"/>
                    <a:pt x="18" y="0"/>
                    <a:pt x="10" y="2"/>
                  </a:cubicBezTo>
                  <a:cubicBezTo>
                    <a:pt x="0" y="9"/>
                    <a:pt x="9" y="17"/>
                    <a:pt x="14" y="25"/>
                  </a:cubicBezTo>
                  <a:cubicBezTo>
                    <a:pt x="16" y="37"/>
                    <a:pt x="17" y="34"/>
                    <a:pt x="26" y="29"/>
                  </a:cubicBezTo>
                  <a:cubicBezTo>
                    <a:pt x="34" y="18"/>
                    <a:pt x="35" y="16"/>
                    <a:pt x="34" y="2"/>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1" name="Freeform 91"/>
            <p:cNvSpPr>
              <a:spLocks/>
            </p:cNvSpPr>
            <p:nvPr/>
          </p:nvSpPr>
          <p:spPr bwMode="invGray">
            <a:xfrm>
              <a:off x="4693" y="3449"/>
              <a:ext cx="28" cy="26"/>
            </a:xfrm>
            <a:custGeom>
              <a:avLst/>
              <a:gdLst/>
              <a:ahLst/>
              <a:cxnLst>
                <a:cxn ang="0">
                  <a:pos x="34" y="2"/>
                </a:cxn>
                <a:cxn ang="0">
                  <a:pos x="10" y="2"/>
                </a:cxn>
                <a:cxn ang="0">
                  <a:pos x="16" y="22"/>
                </a:cxn>
                <a:cxn ang="0">
                  <a:pos x="27" y="22"/>
                </a:cxn>
                <a:cxn ang="0">
                  <a:pos x="34" y="2"/>
                </a:cxn>
              </a:cxnLst>
              <a:rect l="0" t="0" r="r" b="b"/>
              <a:pathLst>
                <a:path w="38" h="34">
                  <a:moveTo>
                    <a:pt x="34" y="2"/>
                  </a:moveTo>
                  <a:cubicBezTo>
                    <a:pt x="38" y="12"/>
                    <a:pt x="18" y="0"/>
                    <a:pt x="10" y="2"/>
                  </a:cubicBezTo>
                  <a:cubicBezTo>
                    <a:pt x="0" y="9"/>
                    <a:pt x="11" y="14"/>
                    <a:pt x="16" y="22"/>
                  </a:cubicBezTo>
                  <a:cubicBezTo>
                    <a:pt x="18" y="34"/>
                    <a:pt x="18" y="27"/>
                    <a:pt x="27" y="22"/>
                  </a:cubicBezTo>
                  <a:cubicBezTo>
                    <a:pt x="35" y="11"/>
                    <a:pt x="35" y="16"/>
                    <a:pt x="34" y="2"/>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2" name="Freeform 92"/>
            <p:cNvSpPr>
              <a:spLocks/>
            </p:cNvSpPr>
            <p:nvPr/>
          </p:nvSpPr>
          <p:spPr bwMode="invGray">
            <a:xfrm>
              <a:off x="4683" y="3413"/>
              <a:ext cx="26" cy="20"/>
            </a:xfrm>
            <a:custGeom>
              <a:avLst/>
              <a:gdLst/>
              <a:ahLst/>
              <a:cxnLst>
                <a:cxn ang="0">
                  <a:pos x="31" y="1"/>
                </a:cxn>
                <a:cxn ang="0">
                  <a:pos x="10" y="2"/>
                </a:cxn>
                <a:cxn ang="0">
                  <a:pos x="13" y="15"/>
                </a:cxn>
                <a:cxn ang="0">
                  <a:pos x="25" y="19"/>
                </a:cxn>
                <a:cxn ang="0">
                  <a:pos x="31" y="1"/>
                </a:cxn>
              </a:cxnLst>
              <a:rect l="0" t="0" r="r" b="b"/>
              <a:pathLst>
                <a:path w="35" h="27">
                  <a:moveTo>
                    <a:pt x="31" y="1"/>
                  </a:moveTo>
                  <a:cubicBezTo>
                    <a:pt x="35" y="11"/>
                    <a:pt x="18" y="0"/>
                    <a:pt x="10" y="2"/>
                  </a:cubicBezTo>
                  <a:cubicBezTo>
                    <a:pt x="0" y="9"/>
                    <a:pt x="8" y="7"/>
                    <a:pt x="13" y="15"/>
                  </a:cubicBezTo>
                  <a:cubicBezTo>
                    <a:pt x="15" y="27"/>
                    <a:pt x="16" y="24"/>
                    <a:pt x="25" y="19"/>
                  </a:cubicBezTo>
                  <a:cubicBezTo>
                    <a:pt x="33" y="8"/>
                    <a:pt x="32" y="15"/>
                    <a:pt x="31" y="1"/>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3" name="Freeform 93"/>
            <p:cNvSpPr>
              <a:spLocks/>
            </p:cNvSpPr>
            <p:nvPr/>
          </p:nvSpPr>
          <p:spPr bwMode="invGray">
            <a:xfrm>
              <a:off x="4657" y="3388"/>
              <a:ext cx="26" cy="35"/>
            </a:xfrm>
            <a:custGeom>
              <a:avLst/>
              <a:gdLst/>
              <a:ahLst/>
              <a:cxnLst>
                <a:cxn ang="0">
                  <a:pos x="28" y="16"/>
                </a:cxn>
                <a:cxn ang="0">
                  <a:pos x="19" y="2"/>
                </a:cxn>
                <a:cxn ang="0">
                  <a:pos x="10" y="25"/>
                </a:cxn>
                <a:cxn ang="0">
                  <a:pos x="19" y="35"/>
                </a:cxn>
                <a:cxn ang="0">
                  <a:pos x="27" y="29"/>
                </a:cxn>
                <a:cxn ang="0">
                  <a:pos x="28" y="16"/>
                </a:cxn>
              </a:cxnLst>
              <a:rect l="0" t="0" r="r" b="b"/>
              <a:pathLst>
                <a:path w="35" h="47">
                  <a:moveTo>
                    <a:pt x="28" y="16"/>
                  </a:moveTo>
                  <a:cubicBezTo>
                    <a:pt x="27" y="13"/>
                    <a:pt x="22" y="0"/>
                    <a:pt x="19" y="2"/>
                  </a:cubicBezTo>
                  <a:cubicBezTo>
                    <a:pt x="16" y="4"/>
                    <a:pt x="10" y="20"/>
                    <a:pt x="10" y="25"/>
                  </a:cubicBezTo>
                  <a:cubicBezTo>
                    <a:pt x="0" y="32"/>
                    <a:pt x="14" y="27"/>
                    <a:pt x="19" y="35"/>
                  </a:cubicBezTo>
                  <a:cubicBezTo>
                    <a:pt x="21" y="47"/>
                    <a:pt x="18" y="34"/>
                    <a:pt x="27" y="29"/>
                  </a:cubicBezTo>
                  <a:cubicBezTo>
                    <a:pt x="35" y="18"/>
                    <a:pt x="29" y="30"/>
                    <a:pt x="28" y="16"/>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4" name="Freeform 94"/>
            <p:cNvSpPr>
              <a:spLocks/>
            </p:cNvSpPr>
            <p:nvPr/>
          </p:nvSpPr>
          <p:spPr bwMode="invGray">
            <a:xfrm>
              <a:off x="4625" y="3372"/>
              <a:ext cx="24" cy="26"/>
            </a:xfrm>
            <a:custGeom>
              <a:avLst/>
              <a:gdLst/>
              <a:ahLst/>
              <a:cxnLst>
                <a:cxn ang="0">
                  <a:pos x="22" y="10"/>
                </a:cxn>
                <a:cxn ang="0">
                  <a:pos x="10" y="2"/>
                </a:cxn>
                <a:cxn ang="0">
                  <a:pos x="12" y="23"/>
                </a:cxn>
                <a:cxn ang="0">
                  <a:pos x="24" y="27"/>
                </a:cxn>
                <a:cxn ang="0">
                  <a:pos x="22" y="10"/>
                </a:cxn>
              </a:cxnLst>
              <a:rect l="0" t="0" r="r" b="b"/>
              <a:pathLst>
                <a:path w="32" h="35">
                  <a:moveTo>
                    <a:pt x="22" y="10"/>
                  </a:moveTo>
                  <a:cubicBezTo>
                    <a:pt x="26" y="20"/>
                    <a:pt x="18" y="0"/>
                    <a:pt x="10" y="2"/>
                  </a:cubicBezTo>
                  <a:cubicBezTo>
                    <a:pt x="0" y="9"/>
                    <a:pt x="7" y="15"/>
                    <a:pt x="12" y="23"/>
                  </a:cubicBezTo>
                  <a:cubicBezTo>
                    <a:pt x="14" y="35"/>
                    <a:pt x="15" y="32"/>
                    <a:pt x="24" y="27"/>
                  </a:cubicBezTo>
                  <a:cubicBezTo>
                    <a:pt x="32" y="16"/>
                    <a:pt x="23" y="24"/>
                    <a:pt x="22" y="1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5" name="Freeform 95"/>
            <p:cNvSpPr>
              <a:spLocks/>
            </p:cNvSpPr>
            <p:nvPr/>
          </p:nvSpPr>
          <p:spPr bwMode="invGray">
            <a:xfrm>
              <a:off x="4665" y="3425"/>
              <a:ext cx="24" cy="26"/>
            </a:xfrm>
            <a:custGeom>
              <a:avLst/>
              <a:gdLst/>
              <a:ahLst/>
              <a:cxnLst>
                <a:cxn ang="0">
                  <a:pos x="22" y="10"/>
                </a:cxn>
                <a:cxn ang="0">
                  <a:pos x="10" y="2"/>
                </a:cxn>
                <a:cxn ang="0">
                  <a:pos x="12" y="23"/>
                </a:cxn>
                <a:cxn ang="0">
                  <a:pos x="24" y="27"/>
                </a:cxn>
                <a:cxn ang="0">
                  <a:pos x="22" y="10"/>
                </a:cxn>
              </a:cxnLst>
              <a:rect l="0" t="0" r="r" b="b"/>
              <a:pathLst>
                <a:path w="32" h="35">
                  <a:moveTo>
                    <a:pt x="22" y="10"/>
                  </a:moveTo>
                  <a:cubicBezTo>
                    <a:pt x="26" y="20"/>
                    <a:pt x="18" y="0"/>
                    <a:pt x="10" y="2"/>
                  </a:cubicBezTo>
                  <a:cubicBezTo>
                    <a:pt x="0" y="9"/>
                    <a:pt x="7" y="15"/>
                    <a:pt x="12" y="23"/>
                  </a:cubicBezTo>
                  <a:cubicBezTo>
                    <a:pt x="14" y="35"/>
                    <a:pt x="15" y="32"/>
                    <a:pt x="24" y="27"/>
                  </a:cubicBezTo>
                  <a:cubicBezTo>
                    <a:pt x="32" y="16"/>
                    <a:pt x="23" y="24"/>
                    <a:pt x="22" y="1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6" name="Freeform 96"/>
            <p:cNvSpPr>
              <a:spLocks/>
            </p:cNvSpPr>
            <p:nvPr/>
          </p:nvSpPr>
          <p:spPr bwMode="invGray">
            <a:xfrm>
              <a:off x="3055" y="2051"/>
              <a:ext cx="141" cy="108"/>
            </a:xfrm>
            <a:custGeom>
              <a:avLst/>
              <a:gdLst/>
              <a:ahLst/>
              <a:cxnLst>
                <a:cxn ang="0">
                  <a:pos x="171" y="4"/>
                </a:cxn>
                <a:cxn ang="0">
                  <a:pos x="185" y="4"/>
                </a:cxn>
                <a:cxn ang="0">
                  <a:pos x="189" y="16"/>
                </a:cxn>
                <a:cxn ang="0">
                  <a:pos x="187" y="24"/>
                </a:cxn>
                <a:cxn ang="0">
                  <a:pos x="131" y="44"/>
                </a:cxn>
                <a:cxn ang="0">
                  <a:pos x="109" y="58"/>
                </a:cxn>
                <a:cxn ang="0">
                  <a:pos x="97" y="62"/>
                </a:cxn>
                <a:cxn ang="0">
                  <a:pos x="71" y="82"/>
                </a:cxn>
                <a:cxn ang="0">
                  <a:pos x="75" y="92"/>
                </a:cxn>
                <a:cxn ang="0">
                  <a:pos x="83" y="116"/>
                </a:cxn>
                <a:cxn ang="0">
                  <a:pos x="107" y="126"/>
                </a:cxn>
                <a:cxn ang="0">
                  <a:pos x="93" y="140"/>
                </a:cxn>
                <a:cxn ang="0">
                  <a:pos x="83" y="130"/>
                </a:cxn>
                <a:cxn ang="0">
                  <a:pos x="71" y="134"/>
                </a:cxn>
                <a:cxn ang="0">
                  <a:pos x="21" y="122"/>
                </a:cxn>
                <a:cxn ang="0">
                  <a:pos x="19" y="106"/>
                </a:cxn>
                <a:cxn ang="0">
                  <a:pos x="47" y="90"/>
                </a:cxn>
                <a:cxn ang="0">
                  <a:pos x="51" y="76"/>
                </a:cxn>
                <a:cxn ang="0">
                  <a:pos x="47" y="64"/>
                </a:cxn>
                <a:cxn ang="0">
                  <a:pos x="73" y="46"/>
                </a:cxn>
                <a:cxn ang="0">
                  <a:pos x="97" y="36"/>
                </a:cxn>
                <a:cxn ang="0">
                  <a:pos x="113" y="24"/>
                </a:cxn>
                <a:cxn ang="0">
                  <a:pos x="171" y="4"/>
                </a:cxn>
              </a:cxnLst>
              <a:rect l="0" t="0" r="r" b="b"/>
              <a:pathLst>
                <a:path w="189" h="144">
                  <a:moveTo>
                    <a:pt x="171" y="4"/>
                  </a:moveTo>
                  <a:cubicBezTo>
                    <a:pt x="174" y="3"/>
                    <a:pt x="182" y="0"/>
                    <a:pt x="185" y="4"/>
                  </a:cubicBezTo>
                  <a:cubicBezTo>
                    <a:pt x="187" y="7"/>
                    <a:pt x="189" y="16"/>
                    <a:pt x="189" y="16"/>
                  </a:cubicBezTo>
                  <a:cubicBezTo>
                    <a:pt x="188" y="19"/>
                    <a:pt x="189" y="22"/>
                    <a:pt x="187" y="24"/>
                  </a:cubicBezTo>
                  <a:cubicBezTo>
                    <a:pt x="175" y="34"/>
                    <a:pt x="146" y="34"/>
                    <a:pt x="131" y="44"/>
                  </a:cubicBezTo>
                  <a:cubicBezTo>
                    <a:pt x="125" y="53"/>
                    <a:pt x="120" y="54"/>
                    <a:pt x="109" y="58"/>
                  </a:cubicBezTo>
                  <a:cubicBezTo>
                    <a:pt x="105" y="59"/>
                    <a:pt x="97" y="62"/>
                    <a:pt x="97" y="62"/>
                  </a:cubicBezTo>
                  <a:cubicBezTo>
                    <a:pt x="88" y="76"/>
                    <a:pt x="83" y="74"/>
                    <a:pt x="71" y="82"/>
                  </a:cubicBezTo>
                  <a:cubicBezTo>
                    <a:pt x="66" y="98"/>
                    <a:pt x="70" y="78"/>
                    <a:pt x="75" y="92"/>
                  </a:cubicBezTo>
                  <a:cubicBezTo>
                    <a:pt x="81" y="108"/>
                    <a:pt x="71" y="108"/>
                    <a:pt x="83" y="116"/>
                  </a:cubicBezTo>
                  <a:cubicBezTo>
                    <a:pt x="90" y="121"/>
                    <a:pt x="107" y="126"/>
                    <a:pt x="107" y="126"/>
                  </a:cubicBezTo>
                  <a:cubicBezTo>
                    <a:pt x="105" y="139"/>
                    <a:pt x="106" y="144"/>
                    <a:pt x="93" y="140"/>
                  </a:cubicBezTo>
                  <a:cubicBezTo>
                    <a:pt x="91" y="137"/>
                    <a:pt x="87" y="130"/>
                    <a:pt x="83" y="130"/>
                  </a:cubicBezTo>
                  <a:cubicBezTo>
                    <a:pt x="79" y="130"/>
                    <a:pt x="71" y="134"/>
                    <a:pt x="71" y="134"/>
                  </a:cubicBezTo>
                  <a:cubicBezTo>
                    <a:pt x="52" y="129"/>
                    <a:pt x="42" y="124"/>
                    <a:pt x="21" y="122"/>
                  </a:cubicBezTo>
                  <a:cubicBezTo>
                    <a:pt x="14" y="115"/>
                    <a:pt x="0" y="102"/>
                    <a:pt x="19" y="106"/>
                  </a:cubicBezTo>
                  <a:cubicBezTo>
                    <a:pt x="29" y="91"/>
                    <a:pt x="26" y="93"/>
                    <a:pt x="47" y="90"/>
                  </a:cubicBezTo>
                  <a:cubicBezTo>
                    <a:pt x="55" y="84"/>
                    <a:pt x="54" y="88"/>
                    <a:pt x="51" y="76"/>
                  </a:cubicBezTo>
                  <a:cubicBezTo>
                    <a:pt x="50" y="72"/>
                    <a:pt x="47" y="64"/>
                    <a:pt x="47" y="64"/>
                  </a:cubicBezTo>
                  <a:cubicBezTo>
                    <a:pt x="50" y="41"/>
                    <a:pt x="50" y="43"/>
                    <a:pt x="73" y="46"/>
                  </a:cubicBezTo>
                  <a:cubicBezTo>
                    <a:pt x="82" y="45"/>
                    <a:pt x="97" y="36"/>
                    <a:pt x="97" y="36"/>
                  </a:cubicBezTo>
                  <a:cubicBezTo>
                    <a:pt x="102" y="29"/>
                    <a:pt x="105" y="27"/>
                    <a:pt x="113" y="24"/>
                  </a:cubicBezTo>
                  <a:cubicBezTo>
                    <a:pt x="134" y="27"/>
                    <a:pt x="161" y="25"/>
                    <a:pt x="171" y="4"/>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7" name="Freeform 97"/>
            <p:cNvSpPr>
              <a:spLocks/>
            </p:cNvSpPr>
            <p:nvPr/>
          </p:nvSpPr>
          <p:spPr bwMode="invGray">
            <a:xfrm>
              <a:off x="3139" y="2155"/>
              <a:ext cx="40" cy="12"/>
            </a:xfrm>
            <a:custGeom>
              <a:avLst/>
              <a:gdLst/>
              <a:ahLst/>
              <a:cxnLst>
                <a:cxn ang="0">
                  <a:pos x="24" y="0"/>
                </a:cxn>
                <a:cxn ang="0">
                  <a:pos x="12" y="2"/>
                </a:cxn>
                <a:cxn ang="0">
                  <a:pos x="32" y="16"/>
                </a:cxn>
                <a:cxn ang="0">
                  <a:pos x="44" y="14"/>
                </a:cxn>
                <a:cxn ang="0">
                  <a:pos x="24" y="0"/>
                </a:cxn>
              </a:cxnLst>
              <a:rect l="0" t="0" r="r" b="b"/>
              <a:pathLst>
                <a:path w="53" h="17">
                  <a:moveTo>
                    <a:pt x="24" y="0"/>
                  </a:moveTo>
                  <a:cubicBezTo>
                    <a:pt x="20" y="1"/>
                    <a:pt x="16" y="0"/>
                    <a:pt x="12" y="2"/>
                  </a:cubicBezTo>
                  <a:cubicBezTo>
                    <a:pt x="0" y="9"/>
                    <a:pt x="30" y="15"/>
                    <a:pt x="32" y="16"/>
                  </a:cubicBezTo>
                  <a:cubicBezTo>
                    <a:pt x="36" y="15"/>
                    <a:pt x="41" y="17"/>
                    <a:pt x="44" y="14"/>
                  </a:cubicBezTo>
                  <a:cubicBezTo>
                    <a:pt x="53" y="3"/>
                    <a:pt x="30" y="0"/>
                    <a:pt x="24"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8" name="Freeform 98"/>
            <p:cNvSpPr>
              <a:spLocks/>
            </p:cNvSpPr>
            <p:nvPr/>
          </p:nvSpPr>
          <p:spPr bwMode="invGray">
            <a:xfrm>
              <a:off x="3344" y="1999"/>
              <a:ext cx="42" cy="28"/>
            </a:xfrm>
            <a:custGeom>
              <a:avLst/>
              <a:gdLst/>
              <a:ahLst/>
              <a:cxnLst>
                <a:cxn ang="0">
                  <a:pos x="57" y="4"/>
                </a:cxn>
                <a:cxn ang="0">
                  <a:pos x="25" y="24"/>
                </a:cxn>
                <a:cxn ang="0">
                  <a:pos x="11" y="34"/>
                </a:cxn>
                <a:cxn ang="0">
                  <a:pos x="9" y="4"/>
                </a:cxn>
                <a:cxn ang="0">
                  <a:pos x="21" y="0"/>
                </a:cxn>
                <a:cxn ang="0">
                  <a:pos x="57" y="4"/>
                </a:cxn>
              </a:cxnLst>
              <a:rect l="0" t="0" r="r" b="b"/>
              <a:pathLst>
                <a:path w="57" h="37">
                  <a:moveTo>
                    <a:pt x="57" y="4"/>
                  </a:moveTo>
                  <a:cubicBezTo>
                    <a:pt x="53" y="16"/>
                    <a:pt x="35" y="17"/>
                    <a:pt x="25" y="24"/>
                  </a:cubicBezTo>
                  <a:cubicBezTo>
                    <a:pt x="22" y="34"/>
                    <a:pt x="22" y="37"/>
                    <a:pt x="11" y="34"/>
                  </a:cubicBezTo>
                  <a:cubicBezTo>
                    <a:pt x="6" y="27"/>
                    <a:pt x="0" y="10"/>
                    <a:pt x="9" y="4"/>
                  </a:cubicBezTo>
                  <a:cubicBezTo>
                    <a:pt x="12" y="2"/>
                    <a:pt x="21" y="0"/>
                    <a:pt x="21" y="0"/>
                  </a:cubicBezTo>
                  <a:cubicBezTo>
                    <a:pt x="33" y="2"/>
                    <a:pt x="45" y="4"/>
                    <a:pt x="57" y="4"/>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89" name="Freeform 99"/>
            <p:cNvSpPr>
              <a:spLocks/>
            </p:cNvSpPr>
            <p:nvPr/>
          </p:nvSpPr>
          <p:spPr bwMode="invGray">
            <a:xfrm>
              <a:off x="3374" y="2012"/>
              <a:ext cx="50" cy="20"/>
            </a:xfrm>
            <a:custGeom>
              <a:avLst/>
              <a:gdLst/>
              <a:ahLst/>
              <a:cxnLst>
                <a:cxn ang="0">
                  <a:pos x="29" y="0"/>
                </a:cxn>
                <a:cxn ang="0">
                  <a:pos x="11" y="6"/>
                </a:cxn>
                <a:cxn ang="0">
                  <a:pos x="57" y="26"/>
                </a:cxn>
                <a:cxn ang="0">
                  <a:pos x="63" y="24"/>
                </a:cxn>
                <a:cxn ang="0">
                  <a:pos x="29" y="0"/>
                </a:cxn>
              </a:cxnLst>
              <a:rect l="0" t="0" r="r" b="b"/>
              <a:pathLst>
                <a:path w="68" h="26">
                  <a:moveTo>
                    <a:pt x="29" y="0"/>
                  </a:moveTo>
                  <a:cubicBezTo>
                    <a:pt x="23" y="2"/>
                    <a:pt x="11" y="6"/>
                    <a:pt x="11" y="6"/>
                  </a:cubicBezTo>
                  <a:cubicBezTo>
                    <a:pt x="0" y="23"/>
                    <a:pt x="47" y="24"/>
                    <a:pt x="57" y="26"/>
                  </a:cubicBezTo>
                  <a:cubicBezTo>
                    <a:pt x="59" y="25"/>
                    <a:pt x="62" y="26"/>
                    <a:pt x="63" y="24"/>
                  </a:cubicBezTo>
                  <a:cubicBezTo>
                    <a:pt x="68" y="3"/>
                    <a:pt x="42" y="3"/>
                    <a:pt x="29"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0" name="Freeform 100"/>
            <p:cNvSpPr>
              <a:spLocks/>
            </p:cNvSpPr>
            <p:nvPr/>
          </p:nvSpPr>
          <p:spPr bwMode="invGray">
            <a:xfrm>
              <a:off x="3428" y="2015"/>
              <a:ext cx="50" cy="32"/>
            </a:xfrm>
            <a:custGeom>
              <a:avLst/>
              <a:gdLst/>
              <a:ahLst/>
              <a:cxnLst>
                <a:cxn ang="0">
                  <a:pos x="50" y="9"/>
                </a:cxn>
                <a:cxn ang="0">
                  <a:pos x="26" y="9"/>
                </a:cxn>
                <a:cxn ang="0">
                  <a:pos x="10" y="9"/>
                </a:cxn>
                <a:cxn ang="0">
                  <a:pos x="8" y="35"/>
                </a:cxn>
                <a:cxn ang="0">
                  <a:pos x="32" y="43"/>
                </a:cxn>
                <a:cxn ang="0">
                  <a:pos x="62" y="27"/>
                </a:cxn>
                <a:cxn ang="0">
                  <a:pos x="50" y="9"/>
                </a:cxn>
              </a:cxnLst>
              <a:rect l="0" t="0" r="r" b="b"/>
              <a:pathLst>
                <a:path w="66" h="43">
                  <a:moveTo>
                    <a:pt x="50" y="9"/>
                  </a:moveTo>
                  <a:cubicBezTo>
                    <a:pt x="40" y="16"/>
                    <a:pt x="36" y="16"/>
                    <a:pt x="26" y="9"/>
                  </a:cubicBezTo>
                  <a:cubicBezTo>
                    <a:pt x="20" y="0"/>
                    <a:pt x="18" y="4"/>
                    <a:pt x="10" y="9"/>
                  </a:cubicBezTo>
                  <a:cubicBezTo>
                    <a:pt x="4" y="17"/>
                    <a:pt x="0" y="21"/>
                    <a:pt x="8" y="35"/>
                  </a:cubicBezTo>
                  <a:cubicBezTo>
                    <a:pt x="12" y="42"/>
                    <a:pt x="32" y="43"/>
                    <a:pt x="32" y="43"/>
                  </a:cubicBezTo>
                  <a:cubicBezTo>
                    <a:pt x="41" y="40"/>
                    <a:pt x="54" y="33"/>
                    <a:pt x="62" y="27"/>
                  </a:cubicBezTo>
                  <a:cubicBezTo>
                    <a:pt x="66" y="15"/>
                    <a:pt x="61" y="15"/>
                    <a:pt x="50" y="9"/>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1" name="Freeform 101"/>
            <p:cNvSpPr>
              <a:spLocks/>
            </p:cNvSpPr>
            <p:nvPr/>
          </p:nvSpPr>
          <p:spPr bwMode="invGray">
            <a:xfrm>
              <a:off x="3777" y="2042"/>
              <a:ext cx="88" cy="31"/>
            </a:xfrm>
            <a:custGeom>
              <a:avLst/>
              <a:gdLst/>
              <a:ahLst/>
              <a:cxnLst>
                <a:cxn ang="0">
                  <a:pos x="14" y="0"/>
                </a:cxn>
                <a:cxn ang="0">
                  <a:pos x="8" y="16"/>
                </a:cxn>
                <a:cxn ang="0">
                  <a:pos x="50" y="30"/>
                </a:cxn>
                <a:cxn ang="0">
                  <a:pos x="76" y="36"/>
                </a:cxn>
                <a:cxn ang="0">
                  <a:pos x="112" y="22"/>
                </a:cxn>
                <a:cxn ang="0">
                  <a:pos x="78" y="4"/>
                </a:cxn>
                <a:cxn ang="0">
                  <a:pos x="14" y="0"/>
                </a:cxn>
              </a:cxnLst>
              <a:rect l="0" t="0" r="r" b="b"/>
              <a:pathLst>
                <a:path w="117" h="41">
                  <a:moveTo>
                    <a:pt x="14" y="0"/>
                  </a:moveTo>
                  <a:cubicBezTo>
                    <a:pt x="8" y="4"/>
                    <a:pt x="0" y="9"/>
                    <a:pt x="8" y="16"/>
                  </a:cubicBezTo>
                  <a:cubicBezTo>
                    <a:pt x="21" y="27"/>
                    <a:pt x="34" y="28"/>
                    <a:pt x="50" y="30"/>
                  </a:cubicBezTo>
                  <a:cubicBezTo>
                    <a:pt x="66" y="41"/>
                    <a:pt x="57" y="39"/>
                    <a:pt x="76" y="36"/>
                  </a:cubicBezTo>
                  <a:cubicBezTo>
                    <a:pt x="88" y="32"/>
                    <a:pt x="101" y="29"/>
                    <a:pt x="112" y="22"/>
                  </a:cubicBezTo>
                  <a:cubicBezTo>
                    <a:pt x="117" y="6"/>
                    <a:pt x="87" y="5"/>
                    <a:pt x="78" y="4"/>
                  </a:cubicBezTo>
                  <a:cubicBezTo>
                    <a:pt x="17" y="6"/>
                    <a:pt x="34" y="20"/>
                    <a:pt x="14"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2" name="Freeform 102"/>
            <p:cNvSpPr>
              <a:spLocks/>
            </p:cNvSpPr>
            <p:nvPr/>
          </p:nvSpPr>
          <p:spPr bwMode="invGray">
            <a:xfrm>
              <a:off x="3867" y="2041"/>
              <a:ext cx="46" cy="24"/>
            </a:xfrm>
            <a:custGeom>
              <a:avLst/>
              <a:gdLst/>
              <a:ahLst/>
              <a:cxnLst>
                <a:cxn ang="0">
                  <a:pos x="32" y="4"/>
                </a:cxn>
                <a:cxn ang="0">
                  <a:pos x="62" y="10"/>
                </a:cxn>
                <a:cxn ang="0">
                  <a:pos x="30" y="32"/>
                </a:cxn>
                <a:cxn ang="0">
                  <a:pos x="6" y="22"/>
                </a:cxn>
                <a:cxn ang="0">
                  <a:pos x="32" y="4"/>
                </a:cxn>
              </a:cxnLst>
              <a:rect l="0" t="0" r="r" b="b"/>
              <a:pathLst>
                <a:path w="62" h="32">
                  <a:moveTo>
                    <a:pt x="32" y="4"/>
                  </a:moveTo>
                  <a:cubicBezTo>
                    <a:pt x="44" y="0"/>
                    <a:pt x="53" y="1"/>
                    <a:pt x="62" y="10"/>
                  </a:cubicBezTo>
                  <a:cubicBezTo>
                    <a:pt x="59" y="23"/>
                    <a:pt x="42" y="28"/>
                    <a:pt x="30" y="32"/>
                  </a:cubicBezTo>
                  <a:cubicBezTo>
                    <a:pt x="15" y="22"/>
                    <a:pt x="23" y="25"/>
                    <a:pt x="6" y="22"/>
                  </a:cubicBezTo>
                  <a:cubicBezTo>
                    <a:pt x="0" y="4"/>
                    <a:pt x="14" y="8"/>
                    <a:pt x="32" y="4"/>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3" name="Freeform 103"/>
            <p:cNvSpPr>
              <a:spLocks/>
            </p:cNvSpPr>
            <p:nvPr/>
          </p:nvSpPr>
          <p:spPr bwMode="invGray">
            <a:xfrm>
              <a:off x="3846" y="2070"/>
              <a:ext cx="37" cy="17"/>
            </a:xfrm>
            <a:custGeom>
              <a:avLst/>
              <a:gdLst/>
              <a:ahLst/>
              <a:cxnLst>
                <a:cxn ang="0">
                  <a:pos x="20" y="1"/>
                </a:cxn>
                <a:cxn ang="0">
                  <a:pos x="6" y="5"/>
                </a:cxn>
                <a:cxn ang="0">
                  <a:pos x="38" y="23"/>
                </a:cxn>
                <a:cxn ang="0">
                  <a:pos x="20" y="1"/>
                </a:cxn>
              </a:cxnLst>
              <a:rect l="0" t="0" r="r" b="b"/>
              <a:pathLst>
                <a:path w="49" h="23">
                  <a:moveTo>
                    <a:pt x="20" y="1"/>
                  </a:moveTo>
                  <a:cubicBezTo>
                    <a:pt x="15" y="2"/>
                    <a:pt x="8" y="0"/>
                    <a:pt x="6" y="5"/>
                  </a:cubicBezTo>
                  <a:cubicBezTo>
                    <a:pt x="0" y="19"/>
                    <a:pt x="32" y="21"/>
                    <a:pt x="38" y="23"/>
                  </a:cubicBezTo>
                  <a:cubicBezTo>
                    <a:pt x="49" y="6"/>
                    <a:pt x="35" y="3"/>
                    <a:pt x="20" y="1"/>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4" name="Freeform 104"/>
            <p:cNvSpPr>
              <a:spLocks/>
            </p:cNvSpPr>
            <p:nvPr/>
          </p:nvSpPr>
          <p:spPr bwMode="invGray">
            <a:xfrm>
              <a:off x="4098" y="2294"/>
              <a:ext cx="76" cy="114"/>
            </a:xfrm>
            <a:custGeom>
              <a:avLst/>
              <a:gdLst/>
              <a:ahLst/>
              <a:cxnLst>
                <a:cxn ang="0">
                  <a:pos x="6" y="0"/>
                </a:cxn>
                <a:cxn ang="0">
                  <a:pos x="0" y="18"/>
                </a:cxn>
                <a:cxn ang="0">
                  <a:pos x="14" y="42"/>
                </a:cxn>
                <a:cxn ang="0">
                  <a:pos x="32" y="72"/>
                </a:cxn>
                <a:cxn ang="0">
                  <a:pos x="36" y="104"/>
                </a:cxn>
                <a:cxn ang="0">
                  <a:pos x="80" y="152"/>
                </a:cxn>
                <a:cxn ang="0">
                  <a:pos x="86" y="124"/>
                </a:cxn>
                <a:cxn ang="0">
                  <a:pos x="74" y="102"/>
                </a:cxn>
                <a:cxn ang="0">
                  <a:pos x="62" y="92"/>
                </a:cxn>
                <a:cxn ang="0">
                  <a:pos x="52" y="74"/>
                </a:cxn>
                <a:cxn ang="0">
                  <a:pos x="42" y="44"/>
                </a:cxn>
                <a:cxn ang="0">
                  <a:pos x="4" y="12"/>
                </a:cxn>
                <a:cxn ang="0">
                  <a:pos x="6" y="0"/>
                </a:cxn>
              </a:cxnLst>
              <a:rect l="0" t="0" r="r" b="b"/>
              <a:pathLst>
                <a:path w="102" h="152">
                  <a:moveTo>
                    <a:pt x="6" y="0"/>
                  </a:moveTo>
                  <a:cubicBezTo>
                    <a:pt x="4" y="6"/>
                    <a:pt x="0" y="18"/>
                    <a:pt x="0" y="18"/>
                  </a:cubicBezTo>
                  <a:cubicBezTo>
                    <a:pt x="3" y="26"/>
                    <a:pt x="9" y="35"/>
                    <a:pt x="14" y="42"/>
                  </a:cubicBezTo>
                  <a:cubicBezTo>
                    <a:pt x="17" y="58"/>
                    <a:pt x="16" y="69"/>
                    <a:pt x="32" y="72"/>
                  </a:cubicBezTo>
                  <a:cubicBezTo>
                    <a:pt x="44" y="80"/>
                    <a:pt x="40" y="91"/>
                    <a:pt x="36" y="104"/>
                  </a:cubicBezTo>
                  <a:cubicBezTo>
                    <a:pt x="57" y="118"/>
                    <a:pt x="60" y="139"/>
                    <a:pt x="80" y="152"/>
                  </a:cubicBezTo>
                  <a:cubicBezTo>
                    <a:pt x="95" y="148"/>
                    <a:pt x="102" y="135"/>
                    <a:pt x="86" y="124"/>
                  </a:cubicBezTo>
                  <a:cubicBezTo>
                    <a:pt x="72" y="129"/>
                    <a:pt x="78" y="110"/>
                    <a:pt x="74" y="102"/>
                  </a:cubicBezTo>
                  <a:cubicBezTo>
                    <a:pt x="72" y="98"/>
                    <a:pt x="65" y="94"/>
                    <a:pt x="62" y="92"/>
                  </a:cubicBezTo>
                  <a:cubicBezTo>
                    <a:pt x="59" y="82"/>
                    <a:pt x="65" y="65"/>
                    <a:pt x="52" y="74"/>
                  </a:cubicBezTo>
                  <a:cubicBezTo>
                    <a:pt x="46" y="65"/>
                    <a:pt x="47" y="54"/>
                    <a:pt x="42" y="44"/>
                  </a:cubicBezTo>
                  <a:cubicBezTo>
                    <a:pt x="36" y="32"/>
                    <a:pt x="16" y="18"/>
                    <a:pt x="4" y="12"/>
                  </a:cubicBezTo>
                  <a:lnTo>
                    <a:pt x="6" y="0"/>
                  </a:ln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5" name="Freeform 105"/>
            <p:cNvSpPr>
              <a:spLocks/>
            </p:cNvSpPr>
            <p:nvPr/>
          </p:nvSpPr>
          <p:spPr bwMode="invGray">
            <a:xfrm>
              <a:off x="4159" y="2412"/>
              <a:ext cx="55" cy="78"/>
            </a:xfrm>
            <a:custGeom>
              <a:avLst/>
              <a:gdLst/>
              <a:ahLst/>
              <a:cxnLst>
                <a:cxn ang="0">
                  <a:pos x="64" y="22"/>
                </a:cxn>
                <a:cxn ang="0">
                  <a:pos x="74" y="40"/>
                </a:cxn>
                <a:cxn ang="0">
                  <a:pos x="30" y="84"/>
                </a:cxn>
                <a:cxn ang="0">
                  <a:pos x="32" y="100"/>
                </a:cxn>
                <a:cxn ang="0">
                  <a:pos x="20" y="94"/>
                </a:cxn>
                <a:cxn ang="0">
                  <a:pos x="6" y="84"/>
                </a:cxn>
                <a:cxn ang="0">
                  <a:pos x="0" y="82"/>
                </a:cxn>
                <a:cxn ang="0">
                  <a:pos x="10" y="58"/>
                </a:cxn>
                <a:cxn ang="0">
                  <a:pos x="12" y="52"/>
                </a:cxn>
                <a:cxn ang="0">
                  <a:pos x="2" y="24"/>
                </a:cxn>
                <a:cxn ang="0">
                  <a:pos x="4" y="14"/>
                </a:cxn>
                <a:cxn ang="0">
                  <a:pos x="26" y="22"/>
                </a:cxn>
                <a:cxn ang="0">
                  <a:pos x="36" y="36"/>
                </a:cxn>
                <a:cxn ang="0">
                  <a:pos x="64" y="22"/>
                </a:cxn>
              </a:cxnLst>
              <a:rect l="0" t="0" r="r" b="b"/>
              <a:pathLst>
                <a:path w="74" h="103">
                  <a:moveTo>
                    <a:pt x="64" y="22"/>
                  </a:moveTo>
                  <a:cubicBezTo>
                    <a:pt x="73" y="36"/>
                    <a:pt x="70" y="29"/>
                    <a:pt x="74" y="40"/>
                  </a:cubicBezTo>
                  <a:cubicBezTo>
                    <a:pt x="70" y="77"/>
                    <a:pt x="68" y="81"/>
                    <a:pt x="30" y="84"/>
                  </a:cubicBezTo>
                  <a:cubicBezTo>
                    <a:pt x="33" y="88"/>
                    <a:pt x="39" y="95"/>
                    <a:pt x="32" y="100"/>
                  </a:cubicBezTo>
                  <a:cubicBezTo>
                    <a:pt x="28" y="103"/>
                    <a:pt x="24" y="95"/>
                    <a:pt x="20" y="94"/>
                  </a:cubicBezTo>
                  <a:cubicBezTo>
                    <a:pt x="17" y="84"/>
                    <a:pt x="20" y="89"/>
                    <a:pt x="6" y="84"/>
                  </a:cubicBezTo>
                  <a:cubicBezTo>
                    <a:pt x="4" y="83"/>
                    <a:pt x="0" y="82"/>
                    <a:pt x="0" y="82"/>
                  </a:cubicBezTo>
                  <a:cubicBezTo>
                    <a:pt x="3" y="73"/>
                    <a:pt x="7" y="67"/>
                    <a:pt x="10" y="58"/>
                  </a:cubicBezTo>
                  <a:cubicBezTo>
                    <a:pt x="11" y="56"/>
                    <a:pt x="12" y="52"/>
                    <a:pt x="12" y="52"/>
                  </a:cubicBezTo>
                  <a:cubicBezTo>
                    <a:pt x="10" y="42"/>
                    <a:pt x="8" y="33"/>
                    <a:pt x="2" y="24"/>
                  </a:cubicBezTo>
                  <a:cubicBezTo>
                    <a:pt x="3" y="21"/>
                    <a:pt x="2" y="17"/>
                    <a:pt x="4" y="14"/>
                  </a:cubicBezTo>
                  <a:cubicBezTo>
                    <a:pt x="11" y="0"/>
                    <a:pt x="18" y="19"/>
                    <a:pt x="26" y="22"/>
                  </a:cubicBezTo>
                  <a:cubicBezTo>
                    <a:pt x="31" y="36"/>
                    <a:pt x="26" y="33"/>
                    <a:pt x="36" y="36"/>
                  </a:cubicBezTo>
                  <a:cubicBezTo>
                    <a:pt x="45" y="30"/>
                    <a:pt x="55" y="28"/>
                    <a:pt x="64" y="22"/>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6" name="Freeform 106"/>
            <p:cNvSpPr>
              <a:spLocks/>
            </p:cNvSpPr>
            <p:nvPr/>
          </p:nvSpPr>
          <p:spPr bwMode="invGray">
            <a:xfrm>
              <a:off x="4123" y="2492"/>
              <a:ext cx="109" cy="189"/>
            </a:xfrm>
            <a:custGeom>
              <a:avLst/>
              <a:gdLst/>
              <a:ahLst/>
              <a:cxnLst>
                <a:cxn ang="0">
                  <a:pos x="82" y="100"/>
                </a:cxn>
                <a:cxn ang="0">
                  <a:pos x="66" y="106"/>
                </a:cxn>
                <a:cxn ang="0">
                  <a:pos x="64" y="132"/>
                </a:cxn>
                <a:cxn ang="0">
                  <a:pos x="22" y="146"/>
                </a:cxn>
                <a:cxn ang="0">
                  <a:pos x="8" y="168"/>
                </a:cxn>
                <a:cxn ang="0">
                  <a:pos x="20" y="182"/>
                </a:cxn>
                <a:cxn ang="0">
                  <a:pos x="8" y="198"/>
                </a:cxn>
                <a:cxn ang="0">
                  <a:pos x="24" y="252"/>
                </a:cxn>
                <a:cxn ang="0">
                  <a:pos x="28" y="214"/>
                </a:cxn>
                <a:cxn ang="0">
                  <a:pos x="22" y="192"/>
                </a:cxn>
                <a:cxn ang="0">
                  <a:pos x="42" y="176"/>
                </a:cxn>
                <a:cxn ang="0">
                  <a:pos x="52" y="158"/>
                </a:cxn>
                <a:cxn ang="0">
                  <a:pos x="66" y="174"/>
                </a:cxn>
                <a:cxn ang="0">
                  <a:pos x="44" y="190"/>
                </a:cxn>
                <a:cxn ang="0">
                  <a:pos x="56" y="200"/>
                </a:cxn>
                <a:cxn ang="0">
                  <a:pos x="68" y="178"/>
                </a:cxn>
                <a:cxn ang="0">
                  <a:pos x="84" y="184"/>
                </a:cxn>
                <a:cxn ang="0">
                  <a:pos x="104" y="148"/>
                </a:cxn>
                <a:cxn ang="0">
                  <a:pos x="114" y="156"/>
                </a:cxn>
                <a:cxn ang="0">
                  <a:pos x="136" y="148"/>
                </a:cxn>
                <a:cxn ang="0">
                  <a:pos x="146" y="130"/>
                </a:cxn>
                <a:cxn ang="0">
                  <a:pos x="142" y="110"/>
                </a:cxn>
                <a:cxn ang="0">
                  <a:pos x="134" y="98"/>
                </a:cxn>
                <a:cxn ang="0">
                  <a:pos x="122" y="40"/>
                </a:cxn>
                <a:cxn ang="0">
                  <a:pos x="94" y="0"/>
                </a:cxn>
                <a:cxn ang="0">
                  <a:pos x="78" y="12"/>
                </a:cxn>
                <a:cxn ang="0">
                  <a:pos x="96" y="34"/>
                </a:cxn>
                <a:cxn ang="0">
                  <a:pos x="96" y="64"/>
                </a:cxn>
                <a:cxn ang="0">
                  <a:pos x="82" y="100"/>
                </a:cxn>
              </a:cxnLst>
              <a:rect l="0" t="0" r="r" b="b"/>
              <a:pathLst>
                <a:path w="146" h="252">
                  <a:moveTo>
                    <a:pt x="82" y="100"/>
                  </a:moveTo>
                  <a:cubicBezTo>
                    <a:pt x="70" y="88"/>
                    <a:pt x="69" y="92"/>
                    <a:pt x="66" y="106"/>
                  </a:cubicBezTo>
                  <a:cubicBezTo>
                    <a:pt x="65" y="115"/>
                    <a:pt x="68" y="124"/>
                    <a:pt x="64" y="132"/>
                  </a:cubicBezTo>
                  <a:cubicBezTo>
                    <a:pt x="63" y="133"/>
                    <a:pt x="28" y="142"/>
                    <a:pt x="22" y="146"/>
                  </a:cubicBezTo>
                  <a:cubicBezTo>
                    <a:pt x="18" y="157"/>
                    <a:pt x="18" y="162"/>
                    <a:pt x="8" y="168"/>
                  </a:cubicBezTo>
                  <a:cubicBezTo>
                    <a:pt x="0" y="180"/>
                    <a:pt x="7" y="180"/>
                    <a:pt x="20" y="182"/>
                  </a:cubicBezTo>
                  <a:cubicBezTo>
                    <a:pt x="17" y="190"/>
                    <a:pt x="15" y="193"/>
                    <a:pt x="8" y="198"/>
                  </a:cubicBezTo>
                  <a:cubicBezTo>
                    <a:pt x="10" y="214"/>
                    <a:pt x="9" y="242"/>
                    <a:pt x="24" y="252"/>
                  </a:cubicBezTo>
                  <a:cubicBezTo>
                    <a:pt x="42" y="246"/>
                    <a:pt x="31" y="227"/>
                    <a:pt x="28" y="214"/>
                  </a:cubicBezTo>
                  <a:cubicBezTo>
                    <a:pt x="26" y="207"/>
                    <a:pt x="22" y="192"/>
                    <a:pt x="22" y="192"/>
                  </a:cubicBezTo>
                  <a:cubicBezTo>
                    <a:pt x="25" y="180"/>
                    <a:pt x="33" y="182"/>
                    <a:pt x="42" y="176"/>
                  </a:cubicBezTo>
                  <a:cubicBezTo>
                    <a:pt x="44" y="169"/>
                    <a:pt x="52" y="158"/>
                    <a:pt x="52" y="158"/>
                  </a:cubicBezTo>
                  <a:cubicBezTo>
                    <a:pt x="58" y="164"/>
                    <a:pt x="63" y="166"/>
                    <a:pt x="66" y="174"/>
                  </a:cubicBezTo>
                  <a:cubicBezTo>
                    <a:pt x="59" y="178"/>
                    <a:pt x="51" y="188"/>
                    <a:pt x="44" y="190"/>
                  </a:cubicBezTo>
                  <a:cubicBezTo>
                    <a:pt x="36" y="202"/>
                    <a:pt x="46" y="202"/>
                    <a:pt x="56" y="200"/>
                  </a:cubicBezTo>
                  <a:cubicBezTo>
                    <a:pt x="60" y="189"/>
                    <a:pt x="59" y="184"/>
                    <a:pt x="68" y="178"/>
                  </a:cubicBezTo>
                  <a:cubicBezTo>
                    <a:pt x="77" y="181"/>
                    <a:pt x="75" y="187"/>
                    <a:pt x="84" y="184"/>
                  </a:cubicBezTo>
                  <a:cubicBezTo>
                    <a:pt x="92" y="171"/>
                    <a:pt x="91" y="157"/>
                    <a:pt x="104" y="148"/>
                  </a:cubicBezTo>
                  <a:cubicBezTo>
                    <a:pt x="108" y="149"/>
                    <a:pt x="110" y="155"/>
                    <a:pt x="114" y="156"/>
                  </a:cubicBezTo>
                  <a:cubicBezTo>
                    <a:pt x="120" y="158"/>
                    <a:pt x="131" y="151"/>
                    <a:pt x="136" y="148"/>
                  </a:cubicBezTo>
                  <a:cubicBezTo>
                    <a:pt x="145" y="134"/>
                    <a:pt x="142" y="141"/>
                    <a:pt x="146" y="130"/>
                  </a:cubicBezTo>
                  <a:cubicBezTo>
                    <a:pt x="146" y="127"/>
                    <a:pt x="145" y="115"/>
                    <a:pt x="142" y="110"/>
                  </a:cubicBezTo>
                  <a:cubicBezTo>
                    <a:pt x="140" y="106"/>
                    <a:pt x="134" y="98"/>
                    <a:pt x="134" y="98"/>
                  </a:cubicBezTo>
                  <a:cubicBezTo>
                    <a:pt x="131" y="78"/>
                    <a:pt x="142" y="53"/>
                    <a:pt x="122" y="40"/>
                  </a:cubicBezTo>
                  <a:cubicBezTo>
                    <a:pt x="112" y="26"/>
                    <a:pt x="109" y="10"/>
                    <a:pt x="94" y="0"/>
                  </a:cubicBezTo>
                  <a:cubicBezTo>
                    <a:pt x="87" y="4"/>
                    <a:pt x="86" y="9"/>
                    <a:pt x="78" y="12"/>
                  </a:cubicBezTo>
                  <a:cubicBezTo>
                    <a:pt x="67" y="29"/>
                    <a:pt x="80" y="31"/>
                    <a:pt x="96" y="34"/>
                  </a:cubicBezTo>
                  <a:cubicBezTo>
                    <a:pt x="103" y="44"/>
                    <a:pt x="100" y="53"/>
                    <a:pt x="96" y="64"/>
                  </a:cubicBezTo>
                  <a:cubicBezTo>
                    <a:pt x="96" y="68"/>
                    <a:pt x="95" y="106"/>
                    <a:pt x="82" y="10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7" name="Freeform 107"/>
            <p:cNvSpPr>
              <a:spLocks/>
            </p:cNvSpPr>
            <p:nvPr/>
          </p:nvSpPr>
          <p:spPr bwMode="invGray">
            <a:xfrm>
              <a:off x="3062" y="1988"/>
              <a:ext cx="52" cy="30"/>
            </a:xfrm>
            <a:custGeom>
              <a:avLst/>
              <a:gdLst/>
              <a:ahLst/>
              <a:cxnLst>
                <a:cxn ang="0">
                  <a:pos x="59" y="0"/>
                </a:cxn>
                <a:cxn ang="0">
                  <a:pos x="65" y="20"/>
                </a:cxn>
                <a:cxn ang="0">
                  <a:pos x="41" y="24"/>
                </a:cxn>
                <a:cxn ang="0">
                  <a:pos x="31" y="40"/>
                </a:cxn>
                <a:cxn ang="0">
                  <a:pos x="7" y="38"/>
                </a:cxn>
                <a:cxn ang="0">
                  <a:pos x="1" y="36"/>
                </a:cxn>
                <a:cxn ang="0">
                  <a:pos x="33" y="20"/>
                </a:cxn>
                <a:cxn ang="0">
                  <a:pos x="59" y="0"/>
                </a:cxn>
              </a:cxnLst>
              <a:rect l="0" t="0" r="r" b="b"/>
              <a:pathLst>
                <a:path w="70" h="40">
                  <a:moveTo>
                    <a:pt x="59" y="0"/>
                  </a:moveTo>
                  <a:cubicBezTo>
                    <a:pt x="68" y="3"/>
                    <a:pt x="70" y="10"/>
                    <a:pt x="65" y="20"/>
                  </a:cubicBezTo>
                  <a:cubicBezTo>
                    <a:pt x="61" y="27"/>
                    <a:pt x="49" y="23"/>
                    <a:pt x="41" y="24"/>
                  </a:cubicBezTo>
                  <a:cubicBezTo>
                    <a:pt x="36" y="38"/>
                    <a:pt x="41" y="34"/>
                    <a:pt x="31" y="40"/>
                  </a:cubicBezTo>
                  <a:cubicBezTo>
                    <a:pt x="23" y="39"/>
                    <a:pt x="15" y="39"/>
                    <a:pt x="7" y="38"/>
                  </a:cubicBezTo>
                  <a:cubicBezTo>
                    <a:pt x="5" y="38"/>
                    <a:pt x="0" y="38"/>
                    <a:pt x="1" y="36"/>
                  </a:cubicBezTo>
                  <a:cubicBezTo>
                    <a:pt x="7" y="26"/>
                    <a:pt x="23" y="23"/>
                    <a:pt x="33" y="20"/>
                  </a:cubicBezTo>
                  <a:cubicBezTo>
                    <a:pt x="39" y="11"/>
                    <a:pt x="51" y="8"/>
                    <a:pt x="59"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8" name="Freeform 108"/>
            <p:cNvSpPr>
              <a:spLocks/>
            </p:cNvSpPr>
            <p:nvPr/>
          </p:nvSpPr>
          <p:spPr bwMode="invGray">
            <a:xfrm>
              <a:off x="2955" y="1997"/>
              <a:ext cx="19" cy="22"/>
            </a:xfrm>
            <a:custGeom>
              <a:avLst/>
              <a:gdLst/>
              <a:ahLst/>
              <a:cxnLst>
                <a:cxn ang="0">
                  <a:pos x="18" y="0"/>
                </a:cxn>
                <a:cxn ang="0">
                  <a:pos x="0" y="18"/>
                </a:cxn>
                <a:cxn ang="0">
                  <a:pos x="18" y="26"/>
                </a:cxn>
                <a:cxn ang="0">
                  <a:pos x="18" y="0"/>
                </a:cxn>
              </a:cxnLst>
              <a:rect l="0" t="0" r="r" b="b"/>
              <a:pathLst>
                <a:path w="26" h="29">
                  <a:moveTo>
                    <a:pt x="18" y="0"/>
                  </a:moveTo>
                  <a:cubicBezTo>
                    <a:pt x="9" y="6"/>
                    <a:pt x="4" y="7"/>
                    <a:pt x="0" y="18"/>
                  </a:cubicBezTo>
                  <a:cubicBezTo>
                    <a:pt x="7" y="25"/>
                    <a:pt x="9" y="29"/>
                    <a:pt x="18" y="26"/>
                  </a:cubicBezTo>
                  <a:cubicBezTo>
                    <a:pt x="22" y="14"/>
                    <a:pt x="26" y="12"/>
                    <a:pt x="18"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99" name="Freeform 109"/>
            <p:cNvSpPr>
              <a:spLocks/>
            </p:cNvSpPr>
            <p:nvPr/>
          </p:nvSpPr>
          <p:spPr bwMode="invGray">
            <a:xfrm>
              <a:off x="2979" y="1996"/>
              <a:ext cx="37" cy="27"/>
            </a:xfrm>
            <a:custGeom>
              <a:avLst/>
              <a:gdLst/>
              <a:ahLst/>
              <a:cxnLst>
                <a:cxn ang="0">
                  <a:pos x="14" y="6"/>
                </a:cxn>
                <a:cxn ang="0">
                  <a:pos x="0" y="18"/>
                </a:cxn>
                <a:cxn ang="0">
                  <a:pos x="6" y="32"/>
                </a:cxn>
                <a:cxn ang="0">
                  <a:pos x="18" y="36"/>
                </a:cxn>
                <a:cxn ang="0">
                  <a:pos x="40" y="26"/>
                </a:cxn>
                <a:cxn ang="0">
                  <a:pos x="14" y="6"/>
                </a:cxn>
              </a:cxnLst>
              <a:rect l="0" t="0" r="r" b="b"/>
              <a:pathLst>
                <a:path w="49" h="36">
                  <a:moveTo>
                    <a:pt x="14" y="6"/>
                  </a:moveTo>
                  <a:cubicBezTo>
                    <a:pt x="11" y="14"/>
                    <a:pt x="7" y="13"/>
                    <a:pt x="0" y="18"/>
                  </a:cubicBezTo>
                  <a:cubicBezTo>
                    <a:pt x="1" y="22"/>
                    <a:pt x="2" y="29"/>
                    <a:pt x="6" y="32"/>
                  </a:cubicBezTo>
                  <a:cubicBezTo>
                    <a:pt x="10" y="34"/>
                    <a:pt x="18" y="36"/>
                    <a:pt x="18" y="36"/>
                  </a:cubicBezTo>
                  <a:cubicBezTo>
                    <a:pt x="24" y="27"/>
                    <a:pt x="30" y="28"/>
                    <a:pt x="40" y="26"/>
                  </a:cubicBezTo>
                  <a:cubicBezTo>
                    <a:pt x="49" y="0"/>
                    <a:pt x="26" y="18"/>
                    <a:pt x="14" y="6"/>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0" name="Freeform 110"/>
            <p:cNvSpPr>
              <a:spLocks/>
            </p:cNvSpPr>
            <p:nvPr/>
          </p:nvSpPr>
          <p:spPr bwMode="invGray">
            <a:xfrm>
              <a:off x="3040" y="1987"/>
              <a:ext cx="20" cy="16"/>
            </a:xfrm>
            <a:custGeom>
              <a:avLst/>
              <a:gdLst/>
              <a:ahLst/>
              <a:cxnLst>
                <a:cxn ang="0">
                  <a:pos x="11" y="0"/>
                </a:cxn>
                <a:cxn ang="0">
                  <a:pos x="3" y="12"/>
                </a:cxn>
                <a:cxn ang="0">
                  <a:pos x="19" y="22"/>
                </a:cxn>
                <a:cxn ang="0">
                  <a:pos x="11" y="0"/>
                </a:cxn>
              </a:cxnLst>
              <a:rect l="0" t="0" r="r" b="b"/>
              <a:pathLst>
                <a:path w="27" h="22">
                  <a:moveTo>
                    <a:pt x="11" y="0"/>
                  </a:moveTo>
                  <a:cubicBezTo>
                    <a:pt x="8" y="4"/>
                    <a:pt x="0" y="8"/>
                    <a:pt x="3" y="12"/>
                  </a:cubicBezTo>
                  <a:cubicBezTo>
                    <a:pt x="6" y="17"/>
                    <a:pt x="19" y="22"/>
                    <a:pt x="19" y="22"/>
                  </a:cubicBezTo>
                  <a:cubicBezTo>
                    <a:pt x="27" y="10"/>
                    <a:pt x="15" y="11"/>
                    <a:pt x="11"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1" name="Freeform 111"/>
            <p:cNvSpPr>
              <a:spLocks/>
            </p:cNvSpPr>
            <p:nvPr/>
          </p:nvSpPr>
          <p:spPr bwMode="invGray">
            <a:xfrm>
              <a:off x="3022" y="2005"/>
              <a:ext cx="15" cy="13"/>
            </a:xfrm>
            <a:custGeom>
              <a:avLst/>
              <a:gdLst/>
              <a:ahLst/>
              <a:cxnLst>
                <a:cxn ang="0">
                  <a:pos x="11" y="0"/>
                </a:cxn>
                <a:cxn ang="0">
                  <a:pos x="9" y="18"/>
                </a:cxn>
                <a:cxn ang="0">
                  <a:pos x="11" y="0"/>
                </a:cxn>
              </a:cxnLst>
              <a:rect l="0" t="0" r="r" b="b"/>
              <a:pathLst>
                <a:path w="20" h="18">
                  <a:moveTo>
                    <a:pt x="11" y="0"/>
                  </a:moveTo>
                  <a:cubicBezTo>
                    <a:pt x="1" y="14"/>
                    <a:pt x="0" y="9"/>
                    <a:pt x="9" y="18"/>
                  </a:cubicBezTo>
                  <a:cubicBezTo>
                    <a:pt x="20" y="14"/>
                    <a:pt x="16" y="18"/>
                    <a:pt x="11"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2" name="Freeform 112"/>
            <p:cNvSpPr>
              <a:spLocks/>
            </p:cNvSpPr>
            <p:nvPr/>
          </p:nvSpPr>
          <p:spPr bwMode="invGray">
            <a:xfrm>
              <a:off x="4162" y="2021"/>
              <a:ext cx="18" cy="33"/>
            </a:xfrm>
            <a:custGeom>
              <a:avLst/>
              <a:gdLst/>
              <a:ahLst/>
              <a:cxnLst>
                <a:cxn ang="0">
                  <a:pos x="24" y="0"/>
                </a:cxn>
                <a:cxn ang="0">
                  <a:pos x="8" y="16"/>
                </a:cxn>
                <a:cxn ang="0">
                  <a:pos x="0" y="34"/>
                </a:cxn>
                <a:cxn ang="0">
                  <a:pos x="16" y="40"/>
                </a:cxn>
                <a:cxn ang="0">
                  <a:pos x="24" y="0"/>
                </a:cxn>
              </a:cxnLst>
              <a:rect l="0" t="0" r="r" b="b"/>
              <a:pathLst>
                <a:path w="24" h="44">
                  <a:moveTo>
                    <a:pt x="24" y="0"/>
                  </a:moveTo>
                  <a:cubicBezTo>
                    <a:pt x="19" y="7"/>
                    <a:pt x="15" y="11"/>
                    <a:pt x="8" y="16"/>
                  </a:cubicBezTo>
                  <a:cubicBezTo>
                    <a:pt x="4" y="21"/>
                    <a:pt x="0" y="34"/>
                    <a:pt x="0" y="34"/>
                  </a:cubicBezTo>
                  <a:cubicBezTo>
                    <a:pt x="3" y="44"/>
                    <a:pt x="7" y="42"/>
                    <a:pt x="16" y="40"/>
                  </a:cubicBezTo>
                  <a:cubicBezTo>
                    <a:pt x="20" y="27"/>
                    <a:pt x="24" y="14"/>
                    <a:pt x="24"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3" name="Freeform 113"/>
            <p:cNvSpPr>
              <a:spLocks/>
            </p:cNvSpPr>
            <p:nvPr/>
          </p:nvSpPr>
          <p:spPr bwMode="invGray">
            <a:xfrm>
              <a:off x="3278" y="3473"/>
              <a:ext cx="31" cy="18"/>
            </a:xfrm>
            <a:custGeom>
              <a:avLst/>
              <a:gdLst/>
              <a:ahLst/>
              <a:cxnLst>
                <a:cxn ang="0">
                  <a:pos x="30" y="0"/>
                </a:cxn>
                <a:cxn ang="0">
                  <a:pos x="26" y="24"/>
                </a:cxn>
                <a:cxn ang="0">
                  <a:pos x="30" y="0"/>
                </a:cxn>
              </a:cxnLst>
              <a:rect l="0" t="0" r="r" b="b"/>
              <a:pathLst>
                <a:path w="41" h="24">
                  <a:moveTo>
                    <a:pt x="30" y="0"/>
                  </a:moveTo>
                  <a:cubicBezTo>
                    <a:pt x="4" y="4"/>
                    <a:pt x="0" y="17"/>
                    <a:pt x="26" y="24"/>
                  </a:cubicBezTo>
                  <a:cubicBezTo>
                    <a:pt x="41" y="19"/>
                    <a:pt x="38" y="10"/>
                    <a:pt x="30"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4" name="Freeform 114"/>
            <p:cNvSpPr>
              <a:spLocks/>
            </p:cNvSpPr>
            <p:nvPr/>
          </p:nvSpPr>
          <p:spPr bwMode="invGray">
            <a:xfrm>
              <a:off x="3318" y="3466"/>
              <a:ext cx="10" cy="15"/>
            </a:xfrm>
            <a:custGeom>
              <a:avLst/>
              <a:gdLst/>
              <a:ahLst/>
              <a:cxnLst>
                <a:cxn ang="0">
                  <a:pos x="10" y="5"/>
                </a:cxn>
                <a:cxn ang="0">
                  <a:pos x="1" y="11"/>
                </a:cxn>
                <a:cxn ang="0">
                  <a:pos x="9" y="20"/>
                </a:cxn>
                <a:cxn ang="0">
                  <a:pos x="10" y="5"/>
                </a:cxn>
              </a:cxnLst>
              <a:rect l="0" t="0" r="r" b="b"/>
              <a:pathLst>
                <a:path w="13" h="20">
                  <a:moveTo>
                    <a:pt x="10" y="5"/>
                  </a:moveTo>
                  <a:cubicBezTo>
                    <a:pt x="3" y="0"/>
                    <a:pt x="5" y="6"/>
                    <a:pt x="1" y="11"/>
                  </a:cubicBezTo>
                  <a:cubicBezTo>
                    <a:pt x="0" y="18"/>
                    <a:pt x="2" y="19"/>
                    <a:pt x="9" y="20"/>
                  </a:cubicBezTo>
                  <a:cubicBezTo>
                    <a:pt x="13" y="14"/>
                    <a:pt x="10"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5" name="Freeform 115"/>
            <p:cNvSpPr>
              <a:spLocks/>
            </p:cNvSpPr>
            <p:nvPr/>
          </p:nvSpPr>
          <p:spPr bwMode="invGray">
            <a:xfrm>
              <a:off x="3251" y="3312"/>
              <a:ext cx="9" cy="15"/>
            </a:xfrm>
            <a:custGeom>
              <a:avLst/>
              <a:gdLst/>
              <a:ahLst/>
              <a:cxnLst>
                <a:cxn ang="0">
                  <a:pos x="10" y="5"/>
                </a:cxn>
                <a:cxn ang="0">
                  <a:pos x="1" y="11"/>
                </a:cxn>
                <a:cxn ang="0">
                  <a:pos x="9" y="20"/>
                </a:cxn>
                <a:cxn ang="0">
                  <a:pos x="10" y="5"/>
                </a:cxn>
              </a:cxnLst>
              <a:rect l="0" t="0" r="r" b="b"/>
              <a:pathLst>
                <a:path w="13" h="20">
                  <a:moveTo>
                    <a:pt x="10" y="5"/>
                  </a:moveTo>
                  <a:cubicBezTo>
                    <a:pt x="3" y="0"/>
                    <a:pt x="5" y="6"/>
                    <a:pt x="1" y="11"/>
                  </a:cubicBezTo>
                  <a:cubicBezTo>
                    <a:pt x="0" y="18"/>
                    <a:pt x="2" y="19"/>
                    <a:pt x="9" y="20"/>
                  </a:cubicBezTo>
                  <a:cubicBezTo>
                    <a:pt x="13" y="14"/>
                    <a:pt x="10"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6" name="Freeform 116"/>
            <p:cNvSpPr>
              <a:spLocks/>
            </p:cNvSpPr>
            <p:nvPr/>
          </p:nvSpPr>
          <p:spPr bwMode="invGray">
            <a:xfrm>
              <a:off x="3311" y="3239"/>
              <a:ext cx="11" cy="19"/>
            </a:xfrm>
            <a:custGeom>
              <a:avLst/>
              <a:gdLst/>
              <a:ahLst/>
              <a:cxnLst>
                <a:cxn ang="0">
                  <a:pos x="6" y="0"/>
                </a:cxn>
                <a:cxn ang="0">
                  <a:pos x="0" y="13"/>
                </a:cxn>
                <a:cxn ang="0">
                  <a:pos x="12" y="24"/>
                </a:cxn>
                <a:cxn ang="0">
                  <a:pos x="6" y="0"/>
                </a:cxn>
              </a:cxnLst>
              <a:rect l="0" t="0" r="r" b="b"/>
              <a:pathLst>
                <a:path w="14" h="25">
                  <a:moveTo>
                    <a:pt x="6" y="0"/>
                  </a:moveTo>
                  <a:cubicBezTo>
                    <a:pt x="4" y="5"/>
                    <a:pt x="3" y="9"/>
                    <a:pt x="0" y="13"/>
                  </a:cubicBezTo>
                  <a:cubicBezTo>
                    <a:pt x="1" y="24"/>
                    <a:pt x="1" y="25"/>
                    <a:pt x="12" y="24"/>
                  </a:cubicBezTo>
                  <a:cubicBezTo>
                    <a:pt x="14" y="12"/>
                    <a:pt x="8" y="10"/>
                    <a:pt x="6"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7" name="Freeform 117"/>
            <p:cNvSpPr>
              <a:spLocks/>
            </p:cNvSpPr>
            <p:nvPr/>
          </p:nvSpPr>
          <p:spPr bwMode="invGray">
            <a:xfrm>
              <a:off x="3287" y="3238"/>
              <a:ext cx="11" cy="19"/>
            </a:xfrm>
            <a:custGeom>
              <a:avLst/>
              <a:gdLst/>
              <a:ahLst/>
              <a:cxnLst>
                <a:cxn ang="0">
                  <a:pos x="6" y="0"/>
                </a:cxn>
                <a:cxn ang="0">
                  <a:pos x="0" y="13"/>
                </a:cxn>
                <a:cxn ang="0">
                  <a:pos x="12" y="24"/>
                </a:cxn>
                <a:cxn ang="0">
                  <a:pos x="6" y="0"/>
                </a:cxn>
              </a:cxnLst>
              <a:rect l="0" t="0" r="r" b="b"/>
              <a:pathLst>
                <a:path w="14" h="25">
                  <a:moveTo>
                    <a:pt x="6" y="0"/>
                  </a:moveTo>
                  <a:cubicBezTo>
                    <a:pt x="4" y="5"/>
                    <a:pt x="3" y="9"/>
                    <a:pt x="0" y="13"/>
                  </a:cubicBezTo>
                  <a:cubicBezTo>
                    <a:pt x="1" y="24"/>
                    <a:pt x="1" y="25"/>
                    <a:pt x="12" y="24"/>
                  </a:cubicBezTo>
                  <a:cubicBezTo>
                    <a:pt x="14" y="12"/>
                    <a:pt x="8" y="10"/>
                    <a:pt x="6" y="0"/>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8" name="Freeform 118"/>
            <p:cNvSpPr>
              <a:spLocks/>
            </p:cNvSpPr>
            <p:nvPr/>
          </p:nvSpPr>
          <p:spPr bwMode="invGray">
            <a:xfrm>
              <a:off x="3276" y="3260"/>
              <a:ext cx="10" cy="15"/>
            </a:xfrm>
            <a:custGeom>
              <a:avLst/>
              <a:gdLst/>
              <a:ahLst/>
              <a:cxnLst>
                <a:cxn ang="0">
                  <a:pos x="10" y="5"/>
                </a:cxn>
                <a:cxn ang="0">
                  <a:pos x="1" y="11"/>
                </a:cxn>
                <a:cxn ang="0">
                  <a:pos x="9" y="20"/>
                </a:cxn>
                <a:cxn ang="0">
                  <a:pos x="10" y="5"/>
                </a:cxn>
              </a:cxnLst>
              <a:rect l="0" t="0" r="r" b="b"/>
              <a:pathLst>
                <a:path w="13" h="20">
                  <a:moveTo>
                    <a:pt x="10" y="5"/>
                  </a:moveTo>
                  <a:cubicBezTo>
                    <a:pt x="3" y="0"/>
                    <a:pt x="5" y="6"/>
                    <a:pt x="1" y="11"/>
                  </a:cubicBezTo>
                  <a:cubicBezTo>
                    <a:pt x="0" y="18"/>
                    <a:pt x="2" y="19"/>
                    <a:pt x="9" y="20"/>
                  </a:cubicBezTo>
                  <a:cubicBezTo>
                    <a:pt x="13" y="14"/>
                    <a:pt x="10"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9" name="Freeform 119"/>
            <p:cNvSpPr>
              <a:spLocks/>
            </p:cNvSpPr>
            <p:nvPr/>
          </p:nvSpPr>
          <p:spPr bwMode="invGray">
            <a:xfrm>
              <a:off x="3251" y="3294"/>
              <a:ext cx="9" cy="15"/>
            </a:xfrm>
            <a:custGeom>
              <a:avLst/>
              <a:gdLst/>
              <a:ahLst/>
              <a:cxnLst>
                <a:cxn ang="0">
                  <a:pos x="10" y="5"/>
                </a:cxn>
                <a:cxn ang="0">
                  <a:pos x="1" y="11"/>
                </a:cxn>
                <a:cxn ang="0">
                  <a:pos x="9" y="20"/>
                </a:cxn>
                <a:cxn ang="0">
                  <a:pos x="10" y="5"/>
                </a:cxn>
              </a:cxnLst>
              <a:rect l="0" t="0" r="r" b="b"/>
              <a:pathLst>
                <a:path w="13" h="20">
                  <a:moveTo>
                    <a:pt x="10" y="5"/>
                  </a:moveTo>
                  <a:cubicBezTo>
                    <a:pt x="3" y="0"/>
                    <a:pt x="5" y="6"/>
                    <a:pt x="1" y="11"/>
                  </a:cubicBezTo>
                  <a:cubicBezTo>
                    <a:pt x="0" y="18"/>
                    <a:pt x="2" y="19"/>
                    <a:pt x="9" y="20"/>
                  </a:cubicBezTo>
                  <a:cubicBezTo>
                    <a:pt x="13" y="14"/>
                    <a:pt x="10"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10" name="Freeform 120"/>
            <p:cNvSpPr>
              <a:spLocks/>
            </p:cNvSpPr>
            <p:nvPr/>
          </p:nvSpPr>
          <p:spPr bwMode="invGray">
            <a:xfrm>
              <a:off x="3270" y="3281"/>
              <a:ext cx="10" cy="15"/>
            </a:xfrm>
            <a:custGeom>
              <a:avLst/>
              <a:gdLst/>
              <a:ahLst/>
              <a:cxnLst>
                <a:cxn ang="0">
                  <a:pos x="10" y="5"/>
                </a:cxn>
                <a:cxn ang="0">
                  <a:pos x="1" y="11"/>
                </a:cxn>
                <a:cxn ang="0">
                  <a:pos x="9" y="20"/>
                </a:cxn>
                <a:cxn ang="0">
                  <a:pos x="10" y="5"/>
                </a:cxn>
              </a:cxnLst>
              <a:rect l="0" t="0" r="r" b="b"/>
              <a:pathLst>
                <a:path w="13" h="20">
                  <a:moveTo>
                    <a:pt x="10" y="5"/>
                  </a:moveTo>
                  <a:cubicBezTo>
                    <a:pt x="3" y="0"/>
                    <a:pt x="5" y="6"/>
                    <a:pt x="1" y="11"/>
                  </a:cubicBezTo>
                  <a:cubicBezTo>
                    <a:pt x="0" y="18"/>
                    <a:pt x="2" y="19"/>
                    <a:pt x="9" y="20"/>
                  </a:cubicBezTo>
                  <a:cubicBezTo>
                    <a:pt x="13" y="14"/>
                    <a:pt x="10"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11" name="Freeform 121"/>
            <p:cNvSpPr>
              <a:spLocks/>
            </p:cNvSpPr>
            <p:nvPr/>
          </p:nvSpPr>
          <p:spPr bwMode="invGray">
            <a:xfrm>
              <a:off x="2537" y="2293"/>
              <a:ext cx="10" cy="15"/>
            </a:xfrm>
            <a:custGeom>
              <a:avLst/>
              <a:gdLst/>
              <a:ahLst/>
              <a:cxnLst>
                <a:cxn ang="0">
                  <a:pos x="10" y="5"/>
                </a:cxn>
                <a:cxn ang="0">
                  <a:pos x="1" y="11"/>
                </a:cxn>
                <a:cxn ang="0">
                  <a:pos x="9" y="20"/>
                </a:cxn>
                <a:cxn ang="0">
                  <a:pos x="10" y="5"/>
                </a:cxn>
              </a:cxnLst>
              <a:rect l="0" t="0" r="r" b="b"/>
              <a:pathLst>
                <a:path w="13" h="20">
                  <a:moveTo>
                    <a:pt x="10" y="5"/>
                  </a:moveTo>
                  <a:cubicBezTo>
                    <a:pt x="3" y="0"/>
                    <a:pt x="5" y="6"/>
                    <a:pt x="1" y="11"/>
                  </a:cubicBezTo>
                  <a:cubicBezTo>
                    <a:pt x="0" y="18"/>
                    <a:pt x="2" y="19"/>
                    <a:pt x="9" y="20"/>
                  </a:cubicBezTo>
                  <a:cubicBezTo>
                    <a:pt x="13" y="14"/>
                    <a:pt x="10"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12" name="Freeform 122"/>
            <p:cNvSpPr>
              <a:spLocks/>
            </p:cNvSpPr>
            <p:nvPr/>
          </p:nvSpPr>
          <p:spPr bwMode="invGray">
            <a:xfrm>
              <a:off x="2476" y="2259"/>
              <a:ext cx="10" cy="15"/>
            </a:xfrm>
            <a:custGeom>
              <a:avLst/>
              <a:gdLst/>
              <a:ahLst/>
              <a:cxnLst>
                <a:cxn ang="0">
                  <a:pos x="10" y="5"/>
                </a:cxn>
                <a:cxn ang="0">
                  <a:pos x="1" y="11"/>
                </a:cxn>
                <a:cxn ang="0">
                  <a:pos x="9" y="20"/>
                </a:cxn>
                <a:cxn ang="0">
                  <a:pos x="10" y="5"/>
                </a:cxn>
              </a:cxnLst>
              <a:rect l="0" t="0" r="r" b="b"/>
              <a:pathLst>
                <a:path w="13" h="20">
                  <a:moveTo>
                    <a:pt x="10" y="5"/>
                  </a:moveTo>
                  <a:cubicBezTo>
                    <a:pt x="3" y="0"/>
                    <a:pt x="5" y="6"/>
                    <a:pt x="1" y="11"/>
                  </a:cubicBezTo>
                  <a:cubicBezTo>
                    <a:pt x="0" y="18"/>
                    <a:pt x="2" y="19"/>
                    <a:pt x="9" y="20"/>
                  </a:cubicBezTo>
                  <a:cubicBezTo>
                    <a:pt x="13" y="14"/>
                    <a:pt x="10" y="12"/>
                    <a:pt x="10" y="5"/>
                  </a:cubicBez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13" name="Freeform 123"/>
            <p:cNvSpPr>
              <a:spLocks/>
            </p:cNvSpPr>
            <p:nvPr/>
          </p:nvSpPr>
          <p:spPr bwMode="invGray">
            <a:xfrm>
              <a:off x="2238" y="2042"/>
              <a:ext cx="2060" cy="1644"/>
            </a:xfrm>
            <a:custGeom>
              <a:avLst/>
              <a:gdLst/>
              <a:ahLst/>
              <a:cxnLst>
                <a:cxn ang="0">
                  <a:pos x="452" y="653"/>
                </a:cxn>
                <a:cxn ang="0">
                  <a:pos x="333" y="595"/>
                </a:cxn>
                <a:cxn ang="0">
                  <a:pos x="158" y="645"/>
                </a:cxn>
                <a:cxn ang="0">
                  <a:pos x="46" y="759"/>
                </a:cxn>
                <a:cxn ang="0">
                  <a:pos x="12" y="941"/>
                </a:cxn>
                <a:cxn ang="0">
                  <a:pos x="146" y="1059"/>
                </a:cxn>
                <a:cxn ang="0">
                  <a:pos x="308" y="1041"/>
                </a:cxn>
                <a:cxn ang="0">
                  <a:pos x="396" y="1138"/>
                </a:cxn>
                <a:cxn ang="0">
                  <a:pos x="452" y="1447"/>
                </a:cxn>
                <a:cxn ang="0">
                  <a:pos x="497" y="1628"/>
                </a:cxn>
                <a:cxn ang="0">
                  <a:pos x="704" y="1574"/>
                </a:cxn>
                <a:cxn ang="0">
                  <a:pos x="817" y="1380"/>
                </a:cxn>
                <a:cxn ang="0">
                  <a:pos x="885" y="1153"/>
                </a:cxn>
                <a:cxn ang="0">
                  <a:pos x="998" y="999"/>
                </a:cxn>
                <a:cxn ang="0">
                  <a:pos x="796" y="856"/>
                </a:cxn>
                <a:cxn ang="0">
                  <a:pos x="817" y="819"/>
                </a:cxn>
                <a:cxn ang="0">
                  <a:pos x="1003" y="916"/>
                </a:cxn>
                <a:cxn ang="0">
                  <a:pos x="1098" y="792"/>
                </a:cxn>
                <a:cxn ang="0">
                  <a:pos x="1046" y="763"/>
                </a:cxn>
                <a:cxn ang="0">
                  <a:pos x="929" y="716"/>
                </a:cxn>
                <a:cxn ang="0">
                  <a:pos x="1141" y="761"/>
                </a:cxn>
                <a:cxn ang="0">
                  <a:pos x="1296" y="852"/>
                </a:cxn>
                <a:cxn ang="0">
                  <a:pos x="1373" y="1033"/>
                </a:cxn>
                <a:cxn ang="0">
                  <a:pos x="1608" y="847"/>
                </a:cxn>
                <a:cxn ang="0">
                  <a:pos x="1704" y="1030"/>
                </a:cxn>
                <a:cxn ang="0">
                  <a:pos x="1707" y="874"/>
                </a:cxn>
                <a:cxn ang="0">
                  <a:pos x="1759" y="800"/>
                </a:cxn>
                <a:cxn ang="0">
                  <a:pos x="1783" y="544"/>
                </a:cxn>
                <a:cxn ang="0">
                  <a:pos x="1824" y="528"/>
                </a:cxn>
                <a:cxn ang="0">
                  <a:pos x="1844" y="427"/>
                </a:cxn>
                <a:cxn ang="0">
                  <a:pos x="1805" y="226"/>
                </a:cxn>
                <a:cxn ang="0">
                  <a:pos x="1899" y="108"/>
                </a:cxn>
                <a:cxn ang="0">
                  <a:pos x="1947" y="209"/>
                </a:cxn>
                <a:cxn ang="0">
                  <a:pos x="1943" y="123"/>
                </a:cxn>
                <a:cxn ang="0">
                  <a:pos x="1975" y="51"/>
                </a:cxn>
                <a:cxn ang="0">
                  <a:pos x="2038" y="0"/>
                </a:cxn>
                <a:cxn ang="0">
                  <a:pos x="1820" y="63"/>
                </a:cxn>
                <a:cxn ang="0">
                  <a:pos x="1583" y="83"/>
                </a:cxn>
                <a:cxn ang="0">
                  <a:pos x="1349" y="30"/>
                </a:cxn>
                <a:cxn ang="0">
                  <a:pos x="1132" y="65"/>
                </a:cxn>
                <a:cxn ang="0">
                  <a:pos x="1040" y="170"/>
                </a:cxn>
                <a:cxn ang="0">
                  <a:pos x="926" y="137"/>
                </a:cxn>
                <a:cxn ang="0">
                  <a:pos x="758" y="183"/>
                </a:cxn>
                <a:cxn ang="0">
                  <a:pos x="667" y="140"/>
                </a:cxn>
                <a:cxn ang="0">
                  <a:pos x="364" y="248"/>
                </a:cxn>
                <a:cxn ang="0">
                  <a:pos x="535" y="213"/>
                </a:cxn>
                <a:cxn ang="0">
                  <a:pos x="638" y="276"/>
                </a:cxn>
                <a:cxn ang="0">
                  <a:pos x="443" y="357"/>
                </a:cxn>
                <a:cxn ang="0">
                  <a:pos x="275" y="416"/>
                </a:cxn>
                <a:cxn ang="0">
                  <a:pos x="167" y="537"/>
                </a:cxn>
                <a:cxn ang="0">
                  <a:pos x="283" y="552"/>
                </a:cxn>
                <a:cxn ang="0">
                  <a:pos x="381" y="573"/>
                </a:cxn>
                <a:cxn ang="0">
                  <a:pos x="493" y="590"/>
                </a:cxn>
                <a:cxn ang="0">
                  <a:pos x="487" y="512"/>
                </a:cxn>
                <a:cxn ang="0">
                  <a:pos x="592" y="548"/>
                </a:cxn>
                <a:cxn ang="0">
                  <a:pos x="686" y="470"/>
                </a:cxn>
                <a:cxn ang="0">
                  <a:pos x="772" y="480"/>
                </a:cxn>
                <a:cxn ang="0">
                  <a:pos x="639" y="598"/>
                </a:cxn>
              </a:cxnLst>
              <a:rect l="0" t="0" r="r" b="b"/>
              <a:pathLst>
                <a:path w="2060" h="1644">
                  <a:moveTo>
                    <a:pt x="697" y="677"/>
                  </a:moveTo>
                  <a:cubicBezTo>
                    <a:pt x="659" y="675"/>
                    <a:pt x="652" y="669"/>
                    <a:pt x="618" y="667"/>
                  </a:cubicBezTo>
                  <a:cubicBezTo>
                    <a:pt x="607" y="666"/>
                    <a:pt x="594" y="661"/>
                    <a:pt x="582" y="658"/>
                  </a:cubicBezTo>
                  <a:cubicBezTo>
                    <a:pt x="577" y="655"/>
                    <a:pt x="568" y="650"/>
                    <a:pt x="568" y="650"/>
                  </a:cubicBezTo>
                  <a:cubicBezTo>
                    <a:pt x="551" y="652"/>
                    <a:pt x="557" y="655"/>
                    <a:pt x="546" y="658"/>
                  </a:cubicBezTo>
                  <a:cubicBezTo>
                    <a:pt x="540" y="667"/>
                    <a:pt x="542" y="669"/>
                    <a:pt x="546" y="677"/>
                  </a:cubicBezTo>
                  <a:cubicBezTo>
                    <a:pt x="548" y="680"/>
                    <a:pt x="550" y="686"/>
                    <a:pt x="550" y="686"/>
                  </a:cubicBezTo>
                  <a:cubicBezTo>
                    <a:pt x="526" y="694"/>
                    <a:pt x="506" y="678"/>
                    <a:pt x="488" y="670"/>
                  </a:cubicBezTo>
                  <a:cubicBezTo>
                    <a:pt x="481" y="653"/>
                    <a:pt x="472" y="655"/>
                    <a:pt x="452" y="653"/>
                  </a:cubicBezTo>
                  <a:cubicBezTo>
                    <a:pt x="446" y="648"/>
                    <a:pt x="444" y="648"/>
                    <a:pt x="437" y="650"/>
                  </a:cubicBezTo>
                  <a:cubicBezTo>
                    <a:pt x="427" y="647"/>
                    <a:pt x="433" y="648"/>
                    <a:pt x="423" y="642"/>
                  </a:cubicBezTo>
                  <a:cubicBezTo>
                    <a:pt x="421" y="641"/>
                    <a:pt x="418" y="639"/>
                    <a:pt x="418" y="639"/>
                  </a:cubicBezTo>
                  <a:cubicBezTo>
                    <a:pt x="416" y="638"/>
                    <a:pt x="413" y="633"/>
                    <a:pt x="413" y="630"/>
                  </a:cubicBezTo>
                  <a:cubicBezTo>
                    <a:pt x="415" y="625"/>
                    <a:pt x="418" y="616"/>
                    <a:pt x="418" y="616"/>
                  </a:cubicBezTo>
                  <a:cubicBezTo>
                    <a:pt x="416" y="592"/>
                    <a:pt x="421" y="588"/>
                    <a:pt x="398" y="591"/>
                  </a:cubicBezTo>
                  <a:cubicBezTo>
                    <a:pt x="390" y="598"/>
                    <a:pt x="390" y="595"/>
                    <a:pt x="381" y="592"/>
                  </a:cubicBezTo>
                  <a:cubicBezTo>
                    <a:pt x="370" y="592"/>
                    <a:pt x="361" y="595"/>
                    <a:pt x="348" y="597"/>
                  </a:cubicBezTo>
                  <a:cubicBezTo>
                    <a:pt x="344" y="595"/>
                    <a:pt x="337" y="597"/>
                    <a:pt x="333" y="595"/>
                  </a:cubicBezTo>
                  <a:cubicBezTo>
                    <a:pt x="331" y="594"/>
                    <a:pt x="330" y="592"/>
                    <a:pt x="328" y="592"/>
                  </a:cubicBezTo>
                  <a:cubicBezTo>
                    <a:pt x="314" y="591"/>
                    <a:pt x="296" y="597"/>
                    <a:pt x="283" y="602"/>
                  </a:cubicBezTo>
                  <a:cubicBezTo>
                    <a:pt x="276" y="603"/>
                    <a:pt x="268" y="606"/>
                    <a:pt x="260" y="608"/>
                  </a:cubicBezTo>
                  <a:cubicBezTo>
                    <a:pt x="255" y="609"/>
                    <a:pt x="246" y="613"/>
                    <a:pt x="246" y="613"/>
                  </a:cubicBezTo>
                  <a:cubicBezTo>
                    <a:pt x="228" y="611"/>
                    <a:pt x="209" y="609"/>
                    <a:pt x="189" y="611"/>
                  </a:cubicBezTo>
                  <a:cubicBezTo>
                    <a:pt x="184" y="613"/>
                    <a:pt x="180" y="614"/>
                    <a:pt x="175" y="617"/>
                  </a:cubicBezTo>
                  <a:cubicBezTo>
                    <a:pt x="173" y="619"/>
                    <a:pt x="173" y="620"/>
                    <a:pt x="173" y="622"/>
                  </a:cubicBezTo>
                  <a:cubicBezTo>
                    <a:pt x="172" y="623"/>
                    <a:pt x="169" y="623"/>
                    <a:pt x="169" y="625"/>
                  </a:cubicBezTo>
                  <a:cubicBezTo>
                    <a:pt x="163" y="634"/>
                    <a:pt x="167" y="641"/>
                    <a:pt x="158" y="645"/>
                  </a:cubicBezTo>
                  <a:cubicBezTo>
                    <a:pt x="153" y="648"/>
                    <a:pt x="149" y="652"/>
                    <a:pt x="144" y="655"/>
                  </a:cubicBezTo>
                  <a:cubicBezTo>
                    <a:pt x="141" y="656"/>
                    <a:pt x="135" y="659"/>
                    <a:pt x="135" y="659"/>
                  </a:cubicBezTo>
                  <a:cubicBezTo>
                    <a:pt x="133" y="664"/>
                    <a:pt x="130" y="666"/>
                    <a:pt x="130" y="669"/>
                  </a:cubicBezTo>
                  <a:cubicBezTo>
                    <a:pt x="128" y="677"/>
                    <a:pt x="132" y="691"/>
                    <a:pt x="124" y="698"/>
                  </a:cubicBezTo>
                  <a:cubicBezTo>
                    <a:pt x="118" y="703"/>
                    <a:pt x="108" y="709"/>
                    <a:pt x="101" y="711"/>
                  </a:cubicBezTo>
                  <a:cubicBezTo>
                    <a:pt x="101" y="711"/>
                    <a:pt x="90" y="716"/>
                    <a:pt x="87" y="716"/>
                  </a:cubicBezTo>
                  <a:cubicBezTo>
                    <a:pt x="85" y="717"/>
                    <a:pt x="82" y="717"/>
                    <a:pt x="82" y="717"/>
                  </a:cubicBezTo>
                  <a:cubicBezTo>
                    <a:pt x="76" y="725"/>
                    <a:pt x="68" y="733"/>
                    <a:pt x="60" y="738"/>
                  </a:cubicBezTo>
                  <a:cubicBezTo>
                    <a:pt x="56" y="745"/>
                    <a:pt x="53" y="755"/>
                    <a:pt x="46" y="759"/>
                  </a:cubicBezTo>
                  <a:cubicBezTo>
                    <a:pt x="43" y="764"/>
                    <a:pt x="37" y="767"/>
                    <a:pt x="31" y="773"/>
                  </a:cubicBezTo>
                  <a:cubicBezTo>
                    <a:pt x="26" y="780"/>
                    <a:pt x="25" y="789"/>
                    <a:pt x="23" y="797"/>
                  </a:cubicBezTo>
                  <a:cubicBezTo>
                    <a:pt x="20" y="803"/>
                    <a:pt x="19" y="809"/>
                    <a:pt x="17" y="816"/>
                  </a:cubicBezTo>
                  <a:cubicBezTo>
                    <a:pt x="15" y="817"/>
                    <a:pt x="14" y="824"/>
                    <a:pt x="14" y="824"/>
                  </a:cubicBezTo>
                  <a:cubicBezTo>
                    <a:pt x="15" y="831"/>
                    <a:pt x="26" y="842"/>
                    <a:pt x="26" y="842"/>
                  </a:cubicBezTo>
                  <a:cubicBezTo>
                    <a:pt x="26" y="847"/>
                    <a:pt x="17" y="855"/>
                    <a:pt x="17" y="855"/>
                  </a:cubicBezTo>
                  <a:cubicBezTo>
                    <a:pt x="14" y="863"/>
                    <a:pt x="17" y="867"/>
                    <a:pt x="25" y="870"/>
                  </a:cubicBezTo>
                  <a:cubicBezTo>
                    <a:pt x="28" y="884"/>
                    <a:pt x="17" y="902"/>
                    <a:pt x="6" y="909"/>
                  </a:cubicBezTo>
                  <a:cubicBezTo>
                    <a:pt x="0" y="927"/>
                    <a:pt x="5" y="927"/>
                    <a:pt x="12" y="941"/>
                  </a:cubicBezTo>
                  <a:cubicBezTo>
                    <a:pt x="23" y="963"/>
                    <a:pt x="29" y="969"/>
                    <a:pt x="53" y="977"/>
                  </a:cubicBezTo>
                  <a:cubicBezTo>
                    <a:pt x="60" y="986"/>
                    <a:pt x="56" y="983"/>
                    <a:pt x="63" y="989"/>
                  </a:cubicBezTo>
                  <a:cubicBezTo>
                    <a:pt x="62" y="994"/>
                    <a:pt x="59" y="997"/>
                    <a:pt x="59" y="1002"/>
                  </a:cubicBezTo>
                  <a:cubicBezTo>
                    <a:pt x="57" y="1009"/>
                    <a:pt x="70" y="1020"/>
                    <a:pt x="74" y="1027"/>
                  </a:cubicBezTo>
                  <a:cubicBezTo>
                    <a:pt x="77" y="1031"/>
                    <a:pt x="91" y="1036"/>
                    <a:pt x="91" y="1036"/>
                  </a:cubicBezTo>
                  <a:cubicBezTo>
                    <a:pt x="94" y="1036"/>
                    <a:pt x="96" y="1036"/>
                    <a:pt x="98" y="1034"/>
                  </a:cubicBezTo>
                  <a:cubicBezTo>
                    <a:pt x="99" y="1034"/>
                    <a:pt x="98" y="1031"/>
                    <a:pt x="99" y="1030"/>
                  </a:cubicBezTo>
                  <a:cubicBezTo>
                    <a:pt x="101" y="1030"/>
                    <a:pt x="107" y="1038"/>
                    <a:pt x="108" y="1038"/>
                  </a:cubicBezTo>
                  <a:cubicBezTo>
                    <a:pt x="119" y="1047"/>
                    <a:pt x="133" y="1055"/>
                    <a:pt x="146" y="1059"/>
                  </a:cubicBezTo>
                  <a:cubicBezTo>
                    <a:pt x="149" y="1067"/>
                    <a:pt x="152" y="1066"/>
                    <a:pt x="159" y="1064"/>
                  </a:cubicBezTo>
                  <a:cubicBezTo>
                    <a:pt x="163" y="1061"/>
                    <a:pt x="166" y="1059"/>
                    <a:pt x="169" y="1058"/>
                  </a:cubicBezTo>
                  <a:cubicBezTo>
                    <a:pt x="172" y="1056"/>
                    <a:pt x="178" y="1055"/>
                    <a:pt x="178" y="1055"/>
                  </a:cubicBezTo>
                  <a:cubicBezTo>
                    <a:pt x="192" y="1059"/>
                    <a:pt x="209" y="1061"/>
                    <a:pt x="224" y="1063"/>
                  </a:cubicBezTo>
                  <a:cubicBezTo>
                    <a:pt x="231" y="1067"/>
                    <a:pt x="229" y="1070"/>
                    <a:pt x="238" y="1069"/>
                  </a:cubicBezTo>
                  <a:cubicBezTo>
                    <a:pt x="238" y="1063"/>
                    <a:pt x="238" y="1056"/>
                    <a:pt x="238" y="1050"/>
                  </a:cubicBezTo>
                  <a:cubicBezTo>
                    <a:pt x="241" y="1041"/>
                    <a:pt x="257" y="1059"/>
                    <a:pt x="260" y="1061"/>
                  </a:cubicBezTo>
                  <a:cubicBezTo>
                    <a:pt x="266" y="1050"/>
                    <a:pt x="279" y="1052"/>
                    <a:pt x="291" y="1050"/>
                  </a:cubicBezTo>
                  <a:cubicBezTo>
                    <a:pt x="297" y="1049"/>
                    <a:pt x="302" y="1044"/>
                    <a:pt x="308" y="1041"/>
                  </a:cubicBezTo>
                  <a:cubicBezTo>
                    <a:pt x="319" y="1042"/>
                    <a:pt x="330" y="1045"/>
                    <a:pt x="341" y="1049"/>
                  </a:cubicBezTo>
                  <a:cubicBezTo>
                    <a:pt x="342" y="1050"/>
                    <a:pt x="344" y="1055"/>
                    <a:pt x="344" y="1058"/>
                  </a:cubicBezTo>
                  <a:cubicBezTo>
                    <a:pt x="344" y="1061"/>
                    <a:pt x="342" y="1067"/>
                    <a:pt x="342" y="1067"/>
                  </a:cubicBezTo>
                  <a:cubicBezTo>
                    <a:pt x="347" y="1070"/>
                    <a:pt x="355" y="1072"/>
                    <a:pt x="361" y="1075"/>
                  </a:cubicBezTo>
                  <a:cubicBezTo>
                    <a:pt x="362" y="1075"/>
                    <a:pt x="365" y="1077"/>
                    <a:pt x="365" y="1077"/>
                  </a:cubicBezTo>
                  <a:cubicBezTo>
                    <a:pt x="375" y="1074"/>
                    <a:pt x="384" y="1074"/>
                    <a:pt x="393" y="1080"/>
                  </a:cubicBezTo>
                  <a:cubicBezTo>
                    <a:pt x="396" y="1083"/>
                    <a:pt x="398" y="1088"/>
                    <a:pt x="401" y="1092"/>
                  </a:cubicBezTo>
                  <a:cubicBezTo>
                    <a:pt x="404" y="1095"/>
                    <a:pt x="407" y="1102"/>
                    <a:pt x="407" y="1102"/>
                  </a:cubicBezTo>
                  <a:cubicBezTo>
                    <a:pt x="404" y="1114"/>
                    <a:pt x="399" y="1127"/>
                    <a:pt x="396" y="1138"/>
                  </a:cubicBezTo>
                  <a:cubicBezTo>
                    <a:pt x="393" y="1147"/>
                    <a:pt x="395" y="1141"/>
                    <a:pt x="389" y="1152"/>
                  </a:cubicBezTo>
                  <a:cubicBezTo>
                    <a:pt x="387" y="1153"/>
                    <a:pt x="385" y="1156"/>
                    <a:pt x="385" y="1156"/>
                  </a:cubicBezTo>
                  <a:cubicBezTo>
                    <a:pt x="389" y="1185"/>
                    <a:pt x="396" y="1180"/>
                    <a:pt x="410" y="1197"/>
                  </a:cubicBezTo>
                  <a:cubicBezTo>
                    <a:pt x="427" y="1219"/>
                    <a:pt x="440" y="1239"/>
                    <a:pt x="447" y="1266"/>
                  </a:cubicBezTo>
                  <a:cubicBezTo>
                    <a:pt x="446" y="1280"/>
                    <a:pt x="452" y="1314"/>
                    <a:pt x="435" y="1325"/>
                  </a:cubicBezTo>
                  <a:cubicBezTo>
                    <a:pt x="427" y="1347"/>
                    <a:pt x="433" y="1325"/>
                    <a:pt x="430" y="1367"/>
                  </a:cubicBezTo>
                  <a:cubicBezTo>
                    <a:pt x="429" y="1377"/>
                    <a:pt x="421" y="1381"/>
                    <a:pt x="418" y="1391"/>
                  </a:cubicBezTo>
                  <a:cubicBezTo>
                    <a:pt x="421" y="1413"/>
                    <a:pt x="430" y="1422"/>
                    <a:pt x="446" y="1438"/>
                  </a:cubicBezTo>
                  <a:cubicBezTo>
                    <a:pt x="449" y="1441"/>
                    <a:pt x="450" y="1442"/>
                    <a:pt x="452" y="1447"/>
                  </a:cubicBezTo>
                  <a:cubicBezTo>
                    <a:pt x="454" y="1450"/>
                    <a:pt x="455" y="1456"/>
                    <a:pt x="455" y="1456"/>
                  </a:cubicBezTo>
                  <a:cubicBezTo>
                    <a:pt x="457" y="1475"/>
                    <a:pt x="458" y="1488"/>
                    <a:pt x="460" y="1505"/>
                  </a:cubicBezTo>
                  <a:cubicBezTo>
                    <a:pt x="461" y="1514"/>
                    <a:pt x="461" y="1511"/>
                    <a:pt x="464" y="1522"/>
                  </a:cubicBezTo>
                  <a:cubicBezTo>
                    <a:pt x="466" y="1524"/>
                    <a:pt x="466" y="1527"/>
                    <a:pt x="466" y="1527"/>
                  </a:cubicBezTo>
                  <a:cubicBezTo>
                    <a:pt x="468" y="1542"/>
                    <a:pt x="469" y="1552"/>
                    <a:pt x="481" y="1561"/>
                  </a:cubicBezTo>
                  <a:cubicBezTo>
                    <a:pt x="485" y="1566"/>
                    <a:pt x="488" y="1569"/>
                    <a:pt x="494" y="1572"/>
                  </a:cubicBezTo>
                  <a:cubicBezTo>
                    <a:pt x="497" y="1585"/>
                    <a:pt x="503" y="1597"/>
                    <a:pt x="506" y="1610"/>
                  </a:cubicBezTo>
                  <a:cubicBezTo>
                    <a:pt x="506" y="1614"/>
                    <a:pt x="508" y="1619"/>
                    <a:pt x="505" y="1622"/>
                  </a:cubicBezTo>
                  <a:cubicBezTo>
                    <a:pt x="503" y="1625"/>
                    <a:pt x="497" y="1628"/>
                    <a:pt x="497" y="1628"/>
                  </a:cubicBezTo>
                  <a:cubicBezTo>
                    <a:pt x="488" y="1642"/>
                    <a:pt x="509" y="1644"/>
                    <a:pt x="517" y="1644"/>
                  </a:cubicBezTo>
                  <a:cubicBezTo>
                    <a:pt x="539" y="1639"/>
                    <a:pt x="557" y="1635"/>
                    <a:pt x="579" y="1633"/>
                  </a:cubicBezTo>
                  <a:cubicBezTo>
                    <a:pt x="598" y="1630"/>
                    <a:pt x="613" y="1627"/>
                    <a:pt x="632" y="1624"/>
                  </a:cubicBezTo>
                  <a:cubicBezTo>
                    <a:pt x="635" y="1624"/>
                    <a:pt x="638" y="1622"/>
                    <a:pt x="641" y="1621"/>
                  </a:cubicBezTo>
                  <a:cubicBezTo>
                    <a:pt x="642" y="1621"/>
                    <a:pt x="644" y="1619"/>
                    <a:pt x="646" y="1617"/>
                  </a:cubicBezTo>
                  <a:cubicBezTo>
                    <a:pt x="649" y="1617"/>
                    <a:pt x="655" y="1616"/>
                    <a:pt x="655" y="1616"/>
                  </a:cubicBezTo>
                  <a:cubicBezTo>
                    <a:pt x="659" y="1610"/>
                    <a:pt x="664" y="1603"/>
                    <a:pt x="670" y="1600"/>
                  </a:cubicBezTo>
                  <a:cubicBezTo>
                    <a:pt x="675" y="1594"/>
                    <a:pt x="678" y="1591"/>
                    <a:pt x="683" y="1588"/>
                  </a:cubicBezTo>
                  <a:cubicBezTo>
                    <a:pt x="687" y="1581"/>
                    <a:pt x="697" y="1577"/>
                    <a:pt x="704" y="1574"/>
                  </a:cubicBezTo>
                  <a:cubicBezTo>
                    <a:pt x="715" y="1563"/>
                    <a:pt x="726" y="1550"/>
                    <a:pt x="731" y="1535"/>
                  </a:cubicBezTo>
                  <a:cubicBezTo>
                    <a:pt x="731" y="1531"/>
                    <a:pt x="729" y="1528"/>
                    <a:pt x="729" y="1525"/>
                  </a:cubicBezTo>
                  <a:cubicBezTo>
                    <a:pt x="729" y="1494"/>
                    <a:pt x="737" y="1505"/>
                    <a:pt x="754" y="1494"/>
                  </a:cubicBezTo>
                  <a:cubicBezTo>
                    <a:pt x="759" y="1488"/>
                    <a:pt x="762" y="1483"/>
                    <a:pt x="765" y="1475"/>
                  </a:cubicBezTo>
                  <a:cubicBezTo>
                    <a:pt x="763" y="1458"/>
                    <a:pt x="765" y="1439"/>
                    <a:pt x="755" y="1424"/>
                  </a:cubicBezTo>
                  <a:cubicBezTo>
                    <a:pt x="759" y="1413"/>
                    <a:pt x="771" y="1419"/>
                    <a:pt x="779" y="1422"/>
                  </a:cubicBezTo>
                  <a:cubicBezTo>
                    <a:pt x="782" y="1427"/>
                    <a:pt x="782" y="1435"/>
                    <a:pt x="785" y="1427"/>
                  </a:cubicBezTo>
                  <a:cubicBezTo>
                    <a:pt x="786" y="1416"/>
                    <a:pt x="786" y="1405"/>
                    <a:pt x="786" y="1396"/>
                  </a:cubicBezTo>
                  <a:cubicBezTo>
                    <a:pt x="788" y="1386"/>
                    <a:pt x="810" y="1385"/>
                    <a:pt x="817" y="1380"/>
                  </a:cubicBezTo>
                  <a:cubicBezTo>
                    <a:pt x="820" y="1374"/>
                    <a:pt x="831" y="1367"/>
                    <a:pt x="837" y="1363"/>
                  </a:cubicBezTo>
                  <a:cubicBezTo>
                    <a:pt x="841" y="1361"/>
                    <a:pt x="847" y="1356"/>
                    <a:pt x="847" y="1356"/>
                  </a:cubicBezTo>
                  <a:cubicBezTo>
                    <a:pt x="855" y="1345"/>
                    <a:pt x="845" y="1333"/>
                    <a:pt x="844" y="1320"/>
                  </a:cubicBezTo>
                  <a:cubicBezTo>
                    <a:pt x="845" y="1310"/>
                    <a:pt x="847" y="1308"/>
                    <a:pt x="850" y="1299"/>
                  </a:cubicBezTo>
                  <a:cubicBezTo>
                    <a:pt x="847" y="1288"/>
                    <a:pt x="842" y="1288"/>
                    <a:pt x="834" y="1280"/>
                  </a:cubicBezTo>
                  <a:cubicBezTo>
                    <a:pt x="833" y="1275"/>
                    <a:pt x="830" y="1266"/>
                    <a:pt x="830" y="1266"/>
                  </a:cubicBezTo>
                  <a:cubicBezTo>
                    <a:pt x="831" y="1250"/>
                    <a:pt x="831" y="1236"/>
                    <a:pt x="831" y="1220"/>
                  </a:cubicBezTo>
                  <a:cubicBezTo>
                    <a:pt x="833" y="1192"/>
                    <a:pt x="861" y="1183"/>
                    <a:pt x="876" y="1166"/>
                  </a:cubicBezTo>
                  <a:cubicBezTo>
                    <a:pt x="879" y="1160"/>
                    <a:pt x="884" y="1160"/>
                    <a:pt x="885" y="1153"/>
                  </a:cubicBezTo>
                  <a:cubicBezTo>
                    <a:pt x="890" y="1144"/>
                    <a:pt x="889" y="1142"/>
                    <a:pt x="895" y="1136"/>
                  </a:cubicBezTo>
                  <a:cubicBezTo>
                    <a:pt x="898" y="1127"/>
                    <a:pt x="906" y="1114"/>
                    <a:pt x="915" y="1111"/>
                  </a:cubicBezTo>
                  <a:cubicBezTo>
                    <a:pt x="920" y="1105"/>
                    <a:pt x="924" y="1099"/>
                    <a:pt x="930" y="1094"/>
                  </a:cubicBezTo>
                  <a:cubicBezTo>
                    <a:pt x="935" y="1089"/>
                    <a:pt x="938" y="1089"/>
                    <a:pt x="943" y="1084"/>
                  </a:cubicBezTo>
                  <a:cubicBezTo>
                    <a:pt x="947" y="1080"/>
                    <a:pt x="949" y="1078"/>
                    <a:pt x="955" y="1077"/>
                  </a:cubicBezTo>
                  <a:cubicBezTo>
                    <a:pt x="961" y="1066"/>
                    <a:pt x="958" y="1069"/>
                    <a:pt x="966" y="1064"/>
                  </a:cubicBezTo>
                  <a:cubicBezTo>
                    <a:pt x="972" y="1055"/>
                    <a:pt x="978" y="1045"/>
                    <a:pt x="983" y="1036"/>
                  </a:cubicBezTo>
                  <a:cubicBezTo>
                    <a:pt x="988" y="1030"/>
                    <a:pt x="989" y="1019"/>
                    <a:pt x="991" y="1013"/>
                  </a:cubicBezTo>
                  <a:cubicBezTo>
                    <a:pt x="994" y="1003"/>
                    <a:pt x="992" y="1009"/>
                    <a:pt x="998" y="999"/>
                  </a:cubicBezTo>
                  <a:cubicBezTo>
                    <a:pt x="1003" y="992"/>
                    <a:pt x="1003" y="984"/>
                    <a:pt x="1005" y="977"/>
                  </a:cubicBezTo>
                  <a:cubicBezTo>
                    <a:pt x="1003" y="966"/>
                    <a:pt x="1000" y="970"/>
                    <a:pt x="989" y="974"/>
                  </a:cubicBezTo>
                  <a:cubicBezTo>
                    <a:pt x="971" y="986"/>
                    <a:pt x="941" y="983"/>
                    <a:pt x="921" y="983"/>
                  </a:cubicBezTo>
                  <a:cubicBezTo>
                    <a:pt x="892" y="981"/>
                    <a:pt x="895" y="977"/>
                    <a:pt x="878" y="961"/>
                  </a:cubicBezTo>
                  <a:cubicBezTo>
                    <a:pt x="875" y="949"/>
                    <a:pt x="867" y="944"/>
                    <a:pt x="858" y="936"/>
                  </a:cubicBezTo>
                  <a:cubicBezTo>
                    <a:pt x="853" y="933"/>
                    <a:pt x="844" y="930"/>
                    <a:pt x="844" y="930"/>
                  </a:cubicBezTo>
                  <a:cubicBezTo>
                    <a:pt x="837" y="909"/>
                    <a:pt x="828" y="891"/>
                    <a:pt x="817" y="872"/>
                  </a:cubicBezTo>
                  <a:cubicBezTo>
                    <a:pt x="811" y="866"/>
                    <a:pt x="816" y="869"/>
                    <a:pt x="805" y="863"/>
                  </a:cubicBezTo>
                  <a:cubicBezTo>
                    <a:pt x="802" y="859"/>
                    <a:pt x="796" y="856"/>
                    <a:pt x="796" y="856"/>
                  </a:cubicBezTo>
                  <a:cubicBezTo>
                    <a:pt x="786" y="842"/>
                    <a:pt x="794" y="825"/>
                    <a:pt x="785" y="813"/>
                  </a:cubicBezTo>
                  <a:cubicBezTo>
                    <a:pt x="774" y="794"/>
                    <a:pt x="759" y="772"/>
                    <a:pt x="745" y="758"/>
                  </a:cubicBezTo>
                  <a:cubicBezTo>
                    <a:pt x="742" y="744"/>
                    <a:pt x="737" y="736"/>
                    <a:pt x="729" y="723"/>
                  </a:cubicBezTo>
                  <a:cubicBezTo>
                    <a:pt x="726" y="720"/>
                    <a:pt x="723" y="709"/>
                    <a:pt x="723" y="709"/>
                  </a:cubicBezTo>
                  <a:cubicBezTo>
                    <a:pt x="740" y="705"/>
                    <a:pt x="757" y="733"/>
                    <a:pt x="766" y="744"/>
                  </a:cubicBezTo>
                  <a:cubicBezTo>
                    <a:pt x="771" y="758"/>
                    <a:pt x="771" y="759"/>
                    <a:pt x="786" y="764"/>
                  </a:cubicBezTo>
                  <a:cubicBezTo>
                    <a:pt x="793" y="766"/>
                    <a:pt x="800" y="773"/>
                    <a:pt x="800" y="773"/>
                  </a:cubicBezTo>
                  <a:cubicBezTo>
                    <a:pt x="803" y="780"/>
                    <a:pt x="808" y="784"/>
                    <a:pt x="813" y="791"/>
                  </a:cubicBezTo>
                  <a:cubicBezTo>
                    <a:pt x="813" y="803"/>
                    <a:pt x="814" y="809"/>
                    <a:pt x="817" y="819"/>
                  </a:cubicBezTo>
                  <a:cubicBezTo>
                    <a:pt x="819" y="842"/>
                    <a:pt x="820" y="841"/>
                    <a:pt x="839" y="847"/>
                  </a:cubicBezTo>
                  <a:cubicBezTo>
                    <a:pt x="844" y="852"/>
                    <a:pt x="847" y="856"/>
                    <a:pt x="851" y="861"/>
                  </a:cubicBezTo>
                  <a:cubicBezTo>
                    <a:pt x="851" y="863"/>
                    <a:pt x="853" y="864"/>
                    <a:pt x="853" y="866"/>
                  </a:cubicBezTo>
                  <a:cubicBezTo>
                    <a:pt x="853" y="869"/>
                    <a:pt x="853" y="874"/>
                    <a:pt x="855" y="877"/>
                  </a:cubicBezTo>
                  <a:cubicBezTo>
                    <a:pt x="856" y="884"/>
                    <a:pt x="870" y="889"/>
                    <a:pt x="875" y="894"/>
                  </a:cubicBezTo>
                  <a:cubicBezTo>
                    <a:pt x="887" y="927"/>
                    <a:pt x="870" y="945"/>
                    <a:pt x="910" y="955"/>
                  </a:cubicBezTo>
                  <a:cubicBezTo>
                    <a:pt x="921" y="953"/>
                    <a:pt x="926" y="955"/>
                    <a:pt x="933" y="949"/>
                  </a:cubicBezTo>
                  <a:cubicBezTo>
                    <a:pt x="938" y="942"/>
                    <a:pt x="944" y="941"/>
                    <a:pt x="951" y="936"/>
                  </a:cubicBezTo>
                  <a:cubicBezTo>
                    <a:pt x="972" y="924"/>
                    <a:pt x="978" y="920"/>
                    <a:pt x="1003" y="916"/>
                  </a:cubicBezTo>
                  <a:cubicBezTo>
                    <a:pt x="1009" y="914"/>
                    <a:pt x="1017" y="911"/>
                    <a:pt x="1025" y="909"/>
                  </a:cubicBezTo>
                  <a:cubicBezTo>
                    <a:pt x="1031" y="906"/>
                    <a:pt x="1036" y="899"/>
                    <a:pt x="1042" y="897"/>
                  </a:cubicBezTo>
                  <a:cubicBezTo>
                    <a:pt x="1051" y="894"/>
                    <a:pt x="1060" y="894"/>
                    <a:pt x="1068" y="888"/>
                  </a:cubicBezTo>
                  <a:cubicBezTo>
                    <a:pt x="1073" y="881"/>
                    <a:pt x="1079" y="877"/>
                    <a:pt x="1084" y="869"/>
                  </a:cubicBezTo>
                  <a:cubicBezTo>
                    <a:pt x="1087" y="861"/>
                    <a:pt x="1088" y="850"/>
                    <a:pt x="1098" y="844"/>
                  </a:cubicBezTo>
                  <a:cubicBezTo>
                    <a:pt x="1104" y="836"/>
                    <a:pt x="1105" y="825"/>
                    <a:pt x="1108" y="816"/>
                  </a:cubicBezTo>
                  <a:cubicBezTo>
                    <a:pt x="1110" y="811"/>
                    <a:pt x="1115" y="808"/>
                    <a:pt x="1116" y="803"/>
                  </a:cubicBezTo>
                  <a:cubicBezTo>
                    <a:pt x="1110" y="800"/>
                    <a:pt x="1110" y="805"/>
                    <a:pt x="1102" y="808"/>
                  </a:cubicBezTo>
                  <a:cubicBezTo>
                    <a:pt x="1099" y="802"/>
                    <a:pt x="1104" y="795"/>
                    <a:pt x="1098" y="792"/>
                  </a:cubicBezTo>
                  <a:cubicBezTo>
                    <a:pt x="1094" y="789"/>
                    <a:pt x="1084" y="788"/>
                    <a:pt x="1084" y="788"/>
                  </a:cubicBezTo>
                  <a:cubicBezTo>
                    <a:pt x="1077" y="780"/>
                    <a:pt x="1076" y="783"/>
                    <a:pt x="1067" y="786"/>
                  </a:cubicBezTo>
                  <a:cubicBezTo>
                    <a:pt x="1064" y="788"/>
                    <a:pt x="1057" y="789"/>
                    <a:pt x="1057" y="789"/>
                  </a:cubicBezTo>
                  <a:cubicBezTo>
                    <a:pt x="1054" y="789"/>
                    <a:pt x="1051" y="789"/>
                    <a:pt x="1048" y="788"/>
                  </a:cubicBezTo>
                  <a:cubicBezTo>
                    <a:pt x="1046" y="786"/>
                    <a:pt x="1045" y="778"/>
                    <a:pt x="1045" y="778"/>
                  </a:cubicBezTo>
                  <a:cubicBezTo>
                    <a:pt x="1046" y="778"/>
                    <a:pt x="1048" y="777"/>
                    <a:pt x="1050" y="775"/>
                  </a:cubicBezTo>
                  <a:cubicBezTo>
                    <a:pt x="1060" y="772"/>
                    <a:pt x="1067" y="778"/>
                    <a:pt x="1060" y="763"/>
                  </a:cubicBezTo>
                  <a:cubicBezTo>
                    <a:pt x="1059" y="763"/>
                    <a:pt x="1057" y="761"/>
                    <a:pt x="1056" y="761"/>
                  </a:cubicBezTo>
                  <a:cubicBezTo>
                    <a:pt x="1053" y="761"/>
                    <a:pt x="1048" y="761"/>
                    <a:pt x="1046" y="763"/>
                  </a:cubicBezTo>
                  <a:cubicBezTo>
                    <a:pt x="1046" y="764"/>
                    <a:pt x="1045" y="766"/>
                    <a:pt x="1043" y="767"/>
                  </a:cubicBezTo>
                  <a:cubicBezTo>
                    <a:pt x="1036" y="775"/>
                    <a:pt x="1025" y="777"/>
                    <a:pt x="1016" y="780"/>
                  </a:cubicBezTo>
                  <a:cubicBezTo>
                    <a:pt x="1011" y="780"/>
                    <a:pt x="1006" y="778"/>
                    <a:pt x="1003" y="777"/>
                  </a:cubicBezTo>
                  <a:cubicBezTo>
                    <a:pt x="1002" y="777"/>
                    <a:pt x="997" y="775"/>
                    <a:pt x="997" y="775"/>
                  </a:cubicBezTo>
                  <a:cubicBezTo>
                    <a:pt x="988" y="763"/>
                    <a:pt x="986" y="761"/>
                    <a:pt x="971" y="758"/>
                  </a:cubicBezTo>
                  <a:cubicBezTo>
                    <a:pt x="971" y="753"/>
                    <a:pt x="974" y="747"/>
                    <a:pt x="971" y="742"/>
                  </a:cubicBezTo>
                  <a:cubicBezTo>
                    <a:pt x="969" y="739"/>
                    <a:pt x="960" y="736"/>
                    <a:pt x="957" y="734"/>
                  </a:cubicBezTo>
                  <a:cubicBezTo>
                    <a:pt x="954" y="733"/>
                    <a:pt x="947" y="731"/>
                    <a:pt x="947" y="731"/>
                  </a:cubicBezTo>
                  <a:cubicBezTo>
                    <a:pt x="941" y="725"/>
                    <a:pt x="935" y="722"/>
                    <a:pt x="929" y="716"/>
                  </a:cubicBezTo>
                  <a:cubicBezTo>
                    <a:pt x="930" y="706"/>
                    <a:pt x="932" y="700"/>
                    <a:pt x="941" y="697"/>
                  </a:cubicBezTo>
                  <a:cubicBezTo>
                    <a:pt x="955" y="698"/>
                    <a:pt x="968" y="702"/>
                    <a:pt x="980" y="705"/>
                  </a:cubicBezTo>
                  <a:cubicBezTo>
                    <a:pt x="986" y="711"/>
                    <a:pt x="988" y="716"/>
                    <a:pt x="995" y="720"/>
                  </a:cubicBezTo>
                  <a:cubicBezTo>
                    <a:pt x="1005" y="734"/>
                    <a:pt x="1012" y="736"/>
                    <a:pt x="1025" y="744"/>
                  </a:cubicBezTo>
                  <a:cubicBezTo>
                    <a:pt x="1033" y="742"/>
                    <a:pt x="1045" y="747"/>
                    <a:pt x="1051" y="741"/>
                  </a:cubicBezTo>
                  <a:cubicBezTo>
                    <a:pt x="1060" y="733"/>
                    <a:pt x="1048" y="738"/>
                    <a:pt x="1059" y="734"/>
                  </a:cubicBezTo>
                  <a:cubicBezTo>
                    <a:pt x="1064" y="738"/>
                    <a:pt x="1068" y="739"/>
                    <a:pt x="1073" y="742"/>
                  </a:cubicBezTo>
                  <a:cubicBezTo>
                    <a:pt x="1079" y="752"/>
                    <a:pt x="1093" y="750"/>
                    <a:pt x="1104" y="753"/>
                  </a:cubicBezTo>
                  <a:cubicBezTo>
                    <a:pt x="1121" y="764"/>
                    <a:pt x="1110" y="759"/>
                    <a:pt x="1141" y="761"/>
                  </a:cubicBezTo>
                  <a:cubicBezTo>
                    <a:pt x="1152" y="763"/>
                    <a:pt x="1156" y="766"/>
                    <a:pt x="1163" y="775"/>
                  </a:cubicBezTo>
                  <a:cubicBezTo>
                    <a:pt x="1159" y="788"/>
                    <a:pt x="1167" y="781"/>
                    <a:pt x="1173" y="777"/>
                  </a:cubicBezTo>
                  <a:cubicBezTo>
                    <a:pt x="1175" y="770"/>
                    <a:pt x="1178" y="770"/>
                    <a:pt x="1181" y="764"/>
                  </a:cubicBezTo>
                  <a:cubicBezTo>
                    <a:pt x="1190" y="767"/>
                    <a:pt x="1189" y="772"/>
                    <a:pt x="1187" y="783"/>
                  </a:cubicBezTo>
                  <a:cubicBezTo>
                    <a:pt x="1195" y="789"/>
                    <a:pt x="1206" y="786"/>
                    <a:pt x="1215" y="789"/>
                  </a:cubicBezTo>
                  <a:cubicBezTo>
                    <a:pt x="1221" y="791"/>
                    <a:pt x="1226" y="797"/>
                    <a:pt x="1234" y="800"/>
                  </a:cubicBezTo>
                  <a:cubicBezTo>
                    <a:pt x="1245" y="803"/>
                    <a:pt x="1255" y="808"/>
                    <a:pt x="1265" y="816"/>
                  </a:cubicBezTo>
                  <a:cubicBezTo>
                    <a:pt x="1268" y="827"/>
                    <a:pt x="1272" y="831"/>
                    <a:pt x="1282" y="834"/>
                  </a:cubicBezTo>
                  <a:cubicBezTo>
                    <a:pt x="1286" y="842"/>
                    <a:pt x="1288" y="847"/>
                    <a:pt x="1296" y="852"/>
                  </a:cubicBezTo>
                  <a:cubicBezTo>
                    <a:pt x="1308" y="849"/>
                    <a:pt x="1302" y="850"/>
                    <a:pt x="1314" y="847"/>
                  </a:cubicBezTo>
                  <a:cubicBezTo>
                    <a:pt x="1316" y="845"/>
                    <a:pt x="1319" y="845"/>
                    <a:pt x="1319" y="845"/>
                  </a:cubicBezTo>
                  <a:cubicBezTo>
                    <a:pt x="1328" y="852"/>
                    <a:pt x="1322" y="842"/>
                    <a:pt x="1319" y="839"/>
                  </a:cubicBezTo>
                  <a:cubicBezTo>
                    <a:pt x="1316" y="844"/>
                    <a:pt x="1311" y="847"/>
                    <a:pt x="1310" y="853"/>
                  </a:cubicBezTo>
                  <a:cubicBezTo>
                    <a:pt x="1310" y="856"/>
                    <a:pt x="1307" y="863"/>
                    <a:pt x="1307" y="863"/>
                  </a:cubicBezTo>
                  <a:cubicBezTo>
                    <a:pt x="1308" y="869"/>
                    <a:pt x="1310" y="880"/>
                    <a:pt x="1319" y="880"/>
                  </a:cubicBezTo>
                  <a:lnTo>
                    <a:pt x="1320" y="916"/>
                  </a:lnTo>
                  <a:lnTo>
                    <a:pt x="1348" y="1005"/>
                  </a:lnTo>
                  <a:lnTo>
                    <a:pt x="1373" y="1033"/>
                  </a:lnTo>
                  <a:lnTo>
                    <a:pt x="1416" y="994"/>
                  </a:lnTo>
                  <a:lnTo>
                    <a:pt x="1413" y="967"/>
                  </a:lnTo>
                  <a:lnTo>
                    <a:pt x="1424" y="959"/>
                  </a:lnTo>
                  <a:lnTo>
                    <a:pt x="1423" y="925"/>
                  </a:lnTo>
                  <a:lnTo>
                    <a:pt x="1452" y="916"/>
                  </a:lnTo>
                  <a:lnTo>
                    <a:pt x="1520" y="855"/>
                  </a:lnTo>
                  <a:lnTo>
                    <a:pt x="1533" y="839"/>
                  </a:lnTo>
                  <a:lnTo>
                    <a:pt x="1588" y="824"/>
                  </a:lnTo>
                  <a:lnTo>
                    <a:pt x="1608" y="847"/>
                  </a:lnTo>
                  <a:lnTo>
                    <a:pt x="1602" y="858"/>
                  </a:lnTo>
                  <a:lnTo>
                    <a:pt x="1619" y="875"/>
                  </a:lnTo>
                  <a:lnTo>
                    <a:pt x="1624" y="899"/>
                  </a:lnTo>
                  <a:lnTo>
                    <a:pt x="1641" y="906"/>
                  </a:lnTo>
                  <a:lnTo>
                    <a:pt x="1677" y="892"/>
                  </a:lnTo>
                  <a:lnTo>
                    <a:pt x="1675" y="975"/>
                  </a:lnTo>
                  <a:lnTo>
                    <a:pt x="1684" y="956"/>
                  </a:lnTo>
                  <a:lnTo>
                    <a:pt x="1707" y="1000"/>
                  </a:lnTo>
                  <a:lnTo>
                    <a:pt x="1704" y="1030"/>
                  </a:lnTo>
                  <a:lnTo>
                    <a:pt x="1718" y="1013"/>
                  </a:lnTo>
                  <a:lnTo>
                    <a:pt x="1721" y="997"/>
                  </a:lnTo>
                  <a:lnTo>
                    <a:pt x="1738" y="972"/>
                  </a:lnTo>
                  <a:lnTo>
                    <a:pt x="1728" y="958"/>
                  </a:lnTo>
                  <a:lnTo>
                    <a:pt x="1737" y="942"/>
                  </a:lnTo>
                  <a:lnTo>
                    <a:pt x="1725" y="913"/>
                  </a:lnTo>
                  <a:lnTo>
                    <a:pt x="1732" y="889"/>
                  </a:lnTo>
                  <a:lnTo>
                    <a:pt x="1715" y="895"/>
                  </a:lnTo>
                  <a:lnTo>
                    <a:pt x="1707" y="874"/>
                  </a:lnTo>
                  <a:lnTo>
                    <a:pt x="1701" y="844"/>
                  </a:lnTo>
                  <a:lnTo>
                    <a:pt x="1714" y="816"/>
                  </a:lnTo>
                  <a:lnTo>
                    <a:pt x="1728" y="834"/>
                  </a:lnTo>
                  <a:lnTo>
                    <a:pt x="1721" y="880"/>
                  </a:lnTo>
                  <a:lnTo>
                    <a:pt x="1738" y="849"/>
                  </a:lnTo>
                  <a:lnTo>
                    <a:pt x="1732" y="824"/>
                  </a:lnTo>
                  <a:lnTo>
                    <a:pt x="1752" y="808"/>
                  </a:lnTo>
                  <a:lnTo>
                    <a:pt x="1752" y="797"/>
                  </a:lnTo>
                  <a:lnTo>
                    <a:pt x="1759" y="800"/>
                  </a:lnTo>
                  <a:lnTo>
                    <a:pt x="1796" y="756"/>
                  </a:lnTo>
                  <a:lnTo>
                    <a:pt x="1805" y="684"/>
                  </a:lnTo>
                  <a:lnTo>
                    <a:pt x="1810" y="655"/>
                  </a:lnTo>
                  <a:lnTo>
                    <a:pt x="1794" y="664"/>
                  </a:lnTo>
                  <a:lnTo>
                    <a:pt x="1788" y="655"/>
                  </a:lnTo>
                  <a:lnTo>
                    <a:pt x="1800" y="638"/>
                  </a:lnTo>
                  <a:lnTo>
                    <a:pt x="1776" y="592"/>
                  </a:lnTo>
                  <a:lnTo>
                    <a:pt x="1763" y="580"/>
                  </a:lnTo>
                  <a:lnTo>
                    <a:pt x="1783" y="544"/>
                  </a:lnTo>
                  <a:lnTo>
                    <a:pt x="1762" y="539"/>
                  </a:lnTo>
                  <a:lnTo>
                    <a:pt x="1743" y="531"/>
                  </a:lnTo>
                  <a:lnTo>
                    <a:pt x="1751" y="503"/>
                  </a:lnTo>
                  <a:lnTo>
                    <a:pt x="1763" y="487"/>
                  </a:lnTo>
                  <a:lnTo>
                    <a:pt x="1766" y="519"/>
                  </a:lnTo>
                  <a:lnTo>
                    <a:pt x="1788" y="498"/>
                  </a:lnTo>
                  <a:lnTo>
                    <a:pt x="1805" y="497"/>
                  </a:lnTo>
                  <a:lnTo>
                    <a:pt x="1797" y="519"/>
                  </a:lnTo>
                  <a:lnTo>
                    <a:pt x="1824" y="528"/>
                  </a:lnTo>
                  <a:lnTo>
                    <a:pt x="1816" y="545"/>
                  </a:lnTo>
                  <a:lnTo>
                    <a:pt x="1830" y="559"/>
                  </a:lnTo>
                  <a:lnTo>
                    <a:pt x="1830" y="588"/>
                  </a:lnTo>
                  <a:lnTo>
                    <a:pt x="1861" y="559"/>
                  </a:lnTo>
                  <a:lnTo>
                    <a:pt x="1850" y="531"/>
                  </a:lnTo>
                  <a:lnTo>
                    <a:pt x="1821" y="489"/>
                  </a:lnTo>
                  <a:lnTo>
                    <a:pt x="1830" y="473"/>
                  </a:lnTo>
                  <a:lnTo>
                    <a:pt x="1824" y="448"/>
                  </a:lnTo>
                  <a:lnTo>
                    <a:pt x="1844" y="427"/>
                  </a:lnTo>
                  <a:lnTo>
                    <a:pt x="1868" y="416"/>
                  </a:lnTo>
                  <a:lnTo>
                    <a:pt x="1867" y="367"/>
                  </a:lnTo>
                  <a:lnTo>
                    <a:pt x="1865" y="333"/>
                  </a:lnTo>
                  <a:lnTo>
                    <a:pt x="1858" y="302"/>
                  </a:lnTo>
                  <a:lnTo>
                    <a:pt x="1830" y="248"/>
                  </a:lnTo>
                  <a:lnTo>
                    <a:pt x="1825" y="275"/>
                  </a:lnTo>
                  <a:lnTo>
                    <a:pt x="1807" y="258"/>
                  </a:lnTo>
                  <a:lnTo>
                    <a:pt x="1790" y="266"/>
                  </a:lnTo>
                  <a:lnTo>
                    <a:pt x="1805" y="226"/>
                  </a:lnTo>
                  <a:lnTo>
                    <a:pt x="1821" y="192"/>
                  </a:lnTo>
                  <a:lnTo>
                    <a:pt x="1850" y="176"/>
                  </a:lnTo>
                  <a:lnTo>
                    <a:pt x="1853" y="161"/>
                  </a:lnTo>
                  <a:lnTo>
                    <a:pt x="1873" y="155"/>
                  </a:lnTo>
                  <a:lnTo>
                    <a:pt x="1873" y="170"/>
                  </a:lnTo>
                  <a:lnTo>
                    <a:pt x="1896" y="145"/>
                  </a:lnTo>
                  <a:lnTo>
                    <a:pt x="1882" y="139"/>
                  </a:lnTo>
                  <a:lnTo>
                    <a:pt x="1882" y="120"/>
                  </a:lnTo>
                  <a:lnTo>
                    <a:pt x="1899" y="108"/>
                  </a:lnTo>
                  <a:lnTo>
                    <a:pt x="1906" y="122"/>
                  </a:lnTo>
                  <a:lnTo>
                    <a:pt x="1929" y="100"/>
                  </a:lnTo>
                  <a:lnTo>
                    <a:pt x="1926" y="120"/>
                  </a:lnTo>
                  <a:lnTo>
                    <a:pt x="1927" y="136"/>
                  </a:lnTo>
                  <a:lnTo>
                    <a:pt x="1926" y="158"/>
                  </a:lnTo>
                  <a:lnTo>
                    <a:pt x="1918" y="175"/>
                  </a:lnTo>
                  <a:lnTo>
                    <a:pt x="1932" y="197"/>
                  </a:lnTo>
                  <a:lnTo>
                    <a:pt x="1938" y="212"/>
                  </a:lnTo>
                  <a:lnTo>
                    <a:pt x="1947" y="209"/>
                  </a:lnTo>
                  <a:lnTo>
                    <a:pt x="1992" y="256"/>
                  </a:lnTo>
                  <a:lnTo>
                    <a:pt x="2002" y="233"/>
                  </a:lnTo>
                  <a:lnTo>
                    <a:pt x="2014" y="216"/>
                  </a:lnTo>
                  <a:lnTo>
                    <a:pt x="1994" y="205"/>
                  </a:lnTo>
                  <a:lnTo>
                    <a:pt x="1999" y="184"/>
                  </a:lnTo>
                  <a:lnTo>
                    <a:pt x="1999" y="172"/>
                  </a:lnTo>
                  <a:lnTo>
                    <a:pt x="1978" y="150"/>
                  </a:lnTo>
                  <a:lnTo>
                    <a:pt x="1960" y="147"/>
                  </a:lnTo>
                  <a:lnTo>
                    <a:pt x="1943" y="123"/>
                  </a:lnTo>
                  <a:lnTo>
                    <a:pt x="1966" y="119"/>
                  </a:lnTo>
                  <a:lnTo>
                    <a:pt x="1977" y="100"/>
                  </a:lnTo>
                  <a:lnTo>
                    <a:pt x="1991" y="106"/>
                  </a:lnTo>
                  <a:lnTo>
                    <a:pt x="2005" y="98"/>
                  </a:lnTo>
                  <a:lnTo>
                    <a:pt x="1990" y="80"/>
                  </a:lnTo>
                  <a:lnTo>
                    <a:pt x="2002" y="69"/>
                  </a:lnTo>
                  <a:lnTo>
                    <a:pt x="2021" y="68"/>
                  </a:lnTo>
                  <a:lnTo>
                    <a:pt x="2000" y="53"/>
                  </a:lnTo>
                  <a:lnTo>
                    <a:pt x="1975" y="51"/>
                  </a:lnTo>
                  <a:lnTo>
                    <a:pt x="1990" y="32"/>
                  </a:lnTo>
                  <a:lnTo>
                    <a:pt x="1989" y="11"/>
                  </a:lnTo>
                  <a:lnTo>
                    <a:pt x="2005" y="27"/>
                  </a:lnTo>
                  <a:lnTo>
                    <a:pt x="2015" y="18"/>
                  </a:lnTo>
                  <a:lnTo>
                    <a:pt x="2024" y="21"/>
                  </a:lnTo>
                  <a:lnTo>
                    <a:pt x="2038" y="36"/>
                  </a:lnTo>
                  <a:lnTo>
                    <a:pt x="2060" y="33"/>
                  </a:lnTo>
                  <a:lnTo>
                    <a:pt x="2042" y="15"/>
                  </a:lnTo>
                  <a:lnTo>
                    <a:pt x="2038" y="0"/>
                  </a:lnTo>
                  <a:lnTo>
                    <a:pt x="2006" y="5"/>
                  </a:lnTo>
                  <a:lnTo>
                    <a:pt x="1994" y="0"/>
                  </a:lnTo>
                  <a:lnTo>
                    <a:pt x="1955" y="11"/>
                  </a:lnTo>
                  <a:lnTo>
                    <a:pt x="1913" y="18"/>
                  </a:lnTo>
                  <a:lnTo>
                    <a:pt x="1886" y="30"/>
                  </a:lnTo>
                  <a:lnTo>
                    <a:pt x="1885" y="47"/>
                  </a:lnTo>
                  <a:lnTo>
                    <a:pt x="1864" y="50"/>
                  </a:lnTo>
                  <a:cubicBezTo>
                    <a:pt x="1858" y="55"/>
                    <a:pt x="1854" y="75"/>
                    <a:pt x="1847" y="77"/>
                  </a:cubicBezTo>
                  <a:cubicBezTo>
                    <a:pt x="1839" y="82"/>
                    <a:pt x="1830" y="65"/>
                    <a:pt x="1820" y="63"/>
                  </a:cubicBezTo>
                  <a:lnTo>
                    <a:pt x="1786" y="66"/>
                  </a:lnTo>
                  <a:lnTo>
                    <a:pt x="1732" y="56"/>
                  </a:lnTo>
                  <a:lnTo>
                    <a:pt x="1709" y="62"/>
                  </a:lnTo>
                  <a:lnTo>
                    <a:pt x="1678" y="56"/>
                  </a:lnTo>
                  <a:lnTo>
                    <a:pt x="1666" y="47"/>
                  </a:lnTo>
                  <a:lnTo>
                    <a:pt x="1643" y="50"/>
                  </a:lnTo>
                  <a:cubicBezTo>
                    <a:pt x="1635" y="52"/>
                    <a:pt x="1626" y="57"/>
                    <a:pt x="1618" y="60"/>
                  </a:cubicBezTo>
                  <a:cubicBezTo>
                    <a:pt x="1610" y="63"/>
                    <a:pt x="1603" y="67"/>
                    <a:pt x="1597" y="71"/>
                  </a:cubicBezTo>
                  <a:cubicBezTo>
                    <a:pt x="1591" y="75"/>
                    <a:pt x="1587" y="84"/>
                    <a:pt x="1583" y="83"/>
                  </a:cubicBezTo>
                  <a:cubicBezTo>
                    <a:pt x="1571" y="90"/>
                    <a:pt x="1576" y="67"/>
                    <a:pt x="1571" y="65"/>
                  </a:cubicBezTo>
                  <a:lnTo>
                    <a:pt x="1553" y="69"/>
                  </a:lnTo>
                  <a:cubicBezTo>
                    <a:pt x="1544" y="66"/>
                    <a:pt x="1531" y="50"/>
                    <a:pt x="1517" y="47"/>
                  </a:cubicBezTo>
                  <a:cubicBezTo>
                    <a:pt x="1503" y="46"/>
                    <a:pt x="1479" y="45"/>
                    <a:pt x="1468" y="48"/>
                  </a:cubicBezTo>
                  <a:cubicBezTo>
                    <a:pt x="1457" y="51"/>
                    <a:pt x="1461" y="63"/>
                    <a:pt x="1451" y="63"/>
                  </a:cubicBezTo>
                  <a:cubicBezTo>
                    <a:pt x="1439" y="66"/>
                    <a:pt x="1419" y="48"/>
                    <a:pt x="1408" y="47"/>
                  </a:cubicBezTo>
                  <a:cubicBezTo>
                    <a:pt x="1397" y="46"/>
                    <a:pt x="1390" y="59"/>
                    <a:pt x="1382" y="59"/>
                  </a:cubicBezTo>
                  <a:cubicBezTo>
                    <a:pt x="1374" y="59"/>
                    <a:pt x="1362" y="52"/>
                    <a:pt x="1357" y="47"/>
                  </a:cubicBezTo>
                  <a:cubicBezTo>
                    <a:pt x="1352" y="42"/>
                    <a:pt x="1356" y="36"/>
                    <a:pt x="1349" y="30"/>
                  </a:cubicBezTo>
                  <a:cubicBezTo>
                    <a:pt x="1333" y="26"/>
                    <a:pt x="1330" y="13"/>
                    <a:pt x="1318" y="11"/>
                  </a:cubicBezTo>
                  <a:cubicBezTo>
                    <a:pt x="1306" y="9"/>
                    <a:pt x="1287" y="20"/>
                    <a:pt x="1277" y="20"/>
                  </a:cubicBezTo>
                  <a:cubicBezTo>
                    <a:pt x="1267" y="20"/>
                    <a:pt x="1268" y="10"/>
                    <a:pt x="1259" y="9"/>
                  </a:cubicBezTo>
                  <a:lnTo>
                    <a:pt x="1222" y="14"/>
                  </a:lnTo>
                  <a:lnTo>
                    <a:pt x="1210" y="32"/>
                  </a:lnTo>
                  <a:cubicBezTo>
                    <a:pt x="1203" y="35"/>
                    <a:pt x="1187" y="28"/>
                    <a:pt x="1178" y="29"/>
                  </a:cubicBezTo>
                  <a:cubicBezTo>
                    <a:pt x="1169" y="30"/>
                    <a:pt x="1164" y="36"/>
                    <a:pt x="1154" y="39"/>
                  </a:cubicBezTo>
                  <a:cubicBezTo>
                    <a:pt x="1144" y="42"/>
                    <a:pt x="1124" y="44"/>
                    <a:pt x="1120" y="48"/>
                  </a:cubicBezTo>
                  <a:cubicBezTo>
                    <a:pt x="1109" y="57"/>
                    <a:pt x="1132" y="61"/>
                    <a:pt x="1132" y="65"/>
                  </a:cubicBezTo>
                  <a:cubicBezTo>
                    <a:pt x="1132" y="69"/>
                    <a:pt x="1126" y="70"/>
                    <a:pt x="1118" y="72"/>
                  </a:cubicBezTo>
                  <a:cubicBezTo>
                    <a:pt x="1110" y="74"/>
                    <a:pt x="1084" y="72"/>
                    <a:pt x="1085" y="77"/>
                  </a:cubicBezTo>
                  <a:cubicBezTo>
                    <a:pt x="1085" y="86"/>
                    <a:pt x="1126" y="103"/>
                    <a:pt x="1127" y="105"/>
                  </a:cubicBezTo>
                  <a:lnTo>
                    <a:pt x="1090" y="90"/>
                  </a:lnTo>
                  <a:lnTo>
                    <a:pt x="1072" y="95"/>
                  </a:lnTo>
                  <a:cubicBezTo>
                    <a:pt x="1063" y="93"/>
                    <a:pt x="1039" y="65"/>
                    <a:pt x="1033" y="80"/>
                  </a:cubicBezTo>
                  <a:cubicBezTo>
                    <a:pt x="1027" y="95"/>
                    <a:pt x="1077" y="132"/>
                    <a:pt x="1084" y="147"/>
                  </a:cubicBezTo>
                  <a:lnTo>
                    <a:pt x="1075" y="171"/>
                  </a:lnTo>
                  <a:lnTo>
                    <a:pt x="1040" y="170"/>
                  </a:lnTo>
                  <a:cubicBezTo>
                    <a:pt x="1040" y="170"/>
                    <a:pt x="1061" y="164"/>
                    <a:pt x="1060" y="155"/>
                  </a:cubicBezTo>
                  <a:cubicBezTo>
                    <a:pt x="1059" y="146"/>
                    <a:pt x="1043" y="127"/>
                    <a:pt x="1031" y="113"/>
                  </a:cubicBezTo>
                  <a:cubicBezTo>
                    <a:pt x="1025" y="101"/>
                    <a:pt x="1030" y="84"/>
                    <a:pt x="1024" y="81"/>
                  </a:cubicBezTo>
                  <a:cubicBezTo>
                    <a:pt x="1018" y="78"/>
                    <a:pt x="997" y="65"/>
                    <a:pt x="989" y="71"/>
                  </a:cubicBezTo>
                  <a:cubicBezTo>
                    <a:pt x="968" y="74"/>
                    <a:pt x="970" y="107"/>
                    <a:pt x="974" y="116"/>
                  </a:cubicBezTo>
                  <a:cubicBezTo>
                    <a:pt x="978" y="125"/>
                    <a:pt x="1009" y="122"/>
                    <a:pt x="1012" y="125"/>
                  </a:cubicBezTo>
                  <a:cubicBezTo>
                    <a:pt x="1028" y="153"/>
                    <a:pt x="1005" y="143"/>
                    <a:pt x="989" y="134"/>
                  </a:cubicBezTo>
                  <a:cubicBezTo>
                    <a:pt x="973" y="125"/>
                    <a:pt x="968" y="128"/>
                    <a:pt x="958" y="128"/>
                  </a:cubicBezTo>
                  <a:cubicBezTo>
                    <a:pt x="948" y="128"/>
                    <a:pt x="931" y="133"/>
                    <a:pt x="926" y="137"/>
                  </a:cubicBezTo>
                  <a:cubicBezTo>
                    <a:pt x="921" y="141"/>
                    <a:pt x="939" y="157"/>
                    <a:pt x="926" y="152"/>
                  </a:cubicBezTo>
                  <a:cubicBezTo>
                    <a:pt x="913" y="147"/>
                    <a:pt x="899" y="149"/>
                    <a:pt x="886" y="147"/>
                  </a:cubicBezTo>
                  <a:cubicBezTo>
                    <a:pt x="873" y="145"/>
                    <a:pt x="863" y="136"/>
                    <a:pt x="847" y="140"/>
                  </a:cubicBezTo>
                  <a:cubicBezTo>
                    <a:pt x="825" y="147"/>
                    <a:pt x="794" y="185"/>
                    <a:pt x="787" y="171"/>
                  </a:cubicBezTo>
                  <a:cubicBezTo>
                    <a:pt x="780" y="157"/>
                    <a:pt x="800" y="155"/>
                    <a:pt x="800" y="150"/>
                  </a:cubicBezTo>
                  <a:cubicBezTo>
                    <a:pt x="800" y="145"/>
                    <a:pt x="796" y="138"/>
                    <a:pt x="790" y="138"/>
                  </a:cubicBezTo>
                  <a:cubicBezTo>
                    <a:pt x="784" y="138"/>
                    <a:pt x="764" y="144"/>
                    <a:pt x="763" y="152"/>
                  </a:cubicBezTo>
                  <a:cubicBezTo>
                    <a:pt x="761" y="163"/>
                    <a:pt x="783" y="181"/>
                    <a:pt x="782" y="186"/>
                  </a:cubicBezTo>
                  <a:cubicBezTo>
                    <a:pt x="781" y="191"/>
                    <a:pt x="765" y="180"/>
                    <a:pt x="758" y="183"/>
                  </a:cubicBezTo>
                  <a:cubicBezTo>
                    <a:pt x="751" y="186"/>
                    <a:pt x="746" y="207"/>
                    <a:pt x="742" y="203"/>
                  </a:cubicBezTo>
                  <a:lnTo>
                    <a:pt x="728" y="189"/>
                  </a:lnTo>
                  <a:lnTo>
                    <a:pt x="746" y="170"/>
                  </a:lnTo>
                  <a:lnTo>
                    <a:pt x="733" y="158"/>
                  </a:lnTo>
                  <a:cubicBezTo>
                    <a:pt x="727" y="155"/>
                    <a:pt x="718" y="150"/>
                    <a:pt x="712" y="149"/>
                  </a:cubicBezTo>
                  <a:cubicBezTo>
                    <a:pt x="706" y="148"/>
                    <a:pt x="701" y="154"/>
                    <a:pt x="698" y="152"/>
                  </a:cubicBezTo>
                  <a:cubicBezTo>
                    <a:pt x="695" y="150"/>
                    <a:pt x="698" y="139"/>
                    <a:pt x="695" y="138"/>
                  </a:cubicBezTo>
                  <a:cubicBezTo>
                    <a:pt x="692" y="137"/>
                    <a:pt x="685" y="146"/>
                    <a:pt x="680" y="146"/>
                  </a:cubicBezTo>
                  <a:cubicBezTo>
                    <a:pt x="675" y="146"/>
                    <a:pt x="677" y="142"/>
                    <a:pt x="667" y="140"/>
                  </a:cubicBezTo>
                  <a:cubicBezTo>
                    <a:pt x="657" y="138"/>
                    <a:pt x="632" y="139"/>
                    <a:pt x="622" y="135"/>
                  </a:cubicBezTo>
                  <a:cubicBezTo>
                    <a:pt x="612" y="131"/>
                    <a:pt x="632" y="117"/>
                    <a:pt x="608" y="113"/>
                  </a:cubicBezTo>
                  <a:cubicBezTo>
                    <a:pt x="584" y="109"/>
                    <a:pt x="590" y="119"/>
                    <a:pt x="583" y="119"/>
                  </a:cubicBezTo>
                  <a:lnTo>
                    <a:pt x="568" y="114"/>
                  </a:lnTo>
                  <a:cubicBezTo>
                    <a:pt x="555" y="116"/>
                    <a:pt x="521" y="125"/>
                    <a:pt x="505" y="131"/>
                  </a:cubicBezTo>
                  <a:cubicBezTo>
                    <a:pt x="482" y="140"/>
                    <a:pt x="485" y="140"/>
                    <a:pt x="472" y="152"/>
                  </a:cubicBezTo>
                  <a:cubicBezTo>
                    <a:pt x="459" y="164"/>
                    <a:pt x="443" y="192"/>
                    <a:pt x="428" y="204"/>
                  </a:cubicBezTo>
                  <a:cubicBezTo>
                    <a:pt x="410" y="223"/>
                    <a:pt x="393" y="217"/>
                    <a:pt x="382" y="224"/>
                  </a:cubicBezTo>
                  <a:lnTo>
                    <a:pt x="364" y="248"/>
                  </a:lnTo>
                  <a:lnTo>
                    <a:pt x="368" y="290"/>
                  </a:lnTo>
                  <a:lnTo>
                    <a:pt x="389" y="306"/>
                  </a:lnTo>
                  <a:lnTo>
                    <a:pt x="436" y="290"/>
                  </a:lnTo>
                  <a:cubicBezTo>
                    <a:pt x="447" y="296"/>
                    <a:pt x="448" y="335"/>
                    <a:pt x="457" y="341"/>
                  </a:cubicBezTo>
                  <a:cubicBezTo>
                    <a:pt x="468" y="348"/>
                    <a:pt x="486" y="330"/>
                    <a:pt x="491" y="324"/>
                  </a:cubicBezTo>
                  <a:lnTo>
                    <a:pt x="496" y="300"/>
                  </a:lnTo>
                  <a:lnTo>
                    <a:pt x="514" y="281"/>
                  </a:lnTo>
                  <a:cubicBezTo>
                    <a:pt x="515" y="270"/>
                    <a:pt x="499" y="245"/>
                    <a:pt x="502" y="234"/>
                  </a:cubicBezTo>
                  <a:cubicBezTo>
                    <a:pt x="505" y="225"/>
                    <a:pt x="526" y="220"/>
                    <a:pt x="535" y="213"/>
                  </a:cubicBezTo>
                  <a:cubicBezTo>
                    <a:pt x="544" y="206"/>
                    <a:pt x="546" y="192"/>
                    <a:pt x="554" y="191"/>
                  </a:cubicBezTo>
                  <a:cubicBezTo>
                    <a:pt x="567" y="190"/>
                    <a:pt x="580" y="200"/>
                    <a:pt x="581" y="204"/>
                  </a:cubicBezTo>
                  <a:cubicBezTo>
                    <a:pt x="581" y="208"/>
                    <a:pt x="560" y="200"/>
                    <a:pt x="557" y="215"/>
                  </a:cubicBezTo>
                  <a:cubicBezTo>
                    <a:pt x="554" y="230"/>
                    <a:pt x="535" y="233"/>
                    <a:pt x="533" y="242"/>
                  </a:cubicBezTo>
                  <a:lnTo>
                    <a:pt x="548" y="267"/>
                  </a:lnTo>
                  <a:lnTo>
                    <a:pt x="571" y="276"/>
                  </a:lnTo>
                  <a:lnTo>
                    <a:pt x="598" y="264"/>
                  </a:lnTo>
                  <a:lnTo>
                    <a:pt x="625" y="261"/>
                  </a:lnTo>
                  <a:cubicBezTo>
                    <a:pt x="632" y="263"/>
                    <a:pt x="645" y="271"/>
                    <a:pt x="638" y="276"/>
                  </a:cubicBezTo>
                  <a:cubicBezTo>
                    <a:pt x="631" y="281"/>
                    <a:pt x="593" y="287"/>
                    <a:pt x="584" y="293"/>
                  </a:cubicBezTo>
                  <a:cubicBezTo>
                    <a:pt x="575" y="299"/>
                    <a:pt x="587" y="309"/>
                    <a:pt x="581" y="311"/>
                  </a:cubicBezTo>
                  <a:cubicBezTo>
                    <a:pt x="567" y="319"/>
                    <a:pt x="556" y="301"/>
                    <a:pt x="550" y="303"/>
                  </a:cubicBezTo>
                  <a:lnTo>
                    <a:pt x="547" y="323"/>
                  </a:lnTo>
                  <a:lnTo>
                    <a:pt x="536" y="350"/>
                  </a:lnTo>
                  <a:lnTo>
                    <a:pt x="512" y="351"/>
                  </a:lnTo>
                  <a:lnTo>
                    <a:pt x="476" y="360"/>
                  </a:lnTo>
                  <a:lnTo>
                    <a:pt x="457" y="351"/>
                  </a:lnTo>
                  <a:lnTo>
                    <a:pt x="443" y="357"/>
                  </a:lnTo>
                  <a:lnTo>
                    <a:pt x="419" y="342"/>
                  </a:lnTo>
                  <a:cubicBezTo>
                    <a:pt x="417" y="335"/>
                    <a:pt x="433" y="329"/>
                    <a:pt x="428" y="317"/>
                  </a:cubicBezTo>
                  <a:cubicBezTo>
                    <a:pt x="423" y="305"/>
                    <a:pt x="396" y="313"/>
                    <a:pt x="392" y="321"/>
                  </a:cubicBezTo>
                  <a:lnTo>
                    <a:pt x="397" y="362"/>
                  </a:lnTo>
                  <a:lnTo>
                    <a:pt x="373" y="362"/>
                  </a:lnTo>
                  <a:cubicBezTo>
                    <a:pt x="365" y="366"/>
                    <a:pt x="355" y="380"/>
                    <a:pt x="347" y="386"/>
                  </a:cubicBezTo>
                  <a:cubicBezTo>
                    <a:pt x="339" y="392"/>
                    <a:pt x="332" y="379"/>
                    <a:pt x="322" y="399"/>
                  </a:cubicBezTo>
                  <a:cubicBezTo>
                    <a:pt x="312" y="419"/>
                    <a:pt x="301" y="411"/>
                    <a:pt x="293" y="414"/>
                  </a:cubicBezTo>
                  <a:cubicBezTo>
                    <a:pt x="285" y="417"/>
                    <a:pt x="280" y="414"/>
                    <a:pt x="275" y="416"/>
                  </a:cubicBezTo>
                  <a:cubicBezTo>
                    <a:pt x="270" y="418"/>
                    <a:pt x="267" y="426"/>
                    <a:pt x="260" y="426"/>
                  </a:cubicBezTo>
                  <a:cubicBezTo>
                    <a:pt x="253" y="426"/>
                    <a:pt x="238" y="417"/>
                    <a:pt x="232" y="419"/>
                  </a:cubicBezTo>
                  <a:cubicBezTo>
                    <a:pt x="226" y="421"/>
                    <a:pt x="221" y="432"/>
                    <a:pt x="226" y="437"/>
                  </a:cubicBezTo>
                  <a:lnTo>
                    <a:pt x="263" y="449"/>
                  </a:lnTo>
                  <a:lnTo>
                    <a:pt x="272" y="474"/>
                  </a:lnTo>
                  <a:lnTo>
                    <a:pt x="262" y="503"/>
                  </a:lnTo>
                  <a:cubicBezTo>
                    <a:pt x="251" y="507"/>
                    <a:pt x="223" y="499"/>
                    <a:pt x="206" y="498"/>
                  </a:cubicBezTo>
                  <a:cubicBezTo>
                    <a:pt x="189" y="497"/>
                    <a:pt x="164" y="492"/>
                    <a:pt x="158" y="498"/>
                  </a:cubicBezTo>
                  <a:cubicBezTo>
                    <a:pt x="152" y="504"/>
                    <a:pt x="167" y="527"/>
                    <a:pt x="167" y="537"/>
                  </a:cubicBezTo>
                  <a:cubicBezTo>
                    <a:pt x="167" y="547"/>
                    <a:pt x="159" y="551"/>
                    <a:pt x="157" y="557"/>
                  </a:cubicBezTo>
                  <a:cubicBezTo>
                    <a:pt x="155" y="563"/>
                    <a:pt x="161" y="569"/>
                    <a:pt x="157" y="576"/>
                  </a:cubicBezTo>
                  <a:cubicBezTo>
                    <a:pt x="153" y="583"/>
                    <a:pt x="127" y="594"/>
                    <a:pt x="130" y="597"/>
                  </a:cubicBezTo>
                  <a:cubicBezTo>
                    <a:pt x="139" y="606"/>
                    <a:pt x="160" y="592"/>
                    <a:pt x="176" y="592"/>
                  </a:cubicBezTo>
                  <a:lnTo>
                    <a:pt x="226" y="598"/>
                  </a:lnTo>
                  <a:lnTo>
                    <a:pt x="260" y="588"/>
                  </a:lnTo>
                  <a:lnTo>
                    <a:pt x="274" y="576"/>
                  </a:lnTo>
                  <a:cubicBezTo>
                    <a:pt x="282" y="573"/>
                    <a:pt x="306" y="573"/>
                    <a:pt x="307" y="569"/>
                  </a:cubicBezTo>
                  <a:cubicBezTo>
                    <a:pt x="321" y="557"/>
                    <a:pt x="283" y="559"/>
                    <a:pt x="283" y="552"/>
                  </a:cubicBezTo>
                  <a:cubicBezTo>
                    <a:pt x="283" y="545"/>
                    <a:pt x="300" y="533"/>
                    <a:pt x="307" y="528"/>
                  </a:cubicBezTo>
                  <a:lnTo>
                    <a:pt x="325" y="522"/>
                  </a:lnTo>
                  <a:lnTo>
                    <a:pt x="320" y="503"/>
                  </a:lnTo>
                  <a:cubicBezTo>
                    <a:pt x="323" y="499"/>
                    <a:pt x="336" y="495"/>
                    <a:pt x="342" y="495"/>
                  </a:cubicBezTo>
                  <a:cubicBezTo>
                    <a:pt x="348" y="495"/>
                    <a:pt x="350" y="506"/>
                    <a:pt x="358" y="505"/>
                  </a:cubicBezTo>
                  <a:cubicBezTo>
                    <a:pt x="366" y="504"/>
                    <a:pt x="384" y="490"/>
                    <a:pt x="393" y="491"/>
                  </a:cubicBezTo>
                  <a:lnTo>
                    <a:pt x="415" y="510"/>
                  </a:lnTo>
                  <a:cubicBezTo>
                    <a:pt x="416" y="517"/>
                    <a:pt x="407" y="520"/>
                    <a:pt x="401" y="530"/>
                  </a:cubicBezTo>
                  <a:lnTo>
                    <a:pt x="381" y="573"/>
                  </a:lnTo>
                  <a:lnTo>
                    <a:pt x="406" y="576"/>
                  </a:lnTo>
                  <a:lnTo>
                    <a:pt x="412" y="561"/>
                  </a:lnTo>
                  <a:lnTo>
                    <a:pt x="404" y="543"/>
                  </a:lnTo>
                  <a:cubicBezTo>
                    <a:pt x="406" y="539"/>
                    <a:pt x="417" y="541"/>
                    <a:pt x="423" y="538"/>
                  </a:cubicBezTo>
                  <a:cubicBezTo>
                    <a:pt x="430" y="537"/>
                    <a:pt x="435" y="526"/>
                    <a:pt x="441" y="527"/>
                  </a:cubicBezTo>
                  <a:cubicBezTo>
                    <a:pt x="447" y="528"/>
                    <a:pt x="453" y="542"/>
                    <a:pt x="460" y="547"/>
                  </a:cubicBezTo>
                  <a:lnTo>
                    <a:pt x="483" y="559"/>
                  </a:lnTo>
                  <a:lnTo>
                    <a:pt x="490" y="573"/>
                  </a:lnTo>
                  <a:lnTo>
                    <a:pt x="493" y="590"/>
                  </a:lnTo>
                  <a:lnTo>
                    <a:pt x="508" y="579"/>
                  </a:lnTo>
                  <a:cubicBezTo>
                    <a:pt x="508" y="579"/>
                    <a:pt x="507" y="566"/>
                    <a:pt x="509" y="564"/>
                  </a:cubicBezTo>
                  <a:cubicBezTo>
                    <a:pt x="513" y="561"/>
                    <a:pt x="512" y="581"/>
                    <a:pt x="521" y="569"/>
                  </a:cubicBezTo>
                  <a:cubicBezTo>
                    <a:pt x="530" y="557"/>
                    <a:pt x="525" y="556"/>
                    <a:pt x="515" y="549"/>
                  </a:cubicBezTo>
                  <a:lnTo>
                    <a:pt x="468" y="523"/>
                  </a:lnTo>
                  <a:lnTo>
                    <a:pt x="441" y="508"/>
                  </a:lnTo>
                  <a:lnTo>
                    <a:pt x="455" y="480"/>
                  </a:lnTo>
                  <a:lnTo>
                    <a:pt x="464" y="498"/>
                  </a:lnTo>
                  <a:lnTo>
                    <a:pt x="487" y="512"/>
                  </a:lnTo>
                  <a:lnTo>
                    <a:pt x="517" y="527"/>
                  </a:lnTo>
                  <a:cubicBezTo>
                    <a:pt x="526" y="535"/>
                    <a:pt x="529" y="546"/>
                    <a:pt x="539" y="559"/>
                  </a:cubicBezTo>
                  <a:cubicBezTo>
                    <a:pt x="549" y="572"/>
                    <a:pt x="570" y="602"/>
                    <a:pt x="579" y="608"/>
                  </a:cubicBezTo>
                  <a:cubicBezTo>
                    <a:pt x="588" y="614"/>
                    <a:pt x="588" y="598"/>
                    <a:pt x="592" y="597"/>
                  </a:cubicBezTo>
                  <a:cubicBezTo>
                    <a:pt x="596" y="594"/>
                    <a:pt x="604" y="602"/>
                    <a:pt x="604" y="599"/>
                  </a:cubicBezTo>
                  <a:cubicBezTo>
                    <a:pt x="604" y="596"/>
                    <a:pt x="596" y="583"/>
                    <a:pt x="593" y="578"/>
                  </a:cubicBezTo>
                  <a:cubicBezTo>
                    <a:pt x="589" y="574"/>
                    <a:pt x="590" y="568"/>
                    <a:pt x="587" y="567"/>
                  </a:cubicBezTo>
                  <a:cubicBezTo>
                    <a:pt x="585" y="563"/>
                    <a:pt x="583" y="558"/>
                    <a:pt x="584" y="555"/>
                  </a:cubicBezTo>
                  <a:cubicBezTo>
                    <a:pt x="585" y="552"/>
                    <a:pt x="589" y="550"/>
                    <a:pt x="592" y="548"/>
                  </a:cubicBezTo>
                  <a:lnTo>
                    <a:pt x="601" y="542"/>
                  </a:lnTo>
                  <a:cubicBezTo>
                    <a:pt x="607" y="541"/>
                    <a:pt x="621" y="541"/>
                    <a:pt x="627" y="541"/>
                  </a:cubicBezTo>
                  <a:cubicBezTo>
                    <a:pt x="633" y="541"/>
                    <a:pt x="636" y="541"/>
                    <a:pt x="640" y="539"/>
                  </a:cubicBezTo>
                  <a:cubicBezTo>
                    <a:pt x="644" y="537"/>
                    <a:pt x="648" y="532"/>
                    <a:pt x="650" y="528"/>
                  </a:cubicBezTo>
                  <a:lnTo>
                    <a:pt x="653" y="513"/>
                  </a:lnTo>
                  <a:lnTo>
                    <a:pt x="639" y="505"/>
                  </a:lnTo>
                  <a:cubicBezTo>
                    <a:pt x="639" y="503"/>
                    <a:pt x="650" y="505"/>
                    <a:pt x="655" y="501"/>
                  </a:cubicBezTo>
                  <a:cubicBezTo>
                    <a:pt x="660" y="497"/>
                    <a:pt x="665" y="488"/>
                    <a:pt x="670" y="483"/>
                  </a:cubicBezTo>
                  <a:cubicBezTo>
                    <a:pt x="675" y="478"/>
                    <a:pt x="681" y="471"/>
                    <a:pt x="686" y="470"/>
                  </a:cubicBezTo>
                  <a:lnTo>
                    <a:pt x="703" y="476"/>
                  </a:lnTo>
                  <a:lnTo>
                    <a:pt x="718" y="494"/>
                  </a:lnTo>
                  <a:cubicBezTo>
                    <a:pt x="723" y="498"/>
                    <a:pt x="727" y="503"/>
                    <a:pt x="731" y="501"/>
                  </a:cubicBezTo>
                  <a:cubicBezTo>
                    <a:pt x="735" y="499"/>
                    <a:pt x="742" y="488"/>
                    <a:pt x="742" y="482"/>
                  </a:cubicBezTo>
                  <a:lnTo>
                    <a:pt x="728" y="466"/>
                  </a:lnTo>
                  <a:cubicBezTo>
                    <a:pt x="730" y="462"/>
                    <a:pt x="746" y="463"/>
                    <a:pt x="755" y="459"/>
                  </a:cubicBezTo>
                  <a:cubicBezTo>
                    <a:pt x="764" y="455"/>
                    <a:pt x="777" y="444"/>
                    <a:pt x="782" y="444"/>
                  </a:cubicBezTo>
                  <a:cubicBezTo>
                    <a:pt x="787" y="444"/>
                    <a:pt x="786" y="452"/>
                    <a:pt x="784" y="458"/>
                  </a:cubicBezTo>
                  <a:cubicBezTo>
                    <a:pt x="782" y="464"/>
                    <a:pt x="765" y="469"/>
                    <a:pt x="772" y="480"/>
                  </a:cubicBezTo>
                  <a:cubicBezTo>
                    <a:pt x="779" y="491"/>
                    <a:pt x="820" y="516"/>
                    <a:pt x="824" y="525"/>
                  </a:cubicBezTo>
                  <a:cubicBezTo>
                    <a:pt x="828" y="534"/>
                    <a:pt x="808" y="535"/>
                    <a:pt x="796" y="537"/>
                  </a:cubicBezTo>
                  <a:cubicBezTo>
                    <a:pt x="784" y="539"/>
                    <a:pt x="763" y="541"/>
                    <a:pt x="751" y="539"/>
                  </a:cubicBezTo>
                  <a:cubicBezTo>
                    <a:pt x="739" y="537"/>
                    <a:pt x="739" y="524"/>
                    <a:pt x="722" y="524"/>
                  </a:cubicBezTo>
                  <a:cubicBezTo>
                    <a:pt x="705" y="524"/>
                    <a:pt x="707" y="533"/>
                    <a:pt x="697" y="537"/>
                  </a:cubicBezTo>
                  <a:lnTo>
                    <a:pt x="667" y="538"/>
                  </a:lnTo>
                  <a:lnTo>
                    <a:pt x="623" y="560"/>
                  </a:lnTo>
                  <a:lnTo>
                    <a:pt x="634" y="576"/>
                  </a:lnTo>
                  <a:lnTo>
                    <a:pt x="639" y="598"/>
                  </a:lnTo>
                  <a:lnTo>
                    <a:pt x="669" y="617"/>
                  </a:lnTo>
                  <a:lnTo>
                    <a:pt x="700" y="602"/>
                  </a:lnTo>
                  <a:lnTo>
                    <a:pt x="718" y="611"/>
                  </a:lnTo>
                  <a:lnTo>
                    <a:pt x="752" y="608"/>
                  </a:lnTo>
                  <a:lnTo>
                    <a:pt x="757" y="644"/>
                  </a:lnTo>
                  <a:lnTo>
                    <a:pt x="697" y="677"/>
                  </a:lnTo>
                  <a:close/>
                </a:path>
              </a:pathLst>
            </a:custGeom>
            <a:solidFill>
              <a:srgbClr val="FEFEFE">
                <a:alpha val="30000"/>
              </a:srgbClr>
            </a:solidFill>
            <a:ln w="12700" cap="flat" cmpd="sng">
              <a:noFill/>
              <a:prstDash val="dash"/>
              <a:round/>
              <a:headEnd type="none" w="med" len="med"/>
              <a:tailEnd type="none" w="med" len="med"/>
            </a:ln>
            <a:effec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grpSp>
      <p:pic>
        <p:nvPicPr>
          <p:cNvPr id="114" name="Picture 7" descr="artplus_nature_naturalcity42_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0450" y="3167063"/>
            <a:ext cx="4425950" cy="2989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5" name="Picture 12" descr="artplus_nature_naturalcity42_i"/>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56425" y="3352800"/>
            <a:ext cx="1654175" cy="87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6" name="Picture 10" descr="artplus_nature_naturalcity42_c"/>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96400" y="2895600"/>
            <a:ext cx="1112838" cy="866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13" descr="artplus_nature_naturalcity42_f"/>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94275" y="4594225"/>
            <a:ext cx="4911725" cy="188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8" name="Text Box 126"/>
          <p:cNvSpPr txBox="1">
            <a:spLocks noChangeArrowheads="1"/>
          </p:cNvSpPr>
          <p:nvPr/>
        </p:nvSpPr>
        <p:spPr bwMode="auto">
          <a:xfrm>
            <a:off x="8007350" y="152400"/>
            <a:ext cx="9842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zh-CN" sz="2000" b="1" i="0" u="none" strike="noStrike" kern="1200" cap="none" spc="0" normalizeH="0" baseline="0" noProof="0" smtClean="0">
                <a:ln>
                  <a:noFill/>
                </a:ln>
                <a:solidFill>
                  <a:srgbClr val="000000"/>
                </a:solidFill>
                <a:effectLst/>
                <a:uLnTx/>
                <a:uFillTx/>
                <a:latin typeface="Verdana" panose="020B0604030504040204" pitchFamily="34" charset="0"/>
                <a:ea typeface="宋体" panose="02010600030101010101" pitchFamily="2" charset="-122"/>
                <a:cs typeface="+mn-cs"/>
              </a:rPr>
              <a:t>LOGO</a:t>
            </a:r>
          </a:p>
        </p:txBody>
      </p:sp>
      <p:pic>
        <p:nvPicPr>
          <p:cNvPr id="119" name="Picture 9" descr="artplus_nature_naturalcity42_b"/>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95888" y="3097213"/>
            <a:ext cx="2971800" cy="57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0" name="Picture 8" descr="artplus_nature_naturalcity42_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43600" y="1993900"/>
            <a:ext cx="1546225" cy="166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1" name="Picture 11" descr="artplus_nature_naturalcity42_d"/>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626100" y="2862263"/>
            <a:ext cx="623888"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 name="Picture 128" descr="a1"/>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9359900" y="95250"/>
            <a:ext cx="1803400" cy="2070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3" name="Picture 129" descr="b_1"/>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10204450" y="1968500"/>
            <a:ext cx="1079500" cy="46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8" name="Rectangle 2"/>
          <p:cNvSpPr>
            <a:spLocks noGrp="1" noChangeArrowheads="1"/>
          </p:cNvSpPr>
          <p:nvPr>
            <p:ph type="ctrTitle"/>
          </p:nvPr>
        </p:nvSpPr>
        <p:spPr>
          <a:xfrm>
            <a:off x="304800" y="4419600"/>
            <a:ext cx="6400800" cy="1143000"/>
          </a:xfrm>
        </p:spPr>
        <p:txBody>
          <a:bodyPr/>
          <a:lstStyle>
            <a:lvl1pPr algn="l">
              <a:defRPr sz="4300">
                <a:solidFill>
                  <a:schemeClr val="bg1"/>
                </a:solidFill>
              </a:defRPr>
            </a:lvl1pPr>
          </a:lstStyle>
          <a:p>
            <a:r>
              <a:rPr lang="en-US" altLang="zh-CN"/>
              <a:t>Click to edit Master title style</a:t>
            </a:r>
          </a:p>
        </p:txBody>
      </p:sp>
      <p:sp>
        <p:nvSpPr>
          <p:cNvPr id="4099" name="Rectangle 3"/>
          <p:cNvSpPr>
            <a:spLocks noGrp="1" noChangeArrowheads="1"/>
          </p:cNvSpPr>
          <p:nvPr>
            <p:ph type="subTitle" idx="1"/>
          </p:nvPr>
        </p:nvSpPr>
        <p:spPr>
          <a:xfrm>
            <a:off x="304800" y="5715000"/>
            <a:ext cx="6400800" cy="381000"/>
          </a:xfrm>
        </p:spPr>
        <p:txBody>
          <a:bodyPr/>
          <a:lstStyle>
            <a:lvl1pPr marL="0" indent="0">
              <a:buFont typeface="Wingdings" pitchFamily="2" charset="2"/>
              <a:buNone/>
              <a:defRPr sz="1800" b="1" i="1">
                <a:solidFill>
                  <a:schemeClr val="bg1"/>
                </a:solidFill>
              </a:defRPr>
            </a:lvl1pPr>
          </a:lstStyle>
          <a:p>
            <a:r>
              <a:rPr lang="en-US" altLang="zh-CN"/>
              <a:t>Click to edit Master subtitle style</a:t>
            </a:r>
          </a:p>
        </p:txBody>
      </p:sp>
      <p:sp>
        <p:nvSpPr>
          <p:cNvPr id="124" name="Rectangle 4"/>
          <p:cNvSpPr>
            <a:spLocks noGrp="1" noChangeArrowheads="1"/>
          </p:cNvSpPr>
          <p:nvPr>
            <p:ph type="dt" sz="half" idx="10"/>
          </p:nvPr>
        </p:nvSpPr>
        <p:spPr>
          <a:xfrm>
            <a:off x="304800" y="6477000"/>
            <a:ext cx="2133600" cy="168275"/>
          </a:xfrm>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125" name="Rectangle 6"/>
          <p:cNvSpPr>
            <a:spLocks noGrp="1" noChangeArrowheads="1"/>
          </p:cNvSpPr>
          <p:nvPr>
            <p:ph type="sldNum" sz="quarter" idx="11"/>
          </p:nvPr>
        </p:nvSpPr>
        <p:spPr>
          <a:xfrm>
            <a:off x="3657600" y="6477000"/>
            <a:ext cx="2133600" cy="168275"/>
          </a:xfrm>
        </p:spPr>
        <p:txBody>
          <a:bodyPr/>
          <a:lstStyle>
            <a:lvl1pPr algn="ct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fld id="{50AB4C9A-B5B0-4A87-9ED8-FE562CA4E343}"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ct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1773417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114"/>
                                        </p:tgtEl>
                                        <p:attrNameLst>
                                          <p:attrName>style.visibility</p:attrName>
                                        </p:attrNameLst>
                                      </p:cBhvr>
                                      <p:to>
                                        <p:strVal val="visible"/>
                                      </p:to>
                                    </p:set>
                                    <p:animEffect transition="in" filter="fade">
                                      <p:cBhvr>
                                        <p:cTn id="10" dur="2000"/>
                                        <p:tgtEl>
                                          <p:spTgt spid="114"/>
                                        </p:tgtEl>
                                      </p:cBhvr>
                                    </p:animEffect>
                                  </p:childTnLst>
                                </p:cTn>
                              </p:par>
                            </p:childTnLst>
                          </p:cTn>
                        </p:par>
                        <p:par>
                          <p:cTn id="11" fill="hold">
                            <p:stCondLst>
                              <p:cond delay="2000"/>
                            </p:stCondLst>
                            <p:childTnLst>
                              <p:par>
                                <p:cTn id="12" presetID="10" presetClass="entr" presetSubtype="0" fill="hold" nodeType="afterEffect">
                                  <p:stCondLst>
                                    <p:cond delay="0"/>
                                  </p:stCondLst>
                                  <p:childTnLst>
                                    <p:set>
                                      <p:cBhvr>
                                        <p:cTn id="13" dur="1" fill="hold">
                                          <p:stCondLst>
                                            <p:cond delay="0"/>
                                          </p:stCondLst>
                                        </p:cTn>
                                        <p:tgtEl>
                                          <p:spTgt spid="119"/>
                                        </p:tgtEl>
                                        <p:attrNameLst>
                                          <p:attrName>style.visibility</p:attrName>
                                        </p:attrNameLst>
                                      </p:cBhvr>
                                      <p:to>
                                        <p:strVal val="visible"/>
                                      </p:to>
                                    </p:set>
                                    <p:animEffect transition="in" filter="fade">
                                      <p:cBhvr>
                                        <p:cTn id="14" dur="1000"/>
                                        <p:tgtEl>
                                          <p:spTgt spid="119"/>
                                        </p:tgtEl>
                                      </p:cBhvr>
                                    </p:animEffect>
                                  </p:childTnLst>
                                </p:cTn>
                              </p:par>
                            </p:childTnLst>
                          </p:cTn>
                        </p:par>
                        <p:par>
                          <p:cTn id="15" fill="hold">
                            <p:stCondLst>
                              <p:cond delay="3000"/>
                            </p:stCondLst>
                            <p:childTnLst>
                              <p:par>
                                <p:cTn id="16" presetID="22" presetClass="entr" presetSubtype="4" fill="hold" nodeType="after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wipe(down)">
                                      <p:cBhvr>
                                        <p:cTn id="18" dur="500"/>
                                        <p:tgtEl>
                                          <p:spTgt spid="121"/>
                                        </p:tgtEl>
                                      </p:cBhvr>
                                    </p:animEffect>
                                  </p:childTnLst>
                                </p:cTn>
                              </p:par>
                            </p:childTnLst>
                          </p:cTn>
                        </p:par>
                        <p:par>
                          <p:cTn id="19" fill="hold">
                            <p:stCondLst>
                              <p:cond delay="3500"/>
                            </p:stCondLst>
                            <p:childTnLst>
                              <p:par>
                                <p:cTn id="20" presetID="22" presetClass="entr" presetSubtype="4" fill="hold" nodeType="after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wipe(down)">
                                      <p:cBhvr>
                                        <p:cTn id="22" dur="500"/>
                                        <p:tgtEl>
                                          <p:spTgt spid="120"/>
                                        </p:tgtEl>
                                      </p:cBhvr>
                                    </p:animEffect>
                                  </p:childTnLst>
                                </p:cTn>
                              </p:par>
                            </p:childTnLst>
                          </p:cTn>
                        </p:par>
                        <p:par>
                          <p:cTn id="23" fill="hold">
                            <p:stCondLst>
                              <p:cond delay="4000"/>
                            </p:stCondLst>
                            <p:childTnLst>
                              <p:par>
                                <p:cTn id="24" presetID="35" presetClass="path" presetSubtype="0" accel="50000" decel="50000" fill="hold" nodeType="afterEffect">
                                  <p:stCondLst>
                                    <p:cond delay="0"/>
                                  </p:stCondLst>
                                  <p:childTnLst>
                                    <p:animMotion origin="layout" path="M -5.55556E-7 2.37743E-6 L -0.21076 0.04787 " pathEditMode="relative" rAng="0" ptsTypes="AA">
                                      <p:cBhvr>
                                        <p:cTn id="25" dur="2000" fill="hold"/>
                                        <p:tgtEl>
                                          <p:spTgt spid="116"/>
                                        </p:tgtEl>
                                        <p:attrNameLst>
                                          <p:attrName>ppt_x</p:attrName>
                                          <p:attrName>ppt_y</p:attrName>
                                        </p:attrNameLst>
                                      </p:cBhvr>
                                      <p:rCtr x="-10538" y="2382"/>
                                    </p:animMotion>
                                  </p:childTnLst>
                                </p:cTn>
                              </p:par>
                              <p:par>
                                <p:cTn id="26" presetID="10" presetClass="entr" presetSubtype="0" fill="hold" nodeType="withEffect">
                                  <p:stCondLst>
                                    <p:cond delay="0"/>
                                  </p:stCondLst>
                                  <p:childTnLst>
                                    <p:set>
                                      <p:cBhvr>
                                        <p:cTn id="27" dur="1" fill="hold">
                                          <p:stCondLst>
                                            <p:cond delay="0"/>
                                          </p:stCondLst>
                                        </p:cTn>
                                        <p:tgtEl>
                                          <p:spTgt spid="116"/>
                                        </p:tgtEl>
                                        <p:attrNameLst>
                                          <p:attrName>style.visibility</p:attrName>
                                        </p:attrNameLst>
                                      </p:cBhvr>
                                      <p:to>
                                        <p:strVal val="visible"/>
                                      </p:to>
                                    </p:set>
                                    <p:animEffect transition="in" filter="fade">
                                      <p:cBhvr>
                                        <p:cTn id="28" dur="1000"/>
                                        <p:tgtEl>
                                          <p:spTgt spid="116"/>
                                        </p:tgtEl>
                                      </p:cBhvr>
                                    </p:animEffect>
                                  </p:childTnLst>
                                </p:cTn>
                              </p:par>
                            </p:childTnLst>
                          </p:cTn>
                        </p:par>
                        <p:par>
                          <p:cTn id="29" fill="hold">
                            <p:stCondLst>
                              <p:cond delay="6000"/>
                            </p:stCondLst>
                            <p:childTnLst>
                              <p:par>
                                <p:cTn id="30" presetID="22" presetClass="entr" presetSubtype="4" fill="hold" nodeType="afterEffect">
                                  <p:stCondLst>
                                    <p:cond delay="0"/>
                                  </p:stCondLst>
                                  <p:childTnLst>
                                    <p:set>
                                      <p:cBhvr>
                                        <p:cTn id="31" dur="1" fill="hold">
                                          <p:stCondLst>
                                            <p:cond delay="0"/>
                                          </p:stCondLst>
                                        </p:cTn>
                                        <p:tgtEl>
                                          <p:spTgt spid="115"/>
                                        </p:tgtEl>
                                        <p:attrNameLst>
                                          <p:attrName>style.visibility</p:attrName>
                                        </p:attrNameLst>
                                      </p:cBhvr>
                                      <p:to>
                                        <p:strVal val="visible"/>
                                      </p:to>
                                    </p:set>
                                    <p:animEffect transition="in" filter="wipe(down)">
                                      <p:cBhvr>
                                        <p:cTn id="32" dur="500"/>
                                        <p:tgtEl>
                                          <p:spTgt spid="115"/>
                                        </p:tgtEl>
                                      </p:cBhvr>
                                    </p:animEffect>
                                  </p:childTnLst>
                                </p:cTn>
                              </p:par>
                            </p:childTnLst>
                          </p:cTn>
                        </p:par>
                        <p:par>
                          <p:cTn id="33" fill="hold">
                            <p:stCondLst>
                              <p:cond delay="6500"/>
                            </p:stCondLst>
                            <p:childTnLst>
                              <p:par>
                                <p:cTn id="34" presetID="22" presetClass="entr" presetSubtype="4" fill="hold" nodeType="afterEffect">
                                  <p:stCondLst>
                                    <p:cond delay="0"/>
                                  </p:stCondLst>
                                  <p:childTnLst>
                                    <p:set>
                                      <p:cBhvr>
                                        <p:cTn id="35" dur="1" fill="hold">
                                          <p:stCondLst>
                                            <p:cond delay="0"/>
                                          </p:stCondLst>
                                        </p:cTn>
                                        <p:tgtEl>
                                          <p:spTgt spid="117"/>
                                        </p:tgtEl>
                                        <p:attrNameLst>
                                          <p:attrName>style.visibility</p:attrName>
                                        </p:attrNameLst>
                                      </p:cBhvr>
                                      <p:to>
                                        <p:strVal val="visible"/>
                                      </p:to>
                                    </p:set>
                                    <p:animEffect transition="in" filter="wipe(down)">
                                      <p:cBhvr>
                                        <p:cTn id="36" dur="1000"/>
                                        <p:tgtEl>
                                          <p:spTgt spid="117"/>
                                        </p:tgtEl>
                                      </p:cBhvr>
                                    </p:animEffect>
                                  </p:childTnLst>
                                </p:cTn>
                              </p:par>
                              <p:par>
                                <p:cTn id="37" presetID="10" presetClass="entr" presetSubtype="0" fill="hold" nodeType="withEffect">
                                  <p:stCondLst>
                                    <p:cond delay="800"/>
                                  </p:stCondLst>
                                  <p:childTnLst>
                                    <p:set>
                                      <p:cBhvr>
                                        <p:cTn id="38" dur="1" fill="hold">
                                          <p:stCondLst>
                                            <p:cond delay="0"/>
                                          </p:stCondLst>
                                        </p:cTn>
                                        <p:tgtEl>
                                          <p:spTgt spid="5"/>
                                        </p:tgtEl>
                                        <p:attrNameLst>
                                          <p:attrName>style.visibility</p:attrName>
                                        </p:attrNameLst>
                                      </p:cBhvr>
                                      <p:to>
                                        <p:strVal val="visible"/>
                                      </p:to>
                                    </p:set>
                                    <p:animEffect transition="in" filter="fade">
                                      <p:cBhvr>
                                        <p:cTn id="39" dur="2000"/>
                                        <p:tgtEl>
                                          <p:spTgt spid="5"/>
                                        </p:tgtEl>
                                      </p:cBhvr>
                                    </p:animEffect>
                                  </p:childTnLst>
                                </p:cTn>
                              </p:par>
                            </p:childTnLst>
                          </p:cTn>
                        </p:par>
                        <p:par>
                          <p:cTn id="40" fill="hold">
                            <p:stCondLst>
                              <p:cond delay="9300"/>
                            </p:stCondLst>
                            <p:childTnLst>
                              <p:par>
                                <p:cTn id="41" presetID="0" presetClass="path" presetSubtype="0" accel="50000" decel="50000" fill="hold" nodeType="afterEffect">
                                  <p:stCondLst>
                                    <p:cond delay="0"/>
                                  </p:stCondLst>
                                  <p:childTnLst>
                                    <p:animMotion origin="layout" path="M -2.22222E-6 -4.81481E-6 C -0.08906 0.01505 -0.38802 0.03033 -0.53472 0.09075 C -0.68142 0.15116 -0.81198 0.322 -0.88055 0.36297 C -0.94913 0.40394 -0.93229 0.34237 -0.94583 0.33704 " pathEditMode="relative" rAng="0" ptsTypes="aaaa">
                                      <p:cBhvr>
                                        <p:cTn id="42" dur="2000" fill="hold"/>
                                        <p:tgtEl>
                                          <p:spTgt spid="122"/>
                                        </p:tgtEl>
                                        <p:attrNameLst>
                                          <p:attrName>ppt_x</p:attrName>
                                          <p:attrName>ppt_y</p:attrName>
                                        </p:attrNameLst>
                                      </p:cBhvr>
                                      <p:rCtr x="-47465" y="20185"/>
                                    </p:animMotion>
                                  </p:childTnLst>
                                </p:cTn>
                              </p:par>
                              <p:par>
                                <p:cTn id="43" presetID="0" presetClass="path" presetSubtype="0" accel="50000" decel="50000" fill="hold" nodeType="withEffect">
                                  <p:stCondLst>
                                    <p:cond delay="500"/>
                                  </p:stCondLst>
                                  <p:childTnLst>
                                    <p:animMotion origin="layout" path="M 0 0.04629 C -0.07778 0.05393 -0.34948 0.0956 -0.46667 0.09166 C -0.58385 0.08773 -0.63611 -0.0007 -0.70278 0.02314 C -0.76944 0.04699 -0.83247 0.19027 -0.86667 0.23426 " pathEditMode="relative" rAng="0" ptsTypes="aaaa">
                                      <p:cBhvr>
                                        <p:cTn id="44" dur="2000" fill="hold"/>
                                        <p:tgtEl>
                                          <p:spTgt spid="123"/>
                                        </p:tgtEl>
                                        <p:attrNameLst>
                                          <p:attrName>ppt_x</p:attrName>
                                          <p:attrName>ppt_y</p:attrName>
                                        </p:attrNameLst>
                                      </p:cBhvr>
                                      <p:rCtr x="-43333" y="7037"/>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26B48F9B-9E49-4141-844D-B2FC2CB8E1DD}"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40838062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0D1EC95C-0E67-4330-903C-B4FACE095EAE}"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296189547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295400"/>
            <a:ext cx="4038600" cy="5029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295400"/>
            <a:ext cx="4038600" cy="5029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05BB2E79-A925-426C-863F-A1E20E46E863}"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388045468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8"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9"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B1484CAC-9E41-4203-8DE7-DD0412C947E6}"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32588132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4"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5"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BFEB0394-406A-47AB-A9A6-64F9FF72C176}"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33165928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3"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4"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A0417228-D0D6-4AE7-9F56-4C68C743A050}"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289612835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9EBE431D-179C-418F-ACCC-0FE586978665}"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18593022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17015B-001C-4BAB-BBA8-86C7DC4412D7}"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238869400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72CBF349-99B8-4295-AFB8-CF754D6239B9}"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357184357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28600"/>
            <a:ext cx="2057400" cy="6096000"/>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228600"/>
            <a:ext cx="6019800" cy="6096000"/>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E9DB2B04-559C-4F69-92F1-C5BEC6E8CA9D}"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21690486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28600"/>
            <a:ext cx="8229600" cy="868363"/>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295400"/>
            <a:ext cx="8229600" cy="5029200"/>
          </a:xfrm>
        </p:spPr>
        <p:txBody>
          <a:bodyPr/>
          <a:lstStyle/>
          <a:p>
            <a:pPr lvl="0"/>
            <a:endParaRPr lang="zh-CN" altLang="en-US" noProof="0" smtClean="0"/>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BF4B0B61-C491-4306-8954-053BBA3198F8}"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167404812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grpSp>
        <p:nvGrpSpPr>
          <p:cNvPr id="4" name="Group 2"/>
          <p:cNvGrpSpPr>
            <a:grpSpLocks/>
          </p:cNvGrpSpPr>
          <p:nvPr/>
        </p:nvGrpSpPr>
        <p:grpSpPr bwMode="auto">
          <a:xfrm>
            <a:off x="5076825" y="5957888"/>
            <a:ext cx="503238" cy="1800225"/>
            <a:chOff x="3470" y="572"/>
            <a:chExt cx="317" cy="1134"/>
          </a:xfrm>
        </p:grpSpPr>
        <p:sp>
          <p:nvSpPr>
            <p:cNvPr id="5" name="Arc 3"/>
            <p:cNvSpPr>
              <a:spLocks/>
            </p:cNvSpPr>
            <p:nvPr userDrawn="1"/>
          </p:nvSpPr>
          <p:spPr bwMode="auto">
            <a:xfrm>
              <a:off x="3507" y="698"/>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a:ea typeface="新細明體"/>
                <a:cs typeface="+mn-cs"/>
              </a:endParaRPr>
            </a:p>
          </p:txBody>
        </p:sp>
        <p:sp>
          <p:nvSpPr>
            <p:cNvPr id="6" name="Oval 4"/>
            <p:cNvSpPr>
              <a:spLocks noChangeArrowheads="1"/>
            </p:cNvSpPr>
            <p:nvPr userDrawn="1"/>
          </p:nvSpPr>
          <p:spPr bwMode="auto">
            <a:xfrm rot="-3515713">
              <a:off x="3536" y="785"/>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 name="Oval 5"/>
            <p:cNvSpPr>
              <a:spLocks noChangeArrowheads="1"/>
            </p:cNvSpPr>
            <p:nvPr userDrawn="1"/>
          </p:nvSpPr>
          <p:spPr bwMode="auto">
            <a:xfrm rot="-1615679">
              <a:off x="3470"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 name="Oval 6"/>
            <p:cNvSpPr>
              <a:spLocks noChangeArrowheads="1"/>
            </p:cNvSpPr>
            <p:nvPr userDrawn="1"/>
          </p:nvSpPr>
          <p:spPr bwMode="auto">
            <a:xfrm rot="6199228">
              <a:off x="3536"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 name="Oval 7"/>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 name="Oval 8"/>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 name="Oval 9"/>
            <p:cNvSpPr>
              <a:spLocks noChangeArrowheads="1"/>
            </p:cNvSpPr>
            <p:nvPr userDrawn="1"/>
          </p:nvSpPr>
          <p:spPr bwMode="auto">
            <a:xfrm rot="-4126769">
              <a:off x="3499" y="743"/>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 name="Oval 10"/>
            <p:cNvSpPr>
              <a:spLocks noChangeArrowheads="1"/>
            </p:cNvSpPr>
            <p:nvPr userDrawn="1"/>
          </p:nvSpPr>
          <p:spPr bwMode="auto">
            <a:xfrm rot="-2624767">
              <a:off x="3581"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 name="Oval 11"/>
            <p:cNvSpPr>
              <a:spLocks noChangeArrowheads="1"/>
            </p:cNvSpPr>
            <p:nvPr userDrawn="1"/>
          </p:nvSpPr>
          <p:spPr bwMode="auto">
            <a:xfrm rot="-5400000">
              <a:off x="3565" y="825"/>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 name="Oval 12"/>
            <p:cNvSpPr>
              <a:spLocks noChangeArrowheads="1"/>
            </p:cNvSpPr>
            <p:nvPr userDrawn="1"/>
          </p:nvSpPr>
          <p:spPr bwMode="auto">
            <a:xfrm rot="-1495776">
              <a:off x="3617"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5" name="Group 13"/>
          <p:cNvGrpSpPr>
            <a:grpSpLocks/>
          </p:cNvGrpSpPr>
          <p:nvPr/>
        </p:nvGrpSpPr>
        <p:grpSpPr bwMode="auto">
          <a:xfrm flipH="1">
            <a:off x="179388" y="5842000"/>
            <a:ext cx="815975" cy="2030413"/>
            <a:chOff x="4377" y="300"/>
            <a:chExt cx="514" cy="1279"/>
          </a:xfrm>
        </p:grpSpPr>
        <p:sp>
          <p:nvSpPr>
            <p:cNvPr id="16" name="Arc 14"/>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a:ea typeface="新細明體"/>
                <a:cs typeface="+mn-cs"/>
              </a:endParaRPr>
            </a:p>
          </p:txBody>
        </p:sp>
        <p:sp>
          <p:nvSpPr>
            <p:cNvPr id="17" name="Oval 15"/>
            <p:cNvSpPr>
              <a:spLocks noChangeArrowheads="1"/>
            </p:cNvSpPr>
            <p:nvPr userDrawn="1"/>
          </p:nvSpPr>
          <p:spPr bwMode="auto">
            <a:xfrm rot="-3515713">
              <a:off x="4468" y="55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 name="Oval 16"/>
            <p:cNvSpPr>
              <a:spLocks noChangeArrowheads="1"/>
            </p:cNvSpPr>
            <p:nvPr userDrawn="1"/>
          </p:nvSpPr>
          <p:spPr bwMode="auto">
            <a:xfrm rot="-1615679">
              <a:off x="4377" y="451"/>
              <a:ext cx="143"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 name="Oval 17"/>
            <p:cNvSpPr>
              <a:spLocks noChangeArrowheads="1"/>
            </p:cNvSpPr>
            <p:nvPr userDrawn="1"/>
          </p:nvSpPr>
          <p:spPr bwMode="auto">
            <a:xfrm rot="6199228">
              <a:off x="4468" y="352"/>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 name="Oval 18"/>
            <p:cNvSpPr>
              <a:spLocks noChangeArrowheads="1"/>
            </p:cNvSpPr>
            <p:nvPr userDrawn="1"/>
          </p:nvSpPr>
          <p:spPr bwMode="auto">
            <a:xfrm>
              <a:off x="4614" y="501"/>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 name="Oval 19"/>
            <p:cNvSpPr>
              <a:spLocks noChangeArrowheads="1"/>
            </p:cNvSpPr>
            <p:nvPr userDrawn="1"/>
          </p:nvSpPr>
          <p:spPr bwMode="auto">
            <a:xfrm rot="-4126769">
              <a:off x="4437" y="503"/>
              <a:ext cx="151" cy="48"/>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 name="Oval 20"/>
            <p:cNvSpPr>
              <a:spLocks noChangeArrowheads="1"/>
            </p:cNvSpPr>
            <p:nvPr userDrawn="1"/>
          </p:nvSpPr>
          <p:spPr bwMode="auto">
            <a:xfrm rot="-2624767">
              <a:off x="4520" y="400"/>
              <a:ext cx="142"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 name="Oval 21"/>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4" name="Oval 22"/>
            <p:cNvSpPr>
              <a:spLocks noChangeArrowheads="1"/>
            </p:cNvSpPr>
            <p:nvPr userDrawn="1"/>
          </p:nvSpPr>
          <p:spPr bwMode="auto">
            <a:xfrm rot="-1495776">
              <a:off x="4567" y="451"/>
              <a:ext cx="142"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5" name="Oval 23"/>
            <p:cNvSpPr>
              <a:spLocks noChangeArrowheads="1"/>
            </p:cNvSpPr>
            <p:nvPr userDrawn="1"/>
          </p:nvSpPr>
          <p:spPr bwMode="auto">
            <a:xfrm rot="-2742706">
              <a:off x="4552" y="669"/>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6" name="Oval 24"/>
            <p:cNvSpPr>
              <a:spLocks noChangeArrowheads="1"/>
            </p:cNvSpPr>
            <p:nvPr userDrawn="1"/>
          </p:nvSpPr>
          <p:spPr bwMode="auto">
            <a:xfrm rot="-2742706">
              <a:off x="4597" y="715"/>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7" name="Oval 25"/>
            <p:cNvSpPr>
              <a:spLocks noChangeArrowheads="1"/>
            </p:cNvSpPr>
            <p:nvPr userDrawn="1"/>
          </p:nvSpPr>
          <p:spPr bwMode="auto">
            <a:xfrm rot="1036516">
              <a:off x="4740" y="754"/>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8" name="Oval 26"/>
            <p:cNvSpPr>
              <a:spLocks noChangeArrowheads="1"/>
            </p:cNvSpPr>
            <p:nvPr userDrawn="1"/>
          </p:nvSpPr>
          <p:spPr bwMode="auto">
            <a:xfrm rot="403513">
              <a:off x="4642" y="578"/>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9" name="Oval 27"/>
            <p:cNvSpPr>
              <a:spLocks noChangeArrowheads="1"/>
            </p:cNvSpPr>
            <p:nvPr userDrawn="1"/>
          </p:nvSpPr>
          <p:spPr bwMode="auto">
            <a:xfrm rot="347087">
              <a:off x="4694" y="66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0" name="Oval 28"/>
            <p:cNvSpPr>
              <a:spLocks noChangeArrowheads="1"/>
            </p:cNvSpPr>
            <p:nvPr userDrawn="1"/>
          </p:nvSpPr>
          <p:spPr bwMode="auto">
            <a:xfrm rot="-2685850">
              <a:off x="4649" y="799"/>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31" name="Group 29"/>
          <p:cNvGrpSpPr>
            <a:grpSpLocks/>
          </p:cNvGrpSpPr>
          <p:nvPr/>
        </p:nvGrpSpPr>
        <p:grpSpPr bwMode="auto">
          <a:xfrm>
            <a:off x="0" y="5849938"/>
            <a:ext cx="9144000" cy="1008062"/>
            <a:chOff x="0" y="302"/>
            <a:chExt cx="5760" cy="635"/>
          </a:xfrm>
        </p:grpSpPr>
        <p:sp>
          <p:nvSpPr>
            <p:cNvPr id="32" name="AutoShape 30"/>
            <p:cNvSpPr>
              <a:spLocks noChangeArrowheads="1"/>
            </p:cNvSpPr>
            <p:nvPr userDrawn="1"/>
          </p:nvSpPr>
          <p:spPr bwMode="auto">
            <a:xfrm>
              <a:off x="0" y="438"/>
              <a:ext cx="340"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3" name="AutoShape 31"/>
            <p:cNvSpPr>
              <a:spLocks noChangeArrowheads="1"/>
            </p:cNvSpPr>
            <p:nvPr userDrawn="1"/>
          </p:nvSpPr>
          <p:spPr bwMode="auto">
            <a:xfrm>
              <a:off x="204" y="618"/>
              <a:ext cx="317" cy="318"/>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4" name="AutoShape 32"/>
            <p:cNvSpPr>
              <a:spLocks noChangeArrowheads="1"/>
            </p:cNvSpPr>
            <p:nvPr userDrawn="1"/>
          </p:nvSpPr>
          <p:spPr bwMode="auto">
            <a:xfrm>
              <a:off x="431"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5" name="AutoShape 33"/>
            <p:cNvSpPr>
              <a:spLocks noChangeArrowheads="1"/>
            </p:cNvSpPr>
            <p:nvPr userDrawn="1"/>
          </p:nvSpPr>
          <p:spPr bwMode="auto">
            <a:xfrm>
              <a:off x="703" y="302"/>
              <a:ext cx="272" cy="635"/>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6" name="AutoShape 34"/>
            <p:cNvSpPr>
              <a:spLocks noChangeArrowheads="1"/>
            </p:cNvSpPr>
            <p:nvPr userDrawn="1"/>
          </p:nvSpPr>
          <p:spPr bwMode="auto">
            <a:xfrm>
              <a:off x="884" y="438"/>
              <a:ext cx="318" cy="499"/>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7" name="AutoShape 35"/>
            <p:cNvSpPr>
              <a:spLocks noChangeArrowheads="1"/>
            </p:cNvSpPr>
            <p:nvPr userDrawn="1"/>
          </p:nvSpPr>
          <p:spPr bwMode="auto">
            <a:xfrm>
              <a:off x="1111"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8" name="AutoShape 36"/>
            <p:cNvSpPr>
              <a:spLocks noChangeArrowheads="1"/>
            </p:cNvSpPr>
            <p:nvPr userDrawn="1"/>
          </p:nvSpPr>
          <p:spPr bwMode="auto">
            <a:xfrm>
              <a:off x="1202"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9" name="AutoShape 37"/>
            <p:cNvSpPr>
              <a:spLocks noChangeArrowheads="1"/>
            </p:cNvSpPr>
            <p:nvPr userDrawn="1"/>
          </p:nvSpPr>
          <p:spPr bwMode="auto">
            <a:xfrm>
              <a:off x="1474" y="302"/>
              <a:ext cx="227" cy="635"/>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0" name="AutoShape 38"/>
            <p:cNvSpPr>
              <a:spLocks noChangeArrowheads="1"/>
            </p:cNvSpPr>
            <p:nvPr userDrawn="1"/>
          </p:nvSpPr>
          <p:spPr bwMode="auto">
            <a:xfrm>
              <a:off x="1655"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1" name="AutoShape 39"/>
            <p:cNvSpPr>
              <a:spLocks noChangeArrowheads="1"/>
            </p:cNvSpPr>
            <p:nvPr userDrawn="1"/>
          </p:nvSpPr>
          <p:spPr bwMode="auto">
            <a:xfrm>
              <a:off x="1927"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2" name="AutoShape 40"/>
            <p:cNvSpPr>
              <a:spLocks noChangeArrowheads="1"/>
            </p:cNvSpPr>
            <p:nvPr userDrawn="1"/>
          </p:nvSpPr>
          <p:spPr bwMode="auto">
            <a:xfrm>
              <a:off x="1791"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3" name="AutoShape 41"/>
            <p:cNvSpPr>
              <a:spLocks noChangeArrowheads="1"/>
            </p:cNvSpPr>
            <p:nvPr userDrawn="1"/>
          </p:nvSpPr>
          <p:spPr bwMode="auto">
            <a:xfrm>
              <a:off x="1837"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4" name="AutoShape 42"/>
            <p:cNvSpPr>
              <a:spLocks noChangeArrowheads="1"/>
            </p:cNvSpPr>
            <p:nvPr userDrawn="1"/>
          </p:nvSpPr>
          <p:spPr bwMode="auto">
            <a:xfrm>
              <a:off x="2018" y="436"/>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5" name="AutoShape 43"/>
            <p:cNvSpPr>
              <a:spLocks noChangeArrowheads="1"/>
            </p:cNvSpPr>
            <p:nvPr userDrawn="1"/>
          </p:nvSpPr>
          <p:spPr bwMode="auto">
            <a:xfrm>
              <a:off x="2381"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6" name="AutoShape 44"/>
            <p:cNvSpPr>
              <a:spLocks noChangeArrowheads="1"/>
            </p:cNvSpPr>
            <p:nvPr userDrawn="1"/>
          </p:nvSpPr>
          <p:spPr bwMode="auto">
            <a:xfrm>
              <a:off x="2653" y="574"/>
              <a:ext cx="182" cy="363"/>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7" name="AutoShape 45"/>
            <p:cNvSpPr>
              <a:spLocks noChangeArrowheads="1"/>
            </p:cNvSpPr>
            <p:nvPr userDrawn="1"/>
          </p:nvSpPr>
          <p:spPr bwMode="auto">
            <a:xfrm>
              <a:off x="2517"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8" name="AutoShape 46"/>
            <p:cNvSpPr>
              <a:spLocks noChangeArrowheads="1"/>
            </p:cNvSpPr>
            <p:nvPr userDrawn="1"/>
          </p:nvSpPr>
          <p:spPr bwMode="auto">
            <a:xfrm>
              <a:off x="2789"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9" name="AutoShape 47"/>
            <p:cNvSpPr>
              <a:spLocks noChangeArrowheads="1"/>
            </p:cNvSpPr>
            <p:nvPr userDrawn="1"/>
          </p:nvSpPr>
          <p:spPr bwMode="auto">
            <a:xfrm>
              <a:off x="2925"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0" name="AutoShape 48"/>
            <p:cNvSpPr>
              <a:spLocks noChangeArrowheads="1"/>
            </p:cNvSpPr>
            <p:nvPr userDrawn="1"/>
          </p:nvSpPr>
          <p:spPr bwMode="auto">
            <a:xfrm>
              <a:off x="3378" y="438"/>
              <a:ext cx="318"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1" name="AutoShape 49"/>
            <p:cNvSpPr>
              <a:spLocks noChangeArrowheads="1"/>
            </p:cNvSpPr>
            <p:nvPr userDrawn="1"/>
          </p:nvSpPr>
          <p:spPr bwMode="auto">
            <a:xfrm>
              <a:off x="3198" y="619"/>
              <a:ext cx="317" cy="318"/>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2" name="AutoShape 50"/>
            <p:cNvSpPr>
              <a:spLocks noChangeArrowheads="1"/>
            </p:cNvSpPr>
            <p:nvPr userDrawn="1"/>
          </p:nvSpPr>
          <p:spPr bwMode="auto">
            <a:xfrm>
              <a:off x="3696"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3" name="AutoShape 51"/>
            <p:cNvSpPr>
              <a:spLocks noChangeArrowheads="1"/>
            </p:cNvSpPr>
            <p:nvPr userDrawn="1"/>
          </p:nvSpPr>
          <p:spPr bwMode="auto">
            <a:xfrm>
              <a:off x="3560" y="438"/>
              <a:ext cx="182" cy="499"/>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4" name="AutoShape 52"/>
            <p:cNvSpPr>
              <a:spLocks noChangeArrowheads="1"/>
            </p:cNvSpPr>
            <p:nvPr userDrawn="1"/>
          </p:nvSpPr>
          <p:spPr bwMode="auto">
            <a:xfrm>
              <a:off x="3606"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5" name="AutoShape 53"/>
            <p:cNvSpPr>
              <a:spLocks noChangeArrowheads="1"/>
            </p:cNvSpPr>
            <p:nvPr userDrawn="1"/>
          </p:nvSpPr>
          <p:spPr bwMode="auto">
            <a:xfrm>
              <a:off x="3787"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6" name="AutoShape 54"/>
            <p:cNvSpPr>
              <a:spLocks noChangeArrowheads="1"/>
            </p:cNvSpPr>
            <p:nvPr userDrawn="1"/>
          </p:nvSpPr>
          <p:spPr bwMode="auto">
            <a:xfrm>
              <a:off x="4150"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7" name="AutoShape 55"/>
            <p:cNvSpPr>
              <a:spLocks noChangeArrowheads="1"/>
            </p:cNvSpPr>
            <p:nvPr userDrawn="1"/>
          </p:nvSpPr>
          <p:spPr bwMode="auto">
            <a:xfrm>
              <a:off x="4422"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8" name="AutoShape 56"/>
            <p:cNvSpPr>
              <a:spLocks noChangeArrowheads="1"/>
            </p:cNvSpPr>
            <p:nvPr userDrawn="1"/>
          </p:nvSpPr>
          <p:spPr bwMode="auto">
            <a:xfrm>
              <a:off x="4286" y="438"/>
              <a:ext cx="182" cy="499"/>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9" name="AutoShape 57"/>
            <p:cNvSpPr>
              <a:spLocks noChangeArrowheads="1"/>
            </p:cNvSpPr>
            <p:nvPr userDrawn="1"/>
          </p:nvSpPr>
          <p:spPr bwMode="auto">
            <a:xfrm>
              <a:off x="4558"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0" name="AutoShape 58"/>
            <p:cNvSpPr>
              <a:spLocks noChangeArrowheads="1"/>
            </p:cNvSpPr>
            <p:nvPr userDrawn="1"/>
          </p:nvSpPr>
          <p:spPr bwMode="auto">
            <a:xfrm>
              <a:off x="4694"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1" name="AutoShape 59"/>
            <p:cNvSpPr>
              <a:spLocks noChangeArrowheads="1"/>
            </p:cNvSpPr>
            <p:nvPr userDrawn="1"/>
          </p:nvSpPr>
          <p:spPr bwMode="auto">
            <a:xfrm>
              <a:off x="5147" y="438"/>
              <a:ext cx="318"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2" name="AutoShape 60"/>
            <p:cNvSpPr>
              <a:spLocks noChangeArrowheads="1"/>
            </p:cNvSpPr>
            <p:nvPr userDrawn="1"/>
          </p:nvSpPr>
          <p:spPr bwMode="auto">
            <a:xfrm>
              <a:off x="4967"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3" name="AutoShape 61"/>
            <p:cNvSpPr>
              <a:spLocks noChangeArrowheads="1"/>
            </p:cNvSpPr>
            <p:nvPr userDrawn="1"/>
          </p:nvSpPr>
          <p:spPr bwMode="auto">
            <a:xfrm>
              <a:off x="4944"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4" name="AutoShape 62"/>
            <p:cNvSpPr>
              <a:spLocks noChangeArrowheads="1"/>
            </p:cNvSpPr>
            <p:nvPr userDrawn="1"/>
          </p:nvSpPr>
          <p:spPr bwMode="auto">
            <a:xfrm>
              <a:off x="5216" y="302"/>
              <a:ext cx="227" cy="635"/>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5" name="AutoShape 63"/>
            <p:cNvSpPr>
              <a:spLocks noChangeArrowheads="1"/>
            </p:cNvSpPr>
            <p:nvPr userDrawn="1"/>
          </p:nvSpPr>
          <p:spPr bwMode="auto">
            <a:xfrm>
              <a:off x="5397" y="620"/>
              <a:ext cx="182" cy="317"/>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6" name="AutoShape 64"/>
            <p:cNvSpPr>
              <a:spLocks noChangeArrowheads="1"/>
            </p:cNvSpPr>
            <p:nvPr userDrawn="1"/>
          </p:nvSpPr>
          <p:spPr bwMode="auto">
            <a:xfrm>
              <a:off x="5533"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7" name="AutoShape 65"/>
            <p:cNvSpPr>
              <a:spLocks noChangeArrowheads="1"/>
            </p:cNvSpPr>
            <p:nvPr userDrawn="1"/>
          </p:nvSpPr>
          <p:spPr bwMode="auto">
            <a:xfrm>
              <a:off x="5579"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68" name="Group 66"/>
          <p:cNvGrpSpPr>
            <a:grpSpLocks/>
          </p:cNvGrpSpPr>
          <p:nvPr/>
        </p:nvGrpSpPr>
        <p:grpSpPr bwMode="auto">
          <a:xfrm>
            <a:off x="971550" y="5734050"/>
            <a:ext cx="757238" cy="1885950"/>
            <a:chOff x="4377" y="300"/>
            <a:chExt cx="514" cy="1279"/>
          </a:xfrm>
        </p:grpSpPr>
        <p:sp>
          <p:nvSpPr>
            <p:cNvPr id="69" name="Arc 67"/>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a:ea typeface="新細明體"/>
                <a:cs typeface="+mn-cs"/>
              </a:endParaRPr>
            </a:p>
          </p:txBody>
        </p:sp>
        <p:sp>
          <p:nvSpPr>
            <p:cNvPr id="70" name="Oval 68"/>
            <p:cNvSpPr>
              <a:spLocks noChangeArrowheads="1"/>
            </p:cNvSpPr>
            <p:nvPr userDrawn="1"/>
          </p:nvSpPr>
          <p:spPr bwMode="auto">
            <a:xfrm rot="-3515713">
              <a:off x="4469" y="555"/>
              <a:ext cx="151" cy="44"/>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1" name="Oval 69"/>
            <p:cNvSpPr>
              <a:spLocks noChangeArrowheads="1"/>
            </p:cNvSpPr>
            <p:nvPr userDrawn="1"/>
          </p:nvSpPr>
          <p:spPr bwMode="auto">
            <a:xfrm rot="-1615679">
              <a:off x="4377" y="451"/>
              <a:ext cx="143" cy="53"/>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2" name="Oval 70"/>
            <p:cNvSpPr>
              <a:spLocks noChangeArrowheads="1"/>
            </p:cNvSpPr>
            <p:nvPr userDrawn="1"/>
          </p:nvSpPr>
          <p:spPr bwMode="auto">
            <a:xfrm rot="6199228">
              <a:off x="4469" y="350"/>
              <a:ext cx="152" cy="44"/>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3" name="Oval 71"/>
            <p:cNvSpPr>
              <a:spLocks noChangeArrowheads="1"/>
            </p:cNvSpPr>
            <p:nvPr userDrawn="1"/>
          </p:nvSpPr>
          <p:spPr bwMode="auto">
            <a:xfrm>
              <a:off x="4614" y="501"/>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4" name="Oval 72"/>
            <p:cNvSpPr>
              <a:spLocks noChangeArrowheads="1"/>
            </p:cNvSpPr>
            <p:nvPr userDrawn="1"/>
          </p:nvSpPr>
          <p:spPr bwMode="auto">
            <a:xfrm rot="-4126769">
              <a:off x="4421" y="501"/>
              <a:ext cx="155"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5" name="Oval 73"/>
            <p:cNvSpPr>
              <a:spLocks noChangeArrowheads="1"/>
            </p:cNvSpPr>
            <p:nvPr userDrawn="1"/>
          </p:nvSpPr>
          <p:spPr bwMode="auto">
            <a:xfrm rot="-2624767">
              <a:off x="4520" y="400"/>
              <a:ext cx="141"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6" name="Oval 74"/>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7" name="Oval 75"/>
            <p:cNvSpPr>
              <a:spLocks noChangeArrowheads="1"/>
            </p:cNvSpPr>
            <p:nvPr userDrawn="1"/>
          </p:nvSpPr>
          <p:spPr bwMode="auto">
            <a:xfrm rot="-1495776">
              <a:off x="4567" y="451"/>
              <a:ext cx="142" cy="5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8" name="Oval 76"/>
            <p:cNvSpPr>
              <a:spLocks noChangeArrowheads="1"/>
            </p:cNvSpPr>
            <p:nvPr userDrawn="1"/>
          </p:nvSpPr>
          <p:spPr bwMode="auto">
            <a:xfrm rot="-2742706">
              <a:off x="4552" y="671"/>
              <a:ext cx="153" cy="4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9" name="Oval 77"/>
            <p:cNvSpPr>
              <a:spLocks noChangeArrowheads="1"/>
            </p:cNvSpPr>
            <p:nvPr userDrawn="1"/>
          </p:nvSpPr>
          <p:spPr bwMode="auto">
            <a:xfrm rot="-2742706">
              <a:off x="4593" y="713"/>
              <a:ext cx="155" cy="46"/>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0" name="Oval 78"/>
            <p:cNvSpPr>
              <a:spLocks noChangeArrowheads="1"/>
            </p:cNvSpPr>
            <p:nvPr userDrawn="1"/>
          </p:nvSpPr>
          <p:spPr bwMode="auto">
            <a:xfrm rot="1036516">
              <a:off x="4740" y="754"/>
              <a:ext cx="151" cy="44"/>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1" name="Oval 79"/>
            <p:cNvSpPr>
              <a:spLocks noChangeArrowheads="1"/>
            </p:cNvSpPr>
            <p:nvPr userDrawn="1"/>
          </p:nvSpPr>
          <p:spPr bwMode="auto">
            <a:xfrm rot="403513">
              <a:off x="4642" y="578"/>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2" name="Oval 80"/>
            <p:cNvSpPr>
              <a:spLocks noChangeArrowheads="1"/>
            </p:cNvSpPr>
            <p:nvPr userDrawn="1"/>
          </p:nvSpPr>
          <p:spPr bwMode="auto">
            <a:xfrm rot="347087">
              <a:off x="4694" y="66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3" name="Oval 81"/>
            <p:cNvSpPr>
              <a:spLocks noChangeArrowheads="1"/>
            </p:cNvSpPr>
            <p:nvPr userDrawn="1"/>
          </p:nvSpPr>
          <p:spPr bwMode="auto">
            <a:xfrm rot="-2685850">
              <a:off x="4649" y="798"/>
              <a:ext cx="152" cy="4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84" name="Group 87"/>
          <p:cNvGrpSpPr>
            <a:grpSpLocks/>
          </p:cNvGrpSpPr>
          <p:nvPr/>
        </p:nvGrpSpPr>
        <p:grpSpPr bwMode="auto">
          <a:xfrm rot="-1259352">
            <a:off x="1620838" y="5745163"/>
            <a:ext cx="576262" cy="539750"/>
            <a:chOff x="295" y="3385"/>
            <a:chExt cx="408" cy="340"/>
          </a:xfrm>
        </p:grpSpPr>
        <p:grpSp>
          <p:nvGrpSpPr>
            <p:cNvPr id="85" name="Group 88"/>
            <p:cNvGrpSpPr>
              <a:grpSpLocks/>
            </p:cNvGrpSpPr>
            <p:nvPr userDrawn="1"/>
          </p:nvGrpSpPr>
          <p:grpSpPr bwMode="auto">
            <a:xfrm rot="2362656">
              <a:off x="295" y="3385"/>
              <a:ext cx="408" cy="273"/>
              <a:chOff x="1701" y="527"/>
              <a:chExt cx="498" cy="273"/>
            </a:xfrm>
          </p:grpSpPr>
          <p:grpSp>
            <p:nvGrpSpPr>
              <p:cNvPr id="88" name="Group 89"/>
              <p:cNvGrpSpPr>
                <a:grpSpLocks/>
              </p:cNvGrpSpPr>
              <p:nvPr userDrawn="1"/>
            </p:nvGrpSpPr>
            <p:grpSpPr bwMode="auto">
              <a:xfrm rot="228844">
                <a:off x="1927" y="618"/>
                <a:ext cx="272" cy="90"/>
                <a:chOff x="1927" y="527"/>
                <a:chExt cx="272" cy="90"/>
              </a:xfrm>
            </p:grpSpPr>
            <p:sp>
              <p:nvSpPr>
                <p:cNvPr id="95" name="Oval 90"/>
                <p:cNvSpPr>
                  <a:spLocks noChangeArrowheads="1"/>
                </p:cNvSpPr>
                <p:nvPr userDrawn="1"/>
              </p:nvSpPr>
              <p:spPr bwMode="auto">
                <a:xfrm rot="187092">
                  <a:off x="1904" y="547"/>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6" name="Oval 91"/>
                <p:cNvSpPr>
                  <a:spLocks noChangeArrowheads="1"/>
                </p:cNvSpPr>
                <p:nvPr userDrawn="1"/>
              </p:nvSpPr>
              <p:spPr bwMode="auto">
                <a:xfrm rot="10143706">
                  <a:off x="1900" y="501"/>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89" name="Group 92"/>
              <p:cNvGrpSpPr>
                <a:grpSpLocks/>
              </p:cNvGrpSpPr>
              <p:nvPr userDrawn="1"/>
            </p:nvGrpSpPr>
            <p:grpSpPr bwMode="auto">
              <a:xfrm rot="10800000">
                <a:off x="1701" y="618"/>
                <a:ext cx="272" cy="90"/>
                <a:chOff x="1927" y="527"/>
                <a:chExt cx="272" cy="90"/>
              </a:xfrm>
            </p:grpSpPr>
            <p:sp>
              <p:nvSpPr>
                <p:cNvPr id="93" name="Oval 93"/>
                <p:cNvSpPr>
                  <a:spLocks noChangeArrowheads="1"/>
                </p:cNvSpPr>
                <p:nvPr userDrawn="1"/>
              </p:nvSpPr>
              <p:spPr bwMode="auto">
                <a:xfrm rot="187092">
                  <a:off x="1971" y="615"/>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4" name="Oval 94"/>
                <p:cNvSpPr>
                  <a:spLocks noChangeArrowheads="1"/>
                </p:cNvSpPr>
                <p:nvPr userDrawn="1"/>
              </p:nvSpPr>
              <p:spPr bwMode="auto">
                <a:xfrm rot="10143706">
                  <a:off x="1969" y="574"/>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90" name="Oval 95"/>
              <p:cNvSpPr>
                <a:spLocks noChangeArrowheads="1"/>
              </p:cNvSpPr>
              <p:nvPr userDrawn="1"/>
            </p:nvSpPr>
            <p:spPr bwMode="auto">
              <a:xfrm>
                <a:off x="1920" y="611"/>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1" name="Oval 96"/>
              <p:cNvSpPr>
                <a:spLocks noChangeArrowheads="1"/>
              </p:cNvSpPr>
              <p:nvPr userDrawn="1"/>
            </p:nvSpPr>
            <p:spPr bwMode="auto">
              <a:xfrm>
                <a:off x="1872" y="519"/>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2" name="Oval 97"/>
              <p:cNvSpPr>
                <a:spLocks noChangeArrowheads="1"/>
              </p:cNvSpPr>
              <p:nvPr userDrawn="1"/>
            </p:nvSpPr>
            <p:spPr bwMode="auto">
              <a:xfrm>
                <a:off x="1968" y="520"/>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86" name="Oval 98"/>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7" name="Oval 99"/>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7" name="Group 100"/>
          <p:cNvGrpSpPr>
            <a:grpSpLocks/>
          </p:cNvGrpSpPr>
          <p:nvPr/>
        </p:nvGrpSpPr>
        <p:grpSpPr bwMode="auto">
          <a:xfrm rot="-3824161">
            <a:off x="8244682" y="4004469"/>
            <a:ext cx="412750" cy="414337"/>
            <a:chOff x="295" y="3385"/>
            <a:chExt cx="408" cy="340"/>
          </a:xfrm>
        </p:grpSpPr>
        <p:grpSp>
          <p:nvGrpSpPr>
            <p:cNvPr id="98" name="Group 101"/>
            <p:cNvGrpSpPr>
              <a:grpSpLocks/>
            </p:cNvGrpSpPr>
            <p:nvPr userDrawn="1"/>
          </p:nvGrpSpPr>
          <p:grpSpPr bwMode="auto">
            <a:xfrm rot="2362656">
              <a:off x="295" y="3385"/>
              <a:ext cx="408" cy="273"/>
              <a:chOff x="1701" y="527"/>
              <a:chExt cx="498" cy="273"/>
            </a:xfrm>
          </p:grpSpPr>
          <p:grpSp>
            <p:nvGrpSpPr>
              <p:cNvPr id="101" name="Group 102"/>
              <p:cNvGrpSpPr>
                <a:grpSpLocks/>
              </p:cNvGrpSpPr>
              <p:nvPr userDrawn="1"/>
            </p:nvGrpSpPr>
            <p:grpSpPr bwMode="auto">
              <a:xfrm rot="228844">
                <a:off x="1927" y="618"/>
                <a:ext cx="272" cy="90"/>
                <a:chOff x="1927" y="527"/>
                <a:chExt cx="272" cy="90"/>
              </a:xfrm>
            </p:grpSpPr>
            <p:sp>
              <p:nvSpPr>
                <p:cNvPr id="108" name="Oval 103"/>
                <p:cNvSpPr>
                  <a:spLocks noChangeArrowheads="1"/>
                </p:cNvSpPr>
                <p:nvPr userDrawn="1"/>
              </p:nvSpPr>
              <p:spPr bwMode="auto">
                <a:xfrm rot="187092">
                  <a:off x="1897" y="519"/>
                  <a:ext cx="272" cy="43"/>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 name="Oval 104"/>
                <p:cNvSpPr>
                  <a:spLocks noChangeArrowheads="1"/>
                </p:cNvSpPr>
                <p:nvPr userDrawn="1"/>
              </p:nvSpPr>
              <p:spPr bwMode="auto">
                <a:xfrm rot="10143706">
                  <a:off x="1890" y="471"/>
                  <a:ext cx="272" cy="47"/>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02" name="Group 105"/>
              <p:cNvGrpSpPr>
                <a:grpSpLocks/>
              </p:cNvGrpSpPr>
              <p:nvPr userDrawn="1"/>
            </p:nvGrpSpPr>
            <p:grpSpPr bwMode="auto">
              <a:xfrm rot="10800000">
                <a:off x="1701" y="618"/>
                <a:ext cx="272" cy="90"/>
                <a:chOff x="1927" y="527"/>
                <a:chExt cx="272" cy="90"/>
              </a:xfrm>
            </p:grpSpPr>
            <p:sp>
              <p:nvSpPr>
                <p:cNvPr id="106" name="Oval 106"/>
                <p:cNvSpPr>
                  <a:spLocks noChangeArrowheads="1"/>
                </p:cNvSpPr>
                <p:nvPr userDrawn="1"/>
              </p:nvSpPr>
              <p:spPr bwMode="auto">
                <a:xfrm rot="187092">
                  <a:off x="1940" y="612"/>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 name="Oval 107"/>
                <p:cNvSpPr>
                  <a:spLocks noChangeArrowheads="1"/>
                </p:cNvSpPr>
                <p:nvPr userDrawn="1"/>
              </p:nvSpPr>
              <p:spPr bwMode="auto">
                <a:xfrm rot="10143706">
                  <a:off x="1938" y="568"/>
                  <a:ext cx="272" cy="48"/>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3" name="Oval 108"/>
              <p:cNvSpPr>
                <a:spLocks noChangeArrowheads="1"/>
              </p:cNvSpPr>
              <p:nvPr userDrawn="1"/>
            </p:nvSpPr>
            <p:spPr bwMode="auto">
              <a:xfrm>
                <a:off x="1915" y="579"/>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 name="Oval 109"/>
              <p:cNvSpPr>
                <a:spLocks noChangeArrowheads="1"/>
              </p:cNvSpPr>
              <p:nvPr userDrawn="1"/>
            </p:nvSpPr>
            <p:spPr bwMode="auto">
              <a:xfrm>
                <a:off x="1873" y="485"/>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 name="Oval 110"/>
              <p:cNvSpPr>
                <a:spLocks noChangeArrowheads="1"/>
              </p:cNvSpPr>
              <p:nvPr userDrawn="1"/>
            </p:nvSpPr>
            <p:spPr bwMode="auto">
              <a:xfrm>
                <a:off x="1959" y="486"/>
                <a:ext cx="56"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99" name="Oval 111"/>
            <p:cNvSpPr>
              <a:spLocks noChangeArrowheads="1"/>
            </p:cNvSpPr>
            <p:nvPr userDrawn="1"/>
          </p:nvSpPr>
          <p:spPr bwMode="auto">
            <a:xfrm flipH="1">
              <a:off x="341" y="3649"/>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0" name="Oval 112"/>
            <p:cNvSpPr>
              <a:spLocks noChangeArrowheads="1"/>
            </p:cNvSpPr>
            <p:nvPr userDrawn="1"/>
          </p:nvSpPr>
          <p:spPr bwMode="auto">
            <a:xfrm flipH="1">
              <a:off x="302" y="3692"/>
              <a:ext cx="25"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10" name="Group 113"/>
          <p:cNvGrpSpPr>
            <a:grpSpLocks/>
          </p:cNvGrpSpPr>
          <p:nvPr/>
        </p:nvGrpSpPr>
        <p:grpSpPr bwMode="auto">
          <a:xfrm rot="-3328072">
            <a:off x="4283869" y="5734844"/>
            <a:ext cx="412750" cy="414338"/>
            <a:chOff x="295" y="3385"/>
            <a:chExt cx="408" cy="340"/>
          </a:xfrm>
        </p:grpSpPr>
        <p:grpSp>
          <p:nvGrpSpPr>
            <p:cNvPr id="111" name="Group 114"/>
            <p:cNvGrpSpPr>
              <a:grpSpLocks/>
            </p:cNvGrpSpPr>
            <p:nvPr userDrawn="1"/>
          </p:nvGrpSpPr>
          <p:grpSpPr bwMode="auto">
            <a:xfrm rot="2362656">
              <a:off x="295" y="3385"/>
              <a:ext cx="408" cy="273"/>
              <a:chOff x="1701" y="527"/>
              <a:chExt cx="498" cy="273"/>
            </a:xfrm>
          </p:grpSpPr>
          <p:grpSp>
            <p:nvGrpSpPr>
              <p:cNvPr id="114" name="Group 115"/>
              <p:cNvGrpSpPr>
                <a:grpSpLocks/>
              </p:cNvGrpSpPr>
              <p:nvPr userDrawn="1"/>
            </p:nvGrpSpPr>
            <p:grpSpPr bwMode="auto">
              <a:xfrm rot="228844">
                <a:off x="1927" y="618"/>
                <a:ext cx="272" cy="90"/>
                <a:chOff x="1927" y="527"/>
                <a:chExt cx="272" cy="90"/>
              </a:xfrm>
            </p:grpSpPr>
            <p:sp>
              <p:nvSpPr>
                <p:cNvPr id="121" name="Oval 116"/>
                <p:cNvSpPr>
                  <a:spLocks noChangeArrowheads="1"/>
                </p:cNvSpPr>
                <p:nvPr userDrawn="1"/>
              </p:nvSpPr>
              <p:spPr bwMode="auto">
                <a:xfrm rot="187092">
                  <a:off x="1890" y="527"/>
                  <a:ext cx="272" cy="42"/>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2" name="Oval 117"/>
                <p:cNvSpPr>
                  <a:spLocks noChangeArrowheads="1"/>
                </p:cNvSpPr>
                <p:nvPr userDrawn="1"/>
              </p:nvSpPr>
              <p:spPr bwMode="auto">
                <a:xfrm rot="10143706">
                  <a:off x="1891" y="478"/>
                  <a:ext cx="272" cy="48"/>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15" name="Group 118"/>
              <p:cNvGrpSpPr>
                <a:grpSpLocks/>
              </p:cNvGrpSpPr>
              <p:nvPr userDrawn="1"/>
            </p:nvGrpSpPr>
            <p:grpSpPr bwMode="auto">
              <a:xfrm rot="10800000">
                <a:off x="1701" y="618"/>
                <a:ext cx="272" cy="90"/>
                <a:chOff x="1927" y="527"/>
                <a:chExt cx="272" cy="90"/>
              </a:xfrm>
            </p:grpSpPr>
            <p:sp>
              <p:nvSpPr>
                <p:cNvPr id="119" name="Oval 119"/>
                <p:cNvSpPr>
                  <a:spLocks noChangeArrowheads="1"/>
                </p:cNvSpPr>
                <p:nvPr userDrawn="1"/>
              </p:nvSpPr>
              <p:spPr bwMode="auto">
                <a:xfrm rot="187092">
                  <a:off x="1947" y="609"/>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0" name="Oval 120"/>
                <p:cNvSpPr>
                  <a:spLocks noChangeArrowheads="1"/>
                </p:cNvSpPr>
                <p:nvPr userDrawn="1"/>
              </p:nvSpPr>
              <p:spPr bwMode="auto">
                <a:xfrm rot="10143706">
                  <a:off x="1952" y="549"/>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6" name="Oval 121"/>
              <p:cNvSpPr>
                <a:spLocks noChangeArrowheads="1"/>
              </p:cNvSpPr>
              <p:nvPr userDrawn="1"/>
            </p:nvSpPr>
            <p:spPr bwMode="auto">
              <a:xfrm>
                <a:off x="1909" y="590"/>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7" name="Oval 122"/>
              <p:cNvSpPr>
                <a:spLocks noChangeArrowheads="1"/>
              </p:cNvSpPr>
              <p:nvPr userDrawn="1"/>
            </p:nvSpPr>
            <p:spPr bwMode="auto">
              <a:xfrm>
                <a:off x="1864" y="497"/>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8" name="Oval 123"/>
              <p:cNvSpPr>
                <a:spLocks noChangeArrowheads="1"/>
              </p:cNvSpPr>
              <p:nvPr userDrawn="1"/>
            </p:nvSpPr>
            <p:spPr bwMode="auto">
              <a:xfrm>
                <a:off x="1953" y="492"/>
                <a:ext cx="50"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2" name="Oval 124"/>
            <p:cNvSpPr>
              <a:spLocks noChangeArrowheads="1"/>
            </p:cNvSpPr>
            <p:nvPr userDrawn="1"/>
          </p:nvSpPr>
          <p:spPr bwMode="auto">
            <a:xfrm flipH="1">
              <a:off x="341" y="3652"/>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3" name="Oval 125"/>
            <p:cNvSpPr>
              <a:spLocks noChangeArrowheads="1"/>
            </p:cNvSpPr>
            <p:nvPr userDrawn="1"/>
          </p:nvSpPr>
          <p:spPr bwMode="auto">
            <a:xfrm flipH="1">
              <a:off x="296" y="3697"/>
              <a:ext cx="25" cy="21"/>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23" name="Group 126"/>
          <p:cNvGrpSpPr>
            <a:grpSpLocks/>
          </p:cNvGrpSpPr>
          <p:nvPr/>
        </p:nvGrpSpPr>
        <p:grpSpPr bwMode="auto">
          <a:xfrm rot="-708557">
            <a:off x="831850" y="5299075"/>
            <a:ext cx="355600" cy="396875"/>
            <a:chOff x="295" y="3385"/>
            <a:chExt cx="408" cy="340"/>
          </a:xfrm>
        </p:grpSpPr>
        <p:grpSp>
          <p:nvGrpSpPr>
            <p:cNvPr id="124" name="Group 127"/>
            <p:cNvGrpSpPr>
              <a:grpSpLocks/>
            </p:cNvGrpSpPr>
            <p:nvPr userDrawn="1"/>
          </p:nvGrpSpPr>
          <p:grpSpPr bwMode="auto">
            <a:xfrm rot="2362656">
              <a:off x="295" y="3385"/>
              <a:ext cx="408" cy="273"/>
              <a:chOff x="1701" y="527"/>
              <a:chExt cx="498" cy="273"/>
            </a:xfrm>
          </p:grpSpPr>
          <p:grpSp>
            <p:nvGrpSpPr>
              <p:cNvPr id="127" name="Group 128"/>
              <p:cNvGrpSpPr>
                <a:grpSpLocks/>
              </p:cNvGrpSpPr>
              <p:nvPr userDrawn="1"/>
            </p:nvGrpSpPr>
            <p:grpSpPr bwMode="auto">
              <a:xfrm rot="228844">
                <a:off x="1927" y="618"/>
                <a:ext cx="272" cy="90"/>
                <a:chOff x="1927" y="527"/>
                <a:chExt cx="272" cy="90"/>
              </a:xfrm>
            </p:grpSpPr>
            <p:sp>
              <p:nvSpPr>
                <p:cNvPr id="134" name="Oval 129"/>
                <p:cNvSpPr>
                  <a:spLocks noChangeArrowheads="1"/>
                </p:cNvSpPr>
                <p:nvPr userDrawn="1"/>
              </p:nvSpPr>
              <p:spPr bwMode="auto">
                <a:xfrm rot="187092">
                  <a:off x="1872" y="558"/>
                  <a:ext cx="253"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5" name="Oval 130"/>
                <p:cNvSpPr>
                  <a:spLocks noChangeArrowheads="1"/>
                </p:cNvSpPr>
                <p:nvPr userDrawn="1"/>
              </p:nvSpPr>
              <p:spPr bwMode="auto">
                <a:xfrm rot="10143706">
                  <a:off x="1867" y="509"/>
                  <a:ext cx="265"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28" name="Group 131"/>
              <p:cNvGrpSpPr>
                <a:grpSpLocks/>
              </p:cNvGrpSpPr>
              <p:nvPr userDrawn="1"/>
            </p:nvGrpSpPr>
            <p:grpSpPr bwMode="auto">
              <a:xfrm rot="10800000">
                <a:off x="1701" y="618"/>
                <a:ext cx="272" cy="90"/>
                <a:chOff x="1927" y="527"/>
                <a:chExt cx="272" cy="90"/>
              </a:xfrm>
            </p:grpSpPr>
            <p:sp>
              <p:nvSpPr>
                <p:cNvPr id="132" name="Oval 132"/>
                <p:cNvSpPr>
                  <a:spLocks noChangeArrowheads="1"/>
                </p:cNvSpPr>
                <p:nvPr userDrawn="1"/>
              </p:nvSpPr>
              <p:spPr bwMode="auto">
                <a:xfrm rot="187092">
                  <a:off x="2001" y="622"/>
                  <a:ext cx="26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3" name="Oval 133"/>
                <p:cNvSpPr>
                  <a:spLocks noChangeArrowheads="1"/>
                </p:cNvSpPr>
                <p:nvPr userDrawn="1"/>
              </p:nvSpPr>
              <p:spPr bwMode="auto">
                <a:xfrm rot="10143706">
                  <a:off x="2000" y="577"/>
                  <a:ext cx="258"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29" name="Oval 134"/>
              <p:cNvSpPr>
                <a:spLocks noChangeArrowheads="1"/>
              </p:cNvSpPr>
              <p:nvPr userDrawn="1"/>
            </p:nvSpPr>
            <p:spPr bwMode="auto">
              <a:xfrm>
                <a:off x="1916" y="612"/>
                <a:ext cx="42"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0" name="Oval 135"/>
              <p:cNvSpPr>
                <a:spLocks noChangeArrowheads="1"/>
              </p:cNvSpPr>
              <p:nvPr userDrawn="1"/>
            </p:nvSpPr>
            <p:spPr bwMode="auto">
              <a:xfrm>
                <a:off x="1869" y="525"/>
                <a:ext cx="49"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1" name="Oval 136"/>
              <p:cNvSpPr>
                <a:spLocks noChangeArrowheads="1"/>
              </p:cNvSpPr>
              <p:nvPr userDrawn="1"/>
            </p:nvSpPr>
            <p:spPr bwMode="auto">
              <a:xfrm>
                <a:off x="1956" y="517"/>
                <a:ext cx="51"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25" name="Oval 137"/>
            <p:cNvSpPr>
              <a:spLocks noChangeArrowheads="1"/>
            </p:cNvSpPr>
            <p:nvPr userDrawn="1"/>
          </p:nvSpPr>
          <p:spPr bwMode="auto">
            <a:xfrm flipH="1">
              <a:off x="338" y="3655"/>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6" name="Oval 138"/>
            <p:cNvSpPr>
              <a:spLocks noChangeArrowheads="1"/>
            </p:cNvSpPr>
            <p:nvPr userDrawn="1"/>
          </p:nvSpPr>
          <p:spPr bwMode="auto">
            <a:xfrm flipH="1">
              <a:off x="295" y="3702"/>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36" name="Group 139"/>
          <p:cNvGrpSpPr>
            <a:grpSpLocks/>
          </p:cNvGrpSpPr>
          <p:nvPr/>
        </p:nvGrpSpPr>
        <p:grpSpPr bwMode="auto">
          <a:xfrm rot="1304332">
            <a:off x="-647700" y="1341438"/>
            <a:ext cx="647700" cy="539750"/>
            <a:chOff x="295" y="3385"/>
            <a:chExt cx="408" cy="340"/>
          </a:xfrm>
        </p:grpSpPr>
        <p:grpSp>
          <p:nvGrpSpPr>
            <p:cNvPr id="137" name="Group 140"/>
            <p:cNvGrpSpPr>
              <a:grpSpLocks/>
            </p:cNvGrpSpPr>
            <p:nvPr userDrawn="1"/>
          </p:nvGrpSpPr>
          <p:grpSpPr bwMode="auto">
            <a:xfrm rot="2362656">
              <a:off x="295" y="3385"/>
              <a:ext cx="408" cy="273"/>
              <a:chOff x="1701" y="527"/>
              <a:chExt cx="498" cy="273"/>
            </a:xfrm>
          </p:grpSpPr>
          <p:grpSp>
            <p:nvGrpSpPr>
              <p:cNvPr id="140" name="Group 141"/>
              <p:cNvGrpSpPr>
                <a:grpSpLocks/>
              </p:cNvGrpSpPr>
              <p:nvPr userDrawn="1"/>
            </p:nvGrpSpPr>
            <p:grpSpPr bwMode="auto">
              <a:xfrm rot="228844">
                <a:off x="1927" y="618"/>
                <a:ext cx="272" cy="90"/>
                <a:chOff x="1927" y="527"/>
                <a:chExt cx="272" cy="90"/>
              </a:xfrm>
            </p:grpSpPr>
            <p:sp>
              <p:nvSpPr>
                <p:cNvPr id="147" name="Oval 142"/>
                <p:cNvSpPr>
                  <a:spLocks noChangeArrowheads="1"/>
                </p:cNvSpPr>
                <p:nvPr userDrawn="1"/>
              </p:nvSpPr>
              <p:spPr bwMode="auto">
                <a:xfrm rot="187092">
                  <a:off x="1856" y="585"/>
                  <a:ext cx="272" cy="45"/>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8" name="Oval 143"/>
                <p:cNvSpPr>
                  <a:spLocks noChangeArrowheads="1"/>
                </p:cNvSpPr>
                <p:nvPr userDrawn="1"/>
              </p:nvSpPr>
              <p:spPr bwMode="auto">
                <a:xfrm rot="10143706">
                  <a:off x="1857" y="542"/>
                  <a:ext cx="272" cy="45"/>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41" name="Group 144"/>
              <p:cNvGrpSpPr>
                <a:grpSpLocks/>
              </p:cNvGrpSpPr>
              <p:nvPr userDrawn="1"/>
            </p:nvGrpSpPr>
            <p:grpSpPr bwMode="auto">
              <a:xfrm rot="10800000">
                <a:off x="1701" y="618"/>
                <a:ext cx="272" cy="90"/>
                <a:chOff x="1927" y="527"/>
                <a:chExt cx="272" cy="90"/>
              </a:xfrm>
            </p:grpSpPr>
            <p:sp>
              <p:nvSpPr>
                <p:cNvPr id="145" name="Oval 145"/>
                <p:cNvSpPr>
                  <a:spLocks noChangeArrowheads="1"/>
                </p:cNvSpPr>
                <p:nvPr userDrawn="1"/>
              </p:nvSpPr>
              <p:spPr bwMode="auto">
                <a:xfrm rot="187092">
                  <a:off x="1987" y="589"/>
                  <a:ext cx="272" cy="45"/>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6" name="Oval 146"/>
                <p:cNvSpPr>
                  <a:spLocks noChangeArrowheads="1"/>
                </p:cNvSpPr>
                <p:nvPr userDrawn="1"/>
              </p:nvSpPr>
              <p:spPr bwMode="auto">
                <a:xfrm rot="10143706">
                  <a:off x="1987" y="542"/>
                  <a:ext cx="272" cy="45"/>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42" name="Oval 147"/>
              <p:cNvSpPr>
                <a:spLocks noChangeArrowheads="1"/>
              </p:cNvSpPr>
              <p:nvPr userDrawn="1"/>
            </p:nvSpPr>
            <p:spPr bwMode="auto">
              <a:xfrm>
                <a:off x="1889" y="609"/>
                <a:ext cx="45"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3" name="Oval 148"/>
              <p:cNvSpPr>
                <a:spLocks noChangeArrowheads="1"/>
              </p:cNvSpPr>
              <p:nvPr userDrawn="1"/>
            </p:nvSpPr>
            <p:spPr bwMode="auto">
              <a:xfrm>
                <a:off x="1846" y="515"/>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4" name="Oval 149"/>
              <p:cNvSpPr>
                <a:spLocks noChangeArrowheads="1"/>
              </p:cNvSpPr>
              <p:nvPr userDrawn="1"/>
            </p:nvSpPr>
            <p:spPr bwMode="auto">
              <a:xfrm>
                <a:off x="1935" y="515"/>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38" name="Oval 150"/>
            <p:cNvSpPr>
              <a:spLocks noChangeArrowheads="1"/>
            </p:cNvSpPr>
            <p:nvPr userDrawn="1"/>
          </p:nvSpPr>
          <p:spPr bwMode="auto">
            <a:xfrm flipH="1">
              <a:off x="335" y="3656"/>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9" name="Oval 151"/>
            <p:cNvSpPr>
              <a:spLocks noChangeArrowheads="1"/>
            </p:cNvSpPr>
            <p:nvPr userDrawn="1"/>
          </p:nvSpPr>
          <p:spPr bwMode="auto">
            <a:xfrm flipH="1">
              <a:off x="277" y="3690"/>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49" name="Group 152"/>
          <p:cNvGrpSpPr>
            <a:grpSpLocks/>
          </p:cNvGrpSpPr>
          <p:nvPr/>
        </p:nvGrpSpPr>
        <p:grpSpPr bwMode="auto">
          <a:xfrm>
            <a:off x="179388" y="5300663"/>
            <a:ext cx="504825" cy="466725"/>
            <a:chOff x="295" y="3385"/>
            <a:chExt cx="408" cy="340"/>
          </a:xfrm>
        </p:grpSpPr>
        <p:grpSp>
          <p:nvGrpSpPr>
            <p:cNvPr id="150" name="Group 153"/>
            <p:cNvGrpSpPr>
              <a:grpSpLocks/>
            </p:cNvGrpSpPr>
            <p:nvPr userDrawn="1"/>
          </p:nvGrpSpPr>
          <p:grpSpPr bwMode="auto">
            <a:xfrm rot="2362656">
              <a:off x="295" y="3385"/>
              <a:ext cx="408" cy="273"/>
              <a:chOff x="1701" y="527"/>
              <a:chExt cx="498" cy="273"/>
            </a:xfrm>
          </p:grpSpPr>
          <p:grpSp>
            <p:nvGrpSpPr>
              <p:cNvPr id="153" name="Group 154"/>
              <p:cNvGrpSpPr>
                <a:grpSpLocks/>
              </p:cNvGrpSpPr>
              <p:nvPr userDrawn="1"/>
            </p:nvGrpSpPr>
            <p:grpSpPr bwMode="auto">
              <a:xfrm rot="228844">
                <a:off x="1927" y="618"/>
                <a:ext cx="272" cy="90"/>
                <a:chOff x="1927" y="527"/>
                <a:chExt cx="272" cy="90"/>
              </a:xfrm>
            </p:grpSpPr>
            <p:sp>
              <p:nvSpPr>
                <p:cNvPr id="160" name="Oval 155"/>
                <p:cNvSpPr>
                  <a:spLocks noChangeArrowheads="1"/>
                </p:cNvSpPr>
                <p:nvPr userDrawn="1"/>
              </p:nvSpPr>
              <p:spPr bwMode="auto">
                <a:xfrm rot="187092">
                  <a:off x="1863" y="579"/>
                  <a:ext cx="272" cy="42"/>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1" name="Oval 156"/>
                <p:cNvSpPr>
                  <a:spLocks noChangeArrowheads="1"/>
                </p:cNvSpPr>
                <p:nvPr userDrawn="1"/>
              </p:nvSpPr>
              <p:spPr bwMode="auto">
                <a:xfrm rot="10143706">
                  <a:off x="1868" y="531"/>
                  <a:ext cx="272" cy="42"/>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54" name="Group 157"/>
              <p:cNvGrpSpPr>
                <a:grpSpLocks/>
              </p:cNvGrpSpPr>
              <p:nvPr userDrawn="1"/>
            </p:nvGrpSpPr>
            <p:grpSpPr bwMode="auto">
              <a:xfrm rot="10800000">
                <a:off x="1701" y="618"/>
                <a:ext cx="272" cy="90"/>
                <a:chOff x="1927" y="527"/>
                <a:chExt cx="272" cy="90"/>
              </a:xfrm>
            </p:grpSpPr>
            <p:sp>
              <p:nvSpPr>
                <p:cNvPr id="158" name="Oval 158"/>
                <p:cNvSpPr>
                  <a:spLocks noChangeArrowheads="1"/>
                </p:cNvSpPr>
                <p:nvPr userDrawn="1"/>
              </p:nvSpPr>
              <p:spPr bwMode="auto">
                <a:xfrm rot="187092">
                  <a:off x="1953" y="572"/>
                  <a:ext cx="272" cy="35"/>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9" name="Oval 159"/>
                <p:cNvSpPr>
                  <a:spLocks noChangeArrowheads="1"/>
                </p:cNvSpPr>
                <p:nvPr userDrawn="1"/>
              </p:nvSpPr>
              <p:spPr bwMode="auto">
                <a:xfrm rot="10143706">
                  <a:off x="1937" y="526"/>
                  <a:ext cx="272" cy="44"/>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55" name="Oval 160"/>
              <p:cNvSpPr>
                <a:spLocks noChangeArrowheads="1"/>
              </p:cNvSpPr>
              <p:nvPr userDrawn="1"/>
            </p:nvSpPr>
            <p:spPr bwMode="auto">
              <a:xfrm>
                <a:off x="1918" y="619"/>
                <a:ext cx="47" cy="183"/>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6" name="Oval 161"/>
              <p:cNvSpPr>
                <a:spLocks noChangeArrowheads="1"/>
              </p:cNvSpPr>
              <p:nvPr userDrawn="1"/>
            </p:nvSpPr>
            <p:spPr bwMode="auto">
              <a:xfrm>
                <a:off x="1876" y="528"/>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7" name="Oval 162"/>
              <p:cNvSpPr>
                <a:spLocks noChangeArrowheads="1"/>
              </p:cNvSpPr>
              <p:nvPr userDrawn="1"/>
            </p:nvSpPr>
            <p:spPr bwMode="auto">
              <a:xfrm>
                <a:off x="1970" y="528"/>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51" name="Oval 163"/>
            <p:cNvSpPr>
              <a:spLocks noChangeArrowheads="1"/>
            </p:cNvSpPr>
            <p:nvPr userDrawn="1"/>
          </p:nvSpPr>
          <p:spPr bwMode="auto">
            <a:xfrm flipH="1">
              <a:off x="340" y="3657"/>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2" name="Oval 164"/>
            <p:cNvSpPr>
              <a:spLocks noChangeArrowheads="1"/>
            </p:cNvSpPr>
            <p:nvPr userDrawn="1"/>
          </p:nvSpPr>
          <p:spPr bwMode="auto">
            <a:xfrm flipH="1">
              <a:off x="295"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62" name="Group 165"/>
          <p:cNvGrpSpPr>
            <a:grpSpLocks/>
          </p:cNvGrpSpPr>
          <p:nvPr/>
        </p:nvGrpSpPr>
        <p:grpSpPr bwMode="auto">
          <a:xfrm rot="-2197408">
            <a:off x="8172450" y="5157788"/>
            <a:ext cx="511175" cy="322262"/>
            <a:chOff x="295" y="3385"/>
            <a:chExt cx="408" cy="340"/>
          </a:xfrm>
        </p:grpSpPr>
        <p:grpSp>
          <p:nvGrpSpPr>
            <p:cNvPr id="163" name="Group 166"/>
            <p:cNvGrpSpPr>
              <a:grpSpLocks/>
            </p:cNvGrpSpPr>
            <p:nvPr userDrawn="1"/>
          </p:nvGrpSpPr>
          <p:grpSpPr bwMode="auto">
            <a:xfrm rot="2362656">
              <a:off x="295" y="3385"/>
              <a:ext cx="408" cy="273"/>
              <a:chOff x="1701" y="527"/>
              <a:chExt cx="498" cy="273"/>
            </a:xfrm>
          </p:grpSpPr>
          <p:grpSp>
            <p:nvGrpSpPr>
              <p:cNvPr id="166" name="Group 167"/>
              <p:cNvGrpSpPr>
                <a:grpSpLocks/>
              </p:cNvGrpSpPr>
              <p:nvPr userDrawn="1"/>
            </p:nvGrpSpPr>
            <p:grpSpPr bwMode="auto">
              <a:xfrm rot="228844">
                <a:off x="1927" y="618"/>
                <a:ext cx="272" cy="90"/>
                <a:chOff x="1927" y="527"/>
                <a:chExt cx="272" cy="90"/>
              </a:xfrm>
            </p:grpSpPr>
            <p:sp>
              <p:nvSpPr>
                <p:cNvPr id="173" name="Oval 168"/>
                <p:cNvSpPr>
                  <a:spLocks noChangeArrowheads="1"/>
                </p:cNvSpPr>
                <p:nvPr userDrawn="1"/>
              </p:nvSpPr>
              <p:spPr bwMode="auto">
                <a:xfrm rot="187092">
                  <a:off x="1874" y="507"/>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4" name="Oval 169"/>
                <p:cNvSpPr>
                  <a:spLocks noChangeArrowheads="1"/>
                </p:cNvSpPr>
                <p:nvPr userDrawn="1"/>
              </p:nvSpPr>
              <p:spPr bwMode="auto">
                <a:xfrm rot="10143706">
                  <a:off x="1871" y="467"/>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67" name="Group 170"/>
              <p:cNvGrpSpPr>
                <a:grpSpLocks/>
              </p:cNvGrpSpPr>
              <p:nvPr userDrawn="1"/>
            </p:nvGrpSpPr>
            <p:grpSpPr bwMode="auto">
              <a:xfrm rot="10800000">
                <a:off x="1701" y="618"/>
                <a:ext cx="272" cy="90"/>
                <a:chOff x="1927" y="527"/>
                <a:chExt cx="272" cy="90"/>
              </a:xfrm>
            </p:grpSpPr>
            <p:sp>
              <p:nvSpPr>
                <p:cNvPr id="171" name="Oval 171"/>
                <p:cNvSpPr>
                  <a:spLocks noChangeArrowheads="1"/>
                </p:cNvSpPr>
                <p:nvPr userDrawn="1"/>
              </p:nvSpPr>
              <p:spPr bwMode="auto">
                <a:xfrm rot="187092">
                  <a:off x="1944" y="661"/>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2" name="Oval 172"/>
                <p:cNvSpPr>
                  <a:spLocks noChangeArrowheads="1"/>
                </p:cNvSpPr>
                <p:nvPr userDrawn="1"/>
              </p:nvSpPr>
              <p:spPr bwMode="auto">
                <a:xfrm rot="10143706">
                  <a:off x="1944" y="619"/>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68" name="Oval 173"/>
              <p:cNvSpPr>
                <a:spLocks noChangeArrowheads="1"/>
              </p:cNvSpPr>
              <p:nvPr userDrawn="1"/>
            </p:nvSpPr>
            <p:spPr bwMode="auto">
              <a:xfrm>
                <a:off x="1913" y="568"/>
                <a:ext cx="45" cy="184"/>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9" name="Oval 174"/>
              <p:cNvSpPr>
                <a:spLocks noChangeArrowheads="1"/>
              </p:cNvSpPr>
              <p:nvPr userDrawn="1"/>
            </p:nvSpPr>
            <p:spPr bwMode="auto">
              <a:xfrm>
                <a:off x="1866" y="488"/>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0" name="Oval 175"/>
              <p:cNvSpPr>
                <a:spLocks noChangeArrowheads="1"/>
              </p:cNvSpPr>
              <p:nvPr userDrawn="1"/>
            </p:nvSpPr>
            <p:spPr bwMode="auto">
              <a:xfrm>
                <a:off x="1962" y="490"/>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64" name="Oval 176"/>
            <p:cNvSpPr>
              <a:spLocks noChangeArrowheads="1"/>
            </p:cNvSpPr>
            <p:nvPr userDrawn="1"/>
          </p:nvSpPr>
          <p:spPr bwMode="auto">
            <a:xfrm flipH="1">
              <a:off x="340" y="3654"/>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5" name="Oval 177"/>
            <p:cNvSpPr>
              <a:spLocks noChangeArrowheads="1"/>
            </p:cNvSpPr>
            <p:nvPr userDrawn="1"/>
          </p:nvSpPr>
          <p:spPr bwMode="auto">
            <a:xfrm flipH="1">
              <a:off x="295" y="3701"/>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75" name="Group 178"/>
          <p:cNvGrpSpPr>
            <a:grpSpLocks/>
          </p:cNvGrpSpPr>
          <p:nvPr/>
        </p:nvGrpSpPr>
        <p:grpSpPr bwMode="auto">
          <a:xfrm>
            <a:off x="6156325" y="5734050"/>
            <a:ext cx="576263" cy="466725"/>
            <a:chOff x="295" y="3385"/>
            <a:chExt cx="408" cy="340"/>
          </a:xfrm>
        </p:grpSpPr>
        <p:grpSp>
          <p:nvGrpSpPr>
            <p:cNvPr id="176" name="Group 179"/>
            <p:cNvGrpSpPr>
              <a:grpSpLocks/>
            </p:cNvGrpSpPr>
            <p:nvPr userDrawn="1"/>
          </p:nvGrpSpPr>
          <p:grpSpPr bwMode="auto">
            <a:xfrm rot="2362656">
              <a:off x="295" y="3385"/>
              <a:ext cx="408" cy="273"/>
              <a:chOff x="1701" y="527"/>
              <a:chExt cx="498" cy="273"/>
            </a:xfrm>
          </p:grpSpPr>
          <p:grpSp>
            <p:nvGrpSpPr>
              <p:cNvPr id="179" name="Group 180"/>
              <p:cNvGrpSpPr>
                <a:grpSpLocks/>
              </p:cNvGrpSpPr>
              <p:nvPr userDrawn="1"/>
            </p:nvGrpSpPr>
            <p:grpSpPr bwMode="auto">
              <a:xfrm rot="228844">
                <a:off x="1927" y="618"/>
                <a:ext cx="272" cy="90"/>
                <a:chOff x="1927" y="527"/>
                <a:chExt cx="272" cy="90"/>
              </a:xfrm>
            </p:grpSpPr>
            <p:sp>
              <p:nvSpPr>
                <p:cNvPr id="186" name="Oval 181"/>
                <p:cNvSpPr>
                  <a:spLocks noChangeArrowheads="1"/>
                </p:cNvSpPr>
                <p:nvPr userDrawn="1"/>
              </p:nvSpPr>
              <p:spPr bwMode="auto">
                <a:xfrm rot="187092">
                  <a:off x="1921" y="573"/>
                  <a:ext cx="272" cy="43"/>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7" name="Oval 182"/>
                <p:cNvSpPr>
                  <a:spLocks noChangeArrowheads="1"/>
                </p:cNvSpPr>
                <p:nvPr userDrawn="1"/>
              </p:nvSpPr>
              <p:spPr bwMode="auto">
                <a:xfrm rot="10143706">
                  <a:off x="1897" y="530"/>
                  <a:ext cx="272" cy="42"/>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0" name="Group 183"/>
              <p:cNvGrpSpPr>
                <a:grpSpLocks/>
              </p:cNvGrpSpPr>
              <p:nvPr userDrawn="1"/>
            </p:nvGrpSpPr>
            <p:grpSpPr bwMode="auto">
              <a:xfrm rot="10800000">
                <a:off x="1701" y="618"/>
                <a:ext cx="272" cy="90"/>
                <a:chOff x="1927" y="527"/>
                <a:chExt cx="272" cy="90"/>
              </a:xfrm>
            </p:grpSpPr>
            <p:sp>
              <p:nvSpPr>
                <p:cNvPr id="184" name="Oval 184"/>
                <p:cNvSpPr>
                  <a:spLocks noChangeArrowheads="1"/>
                </p:cNvSpPr>
                <p:nvPr userDrawn="1"/>
              </p:nvSpPr>
              <p:spPr bwMode="auto">
                <a:xfrm rot="187092">
                  <a:off x="1975" y="573"/>
                  <a:ext cx="272" cy="34"/>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5" name="Oval 185"/>
                <p:cNvSpPr>
                  <a:spLocks noChangeArrowheads="1"/>
                </p:cNvSpPr>
                <p:nvPr userDrawn="1"/>
              </p:nvSpPr>
              <p:spPr bwMode="auto">
                <a:xfrm rot="10143706">
                  <a:off x="1978" y="523"/>
                  <a:ext cx="272" cy="42"/>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81" name="Oval 186"/>
              <p:cNvSpPr>
                <a:spLocks noChangeArrowheads="1"/>
              </p:cNvSpPr>
              <p:nvPr userDrawn="1"/>
            </p:nvSpPr>
            <p:spPr bwMode="auto">
              <a:xfrm>
                <a:off x="1924" y="618"/>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2" name="Oval 187"/>
              <p:cNvSpPr>
                <a:spLocks noChangeArrowheads="1"/>
              </p:cNvSpPr>
              <p:nvPr userDrawn="1"/>
            </p:nvSpPr>
            <p:spPr bwMode="auto">
              <a:xfrm>
                <a:off x="1879" y="527"/>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3" name="Oval 188"/>
              <p:cNvSpPr>
                <a:spLocks noChangeArrowheads="1"/>
              </p:cNvSpPr>
              <p:nvPr userDrawn="1"/>
            </p:nvSpPr>
            <p:spPr bwMode="auto">
              <a:xfrm>
                <a:off x="1960" y="523"/>
                <a:ext cx="45" cy="44"/>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77" name="Oval 189"/>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8" name="Oval 190"/>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8" name="Group 191"/>
          <p:cNvGrpSpPr>
            <a:grpSpLocks/>
          </p:cNvGrpSpPr>
          <p:nvPr/>
        </p:nvGrpSpPr>
        <p:grpSpPr bwMode="auto">
          <a:xfrm rot="1401958">
            <a:off x="6372225" y="5957888"/>
            <a:ext cx="503238" cy="1800225"/>
            <a:chOff x="3470" y="572"/>
            <a:chExt cx="317" cy="1134"/>
          </a:xfrm>
        </p:grpSpPr>
        <p:sp>
          <p:nvSpPr>
            <p:cNvPr id="189" name="Arc 192"/>
            <p:cNvSpPr>
              <a:spLocks/>
            </p:cNvSpPr>
            <p:nvPr userDrawn="1"/>
          </p:nvSpPr>
          <p:spPr bwMode="auto">
            <a:xfrm>
              <a:off x="3506" y="697"/>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a:ea typeface="新細明體"/>
                <a:cs typeface="+mn-cs"/>
              </a:endParaRPr>
            </a:p>
          </p:txBody>
        </p:sp>
        <p:sp>
          <p:nvSpPr>
            <p:cNvPr id="190" name="Oval 193"/>
            <p:cNvSpPr>
              <a:spLocks noChangeArrowheads="1"/>
            </p:cNvSpPr>
            <p:nvPr userDrawn="1"/>
          </p:nvSpPr>
          <p:spPr bwMode="auto">
            <a:xfrm rot="-3515713">
              <a:off x="3535" y="784"/>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1" name="Oval 194"/>
            <p:cNvSpPr>
              <a:spLocks noChangeArrowheads="1"/>
            </p:cNvSpPr>
            <p:nvPr userDrawn="1"/>
          </p:nvSpPr>
          <p:spPr bwMode="auto">
            <a:xfrm rot="-1615679">
              <a:off x="3467" y="696"/>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2" name="Oval 195"/>
            <p:cNvSpPr>
              <a:spLocks noChangeArrowheads="1"/>
            </p:cNvSpPr>
            <p:nvPr userDrawn="1"/>
          </p:nvSpPr>
          <p:spPr bwMode="auto">
            <a:xfrm rot="6199228">
              <a:off x="3535"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3" name="Oval 196"/>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4" name="Oval 197"/>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5" name="Oval 198"/>
            <p:cNvSpPr>
              <a:spLocks noChangeArrowheads="1"/>
            </p:cNvSpPr>
            <p:nvPr userDrawn="1"/>
          </p:nvSpPr>
          <p:spPr bwMode="auto">
            <a:xfrm rot="-4126769">
              <a:off x="3481" y="745"/>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6" name="Oval 199"/>
            <p:cNvSpPr>
              <a:spLocks noChangeArrowheads="1"/>
            </p:cNvSpPr>
            <p:nvPr userDrawn="1"/>
          </p:nvSpPr>
          <p:spPr bwMode="auto">
            <a:xfrm rot="-2624767">
              <a:off x="3578" y="653"/>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7" name="Oval 200"/>
            <p:cNvSpPr>
              <a:spLocks noChangeArrowheads="1"/>
            </p:cNvSpPr>
            <p:nvPr userDrawn="1"/>
          </p:nvSpPr>
          <p:spPr bwMode="auto">
            <a:xfrm rot="-5400000">
              <a:off x="3555" y="828"/>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8" name="Oval 201"/>
            <p:cNvSpPr>
              <a:spLocks noChangeArrowheads="1"/>
            </p:cNvSpPr>
            <p:nvPr userDrawn="1"/>
          </p:nvSpPr>
          <p:spPr bwMode="auto">
            <a:xfrm rot="-1495776">
              <a:off x="3616"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99" name="Group 202"/>
          <p:cNvGrpSpPr>
            <a:grpSpLocks/>
          </p:cNvGrpSpPr>
          <p:nvPr/>
        </p:nvGrpSpPr>
        <p:grpSpPr bwMode="auto">
          <a:xfrm flipH="1">
            <a:off x="1692275" y="6453188"/>
            <a:ext cx="503238" cy="1800225"/>
            <a:chOff x="3470" y="572"/>
            <a:chExt cx="317" cy="1134"/>
          </a:xfrm>
        </p:grpSpPr>
        <p:sp>
          <p:nvSpPr>
            <p:cNvPr id="200" name="Arc 203"/>
            <p:cNvSpPr>
              <a:spLocks/>
            </p:cNvSpPr>
            <p:nvPr userDrawn="1"/>
          </p:nvSpPr>
          <p:spPr bwMode="auto">
            <a:xfrm>
              <a:off x="3507" y="698"/>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a:ea typeface="新細明體"/>
                <a:cs typeface="+mn-cs"/>
              </a:endParaRPr>
            </a:p>
          </p:txBody>
        </p:sp>
        <p:sp>
          <p:nvSpPr>
            <p:cNvPr id="201" name="Oval 204"/>
            <p:cNvSpPr>
              <a:spLocks noChangeArrowheads="1"/>
            </p:cNvSpPr>
            <p:nvPr userDrawn="1"/>
          </p:nvSpPr>
          <p:spPr bwMode="auto">
            <a:xfrm rot="-3515713">
              <a:off x="3536" y="785"/>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2" name="Oval 205"/>
            <p:cNvSpPr>
              <a:spLocks noChangeArrowheads="1"/>
            </p:cNvSpPr>
            <p:nvPr userDrawn="1"/>
          </p:nvSpPr>
          <p:spPr bwMode="auto">
            <a:xfrm rot="-1615679">
              <a:off x="3470"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3" name="Oval 206"/>
            <p:cNvSpPr>
              <a:spLocks noChangeArrowheads="1"/>
            </p:cNvSpPr>
            <p:nvPr userDrawn="1"/>
          </p:nvSpPr>
          <p:spPr bwMode="auto">
            <a:xfrm rot="6199228">
              <a:off x="3536"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4" name="Oval 207"/>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5" name="Oval 208"/>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6" name="Oval 209"/>
            <p:cNvSpPr>
              <a:spLocks noChangeArrowheads="1"/>
            </p:cNvSpPr>
            <p:nvPr userDrawn="1"/>
          </p:nvSpPr>
          <p:spPr bwMode="auto">
            <a:xfrm rot="-4126769">
              <a:off x="3499" y="743"/>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7" name="Oval 210"/>
            <p:cNvSpPr>
              <a:spLocks noChangeArrowheads="1"/>
            </p:cNvSpPr>
            <p:nvPr userDrawn="1"/>
          </p:nvSpPr>
          <p:spPr bwMode="auto">
            <a:xfrm rot="-2624767">
              <a:off x="3581"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8" name="Oval 211"/>
            <p:cNvSpPr>
              <a:spLocks noChangeArrowheads="1"/>
            </p:cNvSpPr>
            <p:nvPr userDrawn="1"/>
          </p:nvSpPr>
          <p:spPr bwMode="auto">
            <a:xfrm rot="-5400000">
              <a:off x="3572" y="825"/>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9" name="Oval 212"/>
            <p:cNvSpPr>
              <a:spLocks noChangeArrowheads="1"/>
            </p:cNvSpPr>
            <p:nvPr userDrawn="1"/>
          </p:nvSpPr>
          <p:spPr bwMode="auto">
            <a:xfrm rot="-1495776">
              <a:off x="3617"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0" name="Group 213"/>
          <p:cNvGrpSpPr>
            <a:grpSpLocks/>
          </p:cNvGrpSpPr>
          <p:nvPr/>
        </p:nvGrpSpPr>
        <p:grpSpPr bwMode="auto">
          <a:xfrm rot="538637">
            <a:off x="7308850" y="5516563"/>
            <a:ext cx="815975" cy="2030412"/>
            <a:chOff x="4377" y="300"/>
            <a:chExt cx="514" cy="1279"/>
          </a:xfrm>
        </p:grpSpPr>
        <p:sp>
          <p:nvSpPr>
            <p:cNvPr id="211" name="Arc 214"/>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a:ea typeface="新細明體"/>
                <a:cs typeface="+mn-cs"/>
              </a:endParaRPr>
            </a:p>
          </p:txBody>
        </p:sp>
        <p:sp>
          <p:nvSpPr>
            <p:cNvPr id="212" name="Oval 215"/>
            <p:cNvSpPr>
              <a:spLocks noChangeArrowheads="1"/>
            </p:cNvSpPr>
            <p:nvPr userDrawn="1"/>
          </p:nvSpPr>
          <p:spPr bwMode="auto">
            <a:xfrm rot="-3515713">
              <a:off x="4454" y="546"/>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3" name="Oval 216"/>
            <p:cNvSpPr>
              <a:spLocks noChangeArrowheads="1"/>
            </p:cNvSpPr>
            <p:nvPr userDrawn="1"/>
          </p:nvSpPr>
          <p:spPr bwMode="auto">
            <a:xfrm rot="-1615679">
              <a:off x="4362" y="444"/>
              <a:ext cx="143"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4" name="Oval 217"/>
            <p:cNvSpPr>
              <a:spLocks noChangeArrowheads="1"/>
            </p:cNvSpPr>
            <p:nvPr userDrawn="1"/>
          </p:nvSpPr>
          <p:spPr bwMode="auto">
            <a:xfrm rot="6199228">
              <a:off x="4454" y="342"/>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5" name="Oval 218"/>
            <p:cNvSpPr>
              <a:spLocks noChangeArrowheads="1"/>
            </p:cNvSpPr>
            <p:nvPr userDrawn="1"/>
          </p:nvSpPr>
          <p:spPr bwMode="auto">
            <a:xfrm>
              <a:off x="4602" y="490"/>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6" name="Oval 219"/>
            <p:cNvSpPr>
              <a:spLocks noChangeArrowheads="1"/>
            </p:cNvSpPr>
            <p:nvPr userDrawn="1"/>
          </p:nvSpPr>
          <p:spPr bwMode="auto">
            <a:xfrm rot="-4126769">
              <a:off x="4419" y="485"/>
              <a:ext cx="151" cy="48"/>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7" name="Oval 220"/>
            <p:cNvSpPr>
              <a:spLocks noChangeArrowheads="1"/>
            </p:cNvSpPr>
            <p:nvPr userDrawn="1"/>
          </p:nvSpPr>
          <p:spPr bwMode="auto">
            <a:xfrm rot="-2624767">
              <a:off x="4508" y="390"/>
              <a:ext cx="142"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8" name="Oval 221"/>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9" name="Oval 222"/>
            <p:cNvSpPr>
              <a:spLocks noChangeArrowheads="1"/>
            </p:cNvSpPr>
            <p:nvPr userDrawn="1"/>
          </p:nvSpPr>
          <p:spPr bwMode="auto">
            <a:xfrm rot="-1495776">
              <a:off x="4567" y="451"/>
              <a:ext cx="142"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0" name="Oval 223"/>
            <p:cNvSpPr>
              <a:spLocks noChangeArrowheads="1"/>
            </p:cNvSpPr>
            <p:nvPr userDrawn="1"/>
          </p:nvSpPr>
          <p:spPr bwMode="auto">
            <a:xfrm rot="-2742706">
              <a:off x="4546" y="667"/>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1" name="Oval 224"/>
            <p:cNvSpPr>
              <a:spLocks noChangeArrowheads="1"/>
            </p:cNvSpPr>
            <p:nvPr userDrawn="1"/>
          </p:nvSpPr>
          <p:spPr bwMode="auto">
            <a:xfrm rot="-2742706">
              <a:off x="4582" y="709"/>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2" name="Oval 225"/>
            <p:cNvSpPr>
              <a:spLocks noChangeArrowheads="1"/>
            </p:cNvSpPr>
            <p:nvPr userDrawn="1"/>
          </p:nvSpPr>
          <p:spPr bwMode="auto">
            <a:xfrm rot="1036516">
              <a:off x="4740" y="754"/>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3" name="Oval 226"/>
            <p:cNvSpPr>
              <a:spLocks noChangeArrowheads="1"/>
            </p:cNvSpPr>
            <p:nvPr userDrawn="1"/>
          </p:nvSpPr>
          <p:spPr bwMode="auto">
            <a:xfrm rot="403513">
              <a:off x="4630" y="567"/>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4" name="Oval 227"/>
            <p:cNvSpPr>
              <a:spLocks noChangeArrowheads="1"/>
            </p:cNvSpPr>
            <p:nvPr userDrawn="1"/>
          </p:nvSpPr>
          <p:spPr bwMode="auto">
            <a:xfrm rot="347087">
              <a:off x="4682" y="652"/>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5" name="Oval 228"/>
            <p:cNvSpPr>
              <a:spLocks noChangeArrowheads="1"/>
            </p:cNvSpPr>
            <p:nvPr userDrawn="1"/>
          </p:nvSpPr>
          <p:spPr bwMode="auto">
            <a:xfrm rot="-2685850">
              <a:off x="4642" y="792"/>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26" name="AutoShape 229"/>
          <p:cNvSpPr>
            <a:spLocks noChangeArrowheads="1"/>
          </p:cNvSpPr>
          <p:nvPr/>
        </p:nvSpPr>
        <p:spPr bwMode="auto">
          <a:xfrm rot="19980577">
            <a:off x="7091363" y="7051675"/>
            <a:ext cx="360362" cy="908050"/>
          </a:xfrm>
          <a:prstGeom prst="moon">
            <a:avLst>
              <a:gd name="adj" fmla="val 0"/>
            </a:avLst>
          </a:prstGeom>
          <a:gradFill rotWithShape="1">
            <a:gsLst>
              <a:gs pos="0">
                <a:schemeClr val="folHlink"/>
              </a:gs>
              <a:gs pos="100000">
                <a:schemeClr val="folHlink">
                  <a:gamma/>
                  <a:shade val="46275"/>
                  <a:invGamma/>
                </a:schemeClr>
              </a:gs>
            </a:gsLst>
            <a:lin ang="5400000" scaled="1"/>
          </a:gradFill>
          <a:ln>
            <a:noFill/>
          </a:ln>
          <a:effectLst>
            <a:prstShdw prst="shdw17" dist="17961" dir="2700000">
              <a:schemeClr val="folHlink">
                <a:gamma/>
                <a:shade val="60000"/>
                <a:invGamma/>
              </a:schemeClr>
            </a:prstShdw>
          </a:effectLs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grpSp>
        <p:nvGrpSpPr>
          <p:cNvPr id="227" name="Group 230"/>
          <p:cNvGrpSpPr>
            <a:grpSpLocks/>
          </p:cNvGrpSpPr>
          <p:nvPr/>
        </p:nvGrpSpPr>
        <p:grpSpPr bwMode="auto">
          <a:xfrm rot="-4249260">
            <a:off x="731838" y="3994150"/>
            <a:ext cx="503238" cy="503237"/>
            <a:chOff x="295" y="3385"/>
            <a:chExt cx="408" cy="340"/>
          </a:xfrm>
        </p:grpSpPr>
        <p:grpSp>
          <p:nvGrpSpPr>
            <p:cNvPr id="228" name="Group 231"/>
            <p:cNvGrpSpPr>
              <a:grpSpLocks/>
            </p:cNvGrpSpPr>
            <p:nvPr userDrawn="1"/>
          </p:nvGrpSpPr>
          <p:grpSpPr bwMode="auto">
            <a:xfrm rot="2362656">
              <a:off x="295" y="3385"/>
              <a:ext cx="408" cy="273"/>
              <a:chOff x="1701" y="527"/>
              <a:chExt cx="498" cy="273"/>
            </a:xfrm>
          </p:grpSpPr>
          <p:grpSp>
            <p:nvGrpSpPr>
              <p:cNvPr id="231" name="Group 232"/>
              <p:cNvGrpSpPr>
                <a:grpSpLocks/>
              </p:cNvGrpSpPr>
              <p:nvPr userDrawn="1"/>
            </p:nvGrpSpPr>
            <p:grpSpPr bwMode="auto">
              <a:xfrm rot="228844">
                <a:off x="1927" y="618"/>
                <a:ext cx="272" cy="90"/>
                <a:chOff x="1927" y="527"/>
                <a:chExt cx="272" cy="90"/>
              </a:xfrm>
            </p:grpSpPr>
            <p:sp>
              <p:nvSpPr>
                <p:cNvPr id="238" name="Oval 233"/>
                <p:cNvSpPr>
                  <a:spLocks noChangeArrowheads="1"/>
                </p:cNvSpPr>
                <p:nvPr userDrawn="1"/>
              </p:nvSpPr>
              <p:spPr bwMode="auto">
                <a:xfrm rot="187092">
                  <a:off x="1902" y="521"/>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9" name="Oval 234"/>
                <p:cNvSpPr>
                  <a:spLocks noChangeArrowheads="1"/>
                </p:cNvSpPr>
                <p:nvPr userDrawn="1"/>
              </p:nvSpPr>
              <p:spPr bwMode="auto">
                <a:xfrm rot="10143706">
                  <a:off x="1903" y="475"/>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32" name="Group 235"/>
              <p:cNvGrpSpPr>
                <a:grpSpLocks/>
              </p:cNvGrpSpPr>
              <p:nvPr userDrawn="1"/>
            </p:nvGrpSpPr>
            <p:grpSpPr bwMode="auto">
              <a:xfrm rot="10800000">
                <a:off x="1701" y="618"/>
                <a:ext cx="272" cy="90"/>
                <a:chOff x="1927" y="527"/>
                <a:chExt cx="272" cy="90"/>
              </a:xfrm>
            </p:grpSpPr>
            <p:sp>
              <p:nvSpPr>
                <p:cNvPr id="236" name="Oval 236"/>
                <p:cNvSpPr>
                  <a:spLocks noChangeArrowheads="1"/>
                </p:cNvSpPr>
                <p:nvPr userDrawn="1"/>
              </p:nvSpPr>
              <p:spPr bwMode="auto">
                <a:xfrm rot="187092">
                  <a:off x="1933" y="617"/>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7" name="Oval 237"/>
                <p:cNvSpPr>
                  <a:spLocks noChangeArrowheads="1"/>
                </p:cNvSpPr>
                <p:nvPr userDrawn="1"/>
              </p:nvSpPr>
              <p:spPr bwMode="auto">
                <a:xfrm rot="10143706">
                  <a:off x="1933" y="571"/>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33" name="Oval 238"/>
              <p:cNvSpPr>
                <a:spLocks noChangeArrowheads="1"/>
              </p:cNvSpPr>
              <p:nvPr userDrawn="1"/>
            </p:nvSpPr>
            <p:spPr bwMode="auto">
              <a:xfrm>
                <a:off x="1912" y="591"/>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4" name="Oval 239"/>
              <p:cNvSpPr>
                <a:spLocks noChangeArrowheads="1"/>
              </p:cNvSpPr>
              <p:nvPr userDrawn="1"/>
            </p:nvSpPr>
            <p:spPr bwMode="auto">
              <a:xfrm>
                <a:off x="1882" y="491"/>
                <a:ext cx="46"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5" name="Oval 240"/>
              <p:cNvSpPr>
                <a:spLocks noChangeArrowheads="1"/>
              </p:cNvSpPr>
              <p:nvPr userDrawn="1"/>
            </p:nvSpPr>
            <p:spPr bwMode="auto">
              <a:xfrm>
                <a:off x="1969" y="491"/>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29" name="Oval 241"/>
            <p:cNvSpPr>
              <a:spLocks noChangeArrowheads="1"/>
            </p:cNvSpPr>
            <p:nvPr userDrawn="1"/>
          </p:nvSpPr>
          <p:spPr bwMode="auto">
            <a:xfrm flipH="1">
              <a:off x="334" y="3658"/>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0" name="Oval 242"/>
            <p:cNvSpPr>
              <a:spLocks noChangeArrowheads="1"/>
            </p:cNvSpPr>
            <p:nvPr userDrawn="1"/>
          </p:nvSpPr>
          <p:spPr bwMode="auto">
            <a:xfrm flipH="1">
              <a:off x="287"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8754" name="Rectangle 82"/>
          <p:cNvSpPr>
            <a:spLocks noGrp="1" noChangeArrowheads="1"/>
          </p:cNvSpPr>
          <p:nvPr>
            <p:ph type="ctrTitle"/>
          </p:nvPr>
        </p:nvSpPr>
        <p:spPr>
          <a:xfrm>
            <a:off x="685800" y="2130425"/>
            <a:ext cx="7772400" cy="1470025"/>
          </a:xfrm>
        </p:spPr>
        <p:txBody>
          <a:bodyPr/>
          <a:lstStyle>
            <a:lvl1pPr>
              <a:defRPr/>
            </a:lvl1pPr>
          </a:lstStyle>
          <a:p>
            <a:pPr lvl="0"/>
            <a:r>
              <a:rPr lang="zh-TW" altLang="en-US" noProof="0" smtClean="0"/>
              <a:t>按一下以編輯母片標題樣式</a:t>
            </a:r>
          </a:p>
        </p:txBody>
      </p:sp>
      <p:sp>
        <p:nvSpPr>
          <p:cNvPr id="28755" name="Rectangle 83"/>
          <p:cNvSpPr>
            <a:spLocks noGrp="1" noChangeArrowheads="1"/>
          </p:cNvSpPr>
          <p:nvPr>
            <p:ph type="subTitle" idx="1"/>
          </p:nvPr>
        </p:nvSpPr>
        <p:spPr>
          <a:xfrm>
            <a:off x="1371600" y="3886200"/>
            <a:ext cx="6400800" cy="1752600"/>
          </a:xfrm>
        </p:spPr>
        <p:txBody>
          <a:bodyPr/>
          <a:lstStyle>
            <a:lvl1pPr marL="0" indent="0" algn="ctr">
              <a:buFontTx/>
              <a:buNone/>
              <a:defRPr/>
            </a:lvl1pPr>
          </a:lstStyle>
          <a:p>
            <a:pPr lvl="0"/>
            <a:r>
              <a:rPr lang="zh-TW" altLang="en-US" noProof="0" smtClean="0"/>
              <a:t>按一下以編輯母片副標題樣式</a:t>
            </a:r>
          </a:p>
        </p:txBody>
      </p:sp>
      <p:sp>
        <p:nvSpPr>
          <p:cNvPr id="240" name="Rectangle 84"/>
          <p:cNvSpPr>
            <a:spLocks noGrp="1" noChangeArrowheads="1"/>
          </p:cNvSpPr>
          <p:nvPr>
            <p:ph type="dt" sz="half" idx="10"/>
          </p:nvPr>
        </p:nvSpPr>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241" name="Rectangle 85"/>
          <p:cNvSpPr>
            <a:spLocks noGrp="1" noChangeArrowheads="1"/>
          </p:cNvSpPr>
          <p:nvPr>
            <p:ph type="ftr" sz="quarter" idx="11"/>
          </p:nvPr>
        </p:nvSpPr>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242" name="Rectangle 86"/>
          <p:cNvSpPr>
            <a:spLocks noGrp="1" noChangeArrowheads="1"/>
          </p:cNvSpPr>
          <p:nvPr>
            <p:ph type="sldNum" sz="quarter" idx="12"/>
          </p:nvPr>
        </p:nvSpPr>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A34B44A-236A-474E-95C1-6B75BF4311D7}"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84489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mph" presetSubtype="0" repeatCount="indefinite" fill="hold" nodeType="withEffect">
                                  <p:stCondLst>
                                    <p:cond delay="0"/>
                                  </p:stCondLst>
                                  <p:childTnLst>
                                    <p:animEffect transition="out" filter="fade">
                                      <p:cBhvr>
                                        <p:cTn id="6" dur="500" tmFilter="0, 0; .2, .5; .8, .5; 1, 0"/>
                                        <p:tgtEl>
                                          <p:spTgt spid="110"/>
                                        </p:tgtEl>
                                      </p:cBhvr>
                                    </p:animEffect>
                                    <p:animScale>
                                      <p:cBhvr>
                                        <p:cTn id="7" dur="250" autoRev="1" fill="hold"/>
                                        <p:tgtEl>
                                          <p:spTgt spid="110"/>
                                        </p:tgtEl>
                                      </p:cBhvr>
                                      <p:by x="105000" y="105000"/>
                                    </p:animScale>
                                  </p:childTnLst>
                                </p:cTn>
                              </p:par>
                              <p:par>
                                <p:cTn id="8" presetID="26" presetClass="emph" presetSubtype="0" repeatCount="indefinite" fill="hold" nodeType="withEffect">
                                  <p:stCondLst>
                                    <p:cond delay="0"/>
                                  </p:stCondLst>
                                  <p:childTnLst>
                                    <p:animEffect transition="out" filter="fade">
                                      <p:cBhvr>
                                        <p:cTn id="9" dur="2000" tmFilter="0, 0; .2, .5; .8, .5; 1, 0"/>
                                        <p:tgtEl>
                                          <p:spTgt spid="162"/>
                                        </p:tgtEl>
                                      </p:cBhvr>
                                    </p:animEffect>
                                    <p:animScale>
                                      <p:cBhvr>
                                        <p:cTn id="10" dur="1000" autoRev="1" fill="hold"/>
                                        <p:tgtEl>
                                          <p:spTgt spid="162"/>
                                        </p:tgtEl>
                                      </p:cBhvr>
                                      <p:by x="105000" y="105000"/>
                                    </p:animScale>
                                  </p:childTnLst>
                                </p:cTn>
                              </p:par>
                              <p:par>
                                <p:cTn id="11" presetID="26" presetClass="emph" presetSubtype="0" repeatCount="indefinite" fill="hold" nodeType="withEffect">
                                  <p:stCondLst>
                                    <p:cond delay="0"/>
                                  </p:stCondLst>
                                  <p:childTnLst>
                                    <p:animEffect transition="out" filter="fade">
                                      <p:cBhvr>
                                        <p:cTn id="12" dur="2000" tmFilter="0, 0; .2, .5; .8, .5; 1, 0"/>
                                        <p:tgtEl>
                                          <p:spTgt spid="227"/>
                                        </p:tgtEl>
                                      </p:cBhvr>
                                    </p:animEffect>
                                    <p:animScale>
                                      <p:cBhvr>
                                        <p:cTn id="13" dur="1000" autoRev="1" fill="hold"/>
                                        <p:tgtEl>
                                          <p:spTgt spid="227"/>
                                        </p:tgtEl>
                                      </p:cBhvr>
                                      <p:by x="105000" y="105000"/>
                                    </p:animScale>
                                  </p:childTnLst>
                                </p:cTn>
                              </p:par>
                              <p:par>
                                <p:cTn id="14" presetID="60" presetClass="path" presetSubtype="0" accel="50000" decel="50000" fill="hold" nodeType="withEffect">
                                  <p:stCondLst>
                                    <p:cond delay="0"/>
                                  </p:stCondLst>
                                  <p:childTnLst>
                                    <p:animMotion origin="layout" path="M 0.01563 -0.08832 C 0.02205 -0.04624 0.03698 0.01295 0.09219 0.01203 C 0.17205 0.01203 0.17795 -0.18566 0.27327 -0.18613 C 0.35903 -0.18613 0.3132 -0.01364 0.39584 -0.01433 C 0.48212 -0.01433 0.43577 -0.13942 0.52795 -0.13942 C 0.61042 -0.13942 0.56459 -0.0548 0.6382 -0.0548 C 0.70903 -0.0548 0.67223 -0.11954 0.73664 -0.11954 C 0.77344 -0.11954 0.77605 -0.10196 0.77934 -0.08832 " pathEditMode="relative" rAng="0" ptsTypes="ffffffff">
                                      <p:cBhvr>
                                        <p:cTn id="15" dur="3000" fill="hold"/>
                                        <p:tgtEl>
                                          <p:spTgt spid="136"/>
                                        </p:tgtEl>
                                        <p:attrNameLst>
                                          <p:attrName>ppt_x</p:attrName>
                                          <p:attrName>ppt_y</p:attrName>
                                        </p:attrNameLst>
                                      </p:cBhvr>
                                      <p:rCtr x="3817700" y="1620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4A0D407-80EA-4C9D-8A67-173DA71F530F}"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19422215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TW" altLang="en-US" smtClean="0"/>
              <a:t>按一下以編輯母片文字樣式</a:t>
            </a:r>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762819A-F7EB-4F43-BCD7-F25A9324FF91}"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211876267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468313" y="1628775"/>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4659313" y="1628775"/>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4DB87D45-729D-48F4-A88C-02D329F6AB9D}"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140816704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8"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9"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BDFFF67-A6F4-44BF-A13D-3D8C48550FB5}"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144379957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4"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5"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107EB0C-1D1F-425E-BC23-D57674F3DC7C}"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155113848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3"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4"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1597B9E-6FC7-4358-BC5D-1EF41C2F16E9}"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285979656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B7B90FC-9D46-4D07-A122-36360A003B51}"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203124053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smtClean="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6"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7"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659A4C4-2F5A-4AD5-B4DD-91AFC70E79CD}"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30369142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1C0D58F-0FC4-4F3A-AAB7-51AD68757DE4}"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222248382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38925" y="274638"/>
            <a:ext cx="2058988" cy="5880100"/>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457200" y="274638"/>
            <a:ext cx="6029325" cy="5880100"/>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a:ln/>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5" name="Rectangle 5"/>
          <p:cNvSpPr>
            <a:spLocks noGrp="1" noChangeArrowheads="1"/>
          </p:cNvSpPr>
          <p:nvPr>
            <p:ph type="ftr" sz="quarter" idx="11"/>
          </p:nvPr>
        </p:nvSpPr>
        <p:spPr>
          <a:ln/>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6" name="Rectangle 6"/>
          <p:cNvSpPr>
            <a:spLocks noGrp="1" noChangeArrowheads="1"/>
          </p:cNvSpPr>
          <p:nvPr>
            <p:ph type="sldNum" sz="quarter" idx="12"/>
          </p:nvPr>
        </p:nvSpPr>
        <p:spPr>
          <a:ln/>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AA5816E5-B105-48A3-8029-53062009A3E1}" type="slidenum">
              <a:rPr kumimoji="0"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spTree>
    <p:extLst>
      <p:ext uri="{BB962C8B-B14F-4D97-AF65-F5344CB8AC3E}">
        <p14:creationId xmlns:p14="http://schemas.microsoft.com/office/powerpoint/2010/main" val="297135469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p:spPr>
        <p:txBody>
          <a:body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245A0E4-097E-4747-A954-2A959EE07EFB}"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5"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E233CB6C-BAA2-4540-A086-46BBE5E303D3}"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220018378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1BC930F0-3489-42D9-A43C-60E35F32E6CD}"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5"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D616C34C-8D43-4664-9E27-D1D9E6075C3E}"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243958301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545C4FD-AE9D-451C-AE1A-38FDCA61783C}"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5"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EB6DE28C-A3E0-4445-A12E-AACFABB42508}"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66491389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B8D934B-7559-43CE-AEF2-C89A94163F8D}"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7"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72745AC0-F80E-4B9D-86FE-D9D1ED8D8008}"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232621219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F3B6DE64-A694-44D9-A013-E095FD16A66B}"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8"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9"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182FE9C1-27D0-4CAD-9106-C3BF5B1ED943}"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201680055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95F3CFBD-3EA8-447B-9BBC-67AEFB2B89E9}"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4"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5"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6BC15692-6BA4-4E91-9507-8FD3E1A09114}"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111136629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3CCEB78-1FD7-4128-AA7B-6BA72E448AC6}"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3"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4"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B6421D70-F801-4590-974A-2BD7DA53FE1F}"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320861753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E0A5CA9E-BC24-4608-825A-3A13BAD80FB8}"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7"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CDD9D9BF-AE68-4837-AA3E-A0518D1F995D}"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146042658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DE2549B8-5DB6-44BD-B71B-21686670A976}"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7"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6694C26F-AAB1-433F-A272-0E37F2B0CC77}"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370825200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255707F9-C44C-4D02-B3BC-40A0FDC8E352}"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5"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76E8C14C-9309-47A3-B2CD-B34F711F54E0}"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344959612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457200" y="274638"/>
            <a:ext cx="6019800" cy="5851525"/>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lvl1pPr>
              <a:defRPr kumimoji="1"/>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1D8007E4-D0E1-4366-91DC-6A21BA6C39F3}" type="datetimeFigureOut">
              <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5" name="頁尾版面配置區 4"/>
          <p:cNvSpPr>
            <a:spLocks noGrp="1"/>
          </p:cNvSpPr>
          <p:nvPr>
            <p:ph type="ftr" sz="quarter" idx="11"/>
          </p:nvPr>
        </p:nvSpPr>
        <p:spPr/>
        <p:txBody>
          <a:bodyPr/>
          <a:lstStyle>
            <a:lvl1pPr>
              <a:defRPr kumimoji="1"/>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投影片編號版面配置區 5"/>
          <p:cNvSpPr>
            <a:spLocks noGrp="1"/>
          </p:cNvSpPr>
          <p:nvPr>
            <p:ph type="sldNum" sz="quarter" idx="12"/>
          </p:nvPr>
        </p:nvSpPr>
        <p:spPr/>
        <p:txBody>
          <a:bodyPr/>
          <a:lstStyle>
            <a:lvl1pPr>
              <a:defRPr kumimoji="1"/>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EEB1F939-080E-4A29-A8B8-623B20F91F53}" type="slidenum">
              <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21787391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grpSp>
        <p:nvGrpSpPr>
          <p:cNvPr id="4" name="Group 2"/>
          <p:cNvGrpSpPr>
            <a:grpSpLocks/>
          </p:cNvGrpSpPr>
          <p:nvPr/>
        </p:nvGrpSpPr>
        <p:grpSpPr bwMode="auto">
          <a:xfrm>
            <a:off x="5076825" y="5957888"/>
            <a:ext cx="503238" cy="1800225"/>
            <a:chOff x="3470" y="572"/>
            <a:chExt cx="317" cy="1134"/>
          </a:xfrm>
        </p:grpSpPr>
        <p:sp>
          <p:nvSpPr>
            <p:cNvPr id="5" name="Arc 3"/>
            <p:cNvSpPr>
              <a:spLocks/>
            </p:cNvSpPr>
            <p:nvPr userDrawn="1"/>
          </p:nvSpPr>
          <p:spPr bwMode="auto">
            <a:xfrm>
              <a:off x="3507" y="698"/>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6" name="Oval 4"/>
            <p:cNvSpPr>
              <a:spLocks noChangeArrowheads="1"/>
            </p:cNvSpPr>
            <p:nvPr userDrawn="1"/>
          </p:nvSpPr>
          <p:spPr bwMode="auto">
            <a:xfrm rot="-3515713">
              <a:off x="3536" y="785"/>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 name="Oval 5"/>
            <p:cNvSpPr>
              <a:spLocks noChangeArrowheads="1"/>
            </p:cNvSpPr>
            <p:nvPr userDrawn="1"/>
          </p:nvSpPr>
          <p:spPr bwMode="auto">
            <a:xfrm rot="-1615679">
              <a:off x="3470"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 name="Oval 6"/>
            <p:cNvSpPr>
              <a:spLocks noChangeArrowheads="1"/>
            </p:cNvSpPr>
            <p:nvPr userDrawn="1"/>
          </p:nvSpPr>
          <p:spPr bwMode="auto">
            <a:xfrm rot="6199228">
              <a:off x="3536"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 name="Oval 7"/>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 name="Oval 8"/>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 name="Oval 9"/>
            <p:cNvSpPr>
              <a:spLocks noChangeArrowheads="1"/>
            </p:cNvSpPr>
            <p:nvPr userDrawn="1"/>
          </p:nvSpPr>
          <p:spPr bwMode="auto">
            <a:xfrm rot="-4126769">
              <a:off x="3499" y="743"/>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 name="Oval 10"/>
            <p:cNvSpPr>
              <a:spLocks noChangeArrowheads="1"/>
            </p:cNvSpPr>
            <p:nvPr userDrawn="1"/>
          </p:nvSpPr>
          <p:spPr bwMode="auto">
            <a:xfrm rot="-2624767">
              <a:off x="3581"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 name="Oval 11"/>
            <p:cNvSpPr>
              <a:spLocks noChangeArrowheads="1"/>
            </p:cNvSpPr>
            <p:nvPr userDrawn="1"/>
          </p:nvSpPr>
          <p:spPr bwMode="auto">
            <a:xfrm rot="-5400000">
              <a:off x="3565" y="825"/>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 name="Oval 12"/>
            <p:cNvSpPr>
              <a:spLocks noChangeArrowheads="1"/>
            </p:cNvSpPr>
            <p:nvPr userDrawn="1"/>
          </p:nvSpPr>
          <p:spPr bwMode="auto">
            <a:xfrm rot="-1495776">
              <a:off x="3617"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5" name="Group 13"/>
          <p:cNvGrpSpPr>
            <a:grpSpLocks/>
          </p:cNvGrpSpPr>
          <p:nvPr/>
        </p:nvGrpSpPr>
        <p:grpSpPr bwMode="auto">
          <a:xfrm flipH="1">
            <a:off x="179388" y="5842000"/>
            <a:ext cx="815975" cy="2030413"/>
            <a:chOff x="4377" y="300"/>
            <a:chExt cx="514" cy="1279"/>
          </a:xfrm>
        </p:grpSpPr>
        <p:sp>
          <p:nvSpPr>
            <p:cNvPr id="16" name="Arc 14"/>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17" name="Oval 15"/>
            <p:cNvSpPr>
              <a:spLocks noChangeArrowheads="1"/>
            </p:cNvSpPr>
            <p:nvPr userDrawn="1"/>
          </p:nvSpPr>
          <p:spPr bwMode="auto">
            <a:xfrm rot="-3515713">
              <a:off x="4468" y="55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 name="Oval 16"/>
            <p:cNvSpPr>
              <a:spLocks noChangeArrowheads="1"/>
            </p:cNvSpPr>
            <p:nvPr userDrawn="1"/>
          </p:nvSpPr>
          <p:spPr bwMode="auto">
            <a:xfrm rot="-1615679">
              <a:off x="4377" y="451"/>
              <a:ext cx="143"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 name="Oval 17"/>
            <p:cNvSpPr>
              <a:spLocks noChangeArrowheads="1"/>
            </p:cNvSpPr>
            <p:nvPr userDrawn="1"/>
          </p:nvSpPr>
          <p:spPr bwMode="auto">
            <a:xfrm rot="6199228">
              <a:off x="4468" y="352"/>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 name="Oval 18"/>
            <p:cNvSpPr>
              <a:spLocks noChangeArrowheads="1"/>
            </p:cNvSpPr>
            <p:nvPr userDrawn="1"/>
          </p:nvSpPr>
          <p:spPr bwMode="auto">
            <a:xfrm>
              <a:off x="4614" y="501"/>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 name="Oval 19"/>
            <p:cNvSpPr>
              <a:spLocks noChangeArrowheads="1"/>
            </p:cNvSpPr>
            <p:nvPr userDrawn="1"/>
          </p:nvSpPr>
          <p:spPr bwMode="auto">
            <a:xfrm rot="-4126769">
              <a:off x="4428" y="503"/>
              <a:ext cx="151" cy="48"/>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 name="Oval 20"/>
            <p:cNvSpPr>
              <a:spLocks noChangeArrowheads="1"/>
            </p:cNvSpPr>
            <p:nvPr userDrawn="1"/>
          </p:nvSpPr>
          <p:spPr bwMode="auto">
            <a:xfrm rot="-2624767">
              <a:off x="4520" y="400"/>
              <a:ext cx="142"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 name="Oval 21"/>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4" name="Oval 22"/>
            <p:cNvSpPr>
              <a:spLocks noChangeArrowheads="1"/>
            </p:cNvSpPr>
            <p:nvPr userDrawn="1"/>
          </p:nvSpPr>
          <p:spPr bwMode="auto">
            <a:xfrm rot="-1495776">
              <a:off x="4567" y="451"/>
              <a:ext cx="142"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5" name="Oval 23"/>
            <p:cNvSpPr>
              <a:spLocks noChangeArrowheads="1"/>
            </p:cNvSpPr>
            <p:nvPr userDrawn="1"/>
          </p:nvSpPr>
          <p:spPr bwMode="auto">
            <a:xfrm rot="-2742706">
              <a:off x="4552" y="669"/>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6" name="Oval 24"/>
            <p:cNvSpPr>
              <a:spLocks noChangeArrowheads="1"/>
            </p:cNvSpPr>
            <p:nvPr userDrawn="1"/>
          </p:nvSpPr>
          <p:spPr bwMode="auto">
            <a:xfrm rot="-2742706">
              <a:off x="4597" y="715"/>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7" name="Oval 25"/>
            <p:cNvSpPr>
              <a:spLocks noChangeArrowheads="1"/>
            </p:cNvSpPr>
            <p:nvPr userDrawn="1"/>
          </p:nvSpPr>
          <p:spPr bwMode="auto">
            <a:xfrm rot="1036516">
              <a:off x="4740" y="754"/>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8" name="Oval 26"/>
            <p:cNvSpPr>
              <a:spLocks noChangeArrowheads="1"/>
            </p:cNvSpPr>
            <p:nvPr userDrawn="1"/>
          </p:nvSpPr>
          <p:spPr bwMode="auto">
            <a:xfrm rot="403513">
              <a:off x="4642" y="578"/>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9" name="Oval 27"/>
            <p:cNvSpPr>
              <a:spLocks noChangeArrowheads="1"/>
            </p:cNvSpPr>
            <p:nvPr userDrawn="1"/>
          </p:nvSpPr>
          <p:spPr bwMode="auto">
            <a:xfrm rot="347087">
              <a:off x="4694" y="66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0" name="Oval 28"/>
            <p:cNvSpPr>
              <a:spLocks noChangeArrowheads="1"/>
            </p:cNvSpPr>
            <p:nvPr userDrawn="1"/>
          </p:nvSpPr>
          <p:spPr bwMode="auto">
            <a:xfrm rot="-2685850">
              <a:off x="4649" y="799"/>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31" name="Group 29"/>
          <p:cNvGrpSpPr>
            <a:grpSpLocks/>
          </p:cNvGrpSpPr>
          <p:nvPr/>
        </p:nvGrpSpPr>
        <p:grpSpPr bwMode="auto">
          <a:xfrm>
            <a:off x="0" y="5849938"/>
            <a:ext cx="9144000" cy="1008062"/>
            <a:chOff x="0" y="302"/>
            <a:chExt cx="5760" cy="635"/>
          </a:xfrm>
        </p:grpSpPr>
        <p:sp>
          <p:nvSpPr>
            <p:cNvPr id="32" name="AutoShape 30"/>
            <p:cNvSpPr>
              <a:spLocks noChangeArrowheads="1"/>
            </p:cNvSpPr>
            <p:nvPr userDrawn="1"/>
          </p:nvSpPr>
          <p:spPr bwMode="auto">
            <a:xfrm>
              <a:off x="0" y="438"/>
              <a:ext cx="340"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3" name="AutoShape 31"/>
            <p:cNvSpPr>
              <a:spLocks noChangeArrowheads="1"/>
            </p:cNvSpPr>
            <p:nvPr userDrawn="1"/>
          </p:nvSpPr>
          <p:spPr bwMode="auto">
            <a:xfrm>
              <a:off x="204" y="618"/>
              <a:ext cx="317" cy="318"/>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4" name="AutoShape 32"/>
            <p:cNvSpPr>
              <a:spLocks noChangeArrowheads="1"/>
            </p:cNvSpPr>
            <p:nvPr userDrawn="1"/>
          </p:nvSpPr>
          <p:spPr bwMode="auto">
            <a:xfrm>
              <a:off x="431"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5" name="AutoShape 33"/>
            <p:cNvSpPr>
              <a:spLocks noChangeArrowheads="1"/>
            </p:cNvSpPr>
            <p:nvPr userDrawn="1"/>
          </p:nvSpPr>
          <p:spPr bwMode="auto">
            <a:xfrm>
              <a:off x="703" y="302"/>
              <a:ext cx="272" cy="635"/>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6" name="AutoShape 34"/>
            <p:cNvSpPr>
              <a:spLocks noChangeArrowheads="1"/>
            </p:cNvSpPr>
            <p:nvPr userDrawn="1"/>
          </p:nvSpPr>
          <p:spPr bwMode="auto">
            <a:xfrm>
              <a:off x="884" y="438"/>
              <a:ext cx="318" cy="499"/>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7" name="AutoShape 35"/>
            <p:cNvSpPr>
              <a:spLocks noChangeArrowheads="1"/>
            </p:cNvSpPr>
            <p:nvPr userDrawn="1"/>
          </p:nvSpPr>
          <p:spPr bwMode="auto">
            <a:xfrm>
              <a:off x="1111"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8" name="AutoShape 36"/>
            <p:cNvSpPr>
              <a:spLocks noChangeArrowheads="1"/>
            </p:cNvSpPr>
            <p:nvPr userDrawn="1"/>
          </p:nvSpPr>
          <p:spPr bwMode="auto">
            <a:xfrm>
              <a:off x="1202"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39" name="AutoShape 37"/>
            <p:cNvSpPr>
              <a:spLocks noChangeArrowheads="1"/>
            </p:cNvSpPr>
            <p:nvPr userDrawn="1"/>
          </p:nvSpPr>
          <p:spPr bwMode="auto">
            <a:xfrm>
              <a:off x="1474" y="302"/>
              <a:ext cx="227" cy="635"/>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0" name="AutoShape 38"/>
            <p:cNvSpPr>
              <a:spLocks noChangeArrowheads="1"/>
            </p:cNvSpPr>
            <p:nvPr userDrawn="1"/>
          </p:nvSpPr>
          <p:spPr bwMode="auto">
            <a:xfrm>
              <a:off x="1655"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1" name="AutoShape 39"/>
            <p:cNvSpPr>
              <a:spLocks noChangeArrowheads="1"/>
            </p:cNvSpPr>
            <p:nvPr userDrawn="1"/>
          </p:nvSpPr>
          <p:spPr bwMode="auto">
            <a:xfrm>
              <a:off x="1927"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2" name="AutoShape 40"/>
            <p:cNvSpPr>
              <a:spLocks noChangeArrowheads="1"/>
            </p:cNvSpPr>
            <p:nvPr userDrawn="1"/>
          </p:nvSpPr>
          <p:spPr bwMode="auto">
            <a:xfrm>
              <a:off x="1791"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3" name="AutoShape 41"/>
            <p:cNvSpPr>
              <a:spLocks noChangeArrowheads="1"/>
            </p:cNvSpPr>
            <p:nvPr userDrawn="1"/>
          </p:nvSpPr>
          <p:spPr bwMode="auto">
            <a:xfrm>
              <a:off x="1837"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4" name="AutoShape 42"/>
            <p:cNvSpPr>
              <a:spLocks noChangeArrowheads="1"/>
            </p:cNvSpPr>
            <p:nvPr userDrawn="1"/>
          </p:nvSpPr>
          <p:spPr bwMode="auto">
            <a:xfrm>
              <a:off x="2018" y="436"/>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5" name="AutoShape 43"/>
            <p:cNvSpPr>
              <a:spLocks noChangeArrowheads="1"/>
            </p:cNvSpPr>
            <p:nvPr userDrawn="1"/>
          </p:nvSpPr>
          <p:spPr bwMode="auto">
            <a:xfrm>
              <a:off x="2381"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6" name="AutoShape 44"/>
            <p:cNvSpPr>
              <a:spLocks noChangeArrowheads="1"/>
            </p:cNvSpPr>
            <p:nvPr userDrawn="1"/>
          </p:nvSpPr>
          <p:spPr bwMode="auto">
            <a:xfrm>
              <a:off x="2653" y="574"/>
              <a:ext cx="182" cy="363"/>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7" name="AutoShape 45"/>
            <p:cNvSpPr>
              <a:spLocks noChangeArrowheads="1"/>
            </p:cNvSpPr>
            <p:nvPr userDrawn="1"/>
          </p:nvSpPr>
          <p:spPr bwMode="auto">
            <a:xfrm>
              <a:off x="2517"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8" name="AutoShape 46"/>
            <p:cNvSpPr>
              <a:spLocks noChangeArrowheads="1"/>
            </p:cNvSpPr>
            <p:nvPr userDrawn="1"/>
          </p:nvSpPr>
          <p:spPr bwMode="auto">
            <a:xfrm>
              <a:off x="2789"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49" name="AutoShape 47"/>
            <p:cNvSpPr>
              <a:spLocks noChangeArrowheads="1"/>
            </p:cNvSpPr>
            <p:nvPr userDrawn="1"/>
          </p:nvSpPr>
          <p:spPr bwMode="auto">
            <a:xfrm>
              <a:off x="2925"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0" name="AutoShape 48"/>
            <p:cNvSpPr>
              <a:spLocks noChangeArrowheads="1"/>
            </p:cNvSpPr>
            <p:nvPr userDrawn="1"/>
          </p:nvSpPr>
          <p:spPr bwMode="auto">
            <a:xfrm>
              <a:off x="3378" y="438"/>
              <a:ext cx="318"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1" name="AutoShape 49"/>
            <p:cNvSpPr>
              <a:spLocks noChangeArrowheads="1"/>
            </p:cNvSpPr>
            <p:nvPr userDrawn="1"/>
          </p:nvSpPr>
          <p:spPr bwMode="auto">
            <a:xfrm>
              <a:off x="3198" y="619"/>
              <a:ext cx="317" cy="318"/>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2" name="AutoShape 50"/>
            <p:cNvSpPr>
              <a:spLocks noChangeArrowheads="1"/>
            </p:cNvSpPr>
            <p:nvPr userDrawn="1"/>
          </p:nvSpPr>
          <p:spPr bwMode="auto">
            <a:xfrm>
              <a:off x="3696"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3" name="AutoShape 51"/>
            <p:cNvSpPr>
              <a:spLocks noChangeArrowheads="1"/>
            </p:cNvSpPr>
            <p:nvPr userDrawn="1"/>
          </p:nvSpPr>
          <p:spPr bwMode="auto">
            <a:xfrm>
              <a:off x="3560" y="438"/>
              <a:ext cx="182" cy="499"/>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4" name="AutoShape 52"/>
            <p:cNvSpPr>
              <a:spLocks noChangeArrowheads="1"/>
            </p:cNvSpPr>
            <p:nvPr userDrawn="1"/>
          </p:nvSpPr>
          <p:spPr bwMode="auto">
            <a:xfrm>
              <a:off x="3606"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5" name="AutoShape 53"/>
            <p:cNvSpPr>
              <a:spLocks noChangeArrowheads="1"/>
            </p:cNvSpPr>
            <p:nvPr userDrawn="1"/>
          </p:nvSpPr>
          <p:spPr bwMode="auto">
            <a:xfrm>
              <a:off x="3787"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6" name="AutoShape 54"/>
            <p:cNvSpPr>
              <a:spLocks noChangeArrowheads="1"/>
            </p:cNvSpPr>
            <p:nvPr userDrawn="1"/>
          </p:nvSpPr>
          <p:spPr bwMode="auto">
            <a:xfrm>
              <a:off x="4150" y="620"/>
              <a:ext cx="182"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7" name="AutoShape 55"/>
            <p:cNvSpPr>
              <a:spLocks noChangeArrowheads="1"/>
            </p:cNvSpPr>
            <p:nvPr userDrawn="1"/>
          </p:nvSpPr>
          <p:spPr bwMode="auto">
            <a:xfrm>
              <a:off x="4422" y="574"/>
              <a:ext cx="182" cy="363"/>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8" name="AutoShape 56"/>
            <p:cNvSpPr>
              <a:spLocks noChangeArrowheads="1"/>
            </p:cNvSpPr>
            <p:nvPr userDrawn="1"/>
          </p:nvSpPr>
          <p:spPr bwMode="auto">
            <a:xfrm>
              <a:off x="4286" y="438"/>
              <a:ext cx="182" cy="499"/>
            </a:xfrm>
            <a:prstGeom prst="triangle">
              <a:avLst>
                <a:gd name="adj" fmla="val 50000"/>
              </a:avLst>
            </a:prstGeom>
            <a:solidFill>
              <a:srgbClr val="0080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59" name="AutoShape 57"/>
            <p:cNvSpPr>
              <a:spLocks noChangeArrowheads="1"/>
            </p:cNvSpPr>
            <p:nvPr userDrawn="1"/>
          </p:nvSpPr>
          <p:spPr bwMode="auto">
            <a:xfrm>
              <a:off x="4558"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0" name="AutoShape 58"/>
            <p:cNvSpPr>
              <a:spLocks noChangeArrowheads="1"/>
            </p:cNvSpPr>
            <p:nvPr userDrawn="1"/>
          </p:nvSpPr>
          <p:spPr bwMode="auto">
            <a:xfrm>
              <a:off x="4694" y="438"/>
              <a:ext cx="36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1" name="AutoShape 59"/>
            <p:cNvSpPr>
              <a:spLocks noChangeArrowheads="1"/>
            </p:cNvSpPr>
            <p:nvPr userDrawn="1"/>
          </p:nvSpPr>
          <p:spPr bwMode="auto">
            <a:xfrm>
              <a:off x="5147" y="438"/>
              <a:ext cx="318"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2" name="AutoShape 60"/>
            <p:cNvSpPr>
              <a:spLocks noChangeArrowheads="1"/>
            </p:cNvSpPr>
            <p:nvPr userDrawn="1"/>
          </p:nvSpPr>
          <p:spPr bwMode="auto">
            <a:xfrm>
              <a:off x="4967" y="619"/>
              <a:ext cx="317" cy="318"/>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3" name="AutoShape 61"/>
            <p:cNvSpPr>
              <a:spLocks noChangeArrowheads="1"/>
            </p:cNvSpPr>
            <p:nvPr userDrawn="1"/>
          </p:nvSpPr>
          <p:spPr bwMode="auto">
            <a:xfrm>
              <a:off x="4944" y="438"/>
              <a:ext cx="409"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4" name="AutoShape 62"/>
            <p:cNvSpPr>
              <a:spLocks noChangeArrowheads="1"/>
            </p:cNvSpPr>
            <p:nvPr userDrawn="1"/>
          </p:nvSpPr>
          <p:spPr bwMode="auto">
            <a:xfrm>
              <a:off x="5216" y="302"/>
              <a:ext cx="227" cy="635"/>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5" name="AutoShape 63"/>
            <p:cNvSpPr>
              <a:spLocks noChangeArrowheads="1"/>
            </p:cNvSpPr>
            <p:nvPr userDrawn="1"/>
          </p:nvSpPr>
          <p:spPr bwMode="auto">
            <a:xfrm>
              <a:off x="5397" y="620"/>
              <a:ext cx="182" cy="317"/>
            </a:xfrm>
            <a:prstGeom prst="triangle">
              <a:avLst>
                <a:gd name="adj" fmla="val 50000"/>
              </a:avLst>
            </a:prstGeom>
            <a:solidFill>
              <a:srgbClr val="008000">
                <a:alpha val="89803"/>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6" name="AutoShape 64"/>
            <p:cNvSpPr>
              <a:spLocks noChangeArrowheads="1"/>
            </p:cNvSpPr>
            <p:nvPr userDrawn="1"/>
          </p:nvSpPr>
          <p:spPr bwMode="auto">
            <a:xfrm>
              <a:off x="5533" y="438"/>
              <a:ext cx="182" cy="499"/>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67" name="AutoShape 65"/>
            <p:cNvSpPr>
              <a:spLocks noChangeArrowheads="1"/>
            </p:cNvSpPr>
            <p:nvPr userDrawn="1"/>
          </p:nvSpPr>
          <p:spPr bwMode="auto">
            <a:xfrm>
              <a:off x="5579" y="620"/>
              <a:ext cx="181" cy="317"/>
            </a:xfrm>
            <a:prstGeom prst="triangle">
              <a:avLst>
                <a:gd name="adj" fmla="val 50000"/>
              </a:avLst>
            </a:prstGeom>
            <a:solidFill>
              <a:srgbClr val="0080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68" name="Group 66"/>
          <p:cNvGrpSpPr>
            <a:grpSpLocks/>
          </p:cNvGrpSpPr>
          <p:nvPr/>
        </p:nvGrpSpPr>
        <p:grpSpPr bwMode="auto">
          <a:xfrm>
            <a:off x="971550" y="5734050"/>
            <a:ext cx="757238" cy="1885950"/>
            <a:chOff x="4377" y="300"/>
            <a:chExt cx="514" cy="1279"/>
          </a:xfrm>
        </p:grpSpPr>
        <p:sp>
          <p:nvSpPr>
            <p:cNvPr id="69" name="Arc 67"/>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70" name="Oval 68"/>
            <p:cNvSpPr>
              <a:spLocks noChangeArrowheads="1"/>
            </p:cNvSpPr>
            <p:nvPr userDrawn="1"/>
          </p:nvSpPr>
          <p:spPr bwMode="auto">
            <a:xfrm rot="-3515713">
              <a:off x="4469" y="555"/>
              <a:ext cx="151" cy="44"/>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1" name="Oval 69"/>
            <p:cNvSpPr>
              <a:spLocks noChangeArrowheads="1"/>
            </p:cNvSpPr>
            <p:nvPr userDrawn="1"/>
          </p:nvSpPr>
          <p:spPr bwMode="auto">
            <a:xfrm rot="-1615679">
              <a:off x="4377" y="451"/>
              <a:ext cx="143" cy="53"/>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2" name="Oval 70"/>
            <p:cNvSpPr>
              <a:spLocks noChangeArrowheads="1"/>
            </p:cNvSpPr>
            <p:nvPr userDrawn="1"/>
          </p:nvSpPr>
          <p:spPr bwMode="auto">
            <a:xfrm rot="6199228">
              <a:off x="4469" y="350"/>
              <a:ext cx="152" cy="44"/>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3" name="Oval 71"/>
            <p:cNvSpPr>
              <a:spLocks noChangeArrowheads="1"/>
            </p:cNvSpPr>
            <p:nvPr userDrawn="1"/>
          </p:nvSpPr>
          <p:spPr bwMode="auto">
            <a:xfrm>
              <a:off x="4614" y="501"/>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4" name="Oval 72"/>
            <p:cNvSpPr>
              <a:spLocks noChangeArrowheads="1"/>
            </p:cNvSpPr>
            <p:nvPr userDrawn="1"/>
          </p:nvSpPr>
          <p:spPr bwMode="auto">
            <a:xfrm rot="-4126769">
              <a:off x="4421" y="501"/>
              <a:ext cx="155"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5" name="Oval 73"/>
            <p:cNvSpPr>
              <a:spLocks noChangeArrowheads="1"/>
            </p:cNvSpPr>
            <p:nvPr userDrawn="1"/>
          </p:nvSpPr>
          <p:spPr bwMode="auto">
            <a:xfrm rot="-2624767">
              <a:off x="4520" y="400"/>
              <a:ext cx="141"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6" name="Oval 74"/>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7" name="Oval 75"/>
            <p:cNvSpPr>
              <a:spLocks noChangeArrowheads="1"/>
            </p:cNvSpPr>
            <p:nvPr userDrawn="1"/>
          </p:nvSpPr>
          <p:spPr bwMode="auto">
            <a:xfrm rot="-1495776">
              <a:off x="4567" y="451"/>
              <a:ext cx="142" cy="5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8" name="Oval 76"/>
            <p:cNvSpPr>
              <a:spLocks noChangeArrowheads="1"/>
            </p:cNvSpPr>
            <p:nvPr userDrawn="1"/>
          </p:nvSpPr>
          <p:spPr bwMode="auto">
            <a:xfrm rot="-2742706">
              <a:off x="4552" y="671"/>
              <a:ext cx="153" cy="4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79" name="Oval 77"/>
            <p:cNvSpPr>
              <a:spLocks noChangeArrowheads="1"/>
            </p:cNvSpPr>
            <p:nvPr userDrawn="1"/>
          </p:nvSpPr>
          <p:spPr bwMode="auto">
            <a:xfrm rot="-2742706">
              <a:off x="4593" y="713"/>
              <a:ext cx="155" cy="46"/>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0" name="Oval 78"/>
            <p:cNvSpPr>
              <a:spLocks noChangeArrowheads="1"/>
            </p:cNvSpPr>
            <p:nvPr userDrawn="1"/>
          </p:nvSpPr>
          <p:spPr bwMode="auto">
            <a:xfrm rot="1036516">
              <a:off x="4740" y="754"/>
              <a:ext cx="151" cy="44"/>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1" name="Oval 79"/>
            <p:cNvSpPr>
              <a:spLocks noChangeArrowheads="1"/>
            </p:cNvSpPr>
            <p:nvPr userDrawn="1"/>
          </p:nvSpPr>
          <p:spPr bwMode="auto">
            <a:xfrm rot="403513">
              <a:off x="4642" y="578"/>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2" name="Oval 80"/>
            <p:cNvSpPr>
              <a:spLocks noChangeArrowheads="1"/>
            </p:cNvSpPr>
            <p:nvPr userDrawn="1"/>
          </p:nvSpPr>
          <p:spPr bwMode="auto">
            <a:xfrm rot="347087">
              <a:off x="4694" y="663"/>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3" name="Oval 81"/>
            <p:cNvSpPr>
              <a:spLocks noChangeArrowheads="1"/>
            </p:cNvSpPr>
            <p:nvPr userDrawn="1"/>
          </p:nvSpPr>
          <p:spPr bwMode="auto">
            <a:xfrm rot="-2685850">
              <a:off x="4649" y="798"/>
              <a:ext cx="152" cy="43"/>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84" name="Group 87"/>
          <p:cNvGrpSpPr>
            <a:grpSpLocks/>
          </p:cNvGrpSpPr>
          <p:nvPr/>
        </p:nvGrpSpPr>
        <p:grpSpPr bwMode="auto">
          <a:xfrm rot="-1259352">
            <a:off x="1620838" y="5745163"/>
            <a:ext cx="576262" cy="539750"/>
            <a:chOff x="295" y="3385"/>
            <a:chExt cx="408" cy="340"/>
          </a:xfrm>
        </p:grpSpPr>
        <p:grpSp>
          <p:nvGrpSpPr>
            <p:cNvPr id="85" name="Group 88"/>
            <p:cNvGrpSpPr>
              <a:grpSpLocks/>
            </p:cNvGrpSpPr>
            <p:nvPr userDrawn="1"/>
          </p:nvGrpSpPr>
          <p:grpSpPr bwMode="auto">
            <a:xfrm rot="2362656">
              <a:off x="295" y="3385"/>
              <a:ext cx="408" cy="273"/>
              <a:chOff x="1701" y="527"/>
              <a:chExt cx="498" cy="273"/>
            </a:xfrm>
          </p:grpSpPr>
          <p:grpSp>
            <p:nvGrpSpPr>
              <p:cNvPr id="88" name="Group 89"/>
              <p:cNvGrpSpPr>
                <a:grpSpLocks/>
              </p:cNvGrpSpPr>
              <p:nvPr userDrawn="1"/>
            </p:nvGrpSpPr>
            <p:grpSpPr bwMode="auto">
              <a:xfrm rot="228844">
                <a:off x="1927" y="618"/>
                <a:ext cx="272" cy="90"/>
                <a:chOff x="1927" y="527"/>
                <a:chExt cx="272" cy="90"/>
              </a:xfrm>
            </p:grpSpPr>
            <p:sp>
              <p:nvSpPr>
                <p:cNvPr id="95" name="Oval 90"/>
                <p:cNvSpPr>
                  <a:spLocks noChangeArrowheads="1"/>
                </p:cNvSpPr>
                <p:nvPr userDrawn="1"/>
              </p:nvSpPr>
              <p:spPr bwMode="auto">
                <a:xfrm rot="187092">
                  <a:off x="1917" y="559"/>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6" name="Oval 91"/>
                <p:cNvSpPr>
                  <a:spLocks noChangeArrowheads="1"/>
                </p:cNvSpPr>
                <p:nvPr userDrawn="1"/>
              </p:nvSpPr>
              <p:spPr bwMode="auto">
                <a:xfrm rot="10143706">
                  <a:off x="1913" y="516"/>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89" name="Group 92"/>
              <p:cNvGrpSpPr>
                <a:grpSpLocks/>
              </p:cNvGrpSpPr>
              <p:nvPr userDrawn="1"/>
            </p:nvGrpSpPr>
            <p:grpSpPr bwMode="auto">
              <a:xfrm rot="10800000">
                <a:off x="1701" y="618"/>
                <a:ext cx="272" cy="90"/>
                <a:chOff x="1927" y="527"/>
                <a:chExt cx="272" cy="90"/>
              </a:xfrm>
            </p:grpSpPr>
            <p:sp>
              <p:nvSpPr>
                <p:cNvPr id="93" name="Oval 93"/>
                <p:cNvSpPr>
                  <a:spLocks noChangeArrowheads="1"/>
                </p:cNvSpPr>
                <p:nvPr userDrawn="1"/>
              </p:nvSpPr>
              <p:spPr bwMode="auto">
                <a:xfrm rot="187092">
                  <a:off x="1950" y="594"/>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4" name="Oval 94"/>
                <p:cNvSpPr>
                  <a:spLocks noChangeArrowheads="1"/>
                </p:cNvSpPr>
                <p:nvPr userDrawn="1"/>
              </p:nvSpPr>
              <p:spPr bwMode="auto">
                <a:xfrm rot="10143706">
                  <a:off x="1947" y="551"/>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90" name="Oval 95"/>
              <p:cNvSpPr>
                <a:spLocks noChangeArrowheads="1"/>
              </p:cNvSpPr>
              <p:nvPr userDrawn="1"/>
            </p:nvSpPr>
            <p:spPr bwMode="auto">
              <a:xfrm>
                <a:off x="1920" y="611"/>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1" name="Oval 96"/>
              <p:cNvSpPr>
                <a:spLocks noChangeArrowheads="1"/>
              </p:cNvSpPr>
              <p:nvPr userDrawn="1"/>
            </p:nvSpPr>
            <p:spPr bwMode="auto">
              <a:xfrm>
                <a:off x="1874" y="521"/>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92" name="Oval 97"/>
              <p:cNvSpPr>
                <a:spLocks noChangeArrowheads="1"/>
              </p:cNvSpPr>
              <p:nvPr userDrawn="1"/>
            </p:nvSpPr>
            <p:spPr bwMode="auto">
              <a:xfrm>
                <a:off x="1968" y="520"/>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86" name="Oval 98"/>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87" name="Oval 99"/>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7" name="Group 100"/>
          <p:cNvGrpSpPr>
            <a:grpSpLocks/>
          </p:cNvGrpSpPr>
          <p:nvPr/>
        </p:nvGrpSpPr>
        <p:grpSpPr bwMode="auto">
          <a:xfrm rot="-3824161">
            <a:off x="8244682" y="4004469"/>
            <a:ext cx="412750" cy="414337"/>
            <a:chOff x="295" y="3385"/>
            <a:chExt cx="408" cy="340"/>
          </a:xfrm>
        </p:grpSpPr>
        <p:grpSp>
          <p:nvGrpSpPr>
            <p:cNvPr id="98" name="Group 101"/>
            <p:cNvGrpSpPr>
              <a:grpSpLocks/>
            </p:cNvGrpSpPr>
            <p:nvPr userDrawn="1"/>
          </p:nvGrpSpPr>
          <p:grpSpPr bwMode="auto">
            <a:xfrm rot="2362656">
              <a:off x="295" y="3385"/>
              <a:ext cx="408" cy="273"/>
              <a:chOff x="1701" y="527"/>
              <a:chExt cx="498" cy="273"/>
            </a:xfrm>
          </p:grpSpPr>
          <p:grpSp>
            <p:nvGrpSpPr>
              <p:cNvPr id="101" name="Group 102"/>
              <p:cNvGrpSpPr>
                <a:grpSpLocks/>
              </p:cNvGrpSpPr>
              <p:nvPr userDrawn="1"/>
            </p:nvGrpSpPr>
            <p:grpSpPr bwMode="auto">
              <a:xfrm rot="228844">
                <a:off x="1927" y="618"/>
                <a:ext cx="272" cy="90"/>
                <a:chOff x="1927" y="527"/>
                <a:chExt cx="272" cy="90"/>
              </a:xfrm>
            </p:grpSpPr>
            <p:sp>
              <p:nvSpPr>
                <p:cNvPr id="108" name="Oval 103"/>
                <p:cNvSpPr>
                  <a:spLocks noChangeArrowheads="1"/>
                </p:cNvSpPr>
                <p:nvPr userDrawn="1"/>
              </p:nvSpPr>
              <p:spPr bwMode="auto">
                <a:xfrm rot="187092">
                  <a:off x="1910" y="544"/>
                  <a:ext cx="272" cy="43"/>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 name="Oval 104"/>
                <p:cNvSpPr>
                  <a:spLocks noChangeArrowheads="1"/>
                </p:cNvSpPr>
                <p:nvPr userDrawn="1"/>
              </p:nvSpPr>
              <p:spPr bwMode="auto">
                <a:xfrm rot="10143706">
                  <a:off x="1910" y="501"/>
                  <a:ext cx="272" cy="47"/>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02" name="Group 105"/>
              <p:cNvGrpSpPr>
                <a:grpSpLocks/>
              </p:cNvGrpSpPr>
              <p:nvPr userDrawn="1"/>
            </p:nvGrpSpPr>
            <p:grpSpPr bwMode="auto">
              <a:xfrm rot="10800000">
                <a:off x="1701" y="618"/>
                <a:ext cx="272" cy="90"/>
                <a:chOff x="1927" y="527"/>
                <a:chExt cx="272" cy="90"/>
              </a:xfrm>
            </p:grpSpPr>
            <p:sp>
              <p:nvSpPr>
                <p:cNvPr id="106" name="Oval 106"/>
                <p:cNvSpPr>
                  <a:spLocks noChangeArrowheads="1"/>
                </p:cNvSpPr>
                <p:nvPr userDrawn="1"/>
              </p:nvSpPr>
              <p:spPr bwMode="auto">
                <a:xfrm rot="187092">
                  <a:off x="1936" y="589"/>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 name="Oval 107"/>
                <p:cNvSpPr>
                  <a:spLocks noChangeArrowheads="1"/>
                </p:cNvSpPr>
                <p:nvPr userDrawn="1"/>
              </p:nvSpPr>
              <p:spPr bwMode="auto">
                <a:xfrm rot="10143706">
                  <a:off x="1931" y="551"/>
                  <a:ext cx="272" cy="46"/>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3" name="Oval 108"/>
              <p:cNvSpPr>
                <a:spLocks noChangeArrowheads="1"/>
              </p:cNvSpPr>
              <p:nvPr userDrawn="1"/>
            </p:nvSpPr>
            <p:spPr bwMode="auto">
              <a:xfrm>
                <a:off x="1919" y="599"/>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 name="Oval 109"/>
              <p:cNvSpPr>
                <a:spLocks noChangeArrowheads="1"/>
              </p:cNvSpPr>
              <p:nvPr userDrawn="1"/>
            </p:nvSpPr>
            <p:spPr bwMode="auto">
              <a:xfrm>
                <a:off x="1877" y="505"/>
                <a:ext cx="46"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 name="Oval 110"/>
              <p:cNvSpPr>
                <a:spLocks noChangeArrowheads="1"/>
              </p:cNvSpPr>
              <p:nvPr userDrawn="1"/>
            </p:nvSpPr>
            <p:spPr bwMode="auto">
              <a:xfrm>
                <a:off x="1965" y="506"/>
                <a:ext cx="54"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99" name="Oval 111"/>
            <p:cNvSpPr>
              <a:spLocks noChangeArrowheads="1"/>
            </p:cNvSpPr>
            <p:nvPr userDrawn="1"/>
          </p:nvSpPr>
          <p:spPr bwMode="auto">
            <a:xfrm flipH="1">
              <a:off x="341" y="3649"/>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0" name="Oval 112"/>
            <p:cNvSpPr>
              <a:spLocks noChangeArrowheads="1"/>
            </p:cNvSpPr>
            <p:nvPr userDrawn="1"/>
          </p:nvSpPr>
          <p:spPr bwMode="auto">
            <a:xfrm flipH="1">
              <a:off x="302" y="3692"/>
              <a:ext cx="25"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10" name="Group 113"/>
          <p:cNvGrpSpPr>
            <a:grpSpLocks/>
          </p:cNvGrpSpPr>
          <p:nvPr/>
        </p:nvGrpSpPr>
        <p:grpSpPr bwMode="auto">
          <a:xfrm rot="-3328072">
            <a:off x="4283869" y="5734844"/>
            <a:ext cx="412750" cy="414338"/>
            <a:chOff x="295" y="3385"/>
            <a:chExt cx="408" cy="340"/>
          </a:xfrm>
        </p:grpSpPr>
        <p:grpSp>
          <p:nvGrpSpPr>
            <p:cNvPr id="111" name="Group 114"/>
            <p:cNvGrpSpPr>
              <a:grpSpLocks/>
            </p:cNvGrpSpPr>
            <p:nvPr userDrawn="1"/>
          </p:nvGrpSpPr>
          <p:grpSpPr bwMode="auto">
            <a:xfrm rot="2362656">
              <a:off x="295" y="3385"/>
              <a:ext cx="408" cy="273"/>
              <a:chOff x="1701" y="527"/>
              <a:chExt cx="498" cy="273"/>
            </a:xfrm>
          </p:grpSpPr>
          <p:grpSp>
            <p:nvGrpSpPr>
              <p:cNvPr id="114" name="Group 115"/>
              <p:cNvGrpSpPr>
                <a:grpSpLocks/>
              </p:cNvGrpSpPr>
              <p:nvPr userDrawn="1"/>
            </p:nvGrpSpPr>
            <p:grpSpPr bwMode="auto">
              <a:xfrm rot="228844">
                <a:off x="1927" y="618"/>
                <a:ext cx="272" cy="90"/>
                <a:chOff x="1927" y="527"/>
                <a:chExt cx="272" cy="90"/>
              </a:xfrm>
            </p:grpSpPr>
            <p:sp>
              <p:nvSpPr>
                <p:cNvPr id="121" name="Oval 116"/>
                <p:cNvSpPr>
                  <a:spLocks noChangeArrowheads="1"/>
                </p:cNvSpPr>
                <p:nvPr userDrawn="1"/>
              </p:nvSpPr>
              <p:spPr bwMode="auto">
                <a:xfrm rot="187092">
                  <a:off x="1910" y="549"/>
                  <a:ext cx="272" cy="43"/>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2" name="Oval 117"/>
                <p:cNvSpPr>
                  <a:spLocks noChangeArrowheads="1"/>
                </p:cNvSpPr>
                <p:nvPr userDrawn="1"/>
              </p:nvSpPr>
              <p:spPr bwMode="auto">
                <a:xfrm rot="10143706">
                  <a:off x="1908" y="504"/>
                  <a:ext cx="272" cy="48"/>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15" name="Group 118"/>
              <p:cNvGrpSpPr>
                <a:grpSpLocks/>
              </p:cNvGrpSpPr>
              <p:nvPr userDrawn="1"/>
            </p:nvGrpSpPr>
            <p:grpSpPr bwMode="auto">
              <a:xfrm rot="10800000">
                <a:off x="1701" y="618"/>
                <a:ext cx="272" cy="90"/>
                <a:chOff x="1927" y="527"/>
                <a:chExt cx="272" cy="90"/>
              </a:xfrm>
            </p:grpSpPr>
            <p:sp>
              <p:nvSpPr>
                <p:cNvPr id="119" name="Oval 119"/>
                <p:cNvSpPr>
                  <a:spLocks noChangeArrowheads="1"/>
                </p:cNvSpPr>
                <p:nvPr userDrawn="1"/>
              </p:nvSpPr>
              <p:spPr bwMode="auto">
                <a:xfrm rot="187092">
                  <a:off x="1939" y="589"/>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0" name="Oval 120"/>
                <p:cNvSpPr>
                  <a:spLocks noChangeArrowheads="1"/>
                </p:cNvSpPr>
                <p:nvPr userDrawn="1"/>
              </p:nvSpPr>
              <p:spPr bwMode="auto">
                <a:xfrm rot="10143706">
                  <a:off x="1940" y="539"/>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6" name="Oval 121"/>
              <p:cNvSpPr>
                <a:spLocks noChangeArrowheads="1"/>
              </p:cNvSpPr>
              <p:nvPr userDrawn="1"/>
            </p:nvSpPr>
            <p:spPr bwMode="auto">
              <a:xfrm>
                <a:off x="1915" y="605"/>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7" name="Oval 122"/>
              <p:cNvSpPr>
                <a:spLocks noChangeArrowheads="1"/>
              </p:cNvSpPr>
              <p:nvPr userDrawn="1"/>
            </p:nvSpPr>
            <p:spPr bwMode="auto">
              <a:xfrm>
                <a:off x="1871" y="513"/>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8" name="Oval 123"/>
              <p:cNvSpPr>
                <a:spLocks noChangeArrowheads="1"/>
              </p:cNvSpPr>
              <p:nvPr userDrawn="1"/>
            </p:nvSpPr>
            <p:spPr bwMode="auto">
              <a:xfrm>
                <a:off x="1962" y="510"/>
                <a:ext cx="50"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2" name="Oval 124"/>
            <p:cNvSpPr>
              <a:spLocks noChangeArrowheads="1"/>
            </p:cNvSpPr>
            <p:nvPr userDrawn="1"/>
          </p:nvSpPr>
          <p:spPr bwMode="auto">
            <a:xfrm flipH="1">
              <a:off x="341" y="3652"/>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3" name="Oval 125"/>
            <p:cNvSpPr>
              <a:spLocks noChangeArrowheads="1"/>
            </p:cNvSpPr>
            <p:nvPr userDrawn="1"/>
          </p:nvSpPr>
          <p:spPr bwMode="auto">
            <a:xfrm flipH="1">
              <a:off x="296" y="3697"/>
              <a:ext cx="25" cy="21"/>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23" name="Group 126"/>
          <p:cNvGrpSpPr>
            <a:grpSpLocks/>
          </p:cNvGrpSpPr>
          <p:nvPr/>
        </p:nvGrpSpPr>
        <p:grpSpPr bwMode="auto">
          <a:xfrm rot="-708557">
            <a:off x="831850" y="5299075"/>
            <a:ext cx="355600" cy="396875"/>
            <a:chOff x="295" y="3385"/>
            <a:chExt cx="408" cy="340"/>
          </a:xfrm>
        </p:grpSpPr>
        <p:grpSp>
          <p:nvGrpSpPr>
            <p:cNvPr id="124" name="Group 127"/>
            <p:cNvGrpSpPr>
              <a:grpSpLocks/>
            </p:cNvGrpSpPr>
            <p:nvPr userDrawn="1"/>
          </p:nvGrpSpPr>
          <p:grpSpPr bwMode="auto">
            <a:xfrm rot="2362656">
              <a:off x="295" y="3385"/>
              <a:ext cx="408" cy="273"/>
              <a:chOff x="1701" y="527"/>
              <a:chExt cx="498" cy="273"/>
            </a:xfrm>
          </p:grpSpPr>
          <p:grpSp>
            <p:nvGrpSpPr>
              <p:cNvPr id="127" name="Group 128"/>
              <p:cNvGrpSpPr>
                <a:grpSpLocks/>
              </p:cNvGrpSpPr>
              <p:nvPr userDrawn="1"/>
            </p:nvGrpSpPr>
            <p:grpSpPr bwMode="auto">
              <a:xfrm rot="228844">
                <a:off x="1927" y="618"/>
                <a:ext cx="272" cy="90"/>
                <a:chOff x="1927" y="527"/>
                <a:chExt cx="272" cy="90"/>
              </a:xfrm>
            </p:grpSpPr>
            <p:sp>
              <p:nvSpPr>
                <p:cNvPr id="134" name="Oval 129"/>
                <p:cNvSpPr>
                  <a:spLocks noChangeArrowheads="1"/>
                </p:cNvSpPr>
                <p:nvPr userDrawn="1"/>
              </p:nvSpPr>
              <p:spPr bwMode="auto">
                <a:xfrm rot="187092">
                  <a:off x="1900" y="565"/>
                  <a:ext cx="262"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5" name="Oval 130"/>
                <p:cNvSpPr>
                  <a:spLocks noChangeArrowheads="1"/>
                </p:cNvSpPr>
                <p:nvPr userDrawn="1"/>
              </p:nvSpPr>
              <p:spPr bwMode="auto">
                <a:xfrm rot="10143706">
                  <a:off x="1896" y="517"/>
                  <a:ext cx="267"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28" name="Group 131"/>
              <p:cNvGrpSpPr>
                <a:grpSpLocks/>
              </p:cNvGrpSpPr>
              <p:nvPr userDrawn="1"/>
            </p:nvGrpSpPr>
            <p:grpSpPr bwMode="auto">
              <a:xfrm rot="10800000">
                <a:off x="1701" y="618"/>
                <a:ext cx="272" cy="90"/>
                <a:chOff x="1927" y="527"/>
                <a:chExt cx="272" cy="90"/>
              </a:xfrm>
            </p:grpSpPr>
            <p:sp>
              <p:nvSpPr>
                <p:cNvPr id="132" name="Oval 132"/>
                <p:cNvSpPr>
                  <a:spLocks noChangeArrowheads="1"/>
                </p:cNvSpPr>
                <p:nvPr userDrawn="1"/>
              </p:nvSpPr>
              <p:spPr bwMode="auto">
                <a:xfrm rot="187092">
                  <a:off x="1963" y="600"/>
                  <a:ext cx="267"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3" name="Oval 133"/>
                <p:cNvSpPr>
                  <a:spLocks noChangeArrowheads="1"/>
                </p:cNvSpPr>
                <p:nvPr userDrawn="1"/>
              </p:nvSpPr>
              <p:spPr bwMode="auto">
                <a:xfrm rot="10143706">
                  <a:off x="1957" y="552"/>
                  <a:ext cx="267"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29" name="Oval 134"/>
              <p:cNvSpPr>
                <a:spLocks noChangeArrowheads="1"/>
              </p:cNvSpPr>
              <p:nvPr userDrawn="1"/>
            </p:nvSpPr>
            <p:spPr bwMode="auto">
              <a:xfrm>
                <a:off x="1916" y="612"/>
                <a:ext cx="42"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0" name="Oval 135"/>
              <p:cNvSpPr>
                <a:spLocks noChangeArrowheads="1"/>
              </p:cNvSpPr>
              <p:nvPr userDrawn="1"/>
            </p:nvSpPr>
            <p:spPr bwMode="auto">
              <a:xfrm>
                <a:off x="1869" y="525"/>
                <a:ext cx="49"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1" name="Oval 136"/>
              <p:cNvSpPr>
                <a:spLocks noChangeArrowheads="1"/>
              </p:cNvSpPr>
              <p:nvPr userDrawn="1"/>
            </p:nvSpPr>
            <p:spPr bwMode="auto">
              <a:xfrm>
                <a:off x="1956" y="518"/>
                <a:ext cx="51"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25" name="Oval 137"/>
            <p:cNvSpPr>
              <a:spLocks noChangeArrowheads="1"/>
            </p:cNvSpPr>
            <p:nvPr userDrawn="1"/>
          </p:nvSpPr>
          <p:spPr bwMode="auto">
            <a:xfrm flipH="1">
              <a:off x="338" y="3655"/>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26" name="Oval 138"/>
            <p:cNvSpPr>
              <a:spLocks noChangeArrowheads="1"/>
            </p:cNvSpPr>
            <p:nvPr userDrawn="1"/>
          </p:nvSpPr>
          <p:spPr bwMode="auto">
            <a:xfrm flipH="1">
              <a:off x="295" y="3702"/>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36" name="Group 139"/>
          <p:cNvGrpSpPr>
            <a:grpSpLocks/>
          </p:cNvGrpSpPr>
          <p:nvPr/>
        </p:nvGrpSpPr>
        <p:grpSpPr bwMode="auto">
          <a:xfrm rot="1304332">
            <a:off x="-647700" y="1341438"/>
            <a:ext cx="647700" cy="539750"/>
            <a:chOff x="295" y="3385"/>
            <a:chExt cx="408" cy="340"/>
          </a:xfrm>
        </p:grpSpPr>
        <p:grpSp>
          <p:nvGrpSpPr>
            <p:cNvPr id="137" name="Group 140"/>
            <p:cNvGrpSpPr>
              <a:grpSpLocks/>
            </p:cNvGrpSpPr>
            <p:nvPr userDrawn="1"/>
          </p:nvGrpSpPr>
          <p:grpSpPr bwMode="auto">
            <a:xfrm rot="2362656">
              <a:off x="295" y="3385"/>
              <a:ext cx="408" cy="273"/>
              <a:chOff x="1701" y="527"/>
              <a:chExt cx="498" cy="273"/>
            </a:xfrm>
          </p:grpSpPr>
          <p:grpSp>
            <p:nvGrpSpPr>
              <p:cNvPr id="140" name="Group 141"/>
              <p:cNvGrpSpPr>
                <a:grpSpLocks/>
              </p:cNvGrpSpPr>
              <p:nvPr userDrawn="1"/>
            </p:nvGrpSpPr>
            <p:grpSpPr bwMode="auto">
              <a:xfrm rot="228844">
                <a:off x="1927" y="618"/>
                <a:ext cx="272" cy="90"/>
                <a:chOff x="1927" y="527"/>
                <a:chExt cx="272" cy="90"/>
              </a:xfrm>
            </p:grpSpPr>
            <p:sp>
              <p:nvSpPr>
                <p:cNvPr id="147" name="Oval 142"/>
                <p:cNvSpPr>
                  <a:spLocks noChangeArrowheads="1"/>
                </p:cNvSpPr>
                <p:nvPr userDrawn="1"/>
              </p:nvSpPr>
              <p:spPr bwMode="auto">
                <a:xfrm rot="187092">
                  <a:off x="1892" y="578"/>
                  <a:ext cx="272" cy="45"/>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8" name="Oval 143"/>
                <p:cNvSpPr>
                  <a:spLocks noChangeArrowheads="1"/>
                </p:cNvSpPr>
                <p:nvPr userDrawn="1"/>
              </p:nvSpPr>
              <p:spPr bwMode="auto">
                <a:xfrm rot="10143706">
                  <a:off x="1891" y="536"/>
                  <a:ext cx="272" cy="45"/>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41" name="Group 144"/>
              <p:cNvGrpSpPr>
                <a:grpSpLocks/>
              </p:cNvGrpSpPr>
              <p:nvPr userDrawn="1"/>
            </p:nvGrpSpPr>
            <p:grpSpPr bwMode="auto">
              <a:xfrm rot="10800000">
                <a:off x="1701" y="618"/>
                <a:ext cx="272" cy="90"/>
                <a:chOff x="1927" y="527"/>
                <a:chExt cx="272" cy="90"/>
              </a:xfrm>
            </p:grpSpPr>
            <p:sp>
              <p:nvSpPr>
                <p:cNvPr id="145" name="Oval 145"/>
                <p:cNvSpPr>
                  <a:spLocks noChangeArrowheads="1"/>
                </p:cNvSpPr>
                <p:nvPr userDrawn="1"/>
              </p:nvSpPr>
              <p:spPr bwMode="auto">
                <a:xfrm rot="187092">
                  <a:off x="1958" y="580"/>
                  <a:ext cx="272" cy="45"/>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6" name="Oval 146"/>
                <p:cNvSpPr>
                  <a:spLocks noChangeArrowheads="1"/>
                </p:cNvSpPr>
                <p:nvPr userDrawn="1"/>
              </p:nvSpPr>
              <p:spPr bwMode="auto">
                <a:xfrm rot="10143706">
                  <a:off x="1956" y="535"/>
                  <a:ext cx="272" cy="45"/>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42" name="Oval 147"/>
              <p:cNvSpPr>
                <a:spLocks noChangeArrowheads="1"/>
              </p:cNvSpPr>
              <p:nvPr userDrawn="1"/>
            </p:nvSpPr>
            <p:spPr bwMode="auto">
              <a:xfrm>
                <a:off x="1907" y="615"/>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3" name="Oval 148"/>
              <p:cNvSpPr>
                <a:spLocks noChangeArrowheads="1"/>
              </p:cNvSpPr>
              <p:nvPr userDrawn="1"/>
            </p:nvSpPr>
            <p:spPr bwMode="auto">
              <a:xfrm>
                <a:off x="1863" y="520"/>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44" name="Oval 149"/>
              <p:cNvSpPr>
                <a:spLocks noChangeArrowheads="1"/>
              </p:cNvSpPr>
              <p:nvPr userDrawn="1"/>
            </p:nvSpPr>
            <p:spPr bwMode="auto">
              <a:xfrm>
                <a:off x="1955" y="519"/>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38" name="Oval 150"/>
            <p:cNvSpPr>
              <a:spLocks noChangeArrowheads="1"/>
            </p:cNvSpPr>
            <p:nvPr userDrawn="1"/>
          </p:nvSpPr>
          <p:spPr bwMode="auto">
            <a:xfrm flipH="1">
              <a:off x="335" y="3656"/>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39" name="Oval 151"/>
            <p:cNvSpPr>
              <a:spLocks noChangeArrowheads="1"/>
            </p:cNvSpPr>
            <p:nvPr userDrawn="1"/>
          </p:nvSpPr>
          <p:spPr bwMode="auto">
            <a:xfrm flipH="1">
              <a:off x="286" y="3696"/>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49" name="Group 152"/>
          <p:cNvGrpSpPr>
            <a:grpSpLocks/>
          </p:cNvGrpSpPr>
          <p:nvPr/>
        </p:nvGrpSpPr>
        <p:grpSpPr bwMode="auto">
          <a:xfrm>
            <a:off x="179388" y="5300663"/>
            <a:ext cx="504825" cy="466725"/>
            <a:chOff x="295" y="3385"/>
            <a:chExt cx="408" cy="340"/>
          </a:xfrm>
        </p:grpSpPr>
        <p:grpSp>
          <p:nvGrpSpPr>
            <p:cNvPr id="150" name="Group 153"/>
            <p:cNvGrpSpPr>
              <a:grpSpLocks/>
            </p:cNvGrpSpPr>
            <p:nvPr userDrawn="1"/>
          </p:nvGrpSpPr>
          <p:grpSpPr bwMode="auto">
            <a:xfrm rot="2362656">
              <a:off x="295" y="3385"/>
              <a:ext cx="408" cy="273"/>
              <a:chOff x="1701" y="527"/>
              <a:chExt cx="498" cy="273"/>
            </a:xfrm>
          </p:grpSpPr>
          <p:grpSp>
            <p:nvGrpSpPr>
              <p:cNvPr id="153" name="Group 154"/>
              <p:cNvGrpSpPr>
                <a:grpSpLocks/>
              </p:cNvGrpSpPr>
              <p:nvPr userDrawn="1"/>
            </p:nvGrpSpPr>
            <p:grpSpPr bwMode="auto">
              <a:xfrm rot="228844">
                <a:off x="1927" y="618"/>
                <a:ext cx="272" cy="90"/>
                <a:chOff x="1927" y="527"/>
                <a:chExt cx="272" cy="90"/>
              </a:xfrm>
            </p:grpSpPr>
            <p:sp>
              <p:nvSpPr>
                <p:cNvPr id="160" name="Oval 155"/>
                <p:cNvSpPr>
                  <a:spLocks noChangeArrowheads="1"/>
                </p:cNvSpPr>
                <p:nvPr userDrawn="1"/>
              </p:nvSpPr>
              <p:spPr bwMode="auto">
                <a:xfrm rot="187092">
                  <a:off x="1894" y="576"/>
                  <a:ext cx="272" cy="43"/>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1" name="Oval 156"/>
                <p:cNvSpPr>
                  <a:spLocks noChangeArrowheads="1"/>
                </p:cNvSpPr>
                <p:nvPr userDrawn="1"/>
              </p:nvSpPr>
              <p:spPr bwMode="auto">
                <a:xfrm rot="10143706">
                  <a:off x="1897" y="531"/>
                  <a:ext cx="272" cy="42"/>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54" name="Group 157"/>
              <p:cNvGrpSpPr>
                <a:grpSpLocks/>
              </p:cNvGrpSpPr>
              <p:nvPr userDrawn="1"/>
            </p:nvGrpSpPr>
            <p:grpSpPr bwMode="auto">
              <a:xfrm rot="10800000">
                <a:off x="1701" y="618"/>
                <a:ext cx="272" cy="90"/>
                <a:chOff x="1927" y="527"/>
                <a:chExt cx="272" cy="90"/>
              </a:xfrm>
            </p:grpSpPr>
            <p:sp>
              <p:nvSpPr>
                <p:cNvPr id="158" name="Oval 158"/>
                <p:cNvSpPr>
                  <a:spLocks noChangeArrowheads="1"/>
                </p:cNvSpPr>
                <p:nvPr userDrawn="1"/>
              </p:nvSpPr>
              <p:spPr bwMode="auto">
                <a:xfrm rot="187092">
                  <a:off x="1939" y="572"/>
                  <a:ext cx="272" cy="39"/>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9" name="Oval 159"/>
                <p:cNvSpPr>
                  <a:spLocks noChangeArrowheads="1"/>
                </p:cNvSpPr>
                <p:nvPr userDrawn="1"/>
              </p:nvSpPr>
              <p:spPr bwMode="auto">
                <a:xfrm rot="10143706">
                  <a:off x="1937" y="526"/>
                  <a:ext cx="272" cy="44"/>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55" name="Oval 160"/>
              <p:cNvSpPr>
                <a:spLocks noChangeArrowheads="1"/>
              </p:cNvSpPr>
              <p:nvPr userDrawn="1"/>
            </p:nvSpPr>
            <p:spPr bwMode="auto">
              <a:xfrm>
                <a:off x="1918" y="619"/>
                <a:ext cx="47" cy="183"/>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6" name="Oval 161"/>
              <p:cNvSpPr>
                <a:spLocks noChangeArrowheads="1"/>
              </p:cNvSpPr>
              <p:nvPr userDrawn="1"/>
            </p:nvSpPr>
            <p:spPr bwMode="auto">
              <a:xfrm>
                <a:off x="1876" y="528"/>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7" name="Oval 162"/>
              <p:cNvSpPr>
                <a:spLocks noChangeArrowheads="1"/>
              </p:cNvSpPr>
              <p:nvPr userDrawn="1"/>
            </p:nvSpPr>
            <p:spPr bwMode="auto">
              <a:xfrm>
                <a:off x="1970" y="528"/>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51" name="Oval 163"/>
            <p:cNvSpPr>
              <a:spLocks noChangeArrowheads="1"/>
            </p:cNvSpPr>
            <p:nvPr userDrawn="1"/>
          </p:nvSpPr>
          <p:spPr bwMode="auto">
            <a:xfrm flipH="1">
              <a:off x="340" y="3657"/>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52" name="Oval 164"/>
            <p:cNvSpPr>
              <a:spLocks noChangeArrowheads="1"/>
            </p:cNvSpPr>
            <p:nvPr userDrawn="1"/>
          </p:nvSpPr>
          <p:spPr bwMode="auto">
            <a:xfrm flipH="1">
              <a:off x="295"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62" name="Group 165"/>
          <p:cNvGrpSpPr>
            <a:grpSpLocks/>
          </p:cNvGrpSpPr>
          <p:nvPr/>
        </p:nvGrpSpPr>
        <p:grpSpPr bwMode="auto">
          <a:xfrm rot="-2197408">
            <a:off x="8172450" y="5157788"/>
            <a:ext cx="511175" cy="322262"/>
            <a:chOff x="295" y="3385"/>
            <a:chExt cx="408" cy="340"/>
          </a:xfrm>
        </p:grpSpPr>
        <p:grpSp>
          <p:nvGrpSpPr>
            <p:cNvPr id="163" name="Group 166"/>
            <p:cNvGrpSpPr>
              <a:grpSpLocks/>
            </p:cNvGrpSpPr>
            <p:nvPr userDrawn="1"/>
          </p:nvGrpSpPr>
          <p:grpSpPr bwMode="auto">
            <a:xfrm rot="2362656">
              <a:off x="295" y="3385"/>
              <a:ext cx="408" cy="273"/>
              <a:chOff x="1701" y="527"/>
              <a:chExt cx="498" cy="273"/>
            </a:xfrm>
          </p:grpSpPr>
          <p:grpSp>
            <p:nvGrpSpPr>
              <p:cNvPr id="166" name="Group 167"/>
              <p:cNvGrpSpPr>
                <a:grpSpLocks/>
              </p:cNvGrpSpPr>
              <p:nvPr userDrawn="1"/>
            </p:nvGrpSpPr>
            <p:grpSpPr bwMode="auto">
              <a:xfrm rot="228844">
                <a:off x="1927" y="618"/>
                <a:ext cx="272" cy="90"/>
                <a:chOff x="1927" y="527"/>
                <a:chExt cx="272" cy="90"/>
              </a:xfrm>
            </p:grpSpPr>
            <p:sp>
              <p:nvSpPr>
                <p:cNvPr id="173" name="Oval 168"/>
                <p:cNvSpPr>
                  <a:spLocks noChangeArrowheads="1"/>
                </p:cNvSpPr>
                <p:nvPr userDrawn="1"/>
              </p:nvSpPr>
              <p:spPr bwMode="auto">
                <a:xfrm rot="187092">
                  <a:off x="1899" y="541"/>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4" name="Oval 169"/>
                <p:cNvSpPr>
                  <a:spLocks noChangeArrowheads="1"/>
                </p:cNvSpPr>
                <p:nvPr userDrawn="1"/>
              </p:nvSpPr>
              <p:spPr bwMode="auto">
                <a:xfrm rot="10143706">
                  <a:off x="1900" y="499"/>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67" name="Group 170"/>
              <p:cNvGrpSpPr>
                <a:grpSpLocks/>
              </p:cNvGrpSpPr>
              <p:nvPr userDrawn="1"/>
            </p:nvGrpSpPr>
            <p:grpSpPr bwMode="auto">
              <a:xfrm rot="10800000">
                <a:off x="1701" y="618"/>
                <a:ext cx="272" cy="90"/>
                <a:chOff x="1927" y="527"/>
                <a:chExt cx="272" cy="90"/>
              </a:xfrm>
            </p:grpSpPr>
            <p:sp>
              <p:nvSpPr>
                <p:cNvPr id="171" name="Oval 171"/>
                <p:cNvSpPr>
                  <a:spLocks noChangeArrowheads="1"/>
                </p:cNvSpPr>
                <p:nvPr userDrawn="1"/>
              </p:nvSpPr>
              <p:spPr bwMode="auto">
                <a:xfrm rot="187092">
                  <a:off x="1936" y="616"/>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2" name="Oval 172"/>
                <p:cNvSpPr>
                  <a:spLocks noChangeArrowheads="1"/>
                </p:cNvSpPr>
                <p:nvPr userDrawn="1"/>
              </p:nvSpPr>
              <p:spPr bwMode="auto">
                <a:xfrm rot="10143706">
                  <a:off x="1937" y="574"/>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68" name="Oval 173"/>
              <p:cNvSpPr>
                <a:spLocks noChangeArrowheads="1"/>
              </p:cNvSpPr>
              <p:nvPr userDrawn="1"/>
            </p:nvSpPr>
            <p:spPr bwMode="auto">
              <a:xfrm>
                <a:off x="1920" y="593"/>
                <a:ext cx="45" cy="183"/>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9" name="Oval 174"/>
              <p:cNvSpPr>
                <a:spLocks noChangeArrowheads="1"/>
              </p:cNvSpPr>
              <p:nvPr userDrawn="1"/>
            </p:nvSpPr>
            <p:spPr bwMode="auto">
              <a:xfrm>
                <a:off x="1869" y="503"/>
                <a:ext cx="46"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0" name="Oval 175"/>
              <p:cNvSpPr>
                <a:spLocks noChangeArrowheads="1"/>
              </p:cNvSpPr>
              <p:nvPr userDrawn="1"/>
            </p:nvSpPr>
            <p:spPr bwMode="auto">
              <a:xfrm>
                <a:off x="1967" y="506"/>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64" name="Oval 176"/>
            <p:cNvSpPr>
              <a:spLocks noChangeArrowheads="1"/>
            </p:cNvSpPr>
            <p:nvPr userDrawn="1"/>
          </p:nvSpPr>
          <p:spPr bwMode="auto">
            <a:xfrm flipH="1">
              <a:off x="340" y="3654"/>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65" name="Oval 177"/>
            <p:cNvSpPr>
              <a:spLocks noChangeArrowheads="1"/>
            </p:cNvSpPr>
            <p:nvPr userDrawn="1"/>
          </p:nvSpPr>
          <p:spPr bwMode="auto">
            <a:xfrm flipH="1">
              <a:off x="295" y="3701"/>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75" name="Group 178"/>
          <p:cNvGrpSpPr>
            <a:grpSpLocks/>
          </p:cNvGrpSpPr>
          <p:nvPr/>
        </p:nvGrpSpPr>
        <p:grpSpPr bwMode="auto">
          <a:xfrm>
            <a:off x="6156325" y="5734050"/>
            <a:ext cx="576263" cy="466725"/>
            <a:chOff x="295" y="3385"/>
            <a:chExt cx="408" cy="340"/>
          </a:xfrm>
        </p:grpSpPr>
        <p:grpSp>
          <p:nvGrpSpPr>
            <p:cNvPr id="176" name="Group 179"/>
            <p:cNvGrpSpPr>
              <a:grpSpLocks/>
            </p:cNvGrpSpPr>
            <p:nvPr userDrawn="1"/>
          </p:nvGrpSpPr>
          <p:grpSpPr bwMode="auto">
            <a:xfrm rot="2362656">
              <a:off x="295" y="3385"/>
              <a:ext cx="408" cy="273"/>
              <a:chOff x="1701" y="527"/>
              <a:chExt cx="498" cy="273"/>
            </a:xfrm>
          </p:grpSpPr>
          <p:grpSp>
            <p:nvGrpSpPr>
              <p:cNvPr id="179" name="Group 180"/>
              <p:cNvGrpSpPr>
                <a:grpSpLocks/>
              </p:cNvGrpSpPr>
              <p:nvPr userDrawn="1"/>
            </p:nvGrpSpPr>
            <p:grpSpPr bwMode="auto">
              <a:xfrm rot="228844">
                <a:off x="1927" y="618"/>
                <a:ext cx="272" cy="90"/>
                <a:chOff x="1927" y="527"/>
                <a:chExt cx="272" cy="90"/>
              </a:xfrm>
            </p:grpSpPr>
            <p:sp>
              <p:nvSpPr>
                <p:cNvPr id="186" name="Oval 181"/>
                <p:cNvSpPr>
                  <a:spLocks noChangeArrowheads="1"/>
                </p:cNvSpPr>
                <p:nvPr userDrawn="1"/>
              </p:nvSpPr>
              <p:spPr bwMode="auto">
                <a:xfrm rot="187092">
                  <a:off x="1921" y="573"/>
                  <a:ext cx="272" cy="43"/>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7" name="Oval 182"/>
                <p:cNvSpPr>
                  <a:spLocks noChangeArrowheads="1"/>
                </p:cNvSpPr>
                <p:nvPr userDrawn="1"/>
              </p:nvSpPr>
              <p:spPr bwMode="auto">
                <a:xfrm rot="10143706">
                  <a:off x="1911" y="530"/>
                  <a:ext cx="272" cy="43"/>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0" name="Group 183"/>
              <p:cNvGrpSpPr>
                <a:grpSpLocks/>
              </p:cNvGrpSpPr>
              <p:nvPr userDrawn="1"/>
            </p:nvGrpSpPr>
            <p:grpSpPr bwMode="auto">
              <a:xfrm rot="10800000">
                <a:off x="1701" y="618"/>
                <a:ext cx="272" cy="90"/>
                <a:chOff x="1927" y="527"/>
                <a:chExt cx="272" cy="90"/>
              </a:xfrm>
            </p:grpSpPr>
            <p:sp>
              <p:nvSpPr>
                <p:cNvPr id="184" name="Oval 184"/>
                <p:cNvSpPr>
                  <a:spLocks noChangeArrowheads="1"/>
                </p:cNvSpPr>
                <p:nvPr userDrawn="1"/>
              </p:nvSpPr>
              <p:spPr bwMode="auto">
                <a:xfrm rot="187092">
                  <a:off x="1950" y="573"/>
                  <a:ext cx="272" cy="38"/>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5" name="Oval 185"/>
                <p:cNvSpPr>
                  <a:spLocks noChangeArrowheads="1"/>
                </p:cNvSpPr>
                <p:nvPr userDrawn="1"/>
              </p:nvSpPr>
              <p:spPr bwMode="auto">
                <a:xfrm rot="10143706">
                  <a:off x="1955" y="525"/>
                  <a:ext cx="272" cy="44"/>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81" name="Oval 186"/>
              <p:cNvSpPr>
                <a:spLocks noChangeArrowheads="1"/>
              </p:cNvSpPr>
              <p:nvPr userDrawn="1"/>
            </p:nvSpPr>
            <p:spPr bwMode="auto">
              <a:xfrm>
                <a:off x="1924" y="618"/>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2" name="Oval 187"/>
              <p:cNvSpPr>
                <a:spLocks noChangeArrowheads="1"/>
              </p:cNvSpPr>
              <p:nvPr userDrawn="1"/>
            </p:nvSpPr>
            <p:spPr bwMode="auto">
              <a:xfrm>
                <a:off x="1879" y="527"/>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83" name="Oval 188"/>
              <p:cNvSpPr>
                <a:spLocks noChangeArrowheads="1"/>
              </p:cNvSpPr>
              <p:nvPr userDrawn="1"/>
            </p:nvSpPr>
            <p:spPr bwMode="auto">
              <a:xfrm>
                <a:off x="1962" y="523"/>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77" name="Oval 189"/>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78" name="Oval 190"/>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8" name="Group 191"/>
          <p:cNvGrpSpPr>
            <a:grpSpLocks/>
          </p:cNvGrpSpPr>
          <p:nvPr/>
        </p:nvGrpSpPr>
        <p:grpSpPr bwMode="auto">
          <a:xfrm rot="1401958">
            <a:off x="6372225" y="5957888"/>
            <a:ext cx="503238" cy="1800225"/>
            <a:chOff x="3470" y="572"/>
            <a:chExt cx="317" cy="1134"/>
          </a:xfrm>
        </p:grpSpPr>
        <p:sp>
          <p:nvSpPr>
            <p:cNvPr id="189" name="Arc 192"/>
            <p:cNvSpPr>
              <a:spLocks/>
            </p:cNvSpPr>
            <p:nvPr userDrawn="1"/>
          </p:nvSpPr>
          <p:spPr bwMode="auto">
            <a:xfrm>
              <a:off x="3506" y="697"/>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190" name="Oval 193"/>
            <p:cNvSpPr>
              <a:spLocks noChangeArrowheads="1"/>
            </p:cNvSpPr>
            <p:nvPr userDrawn="1"/>
          </p:nvSpPr>
          <p:spPr bwMode="auto">
            <a:xfrm rot="-3515713">
              <a:off x="3535" y="784"/>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1" name="Oval 194"/>
            <p:cNvSpPr>
              <a:spLocks noChangeArrowheads="1"/>
            </p:cNvSpPr>
            <p:nvPr userDrawn="1"/>
          </p:nvSpPr>
          <p:spPr bwMode="auto">
            <a:xfrm rot="-1615679">
              <a:off x="3467" y="696"/>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2" name="Oval 195"/>
            <p:cNvSpPr>
              <a:spLocks noChangeArrowheads="1"/>
            </p:cNvSpPr>
            <p:nvPr userDrawn="1"/>
          </p:nvSpPr>
          <p:spPr bwMode="auto">
            <a:xfrm rot="6199228">
              <a:off x="3535"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3" name="Oval 196"/>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4" name="Oval 197"/>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5" name="Oval 198"/>
            <p:cNvSpPr>
              <a:spLocks noChangeArrowheads="1"/>
            </p:cNvSpPr>
            <p:nvPr userDrawn="1"/>
          </p:nvSpPr>
          <p:spPr bwMode="auto">
            <a:xfrm rot="-4126769">
              <a:off x="3490" y="744"/>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6" name="Oval 199"/>
            <p:cNvSpPr>
              <a:spLocks noChangeArrowheads="1"/>
            </p:cNvSpPr>
            <p:nvPr userDrawn="1"/>
          </p:nvSpPr>
          <p:spPr bwMode="auto">
            <a:xfrm rot="-2624767">
              <a:off x="3578" y="653"/>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7" name="Oval 200"/>
            <p:cNvSpPr>
              <a:spLocks noChangeArrowheads="1"/>
            </p:cNvSpPr>
            <p:nvPr userDrawn="1"/>
          </p:nvSpPr>
          <p:spPr bwMode="auto">
            <a:xfrm rot="-5400000">
              <a:off x="3564" y="827"/>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98" name="Oval 201"/>
            <p:cNvSpPr>
              <a:spLocks noChangeArrowheads="1"/>
            </p:cNvSpPr>
            <p:nvPr userDrawn="1"/>
          </p:nvSpPr>
          <p:spPr bwMode="auto">
            <a:xfrm rot="-1495776">
              <a:off x="3616"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99" name="Group 202"/>
          <p:cNvGrpSpPr>
            <a:grpSpLocks/>
          </p:cNvGrpSpPr>
          <p:nvPr/>
        </p:nvGrpSpPr>
        <p:grpSpPr bwMode="auto">
          <a:xfrm flipH="1">
            <a:off x="1692275" y="6453188"/>
            <a:ext cx="503238" cy="1800225"/>
            <a:chOff x="3470" y="572"/>
            <a:chExt cx="317" cy="1134"/>
          </a:xfrm>
        </p:grpSpPr>
        <p:sp>
          <p:nvSpPr>
            <p:cNvPr id="200" name="Arc 203"/>
            <p:cNvSpPr>
              <a:spLocks/>
            </p:cNvSpPr>
            <p:nvPr userDrawn="1"/>
          </p:nvSpPr>
          <p:spPr bwMode="auto">
            <a:xfrm>
              <a:off x="3507" y="698"/>
              <a:ext cx="280" cy="1008"/>
            </a:xfrm>
            <a:custGeom>
              <a:avLst/>
              <a:gdLst>
                <a:gd name="T0" fmla="*/ 0 w 16421"/>
                <a:gd name="T1" fmla="*/ 0 h 21600"/>
                <a:gd name="T2" fmla="*/ 0 w 16421"/>
                <a:gd name="T3" fmla="*/ 0 h 21600"/>
                <a:gd name="T4" fmla="*/ 0 w 16421"/>
                <a:gd name="T5" fmla="*/ 0 h 21600"/>
                <a:gd name="T6" fmla="*/ 0 60000 65536"/>
                <a:gd name="T7" fmla="*/ 0 60000 65536"/>
                <a:gd name="T8" fmla="*/ 0 60000 65536"/>
              </a:gdLst>
              <a:ahLst/>
              <a:cxnLst>
                <a:cxn ang="T6">
                  <a:pos x="T0" y="T1"/>
                </a:cxn>
                <a:cxn ang="T7">
                  <a:pos x="T2" y="T3"/>
                </a:cxn>
                <a:cxn ang="T8">
                  <a:pos x="T4" y="T5"/>
                </a:cxn>
              </a:cxnLst>
              <a:rect l="0" t="0" r="r" b="b"/>
              <a:pathLst>
                <a:path w="16421" h="21600" fill="none" extrusionOk="0">
                  <a:moveTo>
                    <a:pt x="-1" y="0"/>
                  </a:moveTo>
                  <a:cubicBezTo>
                    <a:pt x="6317" y="0"/>
                    <a:pt x="12317" y="2765"/>
                    <a:pt x="16421" y="7567"/>
                  </a:cubicBezTo>
                </a:path>
                <a:path w="16421" h="21600" stroke="0" extrusionOk="0">
                  <a:moveTo>
                    <a:pt x="-1" y="0"/>
                  </a:moveTo>
                  <a:cubicBezTo>
                    <a:pt x="6317" y="0"/>
                    <a:pt x="12317" y="2765"/>
                    <a:pt x="16421" y="7567"/>
                  </a:cubicBezTo>
                  <a:lnTo>
                    <a:pt x="0" y="21600"/>
                  </a:lnTo>
                  <a:lnTo>
                    <a:pt x="-1"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201" name="Oval 204"/>
            <p:cNvSpPr>
              <a:spLocks noChangeArrowheads="1"/>
            </p:cNvSpPr>
            <p:nvPr userDrawn="1"/>
          </p:nvSpPr>
          <p:spPr bwMode="auto">
            <a:xfrm rot="-3515713">
              <a:off x="3536" y="785"/>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2" name="Oval 205"/>
            <p:cNvSpPr>
              <a:spLocks noChangeArrowheads="1"/>
            </p:cNvSpPr>
            <p:nvPr userDrawn="1"/>
          </p:nvSpPr>
          <p:spPr bwMode="auto">
            <a:xfrm rot="-1615679">
              <a:off x="3470"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3" name="Oval 206"/>
            <p:cNvSpPr>
              <a:spLocks noChangeArrowheads="1"/>
            </p:cNvSpPr>
            <p:nvPr userDrawn="1"/>
          </p:nvSpPr>
          <p:spPr bwMode="auto">
            <a:xfrm rot="6199228">
              <a:off x="3536" y="617"/>
              <a:ext cx="126" cy="36"/>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4" name="Oval 207"/>
            <p:cNvSpPr>
              <a:spLocks noChangeArrowheads="1"/>
            </p:cNvSpPr>
            <p:nvPr userDrawn="1"/>
          </p:nvSpPr>
          <p:spPr bwMode="auto">
            <a:xfrm>
              <a:off x="3654" y="740"/>
              <a:ext cx="111" cy="41"/>
            </a:xfrm>
            <a:prstGeom prst="ellipse">
              <a:avLst/>
            </a:prstGeom>
            <a:solidFill>
              <a:srgbClr val="808000">
                <a:alpha val="79999"/>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5" name="Oval 208"/>
            <p:cNvSpPr>
              <a:spLocks noChangeArrowheads="1"/>
            </p:cNvSpPr>
            <p:nvPr userDrawn="1"/>
          </p:nvSpPr>
          <p:spPr bwMode="auto">
            <a:xfrm>
              <a:off x="3470"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6" name="Oval 209"/>
            <p:cNvSpPr>
              <a:spLocks noChangeArrowheads="1"/>
            </p:cNvSpPr>
            <p:nvPr userDrawn="1"/>
          </p:nvSpPr>
          <p:spPr bwMode="auto">
            <a:xfrm rot="-4126769">
              <a:off x="3499" y="743"/>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7" name="Oval 210"/>
            <p:cNvSpPr>
              <a:spLocks noChangeArrowheads="1"/>
            </p:cNvSpPr>
            <p:nvPr userDrawn="1"/>
          </p:nvSpPr>
          <p:spPr bwMode="auto">
            <a:xfrm rot="-2624767">
              <a:off x="3581" y="655"/>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8" name="Oval 211"/>
            <p:cNvSpPr>
              <a:spLocks noChangeArrowheads="1"/>
            </p:cNvSpPr>
            <p:nvPr userDrawn="1"/>
          </p:nvSpPr>
          <p:spPr bwMode="auto">
            <a:xfrm rot="-5400000">
              <a:off x="3572" y="825"/>
              <a:ext cx="126" cy="37"/>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09" name="Oval 212"/>
            <p:cNvSpPr>
              <a:spLocks noChangeArrowheads="1"/>
            </p:cNvSpPr>
            <p:nvPr userDrawn="1"/>
          </p:nvSpPr>
          <p:spPr bwMode="auto">
            <a:xfrm rot="-1495776">
              <a:off x="3617" y="698"/>
              <a:ext cx="111" cy="42"/>
            </a:xfrm>
            <a:prstGeom prst="ellipse">
              <a:avLst/>
            </a:prstGeom>
            <a:solidFill>
              <a:srgbClr val="808000"/>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0" name="Group 213"/>
          <p:cNvGrpSpPr>
            <a:grpSpLocks/>
          </p:cNvGrpSpPr>
          <p:nvPr/>
        </p:nvGrpSpPr>
        <p:grpSpPr bwMode="auto">
          <a:xfrm rot="538637">
            <a:off x="7308850" y="5516563"/>
            <a:ext cx="815975" cy="2030412"/>
            <a:chOff x="4377" y="300"/>
            <a:chExt cx="514" cy="1279"/>
          </a:xfrm>
        </p:grpSpPr>
        <p:sp>
          <p:nvSpPr>
            <p:cNvPr id="211" name="Arc 214"/>
            <p:cNvSpPr>
              <a:spLocks/>
            </p:cNvSpPr>
            <p:nvPr userDrawn="1"/>
          </p:nvSpPr>
          <p:spPr bwMode="auto">
            <a:xfrm rot="-290276">
              <a:off x="4419" y="449"/>
              <a:ext cx="457" cy="1130"/>
            </a:xfrm>
            <a:custGeom>
              <a:avLst/>
              <a:gdLst>
                <a:gd name="T0" fmla="*/ 0 w 20810"/>
                <a:gd name="T1" fmla="*/ 0 h 20197"/>
                <a:gd name="T2" fmla="*/ 0 w 20810"/>
                <a:gd name="T3" fmla="*/ 0 h 20197"/>
                <a:gd name="T4" fmla="*/ 0 w 20810"/>
                <a:gd name="T5" fmla="*/ 0 h 20197"/>
                <a:gd name="T6" fmla="*/ 0 60000 65536"/>
                <a:gd name="T7" fmla="*/ 0 60000 65536"/>
                <a:gd name="T8" fmla="*/ 0 60000 65536"/>
              </a:gdLst>
              <a:ahLst/>
              <a:cxnLst>
                <a:cxn ang="T6">
                  <a:pos x="T0" y="T1"/>
                </a:cxn>
                <a:cxn ang="T7">
                  <a:pos x="T2" y="T3"/>
                </a:cxn>
                <a:cxn ang="T8">
                  <a:pos x="T4" y="T5"/>
                </a:cxn>
              </a:cxnLst>
              <a:rect l="0" t="0" r="r" b="b"/>
              <a:pathLst>
                <a:path w="20810" h="20197" fill="none" extrusionOk="0">
                  <a:moveTo>
                    <a:pt x="7657" y="0"/>
                  </a:moveTo>
                  <a:cubicBezTo>
                    <a:pt x="14084" y="2436"/>
                    <a:pt x="18967" y="7786"/>
                    <a:pt x="20809" y="14408"/>
                  </a:cubicBezTo>
                </a:path>
                <a:path w="20810" h="20197" stroke="0" extrusionOk="0">
                  <a:moveTo>
                    <a:pt x="7657" y="0"/>
                  </a:moveTo>
                  <a:cubicBezTo>
                    <a:pt x="14084" y="2436"/>
                    <a:pt x="18967" y="7786"/>
                    <a:pt x="20809" y="14408"/>
                  </a:cubicBezTo>
                  <a:lnTo>
                    <a:pt x="0" y="20197"/>
                  </a:lnTo>
                  <a:lnTo>
                    <a:pt x="7657"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212" name="Oval 215"/>
            <p:cNvSpPr>
              <a:spLocks noChangeArrowheads="1"/>
            </p:cNvSpPr>
            <p:nvPr userDrawn="1"/>
          </p:nvSpPr>
          <p:spPr bwMode="auto">
            <a:xfrm rot="-3515713">
              <a:off x="4461" y="548"/>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3" name="Oval 216"/>
            <p:cNvSpPr>
              <a:spLocks noChangeArrowheads="1"/>
            </p:cNvSpPr>
            <p:nvPr userDrawn="1"/>
          </p:nvSpPr>
          <p:spPr bwMode="auto">
            <a:xfrm rot="-1615679">
              <a:off x="4370" y="447"/>
              <a:ext cx="143"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4" name="Oval 217"/>
            <p:cNvSpPr>
              <a:spLocks noChangeArrowheads="1"/>
            </p:cNvSpPr>
            <p:nvPr userDrawn="1"/>
          </p:nvSpPr>
          <p:spPr bwMode="auto">
            <a:xfrm rot="6199228">
              <a:off x="4461" y="347"/>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5" name="Oval 218"/>
            <p:cNvSpPr>
              <a:spLocks noChangeArrowheads="1"/>
            </p:cNvSpPr>
            <p:nvPr userDrawn="1"/>
          </p:nvSpPr>
          <p:spPr bwMode="auto">
            <a:xfrm>
              <a:off x="4608" y="496"/>
              <a:ext cx="143"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6" name="Oval 219"/>
            <p:cNvSpPr>
              <a:spLocks noChangeArrowheads="1"/>
            </p:cNvSpPr>
            <p:nvPr userDrawn="1"/>
          </p:nvSpPr>
          <p:spPr bwMode="auto">
            <a:xfrm rot="-4126769">
              <a:off x="4419" y="494"/>
              <a:ext cx="151" cy="48"/>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7" name="Oval 220"/>
            <p:cNvSpPr>
              <a:spLocks noChangeArrowheads="1"/>
            </p:cNvSpPr>
            <p:nvPr userDrawn="1"/>
          </p:nvSpPr>
          <p:spPr bwMode="auto">
            <a:xfrm rot="-2624767">
              <a:off x="4514" y="395"/>
              <a:ext cx="142" cy="50"/>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8" name="Oval 221"/>
            <p:cNvSpPr>
              <a:spLocks noChangeArrowheads="1"/>
            </p:cNvSpPr>
            <p:nvPr userDrawn="1"/>
          </p:nvSpPr>
          <p:spPr bwMode="auto">
            <a:xfrm rot="-2742706">
              <a:off x="4515" y="603"/>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19" name="Oval 222"/>
            <p:cNvSpPr>
              <a:spLocks noChangeArrowheads="1"/>
            </p:cNvSpPr>
            <p:nvPr userDrawn="1"/>
          </p:nvSpPr>
          <p:spPr bwMode="auto">
            <a:xfrm rot="-1495776">
              <a:off x="4567" y="451"/>
              <a:ext cx="142" cy="50"/>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0" name="Oval 223"/>
            <p:cNvSpPr>
              <a:spLocks noChangeArrowheads="1"/>
            </p:cNvSpPr>
            <p:nvPr userDrawn="1"/>
          </p:nvSpPr>
          <p:spPr bwMode="auto">
            <a:xfrm rot="-2742706">
              <a:off x="4546" y="667"/>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1" name="Oval 224"/>
            <p:cNvSpPr>
              <a:spLocks noChangeArrowheads="1"/>
            </p:cNvSpPr>
            <p:nvPr userDrawn="1"/>
          </p:nvSpPr>
          <p:spPr bwMode="auto">
            <a:xfrm rot="-2742706">
              <a:off x="4590" y="711"/>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2" name="Oval 225"/>
            <p:cNvSpPr>
              <a:spLocks noChangeArrowheads="1"/>
            </p:cNvSpPr>
            <p:nvPr userDrawn="1"/>
          </p:nvSpPr>
          <p:spPr bwMode="auto">
            <a:xfrm rot="1036516">
              <a:off x="4740" y="754"/>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3" name="Oval 226"/>
            <p:cNvSpPr>
              <a:spLocks noChangeArrowheads="1"/>
            </p:cNvSpPr>
            <p:nvPr userDrawn="1"/>
          </p:nvSpPr>
          <p:spPr bwMode="auto">
            <a:xfrm rot="403513">
              <a:off x="4636" y="572"/>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4" name="Oval 227"/>
            <p:cNvSpPr>
              <a:spLocks noChangeArrowheads="1"/>
            </p:cNvSpPr>
            <p:nvPr userDrawn="1"/>
          </p:nvSpPr>
          <p:spPr bwMode="auto">
            <a:xfrm rot="347087">
              <a:off x="4688" y="658"/>
              <a:ext cx="151" cy="47"/>
            </a:xfrm>
            <a:prstGeom prst="ellipse">
              <a:avLst/>
            </a:prstGeom>
            <a:solidFill>
              <a:srgbClr val="339966">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25" name="Oval 228"/>
            <p:cNvSpPr>
              <a:spLocks noChangeArrowheads="1"/>
            </p:cNvSpPr>
            <p:nvPr userDrawn="1"/>
          </p:nvSpPr>
          <p:spPr bwMode="auto">
            <a:xfrm rot="-2685850">
              <a:off x="4642" y="794"/>
              <a:ext cx="151" cy="47"/>
            </a:xfrm>
            <a:prstGeom prst="ellipse">
              <a:avLst/>
            </a:prstGeom>
            <a:solidFill>
              <a:srgbClr val="808000">
                <a:alpha val="50195"/>
              </a:srgbClr>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26" name="AutoShape 229"/>
          <p:cNvSpPr>
            <a:spLocks noChangeArrowheads="1"/>
          </p:cNvSpPr>
          <p:nvPr/>
        </p:nvSpPr>
        <p:spPr bwMode="auto">
          <a:xfrm rot="19980577">
            <a:off x="7091363" y="7051675"/>
            <a:ext cx="360362" cy="908050"/>
          </a:xfrm>
          <a:prstGeom prst="moon">
            <a:avLst>
              <a:gd name="adj" fmla="val 0"/>
            </a:avLst>
          </a:prstGeom>
          <a:gradFill rotWithShape="1">
            <a:gsLst>
              <a:gs pos="0">
                <a:schemeClr val="folHlink"/>
              </a:gs>
              <a:gs pos="100000">
                <a:schemeClr val="folHlink">
                  <a:gamma/>
                  <a:shade val="46275"/>
                  <a:invGamma/>
                </a:schemeClr>
              </a:gs>
            </a:gsLst>
            <a:lin ang="5400000" scaled="1"/>
          </a:gradFill>
          <a:ln>
            <a:noFill/>
          </a:ln>
          <a:effectLst>
            <a:prstShdw prst="shdw17" dist="17961" dir="2700000">
              <a:schemeClr val="folHlink">
                <a:gamma/>
                <a:shade val="60000"/>
                <a:invGamma/>
              </a:schemeClr>
            </a:prstShdw>
          </a:effectLst>
          <a:ex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grpSp>
        <p:nvGrpSpPr>
          <p:cNvPr id="227" name="Group 230"/>
          <p:cNvGrpSpPr>
            <a:grpSpLocks/>
          </p:cNvGrpSpPr>
          <p:nvPr/>
        </p:nvGrpSpPr>
        <p:grpSpPr bwMode="auto">
          <a:xfrm rot="-4249260">
            <a:off x="731838" y="3994150"/>
            <a:ext cx="503238" cy="503237"/>
            <a:chOff x="295" y="3385"/>
            <a:chExt cx="408" cy="340"/>
          </a:xfrm>
        </p:grpSpPr>
        <p:grpSp>
          <p:nvGrpSpPr>
            <p:cNvPr id="228" name="Group 231"/>
            <p:cNvGrpSpPr>
              <a:grpSpLocks/>
            </p:cNvGrpSpPr>
            <p:nvPr userDrawn="1"/>
          </p:nvGrpSpPr>
          <p:grpSpPr bwMode="auto">
            <a:xfrm rot="2362656">
              <a:off x="295" y="3385"/>
              <a:ext cx="408" cy="273"/>
              <a:chOff x="1701" y="527"/>
              <a:chExt cx="498" cy="273"/>
            </a:xfrm>
          </p:grpSpPr>
          <p:grpSp>
            <p:nvGrpSpPr>
              <p:cNvPr id="231" name="Group 232"/>
              <p:cNvGrpSpPr>
                <a:grpSpLocks/>
              </p:cNvGrpSpPr>
              <p:nvPr userDrawn="1"/>
            </p:nvGrpSpPr>
            <p:grpSpPr bwMode="auto">
              <a:xfrm rot="228844">
                <a:off x="1927" y="618"/>
                <a:ext cx="272" cy="90"/>
                <a:chOff x="1927" y="527"/>
                <a:chExt cx="272" cy="90"/>
              </a:xfrm>
            </p:grpSpPr>
            <p:sp>
              <p:nvSpPr>
                <p:cNvPr id="238" name="Oval 233"/>
                <p:cNvSpPr>
                  <a:spLocks noChangeArrowheads="1"/>
                </p:cNvSpPr>
                <p:nvPr userDrawn="1"/>
              </p:nvSpPr>
              <p:spPr bwMode="auto">
                <a:xfrm rot="187092">
                  <a:off x="1914" y="547"/>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9" name="Oval 234"/>
                <p:cNvSpPr>
                  <a:spLocks noChangeArrowheads="1"/>
                </p:cNvSpPr>
                <p:nvPr userDrawn="1"/>
              </p:nvSpPr>
              <p:spPr bwMode="auto">
                <a:xfrm rot="10143706">
                  <a:off x="1917" y="502"/>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32" name="Group 235"/>
              <p:cNvGrpSpPr>
                <a:grpSpLocks/>
              </p:cNvGrpSpPr>
              <p:nvPr userDrawn="1"/>
            </p:nvGrpSpPr>
            <p:grpSpPr bwMode="auto">
              <a:xfrm rot="10800000">
                <a:off x="1701" y="618"/>
                <a:ext cx="272" cy="90"/>
                <a:chOff x="1927" y="527"/>
                <a:chExt cx="272" cy="90"/>
              </a:xfrm>
            </p:grpSpPr>
            <p:sp>
              <p:nvSpPr>
                <p:cNvPr id="236" name="Oval 236"/>
                <p:cNvSpPr>
                  <a:spLocks noChangeArrowheads="1"/>
                </p:cNvSpPr>
                <p:nvPr userDrawn="1"/>
              </p:nvSpPr>
              <p:spPr bwMode="auto">
                <a:xfrm rot="187092">
                  <a:off x="1932" y="595"/>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7" name="Oval 237"/>
                <p:cNvSpPr>
                  <a:spLocks noChangeArrowheads="1"/>
                </p:cNvSpPr>
                <p:nvPr userDrawn="1"/>
              </p:nvSpPr>
              <p:spPr bwMode="auto">
                <a:xfrm rot="10143706">
                  <a:off x="1933" y="549"/>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33" name="Oval 238"/>
              <p:cNvSpPr>
                <a:spLocks noChangeArrowheads="1"/>
              </p:cNvSpPr>
              <p:nvPr userDrawn="1"/>
            </p:nvSpPr>
            <p:spPr bwMode="auto">
              <a:xfrm>
                <a:off x="1921" y="604"/>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4" name="Oval 239"/>
              <p:cNvSpPr>
                <a:spLocks noChangeArrowheads="1"/>
              </p:cNvSpPr>
              <p:nvPr userDrawn="1"/>
            </p:nvSpPr>
            <p:spPr bwMode="auto">
              <a:xfrm>
                <a:off x="1881" y="510"/>
                <a:ext cx="46"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5" name="Oval 240"/>
              <p:cNvSpPr>
                <a:spLocks noChangeArrowheads="1"/>
              </p:cNvSpPr>
              <p:nvPr userDrawn="1"/>
            </p:nvSpPr>
            <p:spPr bwMode="auto">
              <a:xfrm>
                <a:off x="1972" y="510"/>
                <a:ext cx="46"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29" name="Oval 241"/>
            <p:cNvSpPr>
              <a:spLocks noChangeArrowheads="1"/>
            </p:cNvSpPr>
            <p:nvPr userDrawn="1"/>
          </p:nvSpPr>
          <p:spPr bwMode="auto">
            <a:xfrm flipH="1">
              <a:off x="334" y="3658"/>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230" name="Oval 242"/>
            <p:cNvSpPr>
              <a:spLocks noChangeArrowheads="1"/>
            </p:cNvSpPr>
            <p:nvPr userDrawn="1"/>
          </p:nvSpPr>
          <p:spPr bwMode="auto">
            <a:xfrm flipH="1">
              <a:off x="287"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28754" name="Rectangle 82"/>
          <p:cNvSpPr>
            <a:spLocks noGrp="1" noChangeArrowheads="1"/>
          </p:cNvSpPr>
          <p:nvPr>
            <p:ph type="ctrTitle"/>
          </p:nvPr>
        </p:nvSpPr>
        <p:spPr>
          <a:xfrm>
            <a:off x="685800" y="2130425"/>
            <a:ext cx="7772400" cy="1470025"/>
          </a:xfrm>
        </p:spPr>
        <p:txBody>
          <a:bodyPr/>
          <a:lstStyle>
            <a:lvl1pPr>
              <a:defRPr/>
            </a:lvl1pPr>
          </a:lstStyle>
          <a:p>
            <a:pPr lvl="0"/>
            <a:r>
              <a:rPr lang="zh-TW" altLang="en-US" noProof="0" smtClean="0"/>
              <a:t>按一下以編輯母片標題樣式</a:t>
            </a:r>
          </a:p>
        </p:txBody>
      </p:sp>
      <p:sp>
        <p:nvSpPr>
          <p:cNvPr id="28755" name="Rectangle 83"/>
          <p:cNvSpPr>
            <a:spLocks noGrp="1" noChangeArrowheads="1"/>
          </p:cNvSpPr>
          <p:nvPr>
            <p:ph type="subTitle" idx="1"/>
          </p:nvPr>
        </p:nvSpPr>
        <p:spPr>
          <a:xfrm>
            <a:off x="1371600" y="3886200"/>
            <a:ext cx="6400800" cy="1752600"/>
          </a:xfrm>
        </p:spPr>
        <p:txBody>
          <a:bodyPr/>
          <a:lstStyle>
            <a:lvl1pPr marL="0" indent="0" algn="ctr">
              <a:buFontTx/>
              <a:buNone/>
              <a:defRPr/>
            </a:lvl1pPr>
          </a:lstStyle>
          <a:p>
            <a:pPr lvl="0"/>
            <a:r>
              <a:rPr lang="zh-TW" altLang="en-US" noProof="0" smtClean="0"/>
              <a:t>按一下以編輯母片副標題樣式</a:t>
            </a:r>
          </a:p>
        </p:txBody>
      </p:sp>
      <p:sp>
        <p:nvSpPr>
          <p:cNvPr id="240" name="Rectangle 8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241" name="Rectangle 8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242" name="Rectangle 8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C421A253-B000-4BBC-9B84-3CF5079D0D67}"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1446853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mph" presetSubtype="0" repeatCount="indefinite" fill="hold" nodeType="withEffect">
                                  <p:stCondLst>
                                    <p:cond delay="0"/>
                                  </p:stCondLst>
                                  <p:childTnLst>
                                    <p:animEffect transition="out" filter="fade">
                                      <p:cBhvr>
                                        <p:cTn id="6" dur="500" tmFilter="0, 0; .2, .5; .8, .5; 1, 0"/>
                                        <p:tgtEl>
                                          <p:spTgt spid="110"/>
                                        </p:tgtEl>
                                      </p:cBhvr>
                                    </p:animEffect>
                                    <p:animScale>
                                      <p:cBhvr>
                                        <p:cTn id="7" dur="250" autoRev="1" fill="hold"/>
                                        <p:tgtEl>
                                          <p:spTgt spid="110"/>
                                        </p:tgtEl>
                                      </p:cBhvr>
                                      <p:by x="105000" y="105000"/>
                                    </p:animScale>
                                  </p:childTnLst>
                                </p:cTn>
                              </p:par>
                              <p:par>
                                <p:cTn id="8" presetID="26" presetClass="emph" presetSubtype="0" repeatCount="indefinite" fill="hold" nodeType="withEffect">
                                  <p:stCondLst>
                                    <p:cond delay="0"/>
                                  </p:stCondLst>
                                  <p:childTnLst>
                                    <p:animEffect transition="out" filter="fade">
                                      <p:cBhvr>
                                        <p:cTn id="9" dur="2000" tmFilter="0, 0; .2, .5; .8, .5; 1, 0"/>
                                        <p:tgtEl>
                                          <p:spTgt spid="162"/>
                                        </p:tgtEl>
                                      </p:cBhvr>
                                    </p:animEffect>
                                    <p:animScale>
                                      <p:cBhvr>
                                        <p:cTn id="10" dur="1000" autoRev="1" fill="hold"/>
                                        <p:tgtEl>
                                          <p:spTgt spid="162"/>
                                        </p:tgtEl>
                                      </p:cBhvr>
                                      <p:by x="105000" y="105000"/>
                                    </p:animScale>
                                  </p:childTnLst>
                                </p:cTn>
                              </p:par>
                              <p:par>
                                <p:cTn id="11" presetID="26" presetClass="emph" presetSubtype="0" repeatCount="indefinite" fill="hold" nodeType="withEffect">
                                  <p:stCondLst>
                                    <p:cond delay="0"/>
                                  </p:stCondLst>
                                  <p:childTnLst>
                                    <p:animEffect transition="out" filter="fade">
                                      <p:cBhvr>
                                        <p:cTn id="12" dur="2000" tmFilter="0, 0; .2, .5; .8, .5; 1, 0"/>
                                        <p:tgtEl>
                                          <p:spTgt spid="227"/>
                                        </p:tgtEl>
                                      </p:cBhvr>
                                    </p:animEffect>
                                    <p:animScale>
                                      <p:cBhvr>
                                        <p:cTn id="13" dur="1000" autoRev="1" fill="hold"/>
                                        <p:tgtEl>
                                          <p:spTgt spid="227"/>
                                        </p:tgtEl>
                                      </p:cBhvr>
                                      <p:by x="105000" y="105000"/>
                                    </p:animScale>
                                  </p:childTnLst>
                                </p:cTn>
                              </p:par>
                              <p:par>
                                <p:cTn id="14" presetID="60" presetClass="path" presetSubtype="0" accel="50000" decel="50000" fill="hold" nodeType="withEffect">
                                  <p:stCondLst>
                                    <p:cond delay="0"/>
                                  </p:stCondLst>
                                  <p:childTnLst>
                                    <p:animMotion origin="layout" path="M 0.01563 -0.08832 C 0.02205 -0.04624 0.03698 0.01295 0.09219 0.01203 C 0.17205 0.01203 0.17795 -0.18566 0.27327 -0.18613 C 0.35903 -0.18613 0.3132 -0.01364 0.39584 -0.01433 C 0.48212 -0.01433 0.43577 -0.13942 0.52795 -0.13942 C 0.61042 -0.13942 0.56459 -0.0548 0.6382 -0.0548 C 0.70903 -0.0548 0.67223 -0.11954 0.73664 -0.11954 C 0.77344 -0.11954 0.77605 -0.10196 0.77934 -0.08832 " pathEditMode="relative" rAng="0" ptsTypes="ffffffff">
                                      <p:cBhvr>
                                        <p:cTn id="15" dur="3000" fill="hold"/>
                                        <p:tgtEl>
                                          <p:spTgt spid="136"/>
                                        </p:tgtEl>
                                        <p:attrNameLst>
                                          <p:attrName>ppt_x</p:attrName>
                                          <p:attrName>ppt_y</p:attrName>
                                        </p:attrNameLst>
                                      </p:cBhvr>
                                      <p:rCtr x="3817700" y="1620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2AFC87D4-2525-4F61-B2E8-5F8D852E5D07}"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399956753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TW" altLang="en-US" smtClean="0"/>
              <a:t>按一下以編輯母片文字樣式</a:t>
            </a:r>
          </a:p>
        </p:txBody>
      </p:sp>
      <p:sp>
        <p:nvSpPr>
          <p:cNvPr id="4"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6B0A889A-BAE2-46D0-9304-B2E9F1559D48}"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227794177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468313" y="1628775"/>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4659313" y="1628775"/>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7"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DF01D766-87B1-4FED-B8DE-3D1BA7DE4A36}"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367808008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8"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9"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7215DF7C-D40A-4D14-B97B-07A594974163}"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364544618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4"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2D571A56-27F7-4985-93D1-C9F06F900E05}"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236616947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3"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4"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0EAC1F1E-58CC-4C7A-B494-342E6B33121A}"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385663672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7"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7FEF639-8CCB-4C2A-8551-1A57CA2B96B7}"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203876783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smtClean="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7"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ACAF2108-4F30-4692-9C70-4A77AEB61B2F}"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302937847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7871F423-95E0-4501-A892-77630DAC436E}"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279079325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38925" y="274638"/>
            <a:ext cx="2058988" cy="5880100"/>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457200" y="274638"/>
            <a:ext cx="6029325" cy="5880100"/>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Rectangle 4"/>
          <p:cNvSpPr>
            <a:spLocks noGrp="1" noChangeArrowheads="1"/>
          </p:cNvSpPr>
          <p:nvPr>
            <p:ph type="dt" sz="half" idx="10"/>
          </p:nvPr>
        </p:nvSpPr>
        <p:spPr/>
        <p:txBody>
          <a:bodyPr/>
          <a:lstStyle>
            <a:lvl1pPr>
              <a:defRPr>
                <a:latin typeface="Arial" charset="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5" name="Rectangle 5"/>
          <p:cNvSpPr>
            <a:spLocks noGrp="1" noChangeArrowheads="1"/>
          </p:cNvSpPr>
          <p:nvPr>
            <p:ph type="ftr" sz="quarter" idx="11"/>
          </p:nvPr>
        </p:nvSpPr>
        <p:spPr/>
        <p:txBody>
          <a:bodyPr/>
          <a:lstStyle>
            <a:lvl1pPr>
              <a:defRPr>
                <a:latin typeface="Arial" charset="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6" name="Rectangle 6"/>
          <p:cNvSpPr>
            <a:spLocks noGrp="1" noChangeArrowheads="1"/>
          </p:cNvSpPr>
          <p:nvPr>
            <p:ph type="sldNum" sz="quarter" idx="12"/>
          </p:nvPr>
        </p:nvSpPr>
        <p:spPr/>
        <p:txBody>
          <a:bodyPr/>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D3CE705A-91AD-4989-8B4F-B15A011D3AE9}"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spTree>
    <p:extLst>
      <p:ext uri="{BB962C8B-B14F-4D97-AF65-F5344CB8AC3E}">
        <p14:creationId xmlns:p14="http://schemas.microsoft.com/office/powerpoint/2010/main" val="417838872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p:spPr>
        <p:txBody>
          <a:body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95723127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64358903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58253623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頁尾版面配置區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7" name="投影片編號版面配置區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33145981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8" name="頁尾版面配置區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9" name="投影片編號版面配置區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47438720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4" name="頁尾版面配置區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投影片編號版面配置區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70718613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3" name="頁尾版面配置區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4" name="投影片編號版面配置區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587965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頁尾版面配置區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7" name="投影片編號版面配置區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64905641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頁尾版面配置區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7" name="投影片編號版面配置區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9711076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60028134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457200" y="274638"/>
            <a:ext cx="6019800" cy="5851525"/>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40079466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p:spPr>
        <p:txBody>
          <a:body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7713007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06167431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904048833"/>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頁尾版面配置區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7" name="投影片編號版面配置區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54730007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8" name="頁尾版面配置區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9" name="投影片編號版面配置區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95209540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4" name="頁尾版面配置區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投影片編號版面配置區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19617696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3" name="頁尾版面配置區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4" name="投影片編號版面配置區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52611593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頁尾版面配置區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7" name="投影片編號版面配置區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068370930"/>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頁尾版面配置區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7" name="投影片編號版面配置區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87251873"/>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86678381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457200" y="274638"/>
            <a:ext cx="6019800" cy="5851525"/>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528663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18" Type="http://schemas.openxmlformats.org/officeDocument/2006/relationships/image" Target="../media/image6.png"/><Relationship Id="rId3" Type="http://schemas.openxmlformats.org/officeDocument/2006/relationships/slideLayout" Target="../slideLayouts/slideLayout25.xml"/><Relationship Id="rId21" Type="http://schemas.openxmlformats.org/officeDocument/2006/relationships/image" Target="../media/image9.png"/><Relationship Id="rId7" Type="http://schemas.openxmlformats.org/officeDocument/2006/relationships/slideLayout" Target="../slideLayouts/slideLayout29.xml"/><Relationship Id="rId12" Type="http://schemas.openxmlformats.org/officeDocument/2006/relationships/slideLayout" Target="../slideLayouts/slideLayout34.xml"/><Relationship Id="rId17" Type="http://schemas.openxmlformats.org/officeDocument/2006/relationships/image" Target="../media/image5.png"/><Relationship Id="rId2" Type="http://schemas.openxmlformats.org/officeDocument/2006/relationships/slideLayout" Target="../slideLayouts/slideLayout24.xml"/><Relationship Id="rId16" Type="http://schemas.openxmlformats.org/officeDocument/2006/relationships/image" Target="../media/image4.png"/><Relationship Id="rId20" Type="http://schemas.openxmlformats.org/officeDocument/2006/relationships/image" Target="../media/image8.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openxmlformats.org/officeDocument/2006/relationships/image" Target="../media/image3.png"/><Relationship Id="rId23" Type="http://schemas.openxmlformats.org/officeDocument/2006/relationships/image" Target="../media/image11.png"/><Relationship Id="rId10" Type="http://schemas.openxmlformats.org/officeDocument/2006/relationships/slideLayout" Target="../slideLayouts/slideLayout32.xml"/><Relationship Id="rId19" Type="http://schemas.openxmlformats.org/officeDocument/2006/relationships/image" Target="../media/image7.png"/><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jpeg"/><Relationship Id="rId22" Type="http://schemas.openxmlformats.org/officeDocument/2006/relationships/image" Target="../media/image10.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theme" Target="../theme/theme5.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4.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theme" Target="../theme/theme6.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5.xml"/><Relationship Id="rId3" Type="http://schemas.openxmlformats.org/officeDocument/2006/relationships/slideLayout" Target="../slideLayouts/slideLayout70.xml"/><Relationship Id="rId7" Type="http://schemas.openxmlformats.org/officeDocument/2006/relationships/slideLayout" Target="../slideLayouts/slideLayout74.xml"/><Relationship Id="rId12" Type="http://schemas.openxmlformats.org/officeDocument/2006/relationships/theme" Target="../theme/theme7.xml"/><Relationship Id="rId2" Type="http://schemas.openxmlformats.org/officeDocument/2006/relationships/slideLayout" Target="../slideLayouts/slideLayout69.xml"/><Relationship Id="rId1" Type="http://schemas.openxmlformats.org/officeDocument/2006/relationships/slideLayout" Target="../slideLayouts/slideLayout68.xml"/><Relationship Id="rId6" Type="http://schemas.openxmlformats.org/officeDocument/2006/relationships/slideLayout" Target="../slideLayouts/slideLayout73.xml"/><Relationship Id="rId11" Type="http://schemas.openxmlformats.org/officeDocument/2006/relationships/slideLayout" Target="../slideLayouts/slideLayout78.xml"/><Relationship Id="rId5" Type="http://schemas.openxmlformats.org/officeDocument/2006/relationships/slideLayout" Target="../slideLayouts/slideLayout72.xml"/><Relationship Id="rId10" Type="http://schemas.openxmlformats.org/officeDocument/2006/relationships/slideLayout" Target="../slideLayouts/slideLayout77.xml"/><Relationship Id="rId4" Type="http://schemas.openxmlformats.org/officeDocument/2006/relationships/slideLayout" Target="../slideLayouts/slideLayout71.xml"/><Relationship Id="rId9" Type="http://schemas.openxmlformats.org/officeDocument/2006/relationships/slideLayout" Target="../slideLayouts/slideLayout76.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86.xml"/><Relationship Id="rId3" Type="http://schemas.openxmlformats.org/officeDocument/2006/relationships/slideLayout" Target="../slideLayouts/slideLayout81.xml"/><Relationship Id="rId7" Type="http://schemas.openxmlformats.org/officeDocument/2006/relationships/slideLayout" Target="../slideLayouts/slideLayout85.xml"/><Relationship Id="rId12" Type="http://schemas.openxmlformats.org/officeDocument/2006/relationships/theme" Target="../theme/theme8.xml"/><Relationship Id="rId2" Type="http://schemas.openxmlformats.org/officeDocument/2006/relationships/slideLayout" Target="../slideLayouts/slideLayout80.xml"/><Relationship Id="rId1" Type="http://schemas.openxmlformats.org/officeDocument/2006/relationships/slideLayout" Target="../slideLayouts/slideLayout79.xml"/><Relationship Id="rId6" Type="http://schemas.openxmlformats.org/officeDocument/2006/relationships/slideLayout" Target="../slideLayouts/slideLayout84.xml"/><Relationship Id="rId11" Type="http://schemas.openxmlformats.org/officeDocument/2006/relationships/slideLayout" Target="../slideLayouts/slideLayout89.xml"/><Relationship Id="rId5" Type="http://schemas.openxmlformats.org/officeDocument/2006/relationships/slideLayout" Target="../slideLayouts/slideLayout83.xml"/><Relationship Id="rId10" Type="http://schemas.openxmlformats.org/officeDocument/2006/relationships/slideLayout" Target="../slideLayouts/slideLayout88.xml"/><Relationship Id="rId4" Type="http://schemas.openxmlformats.org/officeDocument/2006/relationships/slideLayout" Target="../slideLayouts/slideLayout82.xml"/><Relationship Id="rId9"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矩形 8"/>
          <p:cNvSpPr/>
          <p:nvPr/>
        </p:nvSpPr>
        <p:spPr>
          <a:xfrm flipH="1">
            <a:off x="8643966" y="0"/>
            <a:ext cx="500034" cy="6858000"/>
          </a:xfrm>
          <a:prstGeom prst="rect">
            <a:avLst/>
          </a:prstGeom>
          <a:blipFill>
            <a:blip r:embed="rId13" cstate="print">
              <a:alphaModFix amt="43000"/>
            </a:blip>
            <a:tile tx="0" ty="0" sx="50000" sy="50000" flip="none" algn="tl"/>
          </a:blipFill>
          <a:ln w="0" cap="flat" cmpd="sng" algn="ctr">
            <a:noFill/>
            <a:prstDash val="solid"/>
          </a:ln>
          <a:effectLst>
            <a:fillOverlay blend="mult">
              <a:gradFill rotWithShape="1">
                <a:gsLst>
                  <a:gs pos="0">
                    <a:schemeClr val="tx2">
                      <a:tint val="62000"/>
                      <a:satMod val="420000"/>
                    </a:schemeClr>
                  </a:gs>
                  <a:gs pos="100000">
                    <a:schemeClr val="tx2">
                      <a:shade val="20000"/>
                      <a:satMod val="170000"/>
                    </a:schemeClr>
                  </a:gs>
                </a:gsLst>
                <a:path path="circle">
                  <a:fillToRect l="50000" t="110000" r="50000" b="-10000"/>
                </a:path>
                <a:tileRect/>
              </a:gradFill>
            </a:fillOverlay>
            <a:innerShdw blurRad="63500" dist="44450" dir="10800000">
              <a:srgbClr val="000000">
                <a:alpha val="45000"/>
              </a:srgbClr>
            </a:inn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latin typeface="Calibri" pitchFamily="34" charset="0"/>
              <a:ea typeface="微軟正黑體" pitchFamily="34" charset="-120"/>
            </a:endParaRPr>
          </a:p>
        </p:txBody>
      </p:sp>
      <p:sp>
        <p:nvSpPr>
          <p:cNvPr id="3" name="標題版面配置區 2"/>
          <p:cNvSpPr>
            <a:spLocks noGrp="1"/>
          </p:cNvSpPr>
          <p:nvPr>
            <p:ph type="title"/>
          </p:nvPr>
        </p:nvSpPr>
        <p:spPr>
          <a:xfrm>
            <a:off x="285720" y="320040"/>
            <a:ext cx="8215370" cy="680068"/>
          </a:xfrm>
          <a:prstGeom prst="rect">
            <a:avLst/>
          </a:prstGeom>
        </p:spPr>
        <p:txBody>
          <a:bodyPr vert="horz" lIns="45720" tIns="0" rIns="45720" bIns="0" anchor="b" anchorCtr="0">
            <a:normAutofit/>
          </a:bodyPr>
          <a:lstStyle/>
          <a:p>
            <a:r>
              <a:rPr kumimoji="0" lang="zh-TW" altLang="en-US" smtClean="0"/>
              <a:t>按一下以編輯母片標題樣式</a:t>
            </a:r>
            <a:endParaRPr kumimoji="0" lang="en-US"/>
          </a:p>
        </p:txBody>
      </p:sp>
      <p:sp>
        <p:nvSpPr>
          <p:cNvPr id="31" name="文字版面配置區 30"/>
          <p:cNvSpPr>
            <a:spLocks noGrp="1"/>
          </p:cNvSpPr>
          <p:nvPr>
            <p:ph type="body" idx="1"/>
          </p:nvPr>
        </p:nvSpPr>
        <p:spPr>
          <a:xfrm>
            <a:off x="285720" y="1214422"/>
            <a:ext cx="8215370" cy="5241314"/>
          </a:xfrm>
          <a:prstGeom prst="rect">
            <a:avLst/>
          </a:prstGeom>
        </p:spPr>
        <p:txBody>
          <a:bodyPr vert="horz">
            <a:normAutofit/>
          </a:bodyPr>
          <a:lstStyle/>
          <a:p>
            <a:pPr lvl="0" eaLnBrk="1" latinLnBrk="0" hangingPunct="1"/>
            <a:r>
              <a:rPr kumimoji="0" lang="zh-TW" altLang="en-US" dirty="0" smtClean="0"/>
              <a:t>按一下以編輯母片文字樣式</a:t>
            </a:r>
          </a:p>
          <a:p>
            <a:pPr lvl="1" eaLnBrk="1" latinLnBrk="0" hangingPunct="1"/>
            <a:r>
              <a:rPr kumimoji="0" lang="zh-TW" altLang="en-US" dirty="0" smtClean="0"/>
              <a:t>第二層</a:t>
            </a:r>
          </a:p>
          <a:p>
            <a:pPr lvl="2" eaLnBrk="1" latinLnBrk="0" hangingPunct="1"/>
            <a:r>
              <a:rPr kumimoji="0" lang="zh-TW" altLang="en-US" dirty="0" smtClean="0"/>
              <a:t>第三層</a:t>
            </a:r>
          </a:p>
          <a:p>
            <a:pPr lvl="3" eaLnBrk="1" latinLnBrk="0" hangingPunct="1"/>
            <a:r>
              <a:rPr kumimoji="0" lang="zh-TW" altLang="en-US" dirty="0" smtClean="0"/>
              <a:t>第四層</a:t>
            </a:r>
          </a:p>
          <a:p>
            <a:pPr lvl="4" eaLnBrk="1" latinLnBrk="0" hangingPunct="1"/>
            <a:r>
              <a:rPr kumimoji="0" lang="zh-TW" altLang="en-US" dirty="0" smtClean="0"/>
              <a:t>第五層</a:t>
            </a:r>
            <a:endParaRPr kumimoji="0" lang="en-US" dirty="0"/>
          </a:p>
        </p:txBody>
      </p:sp>
      <p:sp>
        <p:nvSpPr>
          <p:cNvPr id="7" name="文字方塊 6"/>
          <p:cNvSpPr txBox="1"/>
          <p:nvPr userDrawn="1"/>
        </p:nvSpPr>
        <p:spPr>
          <a:xfrm>
            <a:off x="285720" y="6500834"/>
            <a:ext cx="4522328" cy="338554"/>
          </a:xfrm>
          <a:prstGeom prst="rect">
            <a:avLst/>
          </a:prstGeom>
          <a:noFill/>
        </p:spPr>
        <p:txBody>
          <a:bodyPr wrap="none" rtlCol="0">
            <a:spAutoFit/>
          </a:bodyPr>
          <a:lstStyle/>
          <a:p>
            <a:r>
              <a:rPr lang="en-US" altLang="zh-TW" sz="1600" dirty="0" smtClean="0">
                <a:solidFill>
                  <a:schemeClr val="accent1"/>
                </a:solidFill>
                <a:latin typeface="Calibri" pitchFamily="34" charset="0"/>
                <a:ea typeface="微軟正黑體" pitchFamily="34" charset="-120"/>
              </a:rPr>
              <a:t>Information</a:t>
            </a:r>
            <a:r>
              <a:rPr lang="en-US" altLang="zh-TW" sz="1600" baseline="0" dirty="0" smtClean="0">
                <a:solidFill>
                  <a:schemeClr val="accent1"/>
                </a:solidFill>
                <a:latin typeface="Calibri" pitchFamily="34" charset="0"/>
                <a:ea typeface="微軟正黑體" pitchFamily="34" charset="-120"/>
              </a:rPr>
              <a:t> Security Fundamentals and Practices - 7</a:t>
            </a:r>
            <a:endParaRPr lang="zh-TW" altLang="en-US" sz="1600" dirty="0">
              <a:solidFill>
                <a:schemeClr val="accent1"/>
              </a:solidFill>
              <a:latin typeface="Calibri" pitchFamily="34" charset="0"/>
              <a:ea typeface="微軟正黑體" pitchFamily="34" charset="-120"/>
            </a:endParaRPr>
          </a:p>
        </p:txBody>
      </p:sp>
      <p:sp>
        <p:nvSpPr>
          <p:cNvPr id="8" name="文字方塊 7"/>
          <p:cNvSpPr txBox="1"/>
          <p:nvPr userDrawn="1"/>
        </p:nvSpPr>
        <p:spPr>
          <a:xfrm>
            <a:off x="8654796" y="6488692"/>
            <a:ext cx="460382" cy="369332"/>
          </a:xfrm>
          <a:prstGeom prst="rect">
            <a:avLst/>
          </a:prstGeom>
          <a:noFill/>
        </p:spPr>
        <p:txBody>
          <a:bodyPr wrap="none" rtlCol="0">
            <a:spAutoFit/>
          </a:bodyPr>
          <a:lstStyle/>
          <a:p>
            <a:fld id="{A3EC28E4-F2FF-4265-BE4A-7A326F99FD36}" type="slidenum">
              <a:rPr lang="zh-TW" altLang="en-US" b="1" smtClean="0">
                <a:solidFill>
                  <a:schemeClr val="bg1"/>
                </a:solidFill>
                <a:latin typeface="Calibri" pitchFamily="34" charset="0"/>
                <a:ea typeface="微軟正黑體" pitchFamily="34" charset="-120"/>
              </a:rPr>
              <a:pPr/>
              <a:t>‹#›</a:t>
            </a:fld>
            <a:endParaRPr lang="zh-TW" altLang="en-US" b="1" dirty="0">
              <a:solidFill>
                <a:schemeClr val="bg1"/>
              </a:solidFill>
              <a:latin typeface="Calibri" pitchFamily="34" charset="0"/>
              <a:ea typeface="微軟正黑體" pitchFamily="34" charset="-120"/>
            </a:endParaRPr>
          </a:p>
        </p:txBody>
      </p:sp>
    </p:spTree>
  </p:cSld>
  <p:clrMap bg1="lt1" tx1="dk1" bg2="lt2" tx2="dk2" accent1="accent1" accent2="accent2" accent3="accent3" accent4="accent4" accent5="accent5" accent6="accent6" hlink="hlink" folHlink="folHlink"/>
  <p:sldLayoutIdLst>
    <p:sldLayoutId id="2147484381" r:id="rId1"/>
    <p:sldLayoutId id="2147484382" r:id="rId2"/>
    <p:sldLayoutId id="2147484383" r:id="rId3"/>
    <p:sldLayoutId id="2147484384" r:id="rId4"/>
    <p:sldLayoutId id="2147484385" r:id="rId5"/>
    <p:sldLayoutId id="2147484386" r:id="rId6"/>
    <p:sldLayoutId id="2147484387" r:id="rId7"/>
    <p:sldLayoutId id="2147484388" r:id="rId8"/>
    <p:sldLayoutId id="2147484389" r:id="rId9"/>
    <p:sldLayoutId id="2147484390" r:id="rId10"/>
    <p:sldLayoutId id="2147484391" r:id="rId11"/>
  </p:sldLayoutIdLst>
  <p:txStyles>
    <p:titleStyle>
      <a:lvl1pPr algn="l" rtl="0" eaLnBrk="1" latinLnBrk="0" hangingPunct="1">
        <a:spcBef>
          <a:spcPct val="0"/>
        </a:spcBef>
        <a:buNone/>
        <a:defRPr kumimoji="0" sz="3800" b="1" kern="1200" cap="all" baseline="0">
          <a:ln w="500">
            <a:solidFill>
              <a:schemeClr val="tx2">
                <a:shade val="20000"/>
                <a:satMod val="120000"/>
              </a:schemeClr>
            </a:solidFill>
          </a:ln>
          <a:gradFill>
            <a:gsLst>
              <a:gs pos="0">
                <a:schemeClr val="accent4">
                  <a:tint val="13000"/>
                </a:schemeClr>
              </a:gs>
              <a:gs pos="10000">
                <a:schemeClr val="accent4">
                  <a:tint val="20000"/>
                </a:schemeClr>
              </a:gs>
              <a:gs pos="49000">
                <a:schemeClr val="accent4">
                  <a:tint val="70000"/>
                </a:schemeClr>
              </a:gs>
              <a:gs pos="50000">
                <a:schemeClr val="accent4">
                  <a:tint val="97000"/>
                </a:schemeClr>
              </a:gs>
              <a:gs pos="100000">
                <a:schemeClr val="accent4">
                  <a:tint val="20000"/>
                </a:schemeClr>
              </a:gs>
            </a:gsLst>
            <a:lin ang="5400000" scaled="1"/>
          </a:gradFill>
          <a:effectLst/>
          <a:latin typeface="Calibri" pitchFamily="34" charset="0"/>
          <a:ea typeface="微軟正黑體" pitchFamily="34" charset="-120"/>
          <a:cs typeface="+mj-cs"/>
        </a:defRPr>
      </a:lvl1pPr>
      <a:extLst/>
    </p:titleStyle>
    <p:bodyStyle>
      <a:lvl1pPr marL="274320" indent="-274320" algn="l" rtl="0" eaLnBrk="1" latinLnBrk="0" hangingPunct="1">
        <a:lnSpc>
          <a:spcPts val="3200"/>
        </a:lnSpc>
        <a:spcBef>
          <a:spcPts val="1000"/>
        </a:spcBef>
        <a:buClr>
          <a:schemeClr val="tx2"/>
        </a:buClr>
        <a:buSzPct val="73000"/>
        <a:buFont typeface="Wingdings 2"/>
        <a:buChar char=""/>
        <a:defRPr kumimoji="0" sz="2000" kern="1200" baseline="0">
          <a:solidFill>
            <a:schemeClr val="tx1"/>
          </a:solidFill>
          <a:latin typeface="Calibri" pitchFamily="34" charset="0"/>
          <a:ea typeface="微軟正黑體" pitchFamily="34" charset="-120"/>
          <a:cs typeface="+mn-cs"/>
        </a:defRPr>
      </a:lvl1pPr>
      <a:lvl2pPr marL="521208" indent="-228600" algn="l" rtl="0" eaLnBrk="1" latinLnBrk="0" hangingPunct="1">
        <a:lnSpc>
          <a:spcPts val="3200"/>
        </a:lnSpc>
        <a:spcBef>
          <a:spcPts val="1000"/>
        </a:spcBef>
        <a:buClr>
          <a:schemeClr val="accent4"/>
        </a:buClr>
        <a:buSzPct val="80000"/>
        <a:buFont typeface="Wingdings 2"/>
        <a:buChar char=""/>
        <a:defRPr kumimoji="0" sz="2000" kern="1200">
          <a:solidFill>
            <a:schemeClr val="tx1">
              <a:tint val="85000"/>
            </a:schemeClr>
          </a:solidFill>
          <a:latin typeface="Calibri" pitchFamily="34" charset="0"/>
          <a:ea typeface="微軟正黑體" pitchFamily="34" charset="-120"/>
          <a:cs typeface="+mn-cs"/>
        </a:defRPr>
      </a:lvl2pPr>
      <a:lvl3pPr marL="758952" indent="-228600" algn="l" rtl="0" eaLnBrk="1" latinLnBrk="0" hangingPunct="1">
        <a:lnSpc>
          <a:spcPts val="3200"/>
        </a:lnSpc>
        <a:spcBef>
          <a:spcPts val="1000"/>
        </a:spcBef>
        <a:buClr>
          <a:schemeClr val="accent4"/>
        </a:buClr>
        <a:buSzPct val="60000"/>
        <a:buFont typeface="Wingdings"/>
        <a:buChar char=""/>
        <a:defRPr kumimoji="0" sz="1800" kern="1200">
          <a:solidFill>
            <a:schemeClr val="tx1"/>
          </a:solidFill>
          <a:latin typeface="Calibri" pitchFamily="34" charset="0"/>
          <a:ea typeface="微軟正黑體" pitchFamily="34" charset="-120"/>
          <a:cs typeface="+mn-cs"/>
        </a:defRPr>
      </a:lvl3pPr>
      <a:lvl4pPr marL="1005840" indent="-228600" algn="l" rtl="0" eaLnBrk="1" latinLnBrk="0" hangingPunct="1">
        <a:lnSpc>
          <a:spcPts val="3200"/>
        </a:lnSpc>
        <a:spcBef>
          <a:spcPts val="1000"/>
        </a:spcBef>
        <a:buClr>
          <a:schemeClr val="accent4"/>
        </a:buClr>
        <a:buSzPct val="80000"/>
        <a:buFont typeface="Wingdings 2"/>
        <a:buChar char=""/>
        <a:defRPr kumimoji="0" sz="1800" kern="1200">
          <a:solidFill>
            <a:schemeClr val="tx1">
              <a:tint val="85000"/>
            </a:schemeClr>
          </a:solidFill>
          <a:latin typeface="Calibri" pitchFamily="34" charset="0"/>
          <a:ea typeface="微軟正黑體" pitchFamily="34" charset="-120"/>
          <a:cs typeface="+mn-cs"/>
        </a:defRPr>
      </a:lvl4pPr>
      <a:lvl5pPr marL="1280160" indent="-228600" algn="l" rtl="0" eaLnBrk="1" latinLnBrk="0" hangingPunct="1">
        <a:lnSpc>
          <a:spcPts val="3200"/>
        </a:lnSpc>
        <a:spcBef>
          <a:spcPts val="1000"/>
        </a:spcBef>
        <a:buClr>
          <a:schemeClr val="accent4"/>
        </a:buClr>
        <a:buSzPct val="70000"/>
        <a:buFont typeface="Wingdings"/>
        <a:buChar char=""/>
        <a:defRPr kumimoji="0" sz="1800" kern="1200">
          <a:solidFill>
            <a:schemeClr val="tx1"/>
          </a:solidFill>
          <a:latin typeface="Calibri" pitchFamily="34" charset="0"/>
          <a:ea typeface="微軟正黑體" pitchFamily="34" charset="-120"/>
          <a:cs typeface="+mn-cs"/>
        </a:defRPr>
      </a:lvl5pPr>
      <a:lvl6pPr marL="1472184" indent="-182880" algn="l" rtl="0" eaLnBrk="1" latinLnBrk="0" hangingPunct="1">
        <a:spcBef>
          <a:spcPts val="400"/>
        </a:spcBef>
        <a:buClr>
          <a:schemeClr val="accent4"/>
        </a:buClr>
        <a:buSzPct val="80000"/>
        <a:buFont typeface="Wingdings 2"/>
        <a:buChar char=""/>
        <a:defRPr kumimoji="0" sz="1800" kern="1200">
          <a:solidFill>
            <a:schemeClr val="tx1">
              <a:tint val="85000"/>
            </a:schemeClr>
          </a:solidFill>
          <a:latin typeface="+mn-lt"/>
          <a:ea typeface="+mn-ea"/>
          <a:cs typeface="+mn-cs"/>
        </a:defRPr>
      </a:lvl6pPr>
      <a:lvl7pPr marL="1673352" indent="-182880" algn="l" rtl="0" eaLnBrk="1" latinLnBrk="0" hangingPunct="1">
        <a:spcBef>
          <a:spcPct val="20000"/>
        </a:spcBef>
        <a:buClr>
          <a:schemeClr val="accent4"/>
        </a:buClr>
        <a:buSzPct val="80000"/>
        <a:buFont typeface="Wingdings 2"/>
        <a:buChar char=""/>
        <a:defRPr kumimoji="0" sz="1600" kern="1200" baseline="0">
          <a:solidFill>
            <a:schemeClr val="tx1"/>
          </a:solidFill>
          <a:latin typeface="+mn-lt"/>
          <a:ea typeface="+mn-ea"/>
          <a:cs typeface="+mn-cs"/>
        </a:defRPr>
      </a:lvl7pPr>
      <a:lvl8pPr marL="1847088" indent="-182880" algn="l" rtl="0" eaLnBrk="1" latinLnBrk="0" hangingPunct="1">
        <a:spcBef>
          <a:spcPts val="300"/>
        </a:spcBef>
        <a:buClr>
          <a:schemeClr val="accent4"/>
        </a:buClr>
        <a:buSzPct val="100000"/>
        <a:buChar char="•"/>
        <a:defRPr kumimoji="0" sz="1600" kern="1200" baseline="0">
          <a:solidFill>
            <a:schemeClr val="tx1">
              <a:tint val="85000"/>
            </a:schemeClr>
          </a:solidFill>
          <a:latin typeface="+mn-lt"/>
          <a:ea typeface="+mn-ea"/>
          <a:cs typeface="+mn-cs"/>
        </a:defRPr>
      </a:lvl8pPr>
      <a:lvl9pPr marL="2057400" indent="-182880" algn="l" rtl="0" eaLnBrk="1" latinLnBrk="0" hangingPunct="1">
        <a:spcBef>
          <a:spcPct val="20000"/>
        </a:spcBef>
        <a:buClr>
          <a:schemeClr val="accent4"/>
        </a:buClr>
        <a:buSzPct val="100000"/>
        <a:buFont typeface="Wingdings"/>
        <a:buChar char="§"/>
        <a:defRPr kumimoji="0" sz="14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F2FDB1"/>
            </a:gs>
            <a:gs pos="100000">
              <a:srgbClr val="B8C087"/>
            </a:gs>
          </a:gsLst>
          <a:lin ang="5400000" scaled="1"/>
        </a:gra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TW" altLang="en-US" smtClean="0"/>
              <a:t>按一下以編輯母片標題樣式</a:t>
            </a:r>
          </a:p>
        </p:txBody>
      </p:sp>
      <p:sp>
        <p:nvSpPr>
          <p:cNvPr id="2051" name="Rectangle 3"/>
          <p:cNvSpPr>
            <a:spLocks noGrp="1" noChangeArrowheads="1"/>
          </p:cNvSpPr>
          <p:nvPr>
            <p:ph type="body" idx="1"/>
          </p:nvPr>
        </p:nvSpPr>
        <p:spPr bwMode="auto">
          <a:xfrm>
            <a:off x="468313" y="1628775"/>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TW" altLang="en-US" smtClean="0"/>
              <a:t>按一下以編輯母片</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p>
        </p:txBody>
      </p:sp>
      <p:sp>
        <p:nvSpPr>
          <p:cNvPr id="27652" name="Rectangle 4"/>
          <p:cNvSpPr>
            <a:spLocks noGrp="1" noChangeArrowheads="1"/>
          </p:cNvSpPr>
          <p:nvPr>
            <p:ph type="dt" sz="half" idx="2"/>
          </p:nvPr>
        </p:nvSpPr>
        <p:spPr bwMode="auto">
          <a:xfrm>
            <a:off x="457200" y="6245225"/>
            <a:ext cx="2133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defRPr sz="1400">
                <a:solidFill>
                  <a:srgbClr val="000000"/>
                </a:solidFill>
                <a:latin typeface="Arial" charset="0"/>
                <a:ea typeface="標楷體" panose="03000509000000000000" pitchFamily="65" charset="-12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27653" name="Rectangle 5"/>
          <p:cNvSpPr>
            <a:spLocks noGrp="1" noChangeArrowheads="1"/>
          </p:cNvSpPr>
          <p:nvPr>
            <p:ph type="ftr" sz="quarter" idx="3"/>
          </p:nvPr>
        </p:nvSpPr>
        <p:spPr bwMode="auto">
          <a:xfrm>
            <a:off x="3124200" y="6245225"/>
            <a:ext cx="2895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lgn="ctr">
              <a:defRPr sz="1400">
                <a:solidFill>
                  <a:srgbClr val="000000"/>
                </a:solidFill>
                <a:latin typeface="Arial" charset="0"/>
                <a:ea typeface="標楷體" panose="03000509000000000000" pitchFamily="65" charset="-12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charset="0"/>
              <a:ea typeface="標楷體" panose="03000509000000000000" pitchFamily="65" charset="-120"/>
              <a:cs typeface="+mn-cs"/>
            </a:endParaRPr>
          </a:p>
        </p:txBody>
      </p:sp>
      <p:sp>
        <p:nvSpPr>
          <p:cNvPr id="27654" name="Rectangle 6"/>
          <p:cNvSpPr>
            <a:spLocks noGrp="1" noChangeArrowheads="1"/>
          </p:cNvSpPr>
          <p:nvPr>
            <p:ph type="sldNum" sz="quarter" idx="4"/>
          </p:nvPr>
        </p:nvSpPr>
        <p:spPr bwMode="auto">
          <a:xfrm>
            <a:off x="6553200" y="6245225"/>
            <a:ext cx="2133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lgn="r">
              <a:defRPr sz="1400">
                <a:solidFill>
                  <a:srgbClr val="000000"/>
                </a:solidFill>
                <a:ea typeface="標楷體" panose="03000509000000000000" pitchFamily="65" charset="-12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B7987F15-47CA-4E3F-8511-5F2D6EA1E856}"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grpSp>
        <p:nvGrpSpPr>
          <p:cNvPr id="2055" name="Group 7"/>
          <p:cNvGrpSpPr>
            <a:grpSpLocks/>
          </p:cNvGrpSpPr>
          <p:nvPr/>
        </p:nvGrpSpPr>
        <p:grpSpPr bwMode="auto">
          <a:xfrm rot="-1737491">
            <a:off x="8102600" y="1411288"/>
            <a:ext cx="412750" cy="414337"/>
            <a:chOff x="295" y="3385"/>
            <a:chExt cx="408" cy="340"/>
          </a:xfrm>
        </p:grpSpPr>
        <p:grpSp>
          <p:nvGrpSpPr>
            <p:cNvPr id="2134" name="Group 8"/>
            <p:cNvGrpSpPr>
              <a:grpSpLocks/>
            </p:cNvGrpSpPr>
            <p:nvPr userDrawn="1"/>
          </p:nvGrpSpPr>
          <p:grpSpPr bwMode="auto">
            <a:xfrm rot="2362656">
              <a:off x="295" y="3385"/>
              <a:ext cx="408" cy="273"/>
              <a:chOff x="1701" y="527"/>
              <a:chExt cx="498" cy="273"/>
            </a:xfrm>
          </p:grpSpPr>
          <p:grpSp>
            <p:nvGrpSpPr>
              <p:cNvPr id="2137" name="Group 9"/>
              <p:cNvGrpSpPr>
                <a:grpSpLocks/>
              </p:cNvGrpSpPr>
              <p:nvPr userDrawn="1"/>
            </p:nvGrpSpPr>
            <p:grpSpPr bwMode="auto">
              <a:xfrm rot="228844">
                <a:off x="1927" y="618"/>
                <a:ext cx="272" cy="90"/>
                <a:chOff x="1927" y="527"/>
                <a:chExt cx="272" cy="90"/>
              </a:xfrm>
            </p:grpSpPr>
            <p:sp>
              <p:nvSpPr>
                <p:cNvPr id="1120" name="Oval 10"/>
                <p:cNvSpPr>
                  <a:spLocks noChangeArrowheads="1"/>
                </p:cNvSpPr>
                <p:nvPr userDrawn="1"/>
              </p:nvSpPr>
              <p:spPr bwMode="auto">
                <a:xfrm rot="187092">
                  <a:off x="1879" y="551"/>
                  <a:ext cx="272" cy="43"/>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21" name="Oval 11"/>
                <p:cNvSpPr>
                  <a:spLocks noChangeArrowheads="1"/>
                </p:cNvSpPr>
                <p:nvPr userDrawn="1"/>
              </p:nvSpPr>
              <p:spPr bwMode="auto">
                <a:xfrm rot="10143706">
                  <a:off x="1873" y="502"/>
                  <a:ext cx="272" cy="47"/>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38" name="Group 12"/>
              <p:cNvGrpSpPr>
                <a:grpSpLocks/>
              </p:cNvGrpSpPr>
              <p:nvPr userDrawn="1"/>
            </p:nvGrpSpPr>
            <p:grpSpPr bwMode="auto">
              <a:xfrm rot="10800000">
                <a:off x="1701" y="618"/>
                <a:ext cx="272" cy="90"/>
                <a:chOff x="1927" y="527"/>
                <a:chExt cx="272" cy="90"/>
              </a:xfrm>
            </p:grpSpPr>
            <p:sp>
              <p:nvSpPr>
                <p:cNvPr id="1118" name="Oval 13"/>
                <p:cNvSpPr>
                  <a:spLocks noChangeArrowheads="1"/>
                </p:cNvSpPr>
                <p:nvPr userDrawn="1"/>
              </p:nvSpPr>
              <p:spPr bwMode="auto">
                <a:xfrm rot="187092">
                  <a:off x="2006" y="588"/>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9" name="Oval 14"/>
                <p:cNvSpPr>
                  <a:spLocks noChangeArrowheads="1"/>
                </p:cNvSpPr>
                <p:nvPr userDrawn="1"/>
              </p:nvSpPr>
              <p:spPr bwMode="auto">
                <a:xfrm rot="10143706">
                  <a:off x="2003" y="531"/>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15" name="Oval 15"/>
              <p:cNvSpPr>
                <a:spLocks noChangeArrowheads="1"/>
              </p:cNvSpPr>
              <p:nvPr userDrawn="1"/>
            </p:nvSpPr>
            <p:spPr bwMode="auto">
              <a:xfrm>
                <a:off x="1885" y="607"/>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6" name="Oval 16"/>
              <p:cNvSpPr>
                <a:spLocks noChangeArrowheads="1"/>
              </p:cNvSpPr>
              <p:nvPr userDrawn="1"/>
            </p:nvSpPr>
            <p:spPr bwMode="auto">
              <a:xfrm>
                <a:off x="1861" y="520"/>
                <a:ext cx="46"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7" name="Oval 17"/>
              <p:cNvSpPr>
                <a:spLocks noChangeArrowheads="1"/>
              </p:cNvSpPr>
              <p:nvPr userDrawn="1"/>
            </p:nvSpPr>
            <p:spPr bwMode="auto">
              <a:xfrm>
                <a:off x="1930" y="511"/>
                <a:ext cx="46"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11" name="Oval 18"/>
            <p:cNvSpPr>
              <a:spLocks noChangeArrowheads="1"/>
            </p:cNvSpPr>
            <p:nvPr userDrawn="1"/>
          </p:nvSpPr>
          <p:spPr bwMode="auto">
            <a:xfrm flipH="1">
              <a:off x="340" y="3653"/>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2" name="Oval 19"/>
            <p:cNvSpPr>
              <a:spLocks noChangeArrowheads="1"/>
            </p:cNvSpPr>
            <p:nvPr userDrawn="1"/>
          </p:nvSpPr>
          <p:spPr bwMode="auto">
            <a:xfrm flipH="1">
              <a:off x="293" y="3695"/>
              <a:ext cx="25"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6" name="Group 20"/>
          <p:cNvGrpSpPr>
            <a:grpSpLocks/>
          </p:cNvGrpSpPr>
          <p:nvPr/>
        </p:nvGrpSpPr>
        <p:grpSpPr bwMode="auto">
          <a:xfrm rot="-3328072">
            <a:off x="4307682" y="6392069"/>
            <a:ext cx="412750" cy="414337"/>
            <a:chOff x="295" y="3385"/>
            <a:chExt cx="408" cy="340"/>
          </a:xfrm>
        </p:grpSpPr>
        <p:grpSp>
          <p:nvGrpSpPr>
            <p:cNvPr id="2122" name="Group 21"/>
            <p:cNvGrpSpPr>
              <a:grpSpLocks/>
            </p:cNvGrpSpPr>
            <p:nvPr userDrawn="1"/>
          </p:nvGrpSpPr>
          <p:grpSpPr bwMode="auto">
            <a:xfrm rot="2362656">
              <a:off x="295" y="3385"/>
              <a:ext cx="408" cy="273"/>
              <a:chOff x="1701" y="527"/>
              <a:chExt cx="498" cy="273"/>
            </a:xfrm>
          </p:grpSpPr>
          <p:grpSp>
            <p:nvGrpSpPr>
              <p:cNvPr id="2125" name="Group 22"/>
              <p:cNvGrpSpPr>
                <a:grpSpLocks/>
              </p:cNvGrpSpPr>
              <p:nvPr userDrawn="1"/>
            </p:nvGrpSpPr>
            <p:grpSpPr bwMode="auto">
              <a:xfrm rot="228844">
                <a:off x="1927" y="618"/>
                <a:ext cx="272" cy="90"/>
                <a:chOff x="1927" y="527"/>
                <a:chExt cx="272" cy="90"/>
              </a:xfrm>
            </p:grpSpPr>
            <p:sp>
              <p:nvSpPr>
                <p:cNvPr id="1108" name="Oval 23"/>
                <p:cNvSpPr>
                  <a:spLocks noChangeArrowheads="1"/>
                </p:cNvSpPr>
                <p:nvPr userDrawn="1"/>
              </p:nvSpPr>
              <p:spPr bwMode="auto">
                <a:xfrm rot="187092">
                  <a:off x="1889" y="525"/>
                  <a:ext cx="272" cy="42"/>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9" name="Oval 24"/>
                <p:cNvSpPr>
                  <a:spLocks noChangeArrowheads="1"/>
                </p:cNvSpPr>
                <p:nvPr userDrawn="1"/>
              </p:nvSpPr>
              <p:spPr bwMode="auto">
                <a:xfrm rot="10143706">
                  <a:off x="1888" y="475"/>
                  <a:ext cx="272" cy="48"/>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26" name="Group 25"/>
              <p:cNvGrpSpPr>
                <a:grpSpLocks/>
              </p:cNvGrpSpPr>
              <p:nvPr userDrawn="1"/>
            </p:nvGrpSpPr>
            <p:grpSpPr bwMode="auto">
              <a:xfrm rot="10800000">
                <a:off x="1701" y="618"/>
                <a:ext cx="272" cy="90"/>
                <a:chOff x="1927" y="527"/>
                <a:chExt cx="272" cy="90"/>
              </a:xfrm>
            </p:grpSpPr>
            <p:sp>
              <p:nvSpPr>
                <p:cNvPr id="1106" name="Oval 26"/>
                <p:cNvSpPr>
                  <a:spLocks noChangeArrowheads="1"/>
                </p:cNvSpPr>
                <p:nvPr userDrawn="1"/>
              </p:nvSpPr>
              <p:spPr bwMode="auto">
                <a:xfrm rot="187092">
                  <a:off x="1948" y="611"/>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7" name="Oval 27"/>
                <p:cNvSpPr>
                  <a:spLocks noChangeArrowheads="1"/>
                </p:cNvSpPr>
                <p:nvPr userDrawn="1"/>
              </p:nvSpPr>
              <p:spPr bwMode="auto">
                <a:xfrm rot="10143706">
                  <a:off x="1953" y="550"/>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03" name="Oval 28"/>
              <p:cNvSpPr>
                <a:spLocks noChangeArrowheads="1"/>
              </p:cNvSpPr>
              <p:nvPr userDrawn="1"/>
            </p:nvSpPr>
            <p:spPr bwMode="auto">
              <a:xfrm>
                <a:off x="1908" y="587"/>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4" name="Oval 29"/>
              <p:cNvSpPr>
                <a:spLocks noChangeArrowheads="1"/>
              </p:cNvSpPr>
              <p:nvPr userDrawn="1"/>
            </p:nvSpPr>
            <p:spPr bwMode="auto">
              <a:xfrm>
                <a:off x="1862" y="495"/>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5" name="Oval 30"/>
              <p:cNvSpPr>
                <a:spLocks noChangeArrowheads="1"/>
              </p:cNvSpPr>
              <p:nvPr userDrawn="1"/>
            </p:nvSpPr>
            <p:spPr bwMode="auto">
              <a:xfrm>
                <a:off x="1954" y="491"/>
                <a:ext cx="50"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99" name="Oval 31"/>
            <p:cNvSpPr>
              <a:spLocks noChangeArrowheads="1"/>
            </p:cNvSpPr>
            <p:nvPr userDrawn="1"/>
          </p:nvSpPr>
          <p:spPr bwMode="auto">
            <a:xfrm flipH="1">
              <a:off x="341" y="3652"/>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0" name="Oval 32"/>
            <p:cNvSpPr>
              <a:spLocks noChangeArrowheads="1"/>
            </p:cNvSpPr>
            <p:nvPr userDrawn="1"/>
          </p:nvSpPr>
          <p:spPr bwMode="auto">
            <a:xfrm flipH="1">
              <a:off x="296" y="3697"/>
              <a:ext cx="25" cy="21"/>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57" name="Group 33"/>
          <p:cNvGrpSpPr>
            <a:grpSpLocks/>
          </p:cNvGrpSpPr>
          <p:nvPr/>
        </p:nvGrpSpPr>
        <p:grpSpPr bwMode="auto">
          <a:xfrm rot="-708557">
            <a:off x="2051050" y="6623050"/>
            <a:ext cx="503238" cy="468313"/>
            <a:chOff x="295" y="3385"/>
            <a:chExt cx="408" cy="340"/>
          </a:xfrm>
        </p:grpSpPr>
        <p:grpSp>
          <p:nvGrpSpPr>
            <p:cNvPr id="2110" name="Group 34"/>
            <p:cNvGrpSpPr>
              <a:grpSpLocks/>
            </p:cNvGrpSpPr>
            <p:nvPr userDrawn="1"/>
          </p:nvGrpSpPr>
          <p:grpSpPr bwMode="auto">
            <a:xfrm rot="2362656">
              <a:off x="295" y="3385"/>
              <a:ext cx="408" cy="273"/>
              <a:chOff x="1701" y="527"/>
              <a:chExt cx="498" cy="273"/>
            </a:xfrm>
          </p:grpSpPr>
          <p:grpSp>
            <p:nvGrpSpPr>
              <p:cNvPr id="2113" name="Group 35"/>
              <p:cNvGrpSpPr>
                <a:grpSpLocks/>
              </p:cNvGrpSpPr>
              <p:nvPr userDrawn="1"/>
            </p:nvGrpSpPr>
            <p:grpSpPr bwMode="auto">
              <a:xfrm rot="228844">
                <a:off x="1927" y="618"/>
                <a:ext cx="272" cy="90"/>
                <a:chOff x="1927" y="527"/>
                <a:chExt cx="272" cy="90"/>
              </a:xfrm>
            </p:grpSpPr>
            <p:sp>
              <p:nvSpPr>
                <p:cNvPr id="1096" name="Oval 36"/>
                <p:cNvSpPr>
                  <a:spLocks noChangeArrowheads="1"/>
                </p:cNvSpPr>
                <p:nvPr userDrawn="1"/>
              </p:nvSpPr>
              <p:spPr bwMode="auto">
                <a:xfrm rot="187092">
                  <a:off x="1884" y="551"/>
                  <a:ext cx="272"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7" name="Oval 37"/>
                <p:cNvSpPr>
                  <a:spLocks noChangeArrowheads="1"/>
                </p:cNvSpPr>
                <p:nvPr userDrawn="1"/>
              </p:nvSpPr>
              <p:spPr bwMode="auto">
                <a:xfrm rot="10143706">
                  <a:off x="1883" y="508"/>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14" name="Group 38"/>
              <p:cNvGrpSpPr>
                <a:grpSpLocks/>
              </p:cNvGrpSpPr>
              <p:nvPr userDrawn="1"/>
            </p:nvGrpSpPr>
            <p:grpSpPr bwMode="auto">
              <a:xfrm rot="10800000">
                <a:off x="1701" y="618"/>
                <a:ext cx="272" cy="90"/>
                <a:chOff x="1927" y="527"/>
                <a:chExt cx="272" cy="90"/>
              </a:xfrm>
            </p:grpSpPr>
            <p:sp>
              <p:nvSpPr>
                <p:cNvPr id="1094" name="Oval 39"/>
                <p:cNvSpPr>
                  <a:spLocks noChangeArrowheads="1"/>
                </p:cNvSpPr>
                <p:nvPr userDrawn="1"/>
              </p:nvSpPr>
              <p:spPr bwMode="auto">
                <a:xfrm rot="187092">
                  <a:off x="1984" y="619"/>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5" name="Oval 40"/>
                <p:cNvSpPr>
                  <a:spLocks noChangeArrowheads="1"/>
                </p:cNvSpPr>
                <p:nvPr userDrawn="1"/>
              </p:nvSpPr>
              <p:spPr bwMode="auto">
                <a:xfrm rot="10143706">
                  <a:off x="1989" y="574"/>
                  <a:ext cx="272"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91" name="Oval 41"/>
              <p:cNvSpPr>
                <a:spLocks noChangeArrowheads="1"/>
              </p:cNvSpPr>
              <p:nvPr userDrawn="1"/>
            </p:nvSpPr>
            <p:spPr bwMode="auto">
              <a:xfrm>
                <a:off x="1902" y="596"/>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2" name="Oval 42"/>
              <p:cNvSpPr>
                <a:spLocks noChangeArrowheads="1"/>
              </p:cNvSpPr>
              <p:nvPr userDrawn="1"/>
            </p:nvSpPr>
            <p:spPr bwMode="auto">
              <a:xfrm>
                <a:off x="1850" y="508"/>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3" name="Oval 43"/>
              <p:cNvSpPr>
                <a:spLocks noChangeArrowheads="1"/>
              </p:cNvSpPr>
              <p:nvPr userDrawn="1"/>
            </p:nvSpPr>
            <p:spPr bwMode="auto">
              <a:xfrm>
                <a:off x="1969" y="523"/>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87" name="Oval 44"/>
            <p:cNvSpPr>
              <a:spLocks noChangeArrowheads="1"/>
            </p:cNvSpPr>
            <p:nvPr userDrawn="1"/>
          </p:nvSpPr>
          <p:spPr bwMode="auto">
            <a:xfrm flipH="1">
              <a:off x="333" y="365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8" name="Oval 45"/>
            <p:cNvSpPr>
              <a:spLocks noChangeArrowheads="1"/>
            </p:cNvSpPr>
            <p:nvPr userDrawn="1"/>
          </p:nvSpPr>
          <p:spPr bwMode="auto">
            <a:xfrm flipH="1">
              <a:off x="292" y="3698"/>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58" name="Group 46"/>
          <p:cNvGrpSpPr>
            <a:grpSpLocks/>
          </p:cNvGrpSpPr>
          <p:nvPr/>
        </p:nvGrpSpPr>
        <p:grpSpPr bwMode="auto">
          <a:xfrm>
            <a:off x="203200" y="5957888"/>
            <a:ext cx="504825" cy="466725"/>
            <a:chOff x="295" y="3385"/>
            <a:chExt cx="408" cy="340"/>
          </a:xfrm>
        </p:grpSpPr>
        <p:grpSp>
          <p:nvGrpSpPr>
            <p:cNvPr id="2098" name="Group 47"/>
            <p:cNvGrpSpPr>
              <a:grpSpLocks/>
            </p:cNvGrpSpPr>
            <p:nvPr userDrawn="1"/>
          </p:nvGrpSpPr>
          <p:grpSpPr bwMode="auto">
            <a:xfrm rot="2362656">
              <a:off x="295" y="3385"/>
              <a:ext cx="408" cy="273"/>
              <a:chOff x="1701" y="527"/>
              <a:chExt cx="498" cy="273"/>
            </a:xfrm>
          </p:grpSpPr>
          <p:grpSp>
            <p:nvGrpSpPr>
              <p:cNvPr id="2101" name="Group 48"/>
              <p:cNvGrpSpPr>
                <a:grpSpLocks/>
              </p:cNvGrpSpPr>
              <p:nvPr userDrawn="1"/>
            </p:nvGrpSpPr>
            <p:grpSpPr bwMode="auto">
              <a:xfrm rot="228844">
                <a:off x="1927" y="618"/>
                <a:ext cx="272" cy="90"/>
                <a:chOff x="1927" y="527"/>
                <a:chExt cx="272" cy="90"/>
              </a:xfrm>
            </p:grpSpPr>
            <p:sp>
              <p:nvSpPr>
                <p:cNvPr id="1084" name="Oval 49"/>
                <p:cNvSpPr>
                  <a:spLocks noChangeArrowheads="1"/>
                </p:cNvSpPr>
                <p:nvPr userDrawn="1"/>
              </p:nvSpPr>
              <p:spPr bwMode="auto">
                <a:xfrm rot="187092">
                  <a:off x="1860" y="578"/>
                  <a:ext cx="272" cy="42"/>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5" name="Oval 50"/>
                <p:cNvSpPr>
                  <a:spLocks noChangeArrowheads="1"/>
                </p:cNvSpPr>
                <p:nvPr userDrawn="1"/>
              </p:nvSpPr>
              <p:spPr bwMode="auto">
                <a:xfrm rot="10143706">
                  <a:off x="1864" y="531"/>
                  <a:ext cx="272" cy="42"/>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02" name="Group 51"/>
              <p:cNvGrpSpPr>
                <a:grpSpLocks/>
              </p:cNvGrpSpPr>
              <p:nvPr userDrawn="1"/>
            </p:nvGrpSpPr>
            <p:grpSpPr bwMode="auto">
              <a:xfrm rot="10800000">
                <a:off x="1701" y="618"/>
                <a:ext cx="272" cy="90"/>
                <a:chOff x="1927" y="527"/>
                <a:chExt cx="272" cy="90"/>
              </a:xfrm>
            </p:grpSpPr>
            <p:sp>
              <p:nvSpPr>
                <p:cNvPr id="1082" name="Oval 52"/>
                <p:cNvSpPr>
                  <a:spLocks noChangeArrowheads="1"/>
                </p:cNvSpPr>
                <p:nvPr userDrawn="1"/>
              </p:nvSpPr>
              <p:spPr bwMode="auto">
                <a:xfrm rot="187092">
                  <a:off x="1955" y="573"/>
                  <a:ext cx="272" cy="34"/>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3" name="Oval 53"/>
                <p:cNvSpPr>
                  <a:spLocks noChangeArrowheads="1"/>
                </p:cNvSpPr>
                <p:nvPr userDrawn="1"/>
              </p:nvSpPr>
              <p:spPr bwMode="auto">
                <a:xfrm rot="10143706">
                  <a:off x="1937" y="526"/>
                  <a:ext cx="272" cy="44"/>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79" name="Oval 54"/>
              <p:cNvSpPr>
                <a:spLocks noChangeArrowheads="1"/>
              </p:cNvSpPr>
              <p:nvPr userDrawn="1"/>
            </p:nvSpPr>
            <p:spPr bwMode="auto">
              <a:xfrm>
                <a:off x="1918" y="619"/>
                <a:ext cx="47" cy="183"/>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0" name="Oval 55"/>
              <p:cNvSpPr>
                <a:spLocks noChangeArrowheads="1"/>
              </p:cNvSpPr>
              <p:nvPr userDrawn="1"/>
            </p:nvSpPr>
            <p:spPr bwMode="auto">
              <a:xfrm>
                <a:off x="1876" y="528"/>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1" name="Oval 56"/>
              <p:cNvSpPr>
                <a:spLocks noChangeArrowheads="1"/>
              </p:cNvSpPr>
              <p:nvPr userDrawn="1"/>
            </p:nvSpPr>
            <p:spPr bwMode="auto">
              <a:xfrm>
                <a:off x="1970" y="528"/>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75" name="Oval 57"/>
            <p:cNvSpPr>
              <a:spLocks noChangeArrowheads="1"/>
            </p:cNvSpPr>
            <p:nvPr userDrawn="1"/>
          </p:nvSpPr>
          <p:spPr bwMode="auto">
            <a:xfrm flipH="1">
              <a:off x="340" y="3657"/>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6" name="Oval 58"/>
            <p:cNvSpPr>
              <a:spLocks noChangeArrowheads="1"/>
            </p:cNvSpPr>
            <p:nvPr userDrawn="1"/>
          </p:nvSpPr>
          <p:spPr bwMode="auto">
            <a:xfrm flipH="1">
              <a:off x="295"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 name="Group 59"/>
          <p:cNvGrpSpPr>
            <a:grpSpLocks/>
          </p:cNvGrpSpPr>
          <p:nvPr/>
        </p:nvGrpSpPr>
        <p:grpSpPr bwMode="auto">
          <a:xfrm rot="-2197408">
            <a:off x="8196263" y="5815013"/>
            <a:ext cx="511175" cy="322262"/>
            <a:chOff x="295" y="3385"/>
            <a:chExt cx="408" cy="340"/>
          </a:xfrm>
        </p:grpSpPr>
        <p:grpSp>
          <p:nvGrpSpPr>
            <p:cNvPr id="2086" name="Group 60"/>
            <p:cNvGrpSpPr>
              <a:grpSpLocks/>
            </p:cNvGrpSpPr>
            <p:nvPr userDrawn="1"/>
          </p:nvGrpSpPr>
          <p:grpSpPr bwMode="auto">
            <a:xfrm rot="2362656">
              <a:off x="295" y="3385"/>
              <a:ext cx="408" cy="273"/>
              <a:chOff x="1701" y="527"/>
              <a:chExt cx="498" cy="273"/>
            </a:xfrm>
          </p:grpSpPr>
          <p:grpSp>
            <p:nvGrpSpPr>
              <p:cNvPr id="2089" name="Group 61"/>
              <p:cNvGrpSpPr>
                <a:grpSpLocks/>
              </p:cNvGrpSpPr>
              <p:nvPr userDrawn="1"/>
            </p:nvGrpSpPr>
            <p:grpSpPr bwMode="auto">
              <a:xfrm rot="228844">
                <a:off x="1927" y="618"/>
                <a:ext cx="272" cy="90"/>
                <a:chOff x="1927" y="527"/>
                <a:chExt cx="272" cy="90"/>
              </a:xfrm>
            </p:grpSpPr>
            <p:sp>
              <p:nvSpPr>
                <p:cNvPr id="1072" name="Oval 62"/>
                <p:cNvSpPr>
                  <a:spLocks noChangeArrowheads="1"/>
                </p:cNvSpPr>
                <p:nvPr userDrawn="1"/>
              </p:nvSpPr>
              <p:spPr bwMode="auto">
                <a:xfrm rot="187092">
                  <a:off x="1872" y="504"/>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3" name="Oval 63"/>
                <p:cNvSpPr>
                  <a:spLocks noChangeArrowheads="1"/>
                </p:cNvSpPr>
                <p:nvPr userDrawn="1"/>
              </p:nvSpPr>
              <p:spPr bwMode="auto">
                <a:xfrm rot="10143706">
                  <a:off x="1868" y="464"/>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90" name="Group 64"/>
              <p:cNvGrpSpPr>
                <a:grpSpLocks/>
              </p:cNvGrpSpPr>
              <p:nvPr userDrawn="1"/>
            </p:nvGrpSpPr>
            <p:grpSpPr bwMode="auto">
              <a:xfrm rot="10800000">
                <a:off x="1701" y="618"/>
                <a:ext cx="272" cy="90"/>
                <a:chOff x="1927" y="527"/>
                <a:chExt cx="272" cy="90"/>
              </a:xfrm>
            </p:grpSpPr>
            <p:sp>
              <p:nvSpPr>
                <p:cNvPr id="1070" name="Oval 65"/>
                <p:cNvSpPr>
                  <a:spLocks noChangeArrowheads="1"/>
                </p:cNvSpPr>
                <p:nvPr userDrawn="1"/>
              </p:nvSpPr>
              <p:spPr bwMode="auto">
                <a:xfrm rot="187092">
                  <a:off x="1945" y="666"/>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1" name="Oval 66"/>
                <p:cNvSpPr>
                  <a:spLocks noChangeArrowheads="1"/>
                </p:cNvSpPr>
                <p:nvPr userDrawn="1"/>
              </p:nvSpPr>
              <p:spPr bwMode="auto">
                <a:xfrm rot="10143706">
                  <a:off x="1944" y="624"/>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67" name="Oval 67"/>
              <p:cNvSpPr>
                <a:spLocks noChangeArrowheads="1"/>
              </p:cNvSpPr>
              <p:nvPr userDrawn="1"/>
            </p:nvSpPr>
            <p:spPr bwMode="auto">
              <a:xfrm>
                <a:off x="1912" y="565"/>
                <a:ext cx="45" cy="184"/>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8" name="Oval 68"/>
              <p:cNvSpPr>
                <a:spLocks noChangeArrowheads="1"/>
              </p:cNvSpPr>
              <p:nvPr userDrawn="1"/>
            </p:nvSpPr>
            <p:spPr bwMode="auto">
              <a:xfrm>
                <a:off x="1866" y="487"/>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9" name="Oval 69"/>
              <p:cNvSpPr>
                <a:spLocks noChangeArrowheads="1"/>
              </p:cNvSpPr>
              <p:nvPr userDrawn="1"/>
            </p:nvSpPr>
            <p:spPr bwMode="auto">
              <a:xfrm>
                <a:off x="1962" y="488"/>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63" name="Oval 70"/>
            <p:cNvSpPr>
              <a:spLocks noChangeArrowheads="1"/>
            </p:cNvSpPr>
            <p:nvPr userDrawn="1"/>
          </p:nvSpPr>
          <p:spPr bwMode="auto">
            <a:xfrm flipH="1">
              <a:off x="340" y="3654"/>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4" name="Oval 71"/>
            <p:cNvSpPr>
              <a:spLocks noChangeArrowheads="1"/>
            </p:cNvSpPr>
            <p:nvPr userDrawn="1"/>
          </p:nvSpPr>
          <p:spPr bwMode="auto">
            <a:xfrm flipH="1">
              <a:off x="295" y="3701"/>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60" name="Group 72"/>
          <p:cNvGrpSpPr>
            <a:grpSpLocks/>
          </p:cNvGrpSpPr>
          <p:nvPr/>
        </p:nvGrpSpPr>
        <p:grpSpPr bwMode="auto">
          <a:xfrm>
            <a:off x="6180138" y="6391275"/>
            <a:ext cx="576262" cy="466725"/>
            <a:chOff x="295" y="3385"/>
            <a:chExt cx="408" cy="340"/>
          </a:xfrm>
        </p:grpSpPr>
        <p:grpSp>
          <p:nvGrpSpPr>
            <p:cNvPr id="2074" name="Group 73"/>
            <p:cNvGrpSpPr>
              <a:grpSpLocks/>
            </p:cNvGrpSpPr>
            <p:nvPr userDrawn="1"/>
          </p:nvGrpSpPr>
          <p:grpSpPr bwMode="auto">
            <a:xfrm rot="2362656">
              <a:off x="295" y="3385"/>
              <a:ext cx="408" cy="273"/>
              <a:chOff x="1701" y="527"/>
              <a:chExt cx="498" cy="273"/>
            </a:xfrm>
          </p:grpSpPr>
          <p:grpSp>
            <p:nvGrpSpPr>
              <p:cNvPr id="2077" name="Group 74"/>
              <p:cNvGrpSpPr>
                <a:grpSpLocks/>
              </p:cNvGrpSpPr>
              <p:nvPr userDrawn="1"/>
            </p:nvGrpSpPr>
            <p:grpSpPr bwMode="auto">
              <a:xfrm rot="228844">
                <a:off x="1927" y="618"/>
                <a:ext cx="272" cy="90"/>
                <a:chOff x="1927" y="527"/>
                <a:chExt cx="272" cy="90"/>
              </a:xfrm>
            </p:grpSpPr>
            <p:sp>
              <p:nvSpPr>
                <p:cNvPr id="1060" name="Oval 75"/>
                <p:cNvSpPr>
                  <a:spLocks noChangeArrowheads="1"/>
                </p:cNvSpPr>
                <p:nvPr userDrawn="1"/>
              </p:nvSpPr>
              <p:spPr bwMode="auto">
                <a:xfrm rot="187092">
                  <a:off x="1921" y="573"/>
                  <a:ext cx="272" cy="43"/>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1" name="Oval 76"/>
                <p:cNvSpPr>
                  <a:spLocks noChangeArrowheads="1"/>
                </p:cNvSpPr>
                <p:nvPr userDrawn="1"/>
              </p:nvSpPr>
              <p:spPr bwMode="auto">
                <a:xfrm rot="10143706">
                  <a:off x="1896" y="530"/>
                  <a:ext cx="272" cy="42"/>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78" name="Group 77"/>
              <p:cNvGrpSpPr>
                <a:grpSpLocks/>
              </p:cNvGrpSpPr>
              <p:nvPr userDrawn="1"/>
            </p:nvGrpSpPr>
            <p:grpSpPr bwMode="auto">
              <a:xfrm rot="10800000">
                <a:off x="1701" y="618"/>
                <a:ext cx="272" cy="90"/>
                <a:chOff x="1927" y="527"/>
                <a:chExt cx="272" cy="90"/>
              </a:xfrm>
            </p:grpSpPr>
            <p:sp>
              <p:nvSpPr>
                <p:cNvPr id="1058" name="Oval 78"/>
                <p:cNvSpPr>
                  <a:spLocks noChangeArrowheads="1"/>
                </p:cNvSpPr>
                <p:nvPr userDrawn="1"/>
              </p:nvSpPr>
              <p:spPr bwMode="auto">
                <a:xfrm rot="187092">
                  <a:off x="1978" y="572"/>
                  <a:ext cx="272" cy="34"/>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9" name="Oval 79"/>
                <p:cNvSpPr>
                  <a:spLocks noChangeArrowheads="1"/>
                </p:cNvSpPr>
                <p:nvPr userDrawn="1"/>
              </p:nvSpPr>
              <p:spPr bwMode="auto">
                <a:xfrm rot="10143706">
                  <a:off x="1980" y="523"/>
                  <a:ext cx="272" cy="42"/>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55" name="Oval 80"/>
              <p:cNvSpPr>
                <a:spLocks noChangeArrowheads="1"/>
              </p:cNvSpPr>
              <p:nvPr userDrawn="1"/>
            </p:nvSpPr>
            <p:spPr bwMode="auto">
              <a:xfrm>
                <a:off x="1924" y="618"/>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6" name="Oval 81"/>
              <p:cNvSpPr>
                <a:spLocks noChangeArrowheads="1"/>
              </p:cNvSpPr>
              <p:nvPr userDrawn="1"/>
            </p:nvSpPr>
            <p:spPr bwMode="auto">
              <a:xfrm>
                <a:off x="1879" y="527"/>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7" name="Oval 82"/>
              <p:cNvSpPr>
                <a:spLocks noChangeArrowheads="1"/>
              </p:cNvSpPr>
              <p:nvPr userDrawn="1"/>
            </p:nvSpPr>
            <p:spPr bwMode="auto">
              <a:xfrm>
                <a:off x="1960" y="523"/>
                <a:ext cx="45" cy="44"/>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51" name="Oval 83"/>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2" name="Oval 84"/>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6" name="Group 85"/>
          <p:cNvGrpSpPr>
            <a:grpSpLocks/>
          </p:cNvGrpSpPr>
          <p:nvPr/>
        </p:nvGrpSpPr>
        <p:grpSpPr bwMode="auto">
          <a:xfrm rot="-4249260">
            <a:off x="8459788" y="1341438"/>
            <a:ext cx="503237" cy="503237"/>
            <a:chOff x="295" y="3385"/>
            <a:chExt cx="408" cy="340"/>
          </a:xfrm>
        </p:grpSpPr>
        <p:grpSp>
          <p:nvGrpSpPr>
            <p:cNvPr id="2062" name="Group 86"/>
            <p:cNvGrpSpPr>
              <a:grpSpLocks/>
            </p:cNvGrpSpPr>
            <p:nvPr userDrawn="1"/>
          </p:nvGrpSpPr>
          <p:grpSpPr bwMode="auto">
            <a:xfrm rot="2362656">
              <a:off x="295" y="3385"/>
              <a:ext cx="408" cy="273"/>
              <a:chOff x="1701" y="527"/>
              <a:chExt cx="498" cy="273"/>
            </a:xfrm>
          </p:grpSpPr>
          <p:grpSp>
            <p:nvGrpSpPr>
              <p:cNvPr id="2065" name="Group 87"/>
              <p:cNvGrpSpPr>
                <a:grpSpLocks/>
              </p:cNvGrpSpPr>
              <p:nvPr userDrawn="1"/>
            </p:nvGrpSpPr>
            <p:grpSpPr bwMode="auto">
              <a:xfrm rot="228844">
                <a:off x="1927" y="618"/>
                <a:ext cx="272" cy="90"/>
                <a:chOff x="1927" y="527"/>
                <a:chExt cx="272" cy="90"/>
              </a:xfrm>
            </p:grpSpPr>
            <p:sp>
              <p:nvSpPr>
                <p:cNvPr id="1048" name="Oval 88"/>
                <p:cNvSpPr>
                  <a:spLocks noChangeArrowheads="1"/>
                </p:cNvSpPr>
                <p:nvPr userDrawn="1"/>
              </p:nvSpPr>
              <p:spPr bwMode="auto">
                <a:xfrm rot="187092">
                  <a:off x="1901" y="518"/>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9" name="Oval 89"/>
                <p:cNvSpPr>
                  <a:spLocks noChangeArrowheads="1"/>
                </p:cNvSpPr>
                <p:nvPr userDrawn="1"/>
              </p:nvSpPr>
              <p:spPr bwMode="auto">
                <a:xfrm rot="10143706">
                  <a:off x="1903" y="471"/>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66" name="Group 90"/>
              <p:cNvGrpSpPr>
                <a:grpSpLocks/>
              </p:cNvGrpSpPr>
              <p:nvPr userDrawn="1"/>
            </p:nvGrpSpPr>
            <p:grpSpPr bwMode="auto">
              <a:xfrm rot="10800000">
                <a:off x="1701" y="618"/>
                <a:ext cx="272" cy="90"/>
                <a:chOff x="1927" y="527"/>
                <a:chExt cx="272" cy="90"/>
              </a:xfrm>
            </p:grpSpPr>
            <p:sp>
              <p:nvSpPr>
                <p:cNvPr id="1046" name="Oval 91"/>
                <p:cNvSpPr>
                  <a:spLocks noChangeArrowheads="1"/>
                </p:cNvSpPr>
                <p:nvPr userDrawn="1"/>
              </p:nvSpPr>
              <p:spPr bwMode="auto">
                <a:xfrm rot="187092">
                  <a:off x="1934" y="620"/>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7" name="Oval 92"/>
                <p:cNvSpPr>
                  <a:spLocks noChangeArrowheads="1"/>
                </p:cNvSpPr>
                <p:nvPr userDrawn="1"/>
              </p:nvSpPr>
              <p:spPr bwMode="auto">
                <a:xfrm rot="10143706">
                  <a:off x="1934" y="573"/>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43" name="Oval 93"/>
              <p:cNvSpPr>
                <a:spLocks noChangeArrowheads="1"/>
              </p:cNvSpPr>
              <p:nvPr userDrawn="1"/>
            </p:nvSpPr>
            <p:spPr bwMode="auto">
              <a:xfrm>
                <a:off x="1911" y="590"/>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4" name="Oval 94"/>
              <p:cNvSpPr>
                <a:spLocks noChangeArrowheads="1"/>
              </p:cNvSpPr>
              <p:nvPr userDrawn="1"/>
            </p:nvSpPr>
            <p:spPr bwMode="auto">
              <a:xfrm>
                <a:off x="1882" y="489"/>
                <a:ext cx="46"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5" name="Oval 95"/>
              <p:cNvSpPr>
                <a:spLocks noChangeArrowheads="1"/>
              </p:cNvSpPr>
              <p:nvPr userDrawn="1"/>
            </p:nvSpPr>
            <p:spPr bwMode="auto">
              <a:xfrm>
                <a:off x="1969" y="489"/>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39" name="Oval 96"/>
            <p:cNvSpPr>
              <a:spLocks noChangeArrowheads="1"/>
            </p:cNvSpPr>
            <p:nvPr userDrawn="1"/>
          </p:nvSpPr>
          <p:spPr bwMode="auto">
            <a:xfrm flipH="1">
              <a:off x="334" y="3658"/>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0" name="Oval 97"/>
            <p:cNvSpPr>
              <a:spLocks noChangeArrowheads="1"/>
            </p:cNvSpPr>
            <p:nvPr userDrawn="1"/>
          </p:nvSpPr>
          <p:spPr bwMode="auto">
            <a:xfrm flipH="1">
              <a:off x="287"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Tree>
    <p:extLst>
      <p:ext uri="{BB962C8B-B14F-4D97-AF65-F5344CB8AC3E}">
        <p14:creationId xmlns:p14="http://schemas.microsoft.com/office/powerpoint/2010/main" val="1342548414"/>
      </p:ext>
    </p:extLst>
  </p:cSld>
  <p:clrMap bg1="lt1" tx1="dk1" bg2="lt2" tx2="dk2" accent1="accent1" accent2="accent2" accent3="accent3" accent4="accent4" accent5="accent5" accent6="accent6" hlink="hlink" folHlink="folHlink"/>
  <p:sldLayoutIdLst>
    <p:sldLayoutId id="2147484393" r:id="rId1"/>
    <p:sldLayoutId id="2147484394" r:id="rId2"/>
    <p:sldLayoutId id="2147484395" r:id="rId3"/>
    <p:sldLayoutId id="2147484396" r:id="rId4"/>
    <p:sldLayoutId id="2147484397" r:id="rId5"/>
    <p:sldLayoutId id="2147484398" r:id="rId6"/>
    <p:sldLayoutId id="2147484399" r:id="rId7"/>
    <p:sldLayoutId id="2147484400" r:id="rId8"/>
    <p:sldLayoutId id="2147484401" r:id="rId9"/>
    <p:sldLayoutId id="2147484402" r:id="rId10"/>
    <p:sldLayoutId id="2147484403" r:id="rId11"/>
  </p:sldLayoutIdLst>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6" presetClass="emph" presetSubtype="0" repeatCount="indefinite" fill="hold" nodeType="withEffect">
                                  <p:stCondLst>
                                    <p:cond delay="0"/>
                                  </p:stCondLst>
                                  <p:childTnLst>
                                    <p:animEffect transition="out" filter="fade">
                                      <p:cBhvr>
                                        <p:cTn id="6" dur="1000" tmFilter="0, 0; .2, .5; .8, .5; 1, 0"/>
                                        <p:tgtEl>
                                          <p:spTgt spid="6"/>
                                        </p:tgtEl>
                                      </p:cBhvr>
                                    </p:animEffect>
                                    <p:animScale>
                                      <p:cBhvr>
                                        <p:cTn id="7" dur="500" autoRev="1" fill="hold"/>
                                        <p:tgtEl>
                                          <p:spTgt spid="6"/>
                                        </p:tgtEl>
                                      </p:cBhvr>
                                      <p:by x="105000" y="105000"/>
                                    </p:animScale>
                                  </p:childTnLst>
                                </p:cTn>
                              </p:par>
                              <p:par>
                                <p:cTn id="8" presetID="26" presetClass="emph" presetSubtype="0" repeatCount="indefinite" fill="hold" nodeType="withEffect">
                                  <p:stCondLst>
                                    <p:cond delay="0"/>
                                  </p:stCondLst>
                                  <p:childTnLst>
                                    <p:animEffect transition="out" filter="fade">
                                      <p:cBhvr>
                                        <p:cTn id="9" dur="3000" tmFilter="0, 0; .2, .5; .8, .5; 1, 0"/>
                                        <p:tgtEl>
                                          <p:spTgt spid="18"/>
                                        </p:tgtEl>
                                      </p:cBhvr>
                                    </p:animEffect>
                                    <p:animScale>
                                      <p:cBhvr>
                                        <p:cTn id="10" dur="1500" autoRev="1" fill="hold"/>
                                        <p:tgtEl>
                                          <p:spTgt spid="18"/>
                                        </p:tgtEl>
                                      </p:cBhvr>
                                      <p:by x="105000" y="105000"/>
                                    </p:animScale>
                                  </p:childTnLst>
                                </p:cTn>
                              </p:par>
                              <p:par>
                                <p:cTn id="11" presetID="26" presetClass="emph" presetSubtype="0" repeatCount="indefinite" fill="hold" nodeType="withEffect">
                                  <p:stCondLst>
                                    <p:cond delay="0"/>
                                  </p:stCondLst>
                                  <p:childTnLst>
                                    <p:animEffect transition="out" filter="fade">
                                      <p:cBhvr>
                                        <p:cTn id="12" dur="3000" tmFilter="0, 0; .2, .5; .8, .5; 1, 0"/>
                                        <p:tgtEl>
                                          <p:spTgt spid="26"/>
                                        </p:tgtEl>
                                      </p:cBhvr>
                                    </p:animEffect>
                                    <p:animScale>
                                      <p:cBhvr>
                                        <p:cTn id="13" dur="1500" autoRev="1" fill="hold"/>
                                        <p:tgtEl>
                                          <p:spTgt spid="2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xStyles>
    <p:titleStyle>
      <a:lvl1pPr algn="ctr" rtl="0" eaLnBrk="0" fontAlgn="base" hangingPunct="0">
        <a:spcBef>
          <a:spcPct val="0"/>
        </a:spcBef>
        <a:spcAft>
          <a:spcPct val="0"/>
        </a:spcAft>
        <a:defRPr kumimoji="1" sz="4400">
          <a:solidFill>
            <a:schemeClr val="tx2"/>
          </a:solidFill>
          <a:latin typeface="+mj-lt"/>
          <a:ea typeface="標楷體" panose="03000509000000000000" pitchFamily="65" charset="-120"/>
          <a:cs typeface="+mj-cs"/>
        </a:defRPr>
      </a:lvl1pPr>
      <a:lvl2pPr algn="ctr" rtl="0" eaLnBrk="0" fontAlgn="base" hangingPunct="0">
        <a:spcBef>
          <a:spcPct val="0"/>
        </a:spcBef>
        <a:spcAft>
          <a:spcPct val="0"/>
        </a:spcAft>
        <a:defRPr kumimoji="1" sz="4400">
          <a:solidFill>
            <a:schemeClr val="tx2"/>
          </a:solidFill>
          <a:latin typeface="Arial" charset="0"/>
          <a:ea typeface="標楷體" pitchFamily="65" charset="-120"/>
        </a:defRPr>
      </a:lvl2pPr>
      <a:lvl3pPr algn="ctr" rtl="0" eaLnBrk="0" fontAlgn="base" hangingPunct="0">
        <a:spcBef>
          <a:spcPct val="0"/>
        </a:spcBef>
        <a:spcAft>
          <a:spcPct val="0"/>
        </a:spcAft>
        <a:defRPr kumimoji="1" sz="4400">
          <a:solidFill>
            <a:schemeClr val="tx2"/>
          </a:solidFill>
          <a:latin typeface="Arial" charset="0"/>
          <a:ea typeface="標楷體" pitchFamily="65" charset="-120"/>
        </a:defRPr>
      </a:lvl3pPr>
      <a:lvl4pPr algn="ctr" rtl="0" eaLnBrk="0" fontAlgn="base" hangingPunct="0">
        <a:spcBef>
          <a:spcPct val="0"/>
        </a:spcBef>
        <a:spcAft>
          <a:spcPct val="0"/>
        </a:spcAft>
        <a:defRPr kumimoji="1" sz="4400">
          <a:solidFill>
            <a:schemeClr val="tx2"/>
          </a:solidFill>
          <a:latin typeface="Arial" charset="0"/>
          <a:ea typeface="標楷體" pitchFamily="65" charset="-120"/>
        </a:defRPr>
      </a:lvl4pPr>
      <a:lvl5pPr algn="ctr" rtl="0" eaLnBrk="0" fontAlgn="base" hangingPunct="0">
        <a:spcBef>
          <a:spcPct val="0"/>
        </a:spcBef>
        <a:spcAft>
          <a:spcPct val="0"/>
        </a:spcAft>
        <a:defRPr kumimoji="1" sz="4400">
          <a:solidFill>
            <a:schemeClr val="tx2"/>
          </a:solidFill>
          <a:latin typeface="Arial" charset="0"/>
          <a:ea typeface="標楷體" pitchFamily="65" charset="-120"/>
        </a:defRPr>
      </a:lvl5pPr>
      <a:lvl6pPr marL="457200" algn="ctr" rtl="0" fontAlgn="base">
        <a:spcBef>
          <a:spcPct val="0"/>
        </a:spcBef>
        <a:spcAft>
          <a:spcPct val="0"/>
        </a:spcAft>
        <a:defRPr kumimoji="1" sz="4400">
          <a:solidFill>
            <a:schemeClr val="tx2"/>
          </a:solidFill>
          <a:latin typeface="Arial" charset="0"/>
          <a:ea typeface="新細明體" pitchFamily="18" charset="-120"/>
        </a:defRPr>
      </a:lvl6pPr>
      <a:lvl7pPr marL="914400" algn="ctr" rtl="0" fontAlgn="base">
        <a:spcBef>
          <a:spcPct val="0"/>
        </a:spcBef>
        <a:spcAft>
          <a:spcPct val="0"/>
        </a:spcAft>
        <a:defRPr kumimoji="1" sz="4400">
          <a:solidFill>
            <a:schemeClr val="tx2"/>
          </a:solidFill>
          <a:latin typeface="Arial" charset="0"/>
          <a:ea typeface="新細明體" pitchFamily="18" charset="-120"/>
        </a:defRPr>
      </a:lvl7pPr>
      <a:lvl8pPr marL="1371600" algn="ctr" rtl="0" fontAlgn="base">
        <a:spcBef>
          <a:spcPct val="0"/>
        </a:spcBef>
        <a:spcAft>
          <a:spcPct val="0"/>
        </a:spcAft>
        <a:defRPr kumimoji="1" sz="4400">
          <a:solidFill>
            <a:schemeClr val="tx2"/>
          </a:solidFill>
          <a:latin typeface="Arial" charset="0"/>
          <a:ea typeface="新細明體" pitchFamily="18" charset="-120"/>
        </a:defRPr>
      </a:lvl8pPr>
      <a:lvl9pPr marL="1828800" algn="ctr" rtl="0" fontAlgn="base">
        <a:spcBef>
          <a:spcPct val="0"/>
        </a:spcBef>
        <a:spcAft>
          <a:spcPct val="0"/>
        </a:spcAft>
        <a:defRPr kumimoji="1" sz="4400">
          <a:solidFill>
            <a:schemeClr val="tx2"/>
          </a:solidFill>
          <a:latin typeface="Arial" charset="0"/>
          <a:ea typeface="新細明體" pitchFamily="18" charset="-120"/>
        </a:defRPr>
      </a:lvl9pPr>
    </p:titleStyle>
    <p:bodyStyle>
      <a:lvl1pPr marL="342900" indent="-342900" algn="l" rtl="0" eaLnBrk="0" fontAlgn="base" hangingPunct="0">
        <a:spcBef>
          <a:spcPct val="20000"/>
        </a:spcBef>
        <a:spcAft>
          <a:spcPct val="0"/>
        </a:spcAft>
        <a:buChar char="•"/>
        <a:defRPr kumimoji="1" sz="3200">
          <a:solidFill>
            <a:schemeClr val="tx1"/>
          </a:solidFill>
          <a:latin typeface="+mn-lt"/>
          <a:ea typeface="標楷體" panose="03000509000000000000" pitchFamily="65" charset="-120"/>
          <a:cs typeface="+mn-cs"/>
        </a:defRPr>
      </a:lvl1pPr>
      <a:lvl2pPr marL="742950" indent="-285750" algn="l" rtl="0" eaLnBrk="0" fontAlgn="base" hangingPunct="0">
        <a:spcBef>
          <a:spcPct val="20000"/>
        </a:spcBef>
        <a:spcAft>
          <a:spcPct val="0"/>
        </a:spcAft>
        <a:buChar char="–"/>
        <a:defRPr kumimoji="1" sz="2800">
          <a:solidFill>
            <a:srgbClr val="FF0066"/>
          </a:solidFill>
          <a:latin typeface="+mn-lt"/>
          <a:ea typeface="標楷體" panose="03000509000000000000" pitchFamily="65" charset="-120"/>
        </a:defRPr>
      </a:lvl2pPr>
      <a:lvl3pPr marL="1143000" indent="-228600" algn="l" rtl="0" eaLnBrk="0" fontAlgn="base" hangingPunct="0">
        <a:spcBef>
          <a:spcPct val="20000"/>
        </a:spcBef>
        <a:spcAft>
          <a:spcPct val="0"/>
        </a:spcAft>
        <a:buChar char="•"/>
        <a:defRPr kumimoji="1" sz="2400">
          <a:solidFill>
            <a:schemeClr val="tx1"/>
          </a:solidFill>
          <a:latin typeface="+mn-lt"/>
          <a:ea typeface="標楷體" panose="03000509000000000000" pitchFamily="65" charset="-120"/>
        </a:defRPr>
      </a:lvl3pPr>
      <a:lvl4pPr marL="1600200" indent="-228600" algn="l" rtl="0" eaLnBrk="0" fontAlgn="base" hangingPunct="0">
        <a:spcBef>
          <a:spcPct val="20000"/>
        </a:spcBef>
        <a:spcAft>
          <a:spcPct val="0"/>
        </a:spcAft>
        <a:buChar char="–"/>
        <a:defRPr kumimoji="1" sz="2000">
          <a:solidFill>
            <a:srgbClr val="FF0066"/>
          </a:solidFill>
          <a:latin typeface="+mn-lt"/>
          <a:ea typeface="標楷體" panose="03000509000000000000" pitchFamily="65" charset="-120"/>
        </a:defRPr>
      </a:lvl4pPr>
      <a:lvl5pPr marL="2057400" indent="-228600" algn="l" rtl="0" eaLnBrk="0" fontAlgn="base" hangingPunct="0">
        <a:spcBef>
          <a:spcPct val="20000"/>
        </a:spcBef>
        <a:spcAft>
          <a:spcPct val="0"/>
        </a:spcAft>
        <a:buChar char="»"/>
        <a:defRPr kumimoji="1" sz="2000">
          <a:solidFill>
            <a:schemeClr val="tx1"/>
          </a:solidFill>
          <a:latin typeface="+mn-lt"/>
          <a:ea typeface="標楷體" panose="03000509000000000000" pitchFamily="65" charset="-120"/>
        </a:defRPr>
      </a:lvl5pPr>
      <a:lvl6pPr marL="2514600" indent="-228600" algn="l" rtl="0" fontAlgn="base">
        <a:spcBef>
          <a:spcPct val="20000"/>
        </a:spcBef>
        <a:spcAft>
          <a:spcPct val="0"/>
        </a:spcAft>
        <a:buChar char="»"/>
        <a:defRPr kumimoji="1" sz="2000">
          <a:solidFill>
            <a:schemeClr val="tx1"/>
          </a:solidFill>
          <a:latin typeface="+mn-lt"/>
          <a:ea typeface="+mn-ea"/>
        </a:defRPr>
      </a:lvl6pPr>
      <a:lvl7pPr marL="2971800" indent="-228600" algn="l" rtl="0" fontAlgn="base">
        <a:spcBef>
          <a:spcPct val="20000"/>
        </a:spcBef>
        <a:spcAft>
          <a:spcPct val="0"/>
        </a:spcAft>
        <a:buChar char="»"/>
        <a:defRPr kumimoji="1" sz="2000">
          <a:solidFill>
            <a:schemeClr val="tx1"/>
          </a:solidFill>
          <a:latin typeface="+mn-lt"/>
          <a:ea typeface="+mn-ea"/>
        </a:defRPr>
      </a:lvl7pPr>
      <a:lvl8pPr marL="3429000" indent="-228600" algn="l" rtl="0" fontAlgn="base">
        <a:spcBef>
          <a:spcPct val="20000"/>
        </a:spcBef>
        <a:spcAft>
          <a:spcPct val="0"/>
        </a:spcAft>
        <a:buChar char="»"/>
        <a:defRPr kumimoji="1" sz="2000">
          <a:solidFill>
            <a:schemeClr val="tx1"/>
          </a:solidFill>
          <a:latin typeface="+mn-lt"/>
          <a:ea typeface="+mn-ea"/>
        </a:defRPr>
      </a:lvl8pPr>
      <a:lvl9pPr marL="3886200" indent="-228600" algn="l" rtl="0" fontAlgn="base">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19" descr="1"/>
          <p:cNvPicPr>
            <a:picLocks noChangeAspect="1" noChangeArrowheads="1"/>
          </p:cNvPicPr>
          <p:nvPr/>
        </p:nvPicPr>
        <p:blipFill>
          <a:blip r:embed="rId14">
            <a:extLst>
              <a:ext uri="{28A0092B-C50C-407E-A947-70E740481C1C}">
                <a14:useLocalDpi xmlns:a14="http://schemas.microsoft.com/office/drawing/2010/main" val="0"/>
              </a:ext>
            </a:extLst>
          </a:blip>
          <a:srcRect b="38461"/>
          <a:stretch>
            <a:fillRect/>
          </a:stretch>
        </p:blipFill>
        <p:spPr bwMode="auto">
          <a:xfrm>
            <a:off x="0" y="6324600"/>
            <a:ext cx="9144000" cy="542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1" name="Rectangle 17"/>
          <p:cNvSpPr>
            <a:spLocks noChangeArrowheads="1"/>
          </p:cNvSpPr>
          <p:nvPr/>
        </p:nvSpPr>
        <p:spPr bwMode="gray">
          <a:xfrm>
            <a:off x="0" y="0"/>
            <a:ext cx="9144000" cy="1219200"/>
          </a:xfrm>
          <a:prstGeom prst="rect">
            <a:avLst/>
          </a:prstGeom>
          <a:gradFill rotWithShape="1">
            <a:gsLst>
              <a:gs pos="0">
                <a:schemeClr val="accent1"/>
              </a:gs>
              <a:gs pos="100000">
                <a:schemeClr val="accent1">
                  <a:gamma/>
                  <a:tint val="0"/>
                  <a:invGamma/>
                </a:schemeClr>
              </a:gs>
            </a:gsLst>
            <a:lin ang="5400000" scaled="1"/>
          </a:gradFill>
          <a:ln w="9525">
            <a:noFill/>
            <a:miter lim="800000"/>
            <a:headEnd/>
            <a:tailEnd/>
          </a:ln>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1028" name="Rectangle 3"/>
          <p:cNvSpPr>
            <a:spLocks noGrp="1" noChangeArrowheads="1"/>
          </p:cNvSpPr>
          <p:nvPr>
            <p:ph type="body" idx="1"/>
          </p:nvPr>
        </p:nvSpPr>
        <p:spPr bwMode="auto">
          <a:xfrm>
            <a:off x="457200" y="1295400"/>
            <a:ext cx="8229600" cy="502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smtClean="0"/>
              <a:t>Click to edit Master text styles</a:t>
            </a:r>
          </a:p>
          <a:p>
            <a:pPr lvl="1"/>
            <a:r>
              <a:rPr lang="en-US" altLang="zh-CN" smtClean="0"/>
              <a:t>Second level</a:t>
            </a:r>
          </a:p>
          <a:p>
            <a:pPr lvl="2"/>
            <a:r>
              <a:rPr lang="en-US" altLang="zh-CN" smtClean="0"/>
              <a:t>Third level</a:t>
            </a:r>
          </a:p>
          <a:p>
            <a:pPr lvl="3"/>
            <a:r>
              <a:rPr lang="en-US" altLang="zh-CN" smtClean="0"/>
              <a:t>Fourth level</a:t>
            </a:r>
          </a:p>
          <a:p>
            <a:pPr lvl="4"/>
            <a:r>
              <a:rPr lang="en-US" altLang="zh-CN" smtClean="0"/>
              <a:t>Fifth level</a:t>
            </a:r>
          </a:p>
        </p:txBody>
      </p:sp>
      <p:sp>
        <p:nvSpPr>
          <p:cNvPr id="2" name="Rectangle 4"/>
          <p:cNvSpPr>
            <a:spLocks noGrp="1" noChangeArrowheads="1"/>
          </p:cNvSpPr>
          <p:nvPr>
            <p:ph type="dt" sz="half" idx="2"/>
          </p:nvPr>
        </p:nvSpPr>
        <p:spPr bwMode="auto">
          <a:xfrm>
            <a:off x="457200" y="6537325"/>
            <a:ext cx="2133600" cy="2444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solidFill>
                  <a:schemeClr val="bg1"/>
                </a:solidFill>
                <a:latin typeface="Arial" charset="0"/>
                <a:ea typeface="宋体" charset="-122"/>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1029" name="Rectangle 5"/>
          <p:cNvSpPr>
            <a:spLocks noGrp="1" noChangeArrowheads="1"/>
          </p:cNvSpPr>
          <p:nvPr>
            <p:ph type="ftr" sz="quarter" idx="3"/>
          </p:nvPr>
        </p:nvSpPr>
        <p:spPr bwMode="auto">
          <a:xfrm>
            <a:off x="3124200" y="6537325"/>
            <a:ext cx="2895600" cy="2444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200">
                <a:solidFill>
                  <a:schemeClr val="bg1"/>
                </a:solidFill>
                <a:latin typeface="Arial" charset="0"/>
                <a:ea typeface="宋体" charset="-122"/>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zh-CN" sz="1200" b="0" i="0" u="none" strike="noStrike" kern="1200" cap="none" spc="0" normalizeH="0" baseline="0" noProof="0">
              <a:ln>
                <a:noFill/>
              </a:ln>
              <a:solidFill>
                <a:srgbClr val="FFFFFF"/>
              </a:solidFill>
              <a:effectLst/>
              <a:uLnTx/>
              <a:uFillTx/>
              <a:latin typeface="Arial" charset="0"/>
              <a:ea typeface="宋体" charset="-122"/>
              <a:cs typeface="+mn-cs"/>
            </a:endParaRPr>
          </a:p>
        </p:txBody>
      </p:sp>
      <p:sp>
        <p:nvSpPr>
          <p:cNvPr id="1030" name="Rectangle 6"/>
          <p:cNvSpPr>
            <a:spLocks noGrp="1" noChangeArrowheads="1"/>
          </p:cNvSpPr>
          <p:nvPr>
            <p:ph type="sldNum" sz="quarter" idx="4"/>
          </p:nvPr>
        </p:nvSpPr>
        <p:spPr bwMode="auto">
          <a:xfrm>
            <a:off x="6553200" y="6537325"/>
            <a:ext cx="2133600" cy="2444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solidFill>
                  <a:schemeClr val="bg1"/>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2B3FF17-FA38-45FD-A62D-52C2D8B7833E}" type="slidenum">
              <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US" altLang="zh-CN" sz="1200" b="0" i="0" u="none" strike="noStrike" kern="1200" cap="none" spc="0" normalizeH="0" baseline="0" noProof="0">
              <a:ln>
                <a:noFill/>
              </a:ln>
              <a:solidFill>
                <a:srgbClr val="FFFFFF"/>
              </a:solidFill>
              <a:effectLst/>
              <a:uLnTx/>
              <a:uFillTx/>
              <a:latin typeface="Arial" panose="020B0604020202020204" pitchFamily="34" charset="0"/>
              <a:ea typeface="宋体" panose="02010600030101010101" pitchFamily="2" charset="-122"/>
              <a:cs typeface="+mn-cs"/>
            </a:endParaRPr>
          </a:p>
        </p:txBody>
      </p:sp>
      <p:pic>
        <p:nvPicPr>
          <p:cNvPr id="1032" name="Picture 9" descr="artplus_nature_naturalcity42_a"/>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7891463" y="5935663"/>
            <a:ext cx="1235075" cy="833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10" descr="artplus_nature_naturalcity42_b"/>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7981950" y="5916613"/>
            <a:ext cx="828675" cy="158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4" name="Picture 11" descr="artplus_nature_naturalcity42_e"/>
          <p:cNvPicPr>
            <a:picLocks noChangeAspect="1" noChangeArrowheads="1"/>
          </p:cNvPicPr>
          <p:nvPr/>
        </p:nvPicPr>
        <p:blipFill>
          <a:blip r:embed="rId17" cstate="print">
            <a:extLst>
              <a:ext uri="{28A0092B-C50C-407E-A947-70E740481C1C}">
                <a14:useLocalDpi xmlns:a14="http://schemas.microsoft.com/office/drawing/2010/main" val="0"/>
              </a:ext>
            </a:extLst>
          </a:blip>
          <a:srcRect/>
          <a:stretch>
            <a:fillRect/>
          </a:stretch>
        </p:blipFill>
        <p:spPr bwMode="auto">
          <a:xfrm>
            <a:off x="8161338" y="5608638"/>
            <a:ext cx="43021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5" name="Picture 12" descr="artplus_nature_naturalcity42_d"/>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8102600" y="5849938"/>
            <a:ext cx="173038"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6" name="Picture 13" descr="artplus_nature_naturalcity42_i"/>
          <p:cNvPicPr>
            <a:picLocks noChangeAspect="1" noChangeArrowheads="1"/>
          </p:cNvPicPr>
          <p:nvPr/>
        </p:nvPicPr>
        <p:blipFill>
          <a:blip r:embed="rId19" cstate="print">
            <a:extLst>
              <a:ext uri="{28A0092B-C50C-407E-A947-70E740481C1C}">
                <a14:useLocalDpi xmlns:a14="http://schemas.microsoft.com/office/drawing/2010/main" val="0"/>
              </a:ext>
            </a:extLst>
          </a:blip>
          <a:srcRect/>
          <a:stretch>
            <a:fillRect/>
          </a:stretch>
        </p:blipFill>
        <p:spPr bwMode="auto">
          <a:xfrm>
            <a:off x="8469313" y="5969000"/>
            <a:ext cx="461962"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7" name="Picture 14" descr="artplus_nature_naturalcity42_c"/>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8562975" y="5943600"/>
            <a:ext cx="309563" cy="24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9" name="Picture 15" descr="artplus_nature_naturalcity42_f"/>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7926388" y="6334125"/>
            <a:ext cx="1370012"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Rectangle 2"/>
          <p:cNvSpPr>
            <a:spLocks noGrp="1" noChangeArrowheads="1"/>
          </p:cNvSpPr>
          <p:nvPr>
            <p:ph type="title"/>
          </p:nvPr>
        </p:nvSpPr>
        <p:spPr bwMode="auto">
          <a:xfrm>
            <a:off x="457200" y="228600"/>
            <a:ext cx="8229600" cy="868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zh-CN" smtClean="0"/>
              <a:t>Click to edit Master title style</a:t>
            </a:r>
          </a:p>
        </p:txBody>
      </p:sp>
      <p:pic>
        <p:nvPicPr>
          <p:cNvPr id="1044" name="Picture 20" descr="a1"/>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9625013" y="328613"/>
            <a:ext cx="942975" cy="1082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45" name="Picture 21" descr="b_1"/>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990600" y="1371600"/>
            <a:ext cx="825500"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10696024"/>
      </p:ext>
    </p:extLst>
  </p:cSld>
  <p:clrMap bg1="lt1" tx1="dk1" bg2="lt2" tx2="dk2" accent1="accent1" accent2="accent2" accent3="accent3" accent4="accent4" accent5="accent5" accent6="accent6" hlink="hlink" folHlink="folHlink"/>
  <p:sldLayoutIdLst>
    <p:sldLayoutId id="2147484429" r:id="rId1"/>
    <p:sldLayoutId id="2147484430" r:id="rId2"/>
    <p:sldLayoutId id="2147484431" r:id="rId3"/>
    <p:sldLayoutId id="2147484432" r:id="rId4"/>
    <p:sldLayoutId id="2147484433" r:id="rId5"/>
    <p:sldLayoutId id="2147484434" r:id="rId6"/>
    <p:sldLayoutId id="2147484435" r:id="rId7"/>
    <p:sldLayoutId id="2147484436" r:id="rId8"/>
    <p:sldLayoutId id="2147484437" r:id="rId9"/>
    <p:sldLayoutId id="2147484438" r:id="rId10"/>
    <p:sldLayoutId id="2147484439" r:id="rId11"/>
    <p:sldLayoutId id="2147484440" r:id="rId12"/>
  </p:sldLayoutIdLst>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4" fill="hold" nodeType="withEffect">
                                  <p:stCondLst>
                                    <p:cond delay="0"/>
                                  </p:stCondLst>
                                  <p:childTnLst>
                                    <p:set>
                                      <p:cBhvr>
                                        <p:cTn id="6" dur="1" fill="hold">
                                          <p:stCondLst>
                                            <p:cond delay="0"/>
                                          </p:stCondLst>
                                        </p:cTn>
                                        <p:tgtEl>
                                          <p:spTgt spid="1039"/>
                                        </p:tgtEl>
                                        <p:attrNameLst>
                                          <p:attrName>style.visibility</p:attrName>
                                        </p:attrNameLst>
                                      </p:cBhvr>
                                      <p:to>
                                        <p:strVal val="visible"/>
                                      </p:to>
                                    </p:set>
                                    <p:animEffect transition="in" filter="wipe(down)">
                                      <p:cBhvr>
                                        <p:cTn id="7" dur="1000"/>
                                        <p:tgtEl>
                                          <p:spTgt spid="1039"/>
                                        </p:tgtEl>
                                      </p:cBhvr>
                                    </p:animEffect>
                                  </p:childTnLst>
                                </p:cTn>
                              </p:par>
                            </p:childTnLst>
                          </p:cTn>
                        </p:par>
                        <p:par>
                          <p:cTn id="8" fill="hold" nodeType="afterGroup">
                            <p:stCondLst>
                              <p:cond delay="1000"/>
                            </p:stCondLst>
                            <p:childTnLst>
                              <p:par>
                                <p:cTn id="9" presetID="0" presetClass="path" presetSubtype="0" accel="50000" decel="50000" fill="hold" nodeType="afterEffect">
                                  <p:stCondLst>
                                    <p:cond delay="0"/>
                                  </p:stCondLst>
                                  <p:childTnLst>
                                    <p:animMotion origin="layout" path="M 3.33333E-6 -1.85185E-6 C -0.09045 -0.01597 -0.36945 -0.08727 -0.54306 -0.09537 C -0.71667 -0.10347 -0.93785 -0.05879 -1.04167 -0.04907 " pathEditMode="relative" rAng="0" ptsTypes="aaa">
                                      <p:cBhvr>
                                        <p:cTn id="10" dur="2000" fill="hold"/>
                                        <p:tgtEl>
                                          <p:spTgt spid="1044"/>
                                        </p:tgtEl>
                                        <p:attrNameLst>
                                          <p:attrName>ppt_x</p:attrName>
                                          <p:attrName>ppt_y</p:attrName>
                                        </p:attrNameLst>
                                      </p:cBhvr>
                                      <p:rCtr x="-52083" y="-5185"/>
                                    </p:animMotion>
                                  </p:childTnLst>
                                </p:cTn>
                              </p:par>
                            </p:childTnLst>
                          </p:cTn>
                        </p:par>
                        <p:par>
                          <p:cTn id="11" fill="hold" nodeType="afterGroup">
                            <p:stCondLst>
                              <p:cond delay="3000"/>
                            </p:stCondLst>
                            <p:childTnLst>
                              <p:par>
                                <p:cTn id="12" presetID="0" presetClass="path" presetSubtype="0" accel="50000" decel="50000" fill="hold" nodeType="afterEffect">
                                  <p:stCondLst>
                                    <p:cond delay="0"/>
                                  </p:stCondLst>
                                  <p:childTnLst>
                                    <p:animMotion origin="layout" path="M -0.00348 0.05949 C 0.00625 0.0581 0.04097 0.0574 0.05399 0.05324 C 0.06701 0.04907 0.06632 0.04907 0.07638 0.03379 C 0.08628 0.01898 0.10538 -0.02269 0.11319 -0.03727 " pathEditMode="relative" rAng="0" ptsTypes="aaaa">
                                      <p:cBhvr>
                                        <p:cTn id="13" dur="2000" fill="hold"/>
                                        <p:tgtEl>
                                          <p:spTgt spid="1045"/>
                                        </p:tgtEl>
                                        <p:attrNameLst>
                                          <p:attrName>ppt_x</p:attrName>
                                          <p:attrName>ppt_y</p:attrName>
                                        </p:attrNameLst>
                                      </p:cBhvr>
                                      <p:rCtr x="5833" y="-4838"/>
                                    </p:animMotion>
                                  </p:childTnLst>
                                </p:cTn>
                              </p:par>
                              <p:par>
                                <p:cTn id="14" presetID="22" presetClass="entr" presetSubtype="8" fill="hold" grpId="0" nodeType="withEffect">
                                  <p:stCondLst>
                                    <p:cond delay="900"/>
                                  </p:stCondLst>
                                  <p:childTnLst>
                                    <p:set>
                                      <p:cBhvr>
                                        <p:cTn id="15" dur="1" fill="hold">
                                          <p:stCondLst>
                                            <p:cond delay="0"/>
                                          </p:stCondLst>
                                        </p:cTn>
                                        <p:tgtEl>
                                          <p:spTgt spid="3"/>
                                        </p:tgtEl>
                                        <p:attrNameLst>
                                          <p:attrName>style.visibility</p:attrName>
                                        </p:attrNameLst>
                                      </p:cBhvr>
                                      <p:to>
                                        <p:strVal val="visible"/>
                                      </p:to>
                                    </p:set>
                                    <p:animEffect transition="in" filter="wipe(left)">
                                      <p:cBhvr>
                                        <p:cTn id="16"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txStyles>
    <p:titleStyle>
      <a:lvl1pPr algn="ctr" rtl="0" eaLnBrk="0" fontAlgn="base" hangingPunct="0">
        <a:spcBef>
          <a:spcPct val="0"/>
        </a:spcBef>
        <a:spcAft>
          <a:spcPct val="0"/>
        </a:spcAft>
        <a:defRPr sz="4200" b="1" i="1">
          <a:solidFill>
            <a:schemeClr val="tx1"/>
          </a:solidFill>
          <a:latin typeface="+mj-lt"/>
          <a:ea typeface="+mj-ea"/>
          <a:cs typeface="+mj-cs"/>
        </a:defRPr>
      </a:lvl1pPr>
      <a:lvl2pPr algn="ctr" rtl="0" eaLnBrk="0" fontAlgn="base" hangingPunct="0">
        <a:spcBef>
          <a:spcPct val="0"/>
        </a:spcBef>
        <a:spcAft>
          <a:spcPct val="0"/>
        </a:spcAft>
        <a:defRPr sz="4200" b="1" i="1">
          <a:solidFill>
            <a:schemeClr val="tx1"/>
          </a:solidFill>
          <a:latin typeface="Arial" charset="0"/>
        </a:defRPr>
      </a:lvl2pPr>
      <a:lvl3pPr algn="ctr" rtl="0" eaLnBrk="0" fontAlgn="base" hangingPunct="0">
        <a:spcBef>
          <a:spcPct val="0"/>
        </a:spcBef>
        <a:spcAft>
          <a:spcPct val="0"/>
        </a:spcAft>
        <a:defRPr sz="4200" b="1" i="1">
          <a:solidFill>
            <a:schemeClr val="tx1"/>
          </a:solidFill>
          <a:latin typeface="Arial" charset="0"/>
        </a:defRPr>
      </a:lvl3pPr>
      <a:lvl4pPr algn="ctr" rtl="0" eaLnBrk="0" fontAlgn="base" hangingPunct="0">
        <a:spcBef>
          <a:spcPct val="0"/>
        </a:spcBef>
        <a:spcAft>
          <a:spcPct val="0"/>
        </a:spcAft>
        <a:defRPr sz="4200" b="1" i="1">
          <a:solidFill>
            <a:schemeClr val="tx1"/>
          </a:solidFill>
          <a:latin typeface="Arial" charset="0"/>
        </a:defRPr>
      </a:lvl4pPr>
      <a:lvl5pPr algn="ctr" rtl="0" eaLnBrk="0" fontAlgn="base" hangingPunct="0">
        <a:spcBef>
          <a:spcPct val="0"/>
        </a:spcBef>
        <a:spcAft>
          <a:spcPct val="0"/>
        </a:spcAft>
        <a:defRPr sz="4200" b="1" i="1">
          <a:solidFill>
            <a:schemeClr val="tx1"/>
          </a:solidFill>
          <a:latin typeface="Arial" charset="0"/>
        </a:defRPr>
      </a:lvl5pPr>
      <a:lvl6pPr marL="457200" algn="ctr" rtl="0" fontAlgn="base">
        <a:spcBef>
          <a:spcPct val="0"/>
        </a:spcBef>
        <a:spcAft>
          <a:spcPct val="0"/>
        </a:spcAft>
        <a:defRPr sz="4200" b="1" i="1">
          <a:solidFill>
            <a:schemeClr val="tx1"/>
          </a:solidFill>
          <a:latin typeface="Arial" charset="0"/>
        </a:defRPr>
      </a:lvl6pPr>
      <a:lvl7pPr marL="914400" algn="ctr" rtl="0" fontAlgn="base">
        <a:spcBef>
          <a:spcPct val="0"/>
        </a:spcBef>
        <a:spcAft>
          <a:spcPct val="0"/>
        </a:spcAft>
        <a:defRPr sz="4200" b="1" i="1">
          <a:solidFill>
            <a:schemeClr val="tx1"/>
          </a:solidFill>
          <a:latin typeface="Arial" charset="0"/>
        </a:defRPr>
      </a:lvl7pPr>
      <a:lvl8pPr marL="1371600" algn="ctr" rtl="0" fontAlgn="base">
        <a:spcBef>
          <a:spcPct val="0"/>
        </a:spcBef>
        <a:spcAft>
          <a:spcPct val="0"/>
        </a:spcAft>
        <a:defRPr sz="4200" b="1" i="1">
          <a:solidFill>
            <a:schemeClr val="tx1"/>
          </a:solidFill>
          <a:latin typeface="Arial" charset="0"/>
        </a:defRPr>
      </a:lvl8pPr>
      <a:lvl9pPr marL="1828800" algn="ctr" rtl="0" fontAlgn="base">
        <a:spcBef>
          <a:spcPct val="0"/>
        </a:spcBef>
        <a:spcAft>
          <a:spcPct val="0"/>
        </a:spcAft>
        <a:defRPr sz="4200" b="1" i="1">
          <a:solidFill>
            <a:schemeClr val="tx1"/>
          </a:solidFill>
          <a:latin typeface="Arial" charset="0"/>
        </a:defRPr>
      </a:lvl9pPr>
    </p:titleStyle>
    <p:bodyStyle>
      <a:lvl1pPr marL="342900" indent="-342900" algn="l" rtl="0" eaLnBrk="0" fontAlgn="base" hangingPunct="0">
        <a:spcBef>
          <a:spcPct val="20000"/>
        </a:spcBef>
        <a:spcAft>
          <a:spcPct val="0"/>
        </a:spcAft>
        <a:buClr>
          <a:schemeClr val="folHlink"/>
        </a:buClr>
        <a:buFont typeface="Wingdings" panose="05000000000000000000" pitchFamily="2" charset="2"/>
        <a:buChar char="v"/>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tx2"/>
        </a:buClr>
        <a:buFont typeface="Wingdings" panose="05000000000000000000" pitchFamily="2" charset="2"/>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F2FDB1"/>
            </a:gs>
            <a:gs pos="100000">
              <a:srgbClr val="B8C087"/>
            </a:gs>
          </a:gsLst>
          <a:lin ang="5400000" scaled="1"/>
        </a:gra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TW" altLang="en-US" smtClean="0"/>
              <a:t>按一下以編輯母片標題樣式</a:t>
            </a:r>
          </a:p>
        </p:txBody>
      </p:sp>
      <p:sp>
        <p:nvSpPr>
          <p:cNvPr id="2051" name="Rectangle 3"/>
          <p:cNvSpPr>
            <a:spLocks noGrp="1" noChangeArrowheads="1"/>
          </p:cNvSpPr>
          <p:nvPr>
            <p:ph type="body" idx="1"/>
          </p:nvPr>
        </p:nvSpPr>
        <p:spPr bwMode="auto">
          <a:xfrm>
            <a:off x="468313" y="1628775"/>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TW" altLang="en-US" smtClean="0"/>
              <a:t>按一下以編輯母片</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p>
        </p:txBody>
      </p:sp>
      <p:sp>
        <p:nvSpPr>
          <p:cNvPr id="27652" name="Rectangle 4"/>
          <p:cNvSpPr>
            <a:spLocks noGrp="1" noChangeArrowheads="1"/>
          </p:cNvSpPr>
          <p:nvPr>
            <p:ph type="dt" sz="half" idx="2"/>
          </p:nvPr>
        </p:nvSpPr>
        <p:spPr bwMode="auto">
          <a:xfrm>
            <a:off x="457200" y="6245225"/>
            <a:ext cx="2133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defRPr sz="1400">
                <a:solidFill>
                  <a:srgbClr val="000000"/>
                </a:solidFill>
                <a:ea typeface="標楷體" panose="03000509000000000000" pitchFamily="65" charset="-12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27653" name="Rectangle 5"/>
          <p:cNvSpPr>
            <a:spLocks noGrp="1" noChangeArrowheads="1"/>
          </p:cNvSpPr>
          <p:nvPr>
            <p:ph type="ftr" sz="quarter" idx="3"/>
          </p:nvPr>
        </p:nvSpPr>
        <p:spPr bwMode="auto">
          <a:xfrm>
            <a:off x="3124200" y="6245225"/>
            <a:ext cx="2895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lgn="ctr">
              <a:defRPr sz="1400">
                <a:solidFill>
                  <a:srgbClr val="000000"/>
                </a:solidFill>
                <a:ea typeface="標楷體" panose="03000509000000000000" pitchFamily="65" charset="-12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27654" name="Rectangle 6"/>
          <p:cNvSpPr>
            <a:spLocks noGrp="1" noChangeArrowheads="1"/>
          </p:cNvSpPr>
          <p:nvPr>
            <p:ph type="sldNum" sz="quarter" idx="4"/>
          </p:nvPr>
        </p:nvSpPr>
        <p:spPr bwMode="auto">
          <a:xfrm>
            <a:off x="6553200" y="6245225"/>
            <a:ext cx="2133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lgn="r">
              <a:defRPr sz="1400">
                <a:solidFill>
                  <a:srgbClr val="000000"/>
                </a:solidFill>
                <a:ea typeface="標楷體" panose="03000509000000000000" pitchFamily="65" charset="-12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4846F253-FC58-4977-BB2D-1CD3A73C93CC}" type="slidenum">
              <a:rPr kumimoji="1"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dirty="0">
              <a:ln>
                <a:noFill/>
              </a:ln>
              <a:solidFill>
                <a:srgbClr val="000000"/>
              </a:solidFill>
              <a:effectLst/>
              <a:uLnTx/>
              <a:uFillTx/>
              <a:latin typeface="Arial"/>
              <a:ea typeface="標楷體" panose="03000509000000000000" pitchFamily="65" charset="-120"/>
              <a:cs typeface="+mn-cs"/>
            </a:endParaRPr>
          </a:p>
        </p:txBody>
      </p:sp>
      <p:grpSp>
        <p:nvGrpSpPr>
          <p:cNvPr id="2055" name="Group 7"/>
          <p:cNvGrpSpPr>
            <a:grpSpLocks/>
          </p:cNvGrpSpPr>
          <p:nvPr/>
        </p:nvGrpSpPr>
        <p:grpSpPr bwMode="auto">
          <a:xfrm rot="-1737491">
            <a:off x="8102600" y="1411288"/>
            <a:ext cx="412750" cy="414337"/>
            <a:chOff x="295" y="3385"/>
            <a:chExt cx="408" cy="340"/>
          </a:xfrm>
        </p:grpSpPr>
        <p:grpSp>
          <p:nvGrpSpPr>
            <p:cNvPr id="2134" name="Group 8"/>
            <p:cNvGrpSpPr>
              <a:grpSpLocks/>
            </p:cNvGrpSpPr>
            <p:nvPr userDrawn="1"/>
          </p:nvGrpSpPr>
          <p:grpSpPr bwMode="auto">
            <a:xfrm rot="2362656">
              <a:off x="295" y="3385"/>
              <a:ext cx="408" cy="273"/>
              <a:chOff x="1701" y="527"/>
              <a:chExt cx="498" cy="273"/>
            </a:xfrm>
          </p:grpSpPr>
          <p:grpSp>
            <p:nvGrpSpPr>
              <p:cNvPr id="2137" name="Group 9"/>
              <p:cNvGrpSpPr>
                <a:grpSpLocks/>
              </p:cNvGrpSpPr>
              <p:nvPr userDrawn="1"/>
            </p:nvGrpSpPr>
            <p:grpSpPr bwMode="auto">
              <a:xfrm rot="228844">
                <a:off x="1927" y="618"/>
                <a:ext cx="272" cy="90"/>
                <a:chOff x="1927" y="527"/>
                <a:chExt cx="272" cy="90"/>
              </a:xfrm>
            </p:grpSpPr>
            <p:sp>
              <p:nvSpPr>
                <p:cNvPr id="1120" name="Oval 10"/>
                <p:cNvSpPr>
                  <a:spLocks noChangeArrowheads="1"/>
                </p:cNvSpPr>
                <p:nvPr userDrawn="1"/>
              </p:nvSpPr>
              <p:spPr bwMode="auto">
                <a:xfrm rot="187092">
                  <a:off x="1881" y="552"/>
                  <a:ext cx="272" cy="43"/>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21" name="Oval 11"/>
                <p:cNvSpPr>
                  <a:spLocks noChangeArrowheads="1"/>
                </p:cNvSpPr>
                <p:nvPr userDrawn="1"/>
              </p:nvSpPr>
              <p:spPr bwMode="auto">
                <a:xfrm rot="10143706">
                  <a:off x="1876" y="503"/>
                  <a:ext cx="272" cy="48"/>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38" name="Group 12"/>
              <p:cNvGrpSpPr>
                <a:grpSpLocks/>
              </p:cNvGrpSpPr>
              <p:nvPr userDrawn="1"/>
            </p:nvGrpSpPr>
            <p:grpSpPr bwMode="auto">
              <a:xfrm rot="10800000">
                <a:off x="1701" y="618"/>
                <a:ext cx="272" cy="90"/>
                <a:chOff x="1927" y="527"/>
                <a:chExt cx="272" cy="90"/>
              </a:xfrm>
            </p:grpSpPr>
            <p:sp>
              <p:nvSpPr>
                <p:cNvPr id="1118" name="Oval 13"/>
                <p:cNvSpPr>
                  <a:spLocks noChangeArrowheads="1"/>
                </p:cNvSpPr>
                <p:nvPr userDrawn="1"/>
              </p:nvSpPr>
              <p:spPr bwMode="auto">
                <a:xfrm rot="187092">
                  <a:off x="2002" y="587"/>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9" name="Oval 14"/>
                <p:cNvSpPr>
                  <a:spLocks noChangeArrowheads="1"/>
                </p:cNvSpPr>
                <p:nvPr userDrawn="1"/>
              </p:nvSpPr>
              <p:spPr bwMode="auto">
                <a:xfrm rot="10143706">
                  <a:off x="2000" y="531"/>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15" name="Oval 15"/>
              <p:cNvSpPr>
                <a:spLocks noChangeArrowheads="1"/>
              </p:cNvSpPr>
              <p:nvPr userDrawn="1"/>
            </p:nvSpPr>
            <p:spPr bwMode="auto">
              <a:xfrm>
                <a:off x="1887" y="607"/>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6" name="Oval 16"/>
              <p:cNvSpPr>
                <a:spLocks noChangeArrowheads="1"/>
              </p:cNvSpPr>
              <p:nvPr userDrawn="1"/>
            </p:nvSpPr>
            <p:spPr bwMode="auto">
              <a:xfrm>
                <a:off x="1861" y="520"/>
                <a:ext cx="46"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7" name="Oval 17"/>
              <p:cNvSpPr>
                <a:spLocks noChangeArrowheads="1"/>
              </p:cNvSpPr>
              <p:nvPr userDrawn="1"/>
            </p:nvSpPr>
            <p:spPr bwMode="auto">
              <a:xfrm>
                <a:off x="1932" y="512"/>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11" name="Oval 18"/>
            <p:cNvSpPr>
              <a:spLocks noChangeArrowheads="1"/>
            </p:cNvSpPr>
            <p:nvPr userDrawn="1"/>
          </p:nvSpPr>
          <p:spPr bwMode="auto">
            <a:xfrm flipH="1">
              <a:off x="340" y="3653"/>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2" name="Oval 19"/>
            <p:cNvSpPr>
              <a:spLocks noChangeArrowheads="1"/>
            </p:cNvSpPr>
            <p:nvPr userDrawn="1"/>
          </p:nvSpPr>
          <p:spPr bwMode="auto">
            <a:xfrm flipH="1">
              <a:off x="293" y="3695"/>
              <a:ext cx="25"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6" name="Group 20"/>
          <p:cNvGrpSpPr>
            <a:grpSpLocks/>
          </p:cNvGrpSpPr>
          <p:nvPr/>
        </p:nvGrpSpPr>
        <p:grpSpPr bwMode="auto">
          <a:xfrm rot="-3328072">
            <a:off x="4307682" y="6392069"/>
            <a:ext cx="412750" cy="414337"/>
            <a:chOff x="295" y="3385"/>
            <a:chExt cx="408" cy="340"/>
          </a:xfrm>
        </p:grpSpPr>
        <p:grpSp>
          <p:nvGrpSpPr>
            <p:cNvPr id="2122" name="Group 21"/>
            <p:cNvGrpSpPr>
              <a:grpSpLocks/>
            </p:cNvGrpSpPr>
            <p:nvPr userDrawn="1"/>
          </p:nvGrpSpPr>
          <p:grpSpPr bwMode="auto">
            <a:xfrm rot="2362656">
              <a:off x="295" y="3385"/>
              <a:ext cx="408" cy="273"/>
              <a:chOff x="1701" y="527"/>
              <a:chExt cx="498" cy="273"/>
            </a:xfrm>
          </p:grpSpPr>
          <p:grpSp>
            <p:nvGrpSpPr>
              <p:cNvPr id="2125" name="Group 22"/>
              <p:cNvGrpSpPr>
                <a:grpSpLocks/>
              </p:cNvGrpSpPr>
              <p:nvPr userDrawn="1"/>
            </p:nvGrpSpPr>
            <p:grpSpPr bwMode="auto">
              <a:xfrm rot="228844">
                <a:off x="1927" y="618"/>
                <a:ext cx="272" cy="90"/>
                <a:chOff x="1927" y="527"/>
                <a:chExt cx="272" cy="90"/>
              </a:xfrm>
            </p:grpSpPr>
            <p:sp>
              <p:nvSpPr>
                <p:cNvPr id="1108" name="Oval 23"/>
                <p:cNvSpPr>
                  <a:spLocks noChangeArrowheads="1"/>
                </p:cNvSpPr>
                <p:nvPr userDrawn="1"/>
              </p:nvSpPr>
              <p:spPr bwMode="auto">
                <a:xfrm rot="187092">
                  <a:off x="1890" y="527"/>
                  <a:ext cx="272" cy="42"/>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9" name="Oval 24"/>
                <p:cNvSpPr>
                  <a:spLocks noChangeArrowheads="1"/>
                </p:cNvSpPr>
                <p:nvPr userDrawn="1"/>
              </p:nvSpPr>
              <p:spPr bwMode="auto">
                <a:xfrm rot="10143706">
                  <a:off x="1891" y="478"/>
                  <a:ext cx="272" cy="48"/>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26" name="Group 25"/>
              <p:cNvGrpSpPr>
                <a:grpSpLocks/>
              </p:cNvGrpSpPr>
              <p:nvPr userDrawn="1"/>
            </p:nvGrpSpPr>
            <p:grpSpPr bwMode="auto">
              <a:xfrm rot="10800000">
                <a:off x="1701" y="618"/>
                <a:ext cx="272" cy="90"/>
                <a:chOff x="1927" y="527"/>
                <a:chExt cx="272" cy="90"/>
              </a:xfrm>
            </p:grpSpPr>
            <p:sp>
              <p:nvSpPr>
                <p:cNvPr id="1106" name="Oval 26"/>
                <p:cNvSpPr>
                  <a:spLocks noChangeArrowheads="1"/>
                </p:cNvSpPr>
                <p:nvPr userDrawn="1"/>
              </p:nvSpPr>
              <p:spPr bwMode="auto">
                <a:xfrm rot="187092">
                  <a:off x="1947" y="609"/>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7" name="Oval 27"/>
                <p:cNvSpPr>
                  <a:spLocks noChangeArrowheads="1"/>
                </p:cNvSpPr>
                <p:nvPr userDrawn="1"/>
              </p:nvSpPr>
              <p:spPr bwMode="auto">
                <a:xfrm rot="10143706">
                  <a:off x="1952" y="549"/>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03" name="Oval 28"/>
              <p:cNvSpPr>
                <a:spLocks noChangeArrowheads="1"/>
              </p:cNvSpPr>
              <p:nvPr userDrawn="1"/>
            </p:nvSpPr>
            <p:spPr bwMode="auto">
              <a:xfrm>
                <a:off x="1909" y="590"/>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4" name="Oval 29"/>
              <p:cNvSpPr>
                <a:spLocks noChangeArrowheads="1"/>
              </p:cNvSpPr>
              <p:nvPr userDrawn="1"/>
            </p:nvSpPr>
            <p:spPr bwMode="auto">
              <a:xfrm>
                <a:off x="1864" y="497"/>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5" name="Oval 30"/>
              <p:cNvSpPr>
                <a:spLocks noChangeArrowheads="1"/>
              </p:cNvSpPr>
              <p:nvPr userDrawn="1"/>
            </p:nvSpPr>
            <p:spPr bwMode="auto">
              <a:xfrm>
                <a:off x="1953" y="492"/>
                <a:ext cx="50"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99" name="Oval 31"/>
            <p:cNvSpPr>
              <a:spLocks noChangeArrowheads="1"/>
            </p:cNvSpPr>
            <p:nvPr userDrawn="1"/>
          </p:nvSpPr>
          <p:spPr bwMode="auto">
            <a:xfrm flipH="1">
              <a:off x="341" y="3652"/>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0" name="Oval 32"/>
            <p:cNvSpPr>
              <a:spLocks noChangeArrowheads="1"/>
            </p:cNvSpPr>
            <p:nvPr userDrawn="1"/>
          </p:nvSpPr>
          <p:spPr bwMode="auto">
            <a:xfrm flipH="1">
              <a:off x="296" y="3697"/>
              <a:ext cx="25" cy="21"/>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57" name="Group 33"/>
          <p:cNvGrpSpPr>
            <a:grpSpLocks/>
          </p:cNvGrpSpPr>
          <p:nvPr/>
        </p:nvGrpSpPr>
        <p:grpSpPr bwMode="auto">
          <a:xfrm rot="-708557">
            <a:off x="2051050" y="6623050"/>
            <a:ext cx="503238" cy="468313"/>
            <a:chOff x="295" y="3385"/>
            <a:chExt cx="408" cy="340"/>
          </a:xfrm>
        </p:grpSpPr>
        <p:grpSp>
          <p:nvGrpSpPr>
            <p:cNvPr id="2110" name="Group 34"/>
            <p:cNvGrpSpPr>
              <a:grpSpLocks/>
            </p:cNvGrpSpPr>
            <p:nvPr userDrawn="1"/>
          </p:nvGrpSpPr>
          <p:grpSpPr bwMode="auto">
            <a:xfrm rot="2362656">
              <a:off x="295" y="3385"/>
              <a:ext cx="408" cy="273"/>
              <a:chOff x="1701" y="527"/>
              <a:chExt cx="498" cy="273"/>
            </a:xfrm>
          </p:grpSpPr>
          <p:grpSp>
            <p:nvGrpSpPr>
              <p:cNvPr id="2113" name="Group 35"/>
              <p:cNvGrpSpPr>
                <a:grpSpLocks/>
              </p:cNvGrpSpPr>
              <p:nvPr userDrawn="1"/>
            </p:nvGrpSpPr>
            <p:grpSpPr bwMode="auto">
              <a:xfrm rot="228844">
                <a:off x="1927" y="618"/>
                <a:ext cx="272" cy="90"/>
                <a:chOff x="1927" y="527"/>
                <a:chExt cx="272" cy="90"/>
              </a:xfrm>
            </p:grpSpPr>
            <p:sp>
              <p:nvSpPr>
                <p:cNvPr id="1096" name="Oval 36"/>
                <p:cNvSpPr>
                  <a:spLocks noChangeArrowheads="1"/>
                </p:cNvSpPr>
                <p:nvPr userDrawn="1"/>
              </p:nvSpPr>
              <p:spPr bwMode="auto">
                <a:xfrm rot="187092">
                  <a:off x="1886" y="551"/>
                  <a:ext cx="272"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7" name="Oval 37"/>
                <p:cNvSpPr>
                  <a:spLocks noChangeArrowheads="1"/>
                </p:cNvSpPr>
                <p:nvPr userDrawn="1"/>
              </p:nvSpPr>
              <p:spPr bwMode="auto">
                <a:xfrm rot="10143706">
                  <a:off x="1885" y="508"/>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14" name="Group 38"/>
              <p:cNvGrpSpPr>
                <a:grpSpLocks/>
              </p:cNvGrpSpPr>
              <p:nvPr userDrawn="1"/>
            </p:nvGrpSpPr>
            <p:grpSpPr bwMode="auto">
              <a:xfrm rot="10800000">
                <a:off x="1701" y="618"/>
                <a:ext cx="272" cy="90"/>
                <a:chOff x="1927" y="527"/>
                <a:chExt cx="272" cy="90"/>
              </a:xfrm>
            </p:grpSpPr>
            <p:sp>
              <p:nvSpPr>
                <p:cNvPr id="1094" name="Oval 39"/>
                <p:cNvSpPr>
                  <a:spLocks noChangeArrowheads="1"/>
                </p:cNvSpPr>
                <p:nvPr userDrawn="1"/>
              </p:nvSpPr>
              <p:spPr bwMode="auto">
                <a:xfrm rot="187092">
                  <a:off x="1981" y="616"/>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5" name="Oval 40"/>
                <p:cNvSpPr>
                  <a:spLocks noChangeArrowheads="1"/>
                </p:cNvSpPr>
                <p:nvPr userDrawn="1"/>
              </p:nvSpPr>
              <p:spPr bwMode="auto">
                <a:xfrm rot="10143706">
                  <a:off x="1986" y="571"/>
                  <a:ext cx="272"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91" name="Oval 41"/>
              <p:cNvSpPr>
                <a:spLocks noChangeArrowheads="1"/>
              </p:cNvSpPr>
              <p:nvPr userDrawn="1"/>
            </p:nvSpPr>
            <p:spPr bwMode="auto">
              <a:xfrm>
                <a:off x="1902" y="597"/>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2" name="Oval 42"/>
              <p:cNvSpPr>
                <a:spLocks noChangeArrowheads="1"/>
              </p:cNvSpPr>
              <p:nvPr userDrawn="1"/>
            </p:nvSpPr>
            <p:spPr bwMode="auto">
              <a:xfrm>
                <a:off x="1852" y="510"/>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3" name="Oval 43"/>
              <p:cNvSpPr>
                <a:spLocks noChangeArrowheads="1"/>
              </p:cNvSpPr>
              <p:nvPr userDrawn="1"/>
            </p:nvSpPr>
            <p:spPr bwMode="auto">
              <a:xfrm>
                <a:off x="1969" y="523"/>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87" name="Oval 44"/>
            <p:cNvSpPr>
              <a:spLocks noChangeArrowheads="1"/>
            </p:cNvSpPr>
            <p:nvPr userDrawn="1"/>
          </p:nvSpPr>
          <p:spPr bwMode="auto">
            <a:xfrm flipH="1">
              <a:off x="333" y="365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8" name="Oval 45"/>
            <p:cNvSpPr>
              <a:spLocks noChangeArrowheads="1"/>
            </p:cNvSpPr>
            <p:nvPr userDrawn="1"/>
          </p:nvSpPr>
          <p:spPr bwMode="auto">
            <a:xfrm flipH="1">
              <a:off x="292" y="3698"/>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58" name="Group 46"/>
          <p:cNvGrpSpPr>
            <a:grpSpLocks/>
          </p:cNvGrpSpPr>
          <p:nvPr/>
        </p:nvGrpSpPr>
        <p:grpSpPr bwMode="auto">
          <a:xfrm>
            <a:off x="203200" y="5957888"/>
            <a:ext cx="504825" cy="466725"/>
            <a:chOff x="295" y="3385"/>
            <a:chExt cx="408" cy="340"/>
          </a:xfrm>
        </p:grpSpPr>
        <p:grpSp>
          <p:nvGrpSpPr>
            <p:cNvPr id="2098" name="Group 47"/>
            <p:cNvGrpSpPr>
              <a:grpSpLocks/>
            </p:cNvGrpSpPr>
            <p:nvPr userDrawn="1"/>
          </p:nvGrpSpPr>
          <p:grpSpPr bwMode="auto">
            <a:xfrm rot="2362656">
              <a:off x="295" y="3385"/>
              <a:ext cx="408" cy="273"/>
              <a:chOff x="1701" y="527"/>
              <a:chExt cx="498" cy="273"/>
            </a:xfrm>
          </p:grpSpPr>
          <p:grpSp>
            <p:nvGrpSpPr>
              <p:cNvPr id="2101" name="Group 48"/>
              <p:cNvGrpSpPr>
                <a:grpSpLocks/>
              </p:cNvGrpSpPr>
              <p:nvPr userDrawn="1"/>
            </p:nvGrpSpPr>
            <p:grpSpPr bwMode="auto">
              <a:xfrm rot="228844">
                <a:off x="1927" y="618"/>
                <a:ext cx="272" cy="90"/>
                <a:chOff x="1927" y="527"/>
                <a:chExt cx="272" cy="90"/>
              </a:xfrm>
            </p:grpSpPr>
            <p:sp>
              <p:nvSpPr>
                <p:cNvPr id="1084" name="Oval 49"/>
                <p:cNvSpPr>
                  <a:spLocks noChangeArrowheads="1"/>
                </p:cNvSpPr>
                <p:nvPr userDrawn="1"/>
              </p:nvSpPr>
              <p:spPr bwMode="auto">
                <a:xfrm rot="187092">
                  <a:off x="1863" y="579"/>
                  <a:ext cx="272" cy="42"/>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5" name="Oval 50"/>
                <p:cNvSpPr>
                  <a:spLocks noChangeArrowheads="1"/>
                </p:cNvSpPr>
                <p:nvPr userDrawn="1"/>
              </p:nvSpPr>
              <p:spPr bwMode="auto">
                <a:xfrm rot="10143706">
                  <a:off x="1868" y="531"/>
                  <a:ext cx="272" cy="42"/>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102" name="Group 51"/>
              <p:cNvGrpSpPr>
                <a:grpSpLocks/>
              </p:cNvGrpSpPr>
              <p:nvPr userDrawn="1"/>
            </p:nvGrpSpPr>
            <p:grpSpPr bwMode="auto">
              <a:xfrm rot="10800000">
                <a:off x="1701" y="618"/>
                <a:ext cx="272" cy="90"/>
                <a:chOff x="1927" y="527"/>
                <a:chExt cx="272" cy="90"/>
              </a:xfrm>
            </p:grpSpPr>
            <p:sp>
              <p:nvSpPr>
                <p:cNvPr id="1082" name="Oval 52"/>
                <p:cNvSpPr>
                  <a:spLocks noChangeArrowheads="1"/>
                </p:cNvSpPr>
                <p:nvPr userDrawn="1"/>
              </p:nvSpPr>
              <p:spPr bwMode="auto">
                <a:xfrm rot="187092">
                  <a:off x="1953" y="572"/>
                  <a:ext cx="272" cy="35"/>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3" name="Oval 53"/>
                <p:cNvSpPr>
                  <a:spLocks noChangeArrowheads="1"/>
                </p:cNvSpPr>
                <p:nvPr userDrawn="1"/>
              </p:nvSpPr>
              <p:spPr bwMode="auto">
                <a:xfrm rot="10143706">
                  <a:off x="1937" y="526"/>
                  <a:ext cx="272" cy="44"/>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79" name="Oval 54"/>
              <p:cNvSpPr>
                <a:spLocks noChangeArrowheads="1"/>
              </p:cNvSpPr>
              <p:nvPr userDrawn="1"/>
            </p:nvSpPr>
            <p:spPr bwMode="auto">
              <a:xfrm>
                <a:off x="1918" y="619"/>
                <a:ext cx="47" cy="183"/>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0" name="Oval 55"/>
              <p:cNvSpPr>
                <a:spLocks noChangeArrowheads="1"/>
              </p:cNvSpPr>
              <p:nvPr userDrawn="1"/>
            </p:nvSpPr>
            <p:spPr bwMode="auto">
              <a:xfrm>
                <a:off x="1876" y="528"/>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1" name="Oval 56"/>
              <p:cNvSpPr>
                <a:spLocks noChangeArrowheads="1"/>
              </p:cNvSpPr>
              <p:nvPr userDrawn="1"/>
            </p:nvSpPr>
            <p:spPr bwMode="auto">
              <a:xfrm>
                <a:off x="1970" y="528"/>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75" name="Oval 57"/>
            <p:cNvSpPr>
              <a:spLocks noChangeArrowheads="1"/>
            </p:cNvSpPr>
            <p:nvPr userDrawn="1"/>
          </p:nvSpPr>
          <p:spPr bwMode="auto">
            <a:xfrm flipH="1">
              <a:off x="340" y="3657"/>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6" name="Oval 58"/>
            <p:cNvSpPr>
              <a:spLocks noChangeArrowheads="1"/>
            </p:cNvSpPr>
            <p:nvPr userDrawn="1"/>
          </p:nvSpPr>
          <p:spPr bwMode="auto">
            <a:xfrm flipH="1">
              <a:off x="295"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 name="Group 59"/>
          <p:cNvGrpSpPr>
            <a:grpSpLocks/>
          </p:cNvGrpSpPr>
          <p:nvPr/>
        </p:nvGrpSpPr>
        <p:grpSpPr bwMode="auto">
          <a:xfrm rot="-2197408">
            <a:off x="8196263" y="5815013"/>
            <a:ext cx="511175" cy="322262"/>
            <a:chOff x="295" y="3385"/>
            <a:chExt cx="408" cy="340"/>
          </a:xfrm>
        </p:grpSpPr>
        <p:grpSp>
          <p:nvGrpSpPr>
            <p:cNvPr id="2086" name="Group 60"/>
            <p:cNvGrpSpPr>
              <a:grpSpLocks/>
            </p:cNvGrpSpPr>
            <p:nvPr userDrawn="1"/>
          </p:nvGrpSpPr>
          <p:grpSpPr bwMode="auto">
            <a:xfrm rot="2362656">
              <a:off x="295" y="3385"/>
              <a:ext cx="408" cy="273"/>
              <a:chOff x="1701" y="527"/>
              <a:chExt cx="498" cy="273"/>
            </a:xfrm>
          </p:grpSpPr>
          <p:grpSp>
            <p:nvGrpSpPr>
              <p:cNvPr id="2089" name="Group 61"/>
              <p:cNvGrpSpPr>
                <a:grpSpLocks/>
              </p:cNvGrpSpPr>
              <p:nvPr userDrawn="1"/>
            </p:nvGrpSpPr>
            <p:grpSpPr bwMode="auto">
              <a:xfrm rot="228844">
                <a:off x="1927" y="618"/>
                <a:ext cx="272" cy="90"/>
                <a:chOff x="1927" y="527"/>
                <a:chExt cx="272" cy="90"/>
              </a:xfrm>
            </p:grpSpPr>
            <p:sp>
              <p:nvSpPr>
                <p:cNvPr id="1072" name="Oval 62"/>
                <p:cNvSpPr>
                  <a:spLocks noChangeArrowheads="1"/>
                </p:cNvSpPr>
                <p:nvPr userDrawn="1"/>
              </p:nvSpPr>
              <p:spPr bwMode="auto">
                <a:xfrm rot="187092">
                  <a:off x="1874" y="507"/>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3" name="Oval 63"/>
                <p:cNvSpPr>
                  <a:spLocks noChangeArrowheads="1"/>
                </p:cNvSpPr>
                <p:nvPr userDrawn="1"/>
              </p:nvSpPr>
              <p:spPr bwMode="auto">
                <a:xfrm rot="10143706">
                  <a:off x="1871" y="467"/>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90" name="Group 64"/>
              <p:cNvGrpSpPr>
                <a:grpSpLocks/>
              </p:cNvGrpSpPr>
              <p:nvPr userDrawn="1"/>
            </p:nvGrpSpPr>
            <p:grpSpPr bwMode="auto">
              <a:xfrm rot="10800000">
                <a:off x="1701" y="618"/>
                <a:ext cx="272" cy="90"/>
                <a:chOff x="1927" y="527"/>
                <a:chExt cx="272" cy="90"/>
              </a:xfrm>
            </p:grpSpPr>
            <p:sp>
              <p:nvSpPr>
                <p:cNvPr id="1070" name="Oval 65"/>
                <p:cNvSpPr>
                  <a:spLocks noChangeArrowheads="1"/>
                </p:cNvSpPr>
                <p:nvPr userDrawn="1"/>
              </p:nvSpPr>
              <p:spPr bwMode="auto">
                <a:xfrm rot="187092">
                  <a:off x="1944" y="661"/>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1" name="Oval 66"/>
                <p:cNvSpPr>
                  <a:spLocks noChangeArrowheads="1"/>
                </p:cNvSpPr>
                <p:nvPr userDrawn="1"/>
              </p:nvSpPr>
              <p:spPr bwMode="auto">
                <a:xfrm rot="10143706">
                  <a:off x="1944" y="619"/>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67" name="Oval 67"/>
              <p:cNvSpPr>
                <a:spLocks noChangeArrowheads="1"/>
              </p:cNvSpPr>
              <p:nvPr userDrawn="1"/>
            </p:nvSpPr>
            <p:spPr bwMode="auto">
              <a:xfrm>
                <a:off x="1913" y="568"/>
                <a:ext cx="45" cy="184"/>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8" name="Oval 68"/>
              <p:cNvSpPr>
                <a:spLocks noChangeArrowheads="1"/>
              </p:cNvSpPr>
              <p:nvPr userDrawn="1"/>
            </p:nvSpPr>
            <p:spPr bwMode="auto">
              <a:xfrm>
                <a:off x="1866" y="488"/>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9" name="Oval 69"/>
              <p:cNvSpPr>
                <a:spLocks noChangeArrowheads="1"/>
              </p:cNvSpPr>
              <p:nvPr userDrawn="1"/>
            </p:nvSpPr>
            <p:spPr bwMode="auto">
              <a:xfrm>
                <a:off x="1962" y="490"/>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63" name="Oval 70"/>
            <p:cNvSpPr>
              <a:spLocks noChangeArrowheads="1"/>
            </p:cNvSpPr>
            <p:nvPr userDrawn="1"/>
          </p:nvSpPr>
          <p:spPr bwMode="auto">
            <a:xfrm flipH="1">
              <a:off x="340" y="3654"/>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4" name="Oval 71"/>
            <p:cNvSpPr>
              <a:spLocks noChangeArrowheads="1"/>
            </p:cNvSpPr>
            <p:nvPr userDrawn="1"/>
          </p:nvSpPr>
          <p:spPr bwMode="auto">
            <a:xfrm flipH="1">
              <a:off x="295" y="3701"/>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60" name="Group 72"/>
          <p:cNvGrpSpPr>
            <a:grpSpLocks/>
          </p:cNvGrpSpPr>
          <p:nvPr/>
        </p:nvGrpSpPr>
        <p:grpSpPr bwMode="auto">
          <a:xfrm>
            <a:off x="6180138" y="6391275"/>
            <a:ext cx="576262" cy="466725"/>
            <a:chOff x="295" y="3385"/>
            <a:chExt cx="408" cy="340"/>
          </a:xfrm>
        </p:grpSpPr>
        <p:grpSp>
          <p:nvGrpSpPr>
            <p:cNvPr id="2074" name="Group 73"/>
            <p:cNvGrpSpPr>
              <a:grpSpLocks/>
            </p:cNvGrpSpPr>
            <p:nvPr userDrawn="1"/>
          </p:nvGrpSpPr>
          <p:grpSpPr bwMode="auto">
            <a:xfrm rot="2362656">
              <a:off x="295" y="3385"/>
              <a:ext cx="408" cy="273"/>
              <a:chOff x="1701" y="527"/>
              <a:chExt cx="498" cy="273"/>
            </a:xfrm>
          </p:grpSpPr>
          <p:grpSp>
            <p:nvGrpSpPr>
              <p:cNvPr id="2077" name="Group 74"/>
              <p:cNvGrpSpPr>
                <a:grpSpLocks/>
              </p:cNvGrpSpPr>
              <p:nvPr userDrawn="1"/>
            </p:nvGrpSpPr>
            <p:grpSpPr bwMode="auto">
              <a:xfrm rot="228844">
                <a:off x="1927" y="618"/>
                <a:ext cx="272" cy="90"/>
                <a:chOff x="1927" y="527"/>
                <a:chExt cx="272" cy="90"/>
              </a:xfrm>
            </p:grpSpPr>
            <p:sp>
              <p:nvSpPr>
                <p:cNvPr id="1060" name="Oval 75"/>
                <p:cNvSpPr>
                  <a:spLocks noChangeArrowheads="1"/>
                </p:cNvSpPr>
                <p:nvPr userDrawn="1"/>
              </p:nvSpPr>
              <p:spPr bwMode="auto">
                <a:xfrm rot="187092">
                  <a:off x="1921" y="573"/>
                  <a:ext cx="272" cy="43"/>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1" name="Oval 76"/>
                <p:cNvSpPr>
                  <a:spLocks noChangeArrowheads="1"/>
                </p:cNvSpPr>
                <p:nvPr userDrawn="1"/>
              </p:nvSpPr>
              <p:spPr bwMode="auto">
                <a:xfrm rot="10143706">
                  <a:off x="1897" y="530"/>
                  <a:ext cx="272" cy="42"/>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78" name="Group 77"/>
              <p:cNvGrpSpPr>
                <a:grpSpLocks/>
              </p:cNvGrpSpPr>
              <p:nvPr userDrawn="1"/>
            </p:nvGrpSpPr>
            <p:grpSpPr bwMode="auto">
              <a:xfrm rot="10800000">
                <a:off x="1701" y="618"/>
                <a:ext cx="272" cy="90"/>
                <a:chOff x="1927" y="527"/>
                <a:chExt cx="272" cy="90"/>
              </a:xfrm>
            </p:grpSpPr>
            <p:sp>
              <p:nvSpPr>
                <p:cNvPr id="1058" name="Oval 78"/>
                <p:cNvSpPr>
                  <a:spLocks noChangeArrowheads="1"/>
                </p:cNvSpPr>
                <p:nvPr userDrawn="1"/>
              </p:nvSpPr>
              <p:spPr bwMode="auto">
                <a:xfrm rot="187092">
                  <a:off x="1975" y="573"/>
                  <a:ext cx="272" cy="34"/>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9" name="Oval 79"/>
                <p:cNvSpPr>
                  <a:spLocks noChangeArrowheads="1"/>
                </p:cNvSpPr>
                <p:nvPr userDrawn="1"/>
              </p:nvSpPr>
              <p:spPr bwMode="auto">
                <a:xfrm rot="10143706">
                  <a:off x="1978" y="523"/>
                  <a:ext cx="272" cy="42"/>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55" name="Oval 80"/>
              <p:cNvSpPr>
                <a:spLocks noChangeArrowheads="1"/>
              </p:cNvSpPr>
              <p:nvPr userDrawn="1"/>
            </p:nvSpPr>
            <p:spPr bwMode="auto">
              <a:xfrm>
                <a:off x="1924" y="618"/>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6" name="Oval 81"/>
              <p:cNvSpPr>
                <a:spLocks noChangeArrowheads="1"/>
              </p:cNvSpPr>
              <p:nvPr userDrawn="1"/>
            </p:nvSpPr>
            <p:spPr bwMode="auto">
              <a:xfrm>
                <a:off x="1879" y="527"/>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7" name="Oval 82"/>
              <p:cNvSpPr>
                <a:spLocks noChangeArrowheads="1"/>
              </p:cNvSpPr>
              <p:nvPr userDrawn="1"/>
            </p:nvSpPr>
            <p:spPr bwMode="auto">
              <a:xfrm>
                <a:off x="1960" y="523"/>
                <a:ext cx="45" cy="44"/>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51" name="Oval 83"/>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2" name="Oval 84"/>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6" name="Group 85"/>
          <p:cNvGrpSpPr>
            <a:grpSpLocks/>
          </p:cNvGrpSpPr>
          <p:nvPr/>
        </p:nvGrpSpPr>
        <p:grpSpPr bwMode="auto">
          <a:xfrm rot="-4249260">
            <a:off x="8459788" y="1341438"/>
            <a:ext cx="503237" cy="503237"/>
            <a:chOff x="295" y="3385"/>
            <a:chExt cx="408" cy="340"/>
          </a:xfrm>
        </p:grpSpPr>
        <p:grpSp>
          <p:nvGrpSpPr>
            <p:cNvPr id="2062" name="Group 86"/>
            <p:cNvGrpSpPr>
              <a:grpSpLocks/>
            </p:cNvGrpSpPr>
            <p:nvPr userDrawn="1"/>
          </p:nvGrpSpPr>
          <p:grpSpPr bwMode="auto">
            <a:xfrm rot="2362656">
              <a:off x="295" y="3385"/>
              <a:ext cx="408" cy="273"/>
              <a:chOff x="1701" y="527"/>
              <a:chExt cx="498" cy="273"/>
            </a:xfrm>
          </p:grpSpPr>
          <p:grpSp>
            <p:nvGrpSpPr>
              <p:cNvPr id="2065" name="Group 87"/>
              <p:cNvGrpSpPr>
                <a:grpSpLocks/>
              </p:cNvGrpSpPr>
              <p:nvPr userDrawn="1"/>
            </p:nvGrpSpPr>
            <p:grpSpPr bwMode="auto">
              <a:xfrm rot="228844">
                <a:off x="1927" y="618"/>
                <a:ext cx="272" cy="90"/>
                <a:chOff x="1927" y="527"/>
                <a:chExt cx="272" cy="90"/>
              </a:xfrm>
            </p:grpSpPr>
            <p:sp>
              <p:nvSpPr>
                <p:cNvPr id="1048" name="Oval 88"/>
                <p:cNvSpPr>
                  <a:spLocks noChangeArrowheads="1"/>
                </p:cNvSpPr>
                <p:nvPr userDrawn="1"/>
              </p:nvSpPr>
              <p:spPr bwMode="auto">
                <a:xfrm rot="187092">
                  <a:off x="1902" y="521"/>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9" name="Oval 89"/>
                <p:cNvSpPr>
                  <a:spLocks noChangeArrowheads="1"/>
                </p:cNvSpPr>
                <p:nvPr userDrawn="1"/>
              </p:nvSpPr>
              <p:spPr bwMode="auto">
                <a:xfrm rot="10143706">
                  <a:off x="1903" y="475"/>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066" name="Group 90"/>
              <p:cNvGrpSpPr>
                <a:grpSpLocks/>
              </p:cNvGrpSpPr>
              <p:nvPr userDrawn="1"/>
            </p:nvGrpSpPr>
            <p:grpSpPr bwMode="auto">
              <a:xfrm rot="10800000">
                <a:off x="1701" y="618"/>
                <a:ext cx="272" cy="90"/>
                <a:chOff x="1927" y="527"/>
                <a:chExt cx="272" cy="90"/>
              </a:xfrm>
            </p:grpSpPr>
            <p:sp>
              <p:nvSpPr>
                <p:cNvPr id="1046" name="Oval 91"/>
                <p:cNvSpPr>
                  <a:spLocks noChangeArrowheads="1"/>
                </p:cNvSpPr>
                <p:nvPr userDrawn="1"/>
              </p:nvSpPr>
              <p:spPr bwMode="auto">
                <a:xfrm rot="187092">
                  <a:off x="1933" y="617"/>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7" name="Oval 92"/>
                <p:cNvSpPr>
                  <a:spLocks noChangeArrowheads="1"/>
                </p:cNvSpPr>
                <p:nvPr userDrawn="1"/>
              </p:nvSpPr>
              <p:spPr bwMode="auto">
                <a:xfrm rot="10143706">
                  <a:off x="1933" y="571"/>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43" name="Oval 93"/>
              <p:cNvSpPr>
                <a:spLocks noChangeArrowheads="1"/>
              </p:cNvSpPr>
              <p:nvPr userDrawn="1"/>
            </p:nvSpPr>
            <p:spPr bwMode="auto">
              <a:xfrm>
                <a:off x="1912" y="591"/>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4" name="Oval 94"/>
              <p:cNvSpPr>
                <a:spLocks noChangeArrowheads="1"/>
              </p:cNvSpPr>
              <p:nvPr userDrawn="1"/>
            </p:nvSpPr>
            <p:spPr bwMode="auto">
              <a:xfrm>
                <a:off x="1882" y="491"/>
                <a:ext cx="46"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5" name="Oval 95"/>
              <p:cNvSpPr>
                <a:spLocks noChangeArrowheads="1"/>
              </p:cNvSpPr>
              <p:nvPr userDrawn="1"/>
            </p:nvSpPr>
            <p:spPr bwMode="auto">
              <a:xfrm>
                <a:off x="1969" y="491"/>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39" name="Oval 96"/>
            <p:cNvSpPr>
              <a:spLocks noChangeArrowheads="1"/>
            </p:cNvSpPr>
            <p:nvPr userDrawn="1"/>
          </p:nvSpPr>
          <p:spPr bwMode="auto">
            <a:xfrm flipH="1">
              <a:off x="334" y="3658"/>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0" name="Oval 97"/>
            <p:cNvSpPr>
              <a:spLocks noChangeArrowheads="1"/>
            </p:cNvSpPr>
            <p:nvPr userDrawn="1"/>
          </p:nvSpPr>
          <p:spPr bwMode="auto">
            <a:xfrm flipH="1">
              <a:off x="287"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Tree>
    <p:extLst>
      <p:ext uri="{BB962C8B-B14F-4D97-AF65-F5344CB8AC3E}">
        <p14:creationId xmlns:p14="http://schemas.microsoft.com/office/powerpoint/2010/main" val="2659449716"/>
      </p:ext>
    </p:extLst>
  </p:cSld>
  <p:clrMap bg1="lt1" tx1="dk1" bg2="lt2" tx2="dk2" accent1="accent1" accent2="accent2" accent3="accent3" accent4="accent4" accent5="accent5" accent6="accent6" hlink="hlink" folHlink="folHlink"/>
  <p:sldLayoutIdLst>
    <p:sldLayoutId id="2147484442" r:id="rId1"/>
    <p:sldLayoutId id="2147484443" r:id="rId2"/>
    <p:sldLayoutId id="2147484444" r:id="rId3"/>
    <p:sldLayoutId id="2147484445" r:id="rId4"/>
    <p:sldLayoutId id="2147484446" r:id="rId5"/>
    <p:sldLayoutId id="2147484447" r:id="rId6"/>
    <p:sldLayoutId id="2147484448" r:id="rId7"/>
    <p:sldLayoutId id="2147484449" r:id="rId8"/>
    <p:sldLayoutId id="2147484450" r:id="rId9"/>
    <p:sldLayoutId id="2147484451" r:id="rId10"/>
    <p:sldLayoutId id="2147484452" r:id="rId11"/>
  </p:sldLayoutIdLst>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6" presetClass="emph" presetSubtype="0" repeatCount="indefinite" fill="hold" nodeType="withEffect">
                                  <p:stCondLst>
                                    <p:cond delay="0"/>
                                  </p:stCondLst>
                                  <p:childTnLst>
                                    <p:animEffect transition="out" filter="fade">
                                      <p:cBhvr>
                                        <p:cTn id="6" dur="1000" tmFilter="0, 0; .2, .5; .8, .5; 1, 0"/>
                                        <p:tgtEl>
                                          <p:spTgt spid="6"/>
                                        </p:tgtEl>
                                      </p:cBhvr>
                                    </p:animEffect>
                                    <p:animScale>
                                      <p:cBhvr>
                                        <p:cTn id="7" dur="500" autoRev="1" fill="hold"/>
                                        <p:tgtEl>
                                          <p:spTgt spid="6"/>
                                        </p:tgtEl>
                                      </p:cBhvr>
                                      <p:by x="105000" y="105000"/>
                                    </p:animScale>
                                  </p:childTnLst>
                                </p:cTn>
                              </p:par>
                              <p:par>
                                <p:cTn id="8" presetID="26" presetClass="emph" presetSubtype="0" repeatCount="indefinite" fill="hold" nodeType="withEffect">
                                  <p:stCondLst>
                                    <p:cond delay="0"/>
                                  </p:stCondLst>
                                  <p:childTnLst>
                                    <p:animEffect transition="out" filter="fade">
                                      <p:cBhvr>
                                        <p:cTn id="9" dur="3000" tmFilter="0, 0; .2, .5; .8, .5; 1, 0"/>
                                        <p:tgtEl>
                                          <p:spTgt spid="18"/>
                                        </p:tgtEl>
                                      </p:cBhvr>
                                    </p:animEffect>
                                    <p:animScale>
                                      <p:cBhvr>
                                        <p:cTn id="10" dur="1500" autoRev="1" fill="hold"/>
                                        <p:tgtEl>
                                          <p:spTgt spid="18"/>
                                        </p:tgtEl>
                                      </p:cBhvr>
                                      <p:by x="105000" y="105000"/>
                                    </p:animScale>
                                  </p:childTnLst>
                                </p:cTn>
                              </p:par>
                              <p:par>
                                <p:cTn id="11" presetID="26" presetClass="emph" presetSubtype="0" repeatCount="indefinite" fill="hold" nodeType="withEffect">
                                  <p:stCondLst>
                                    <p:cond delay="0"/>
                                  </p:stCondLst>
                                  <p:childTnLst>
                                    <p:animEffect transition="out" filter="fade">
                                      <p:cBhvr>
                                        <p:cTn id="12" dur="3000" tmFilter="0, 0; .2, .5; .8, .5; 1, 0"/>
                                        <p:tgtEl>
                                          <p:spTgt spid="26"/>
                                        </p:tgtEl>
                                      </p:cBhvr>
                                    </p:animEffect>
                                    <p:animScale>
                                      <p:cBhvr>
                                        <p:cTn id="13" dur="1500" autoRev="1" fill="hold"/>
                                        <p:tgtEl>
                                          <p:spTgt spid="2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xStyles>
    <p:titleStyle>
      <a:lvl1pPr algn="ctr" rtl="0" eaLnBrk="0" fontAlgn="base" hangingPunct="0">
        <a:spcBef>
          <a:spcPct val="0"/>
        </a:spcBef>
        <a:spcAft>
          <a:spcPct val="0"/>
        </a:spcAft>
        <a:defRPr kumimoji="1" sz="4400">
          <a:solidFill>
            <a:schemeClr val="tx2"/>
          </a:solidFill>
          <a:latin typeface="+mj-lt"/>
          <a:ea typeface="標楷體" panose="03000509000000000000" pitchFamily="65" charset="-120"/>
          <a:cs typeface="+mj-cs"/>
        </a:defRPr>
      </a:lvl1pPr>
      <a:lvl2pPr algn="ctr" rtl="0" eaLnBrk="0" fontAlgn="base" hangingPunct="0">
        <a:spcBef>
          <a:spcPct val="0"/>
        </a:spcBef>
        <a:spcAft>
          <a:spcPct val="0"/>
        </a:spcAft>
        <a:defRPr kumimoji="1" sz="4400">
          <a:solidFill>
            <a:schemeClr val="tx2"/>
          </a:solidFill>
          <a:latin typeface="Arial" charset="0"/>
          <a:ea typeface="標楷體" pitchFamily="65" charset="-120"/>
        </a:defRPr>
      </a:lvl2pPr>
      <a:lvl3pPr algn="ctr" rtl="0" eaLnBrk="0" fontAlgn="base" hangingPunct="0">
        <a:spcBef>
          <a:spcPct val="0"/>
        </a:spcBef>
        <a:spcAft>
          <a:spcPct val="0"/>
        </a:spcAft>
        <a:defRPr kumimoji="1" sz="4400">
          <a:solidFill>
            <a:schemeClr val="tx2"/>
          </a:solidFill>
          <a:latin typeface="Arial" charset="0"/>
          <a:ea typeface="標楷體" pitchFamily="65" charset="-120"/>
        </a:defRPr>
      </a:lvl3pPr>
      <a:lvl4pPr algn="ctr" rtl="0" eaLnBrk="0" fontAlgn="base" hangingPunct="0">
        <a:spcBef>
          <a:spcPct val="0"/>
        </a:spcBef>
        <a:spcAft>
          <a:spcPct val="0"/>
        </a:spcAft>
        <a:defRPr kumimoji="1" sz="4400">
          <a:solidFill>
            <a:schemeClr val="tx2"/>
          </a:solidFill>
          <a:latin typeface="Arial" charset="0"/>
          <a:ea typeface="標楷體" pitchFamily="65" charset="-120"/>
        </a:defRPr>
      </a:lvl4pPr>
      <a:lvl5pPr algn="ctr" rtl="0" eaLnBrk="0" fontAlgn="base" hangingPunct="0">
        <a:spcBef>
          <a:spcPct val="0"/>
        </a:spcBef>
        <a:spcAft>
          <a:spcPct val="0"/>
        </a:spcAft>
        <a:defRPr kumimoji="1" sz="4400">
          <a:solidFill>
            <a:schemeClr val="tx2"/>
          </a:solidFill>
          <a:latin typeface="Arial" charset="0"/>
          <a:ea typeface="標楷體" pitchFamily="65" charset="-120"/>
        </a:defRPr>
      </a:lvl5pPr>
      <a:lvl6pPr marL="457200" algn="ctr" rtl="0" fontAlgn="base">
        <a:spcBef>
          <a:spcPct val="0"/>
        </a:spcBef>
        <a:spcAft>
          <a:spcPct val="0"/>
        </a:spcAft>
        <a:defRPr kumimoji="1" sz="4400">
          <a:solidFill>
            <a:schemeClr val="tx2"/>
          </a:solidFill>
          <a:latin typeface="Arial" charset="0"/>
          <a:ea typeface="新細明體" pitchFamily="18" charset="-120"/>
        </a:defRPr>
      </a:lvl6pPr>
      <a:lvl7pPr marL="914400" algn="ctr" rtl="0" fontAlgn="base">
        <a:spcBef>
          <a:spcPct val="0"/>
        </a:spcBef>
        <a:spcAft>
          <a:spcPct val="0"/>
        </a:spcAft>
        <a:defRPr kumimoji="1" sz="4400">
          <a:solidFill>
            <a:schemeClr val="tx2"/>
          </a:solidFill>
          <a:latin typeface="Arial" charset="0"/>
          <a:ea typeface="新細明體" pitchFamily="18" charset="-120"/>
        </a:defRPr>
      </a:lvl7pPr>
      <a:lvl8pPr marL="1371600" algn="ctr" rtl="0" fontAlgn="base">
        <a:spcBef>
          <a:spcPct val="0"/>
        </a:spcBef>
        <a:spcAft>
          <a:spcPct val="0"/>
        </a:spcAft>
        <a:defRPr kumimoji="1" sz="4400">
          <a:solidFill>
            <a:schemeClr val="tx2"/>
          </a:solidFill>
          <a:latin typeface="Arial" charset="0"/>
          <a:ea typeface="新細明體" pitchFamily="18" charset="-120"/>
        </a:defRPr>
      </a:lvl8pPr>
      <a:lvl9pPr marL="1828800" algn="ctr" rtl="0" fontAlgn="base">
        <a:spcBef>
          <a:spcPct val="0"/>
        </a:spcBef>
        <a:spcAft>
          <a:spcPct val="0"/>
        </a:spcAft>
        <a:defRPr kumimoji="1" sz="4400">
          <a:solidFill>
            <a:schemeClr val="tx2"/>
          </a:solidFill>
          <a:latin typeface="Arial" charset="0"/>
          <a:ea typeface="新細明體" pitchFamily="18" charset="-120"/>
        </a:defRPr>
      </a:lvl9pPr>
    </p:titleStyle>
    <p:bodyStyle>
      <a:lvl1pPr marL="342900" indent="-342900" algn="l" rtl="0" eaLnBrk="0" fontAlgn="base" hangingPunct="0">
        <a:spcBef>
          <a:spcPct val="20000"/>
        </a:spcBef>
        <a:spcAft>
          <a:spcPct val="0"/>
        </a:spcAft>
        <a:buChar char="•"/>
        <a:defRPr kumimoji="1" sz="3200">
          <a:solidFill>
            <a:schemeClr val="tx1"/>
          </a:solidFill>
          <a:latin typeface="+mn-lt"/>
          <a:ea typeface="標楷體" panose="03000509000000000000" pitchFamily="65" charset="-120"/>
          <a:cs typeface="+mn-cs"/>
        </a:defRPr>
      </a:lvl1pPr>
      <a:lvl2pPr marL="742950" indent="-285750" algn="l" rtl="0" eaLnBrk="0" fontAlgn="base" hangingPunct="0">
        <a:spcBef>
          <a:spcPct val="20000"/>
        </a:spcBef>
        <a:spcAft>
          <a:spcPct val="0"/>
        </a:spcAft>
        <a:buChar char="–"/>
        <a:defRPr kumimoji="1" sz="2800">
          <a:solidFill>
            <a:srgbClr val="FF0066"/>
          </a:solidFill>
          <a:latin typeface="+mn-lt"/>
          <a:ea typeface="標楷體" panose="03000509000000000000" pitchFamily="65" charset="-120"/>
        </a:defRPr>
      </a:lvl2pPr>
      <a:lvl3pPr marL="1143000" indent="-228600" algn="l" rtl="0" eaLnBrk="0" fontAlgn="base" hangingPunct="0">
        <a:spcBef>
          <a:spcPct val="20000"/>
        </a:spcBef>
        <a:spcAft>
          <a:spcPct val="0"/>
        </a:spcAft>
        <a:buChar char="•"/>
        <a:defRPr kumimoji="1" sz="2400">
          <a:solidFill>
            <a:schemeClr val="tx1"/>
          </a:solidFill>
          <a:latin typeface="+mn-lt"/>
          <a:ea typeface="標楷體" panose="03000509000000000000" pitchFamily="65" charset="-120"/>
        </a:defRPr>
      </a:lvl3pPr>
      <a:lvl4pPr marL="1600200" indent="-228600" algn="l" rtl="0" eaLnBrk="0" fontAlgn="base" hangingPunct="0">
        <a:spcBef>
          <a:spcPct val="20000"/>
        </a:spcBef>
        <a:spcAft>
          <a:spcPct val="0"/>
        </a:spcAft>
        <a:buChar char="–"/>
        <a:defRPr kumimoji="1" sz="2000">
          <a:solidFill>
            <a:srgbClr val="FF0066"/>
          </a:solidFill>
          <a:latin typeface="+mn-lt"/>
          <a:ea typeface="標楷體" panose="03000509000000000000" pitchFamily="65" charset="-120"/>
        </a:defRPr>
      </a:lvl4pPr>
      <a:lvl5pPr marL="2057400" indent="-228600" algn="l" rtl="0" eaLnBrk="0" fontAlgn="base" hangingPunct="0">
        <a:spcBef>
          <a:spcPct val="20000"/>
        </a:spcBef>
        <a:spcAft>
          <a:spcPct val="0"/>
        </a:spcAft>
        <a:buChar char="»"/>
        <a:defRPr kumimoji="1" sz="2000">
          <a:solidFill>
            <a:schemeClr val="tx1"/>
          </a:solidFill>
          <a:latin typeface="+mn-lt"/>
          <a:ea typeface="標楷體" panose="03000509000000000000" pitchFamily="65" charset="-120"/>
        </a:defRPr>
      </a:lvl5pPr>
      <a:lvl6pPr marL="2514600" indent="-228600" algn="l" rtl="0" fontAlgn="base">
        <a:spcBef>
          <a:spcPct val="20000"/>
        </a:spcBef>
        <a:spcAft>
          <a:spcPct val="0"/>
        </a:spcAft>
        <a:buChar char="»"/>
        <a:defRPr kumimoji="1" sz="2000">
          <a:solidFill>
            <a:schemeClr val="tx1"/>
          </a:solidFill>
          <a:latin typeface="+mn-lt"/>
          <a:ea typeface="+mn-ea"/>
        </a:defRPr>
      </a:lvl6pPr>
      <a:lvl7pPr marL="2971800" indent="-228600" algn="l" rtl="0" fontAlgn="base">
        <a:spcBef>
          <a:spcPct val="20000"/>
        </a:spcBef>
        <a:spcAft>
          <a:spcPct val="0"/>
        </a:spcAft>
        <a:buChar char="»"/>
        <a:defRPr kumimoji="1" sz="2000">
          <a:solidFill>
            <a:schemeClr val="tx1"/>
          </a:solidFill>
          <a:latin typeface="+mn-lt"/>
          <a:ea typeface="+mn-ea"/>
        </a:defRPr>
      </a:lvl7pPr>
      <a:lvl8pPr marL="3429000" indent="-228600" algn="l" rtl="0" fontAlgn="base">
        <a:spcBef>
          <a:spcPct val="20000"/>
        </a:spcBef>
        <a:spcAft>
          <a:spcPct val="0"/>
        </a:spcAft>
        <a:buChar char="»"/>
        <a:defRPr kumimoji="1" sz="2000">
          <a:solidFill>
            <a:schemeClr val="tx1"/>
          </a:solidFill>
          <a:latin typeface="+mn-lt"/>
          <a:ea typeface="+mn-ea"/>
        </a:defRPr>
      </a:lvl8pPr>
      <a:lvl9pPr marL="3886200" indent="-228600" algn="l" rtl="0" fontAlgn="base">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gradFill rotWithShape="1">
          <a:gsLst>
            <a:gs pos="0">
              <a:srgbClr val="9AB5E4"/>
            </a:gs>
            <a:gs pos="14000">
              <a:srgbClr val="C2D1ED"/>
            </a:gs>
            <a:gs pos="100000">
              <a:srgbClr val="E1E8F5"/>
            </a:gs>
          </a:gsLst>
          <a:lin ang="5400000"/>
        </a:gradFill>
        <a:effectLst/>
      </p:bgPr>
    </p:bg>
    <p:spTree>
      <p:nvGrpSpPr>
        <p:cNvPr id="1" name=""/>
        <p:cNvGrpSpPr/>
        <p:nvPr/>
      </p:nvGrpSpPr>
      <p:grpSpPr>
        <a:xfrm>
          <a:off x="0" y="0"/>
          <a:ext cx="0" cy="0"/>
          <a:chOff x="0" y="0"/>
          <a:chExt cx="0" cy="0"/>
        </a:xfrm>
      </p:grpSpPr>
      <p:sp>
        <p:nvSpPr>
          <p:cNvPr id="7170" name="標題版面配置區 1"/>
          <p:cNvSpPr>
            <a:spLocks noGrp="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TW" altLang="en-US" smtClean="0"/>
              <a:t>按一下以編輯母片標題樣式</a:t>
            </a:r>
          </a:p>
        </p:txBody>
      </p:sp>
      <p:sp>
        <p:nvSpPr>
          <p:cNvPr id="7171" name="文字版面配置區 2"/>
          <p:cNvSpPr>
            <a:spLocks noGrp="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p>
        </p:txBody>
      </p:sp>
      <p:sp>
        <p:nvSpPr>
          <p:cNvPr id="4" name="日期版面配置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kumimoji="0" sz="1200">
                <a:solidFill>
                  <a:prstClr val="black">
                    <a:tint val="75000"/>
                  </a:prstClr>
                </a:solidFill>
                <a:latin typeface="+mn-lt"/>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3E39E03B-73A7-4470-859D-022DF00BDB4B}" type="datetimeFigureOut">
              <a:rPr kumimoji="0"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5" name="頁尾版面配置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kumimoji="0" sz="1200">
                <a:solidFill>
                  <a:prstClr val="black">
                    <a:tint val="75000"/>
                  </a:prstClr>
                </a:solidFill>
                <a:latin typeface="+mn-lt"/>
                <a:ea typeface="+mn-ea"/>
                <a:cs typeface="+mn-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Garamond"/>
              <a:ea typeface="標楷體" panose="03000509000000000000" pitchFamily="65" charset="-120"/>
              <a:cs typeface="+mn-cs"/>
            </a:endParaRPr>
          </a:p>
        </p:txBody>
      </p:sp>
      <p:sp>
        <p:nvSpPr>
          <p:cNvPr id="6" name="投影片編號版面配置區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a:defRPr kumimoji="0" sz="1200">
                <a:solidFill>
                  <a:srgbClr val="898989"/>
                </a:solidFill>
                <a:latin typeface="Garamond" panose="02020404030301010803" pitchFamily="18" charset="0"/>
                <a:ea typeface="標楷體" panose="03000509000000000000" pitchFamily="65" charset="-12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ED7A50EA-97C3-4152-835B-510EDE338285}" type="slidenum">
              <a:rPr kumimoji="0"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zh-TW" altLang="en-US" sz="1200" b="0" i="0" u="none" strike="noStrike" kern="1200" cap="none" spc="0" normalizeH="0" baseline="0" noProof="0" smtClean="0">
              <a:ln>
                <a:noFill/>
              </a:ln>
              <a:solidFill>
                <a:srgbClr val="898989"/>
              </a:solidFill>
              <a:effectLst/>
              <a:uLnTx/>
              <a:uFillTx/>
              <a:latin typeface="Garamond" panose="02020404030301010803" pitchFamily="18" charset="0"/>
              <a:ea typeface="標楷體" panose="03000509000000000000" pitchFamily="65" charset="-120"/>
              <a:cs typeface="+mn-cs"/>
            </a:endParaRPr>
          </a:p>
        </p:txBody>
      </p:sp>
    </p:spTree>
    <p:extLst>
      <p:ext uri="{BB962C8B-B14F-4D97-AF65-F5344CB8AC3E}">
        <p14:creationId xmlns:p14="http://schemas.microsoft.com/office/powerpoint/2010/main" val="598850527"/>
      </p:ext>
    </p:extLst>
  </p:cSld>
  <p:clrMap bg1="lt1" tx1="dk1" bg2="lt2" tx2="dk2" accent1="accent1" accent2="accent2" accent3="accent3" accent4="accent4" accent5="accent5" accent6="accent6" hlink="hlink" folHlink="folHlink"/>
  <p:sldLayoutIdLst>
    <p:sldLayoutId id="2147484454" r:id="rId1"/>
    <p:sldLayoutId id="2147484455" r:id="rId2"/>
    <p:sldLayoutId id="2147484456" r:id="rId3"/>
    <p:sldLayoutId id="2147484457" r:id="rId4"/>
    <p:sldLayoutId id="2147484458" r:id="rId5"/>
    <p:sldLayoutId id="2147484459" r:id="rId6"/>
    <p:sldLayoutId id="2147484460" r:id="rId7"/>
    <p:sldLayoutId id="2147484461" r:id="rId8"/>
    <p:sldLayoutId id="2147484462" r:id="rId9"/>
    <p:sldLayoutId id="2147484463" r:id="rId10"/>
    <p:sldLayoutId id="2147484464"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Garamond" pitchFamily="18" charset="0"/>
          <a:ea typeface="標楷體" pitchFamily="65" charset="-120"/>
        </a:defRPr>
      </a:lvl2pPr>
      <a:lvl3pPr algn="ctr" rtl="0" eaLnBrk="0" fontAlgn="base" hangingPunct="0">
        <a:spcBef>
          <a:spcPct val="0"/>
        </a:spcBef>
        <a:spcAft>
          <a:spcPct val="0"/>
        </a:spcAft>
        <a:defRPr sz="4400">
          <a:solidFill>
            <a:schemeClr val="tx1"/>
          </a:solidFill>
          <a:latin typeface="Garamond" pitchFamily="18" charset="0"/>
          <a:ea typeface="標楷體" pitchFamily="65" charset="-120"/>
        </a:defRPr>
      </a:lvl3pPr>
      <a:lvl4pPr algn="ctr" rtl="0" eaLnBrk="0" fontAlgn="base" hangingPunct="0">
        <a:spcBef>
          <a:spcPct val="0"/>
        </a:spcBef>
        <a:spcAft>
          <a:spcPct val="0"/>
        </a:spcAft>
        <a:defRPr sz="4400">
          <a:solidFill>
            <a:schemeClr val="tx1"/>
          </a:solidFill>
          <a:latin typeface="Garamond" pitchFamily="18" charset="0"/>
          <a:ea typeface="標楷體" pitchFamily="65" charset="-120"/>
        </a:defRPr>
      </a:lvl4pPr>
      <a:lvl5pPr algn="ctr" rtl="0" eaLnBrk="0" fontAlgn="base" hangingPunct="0">
        <a:spcBef>
          <a:spcPct val="0"/>
        </a:spcBef>
        <a:spcAft>
          <a:spcPct val="0"/>
        </a:spcAft>
        <a:defRPr sz="4400">
          <a:solidFill>
            <a:schemeClr val="tx1"/>
          </a:solidFill>
          <a:latin typeface="Garamond" pitchFamily="18" charset="0"/>
          <a:ea typeface="標楷體" pitchFamily="65" charset="-120"/>
        </a:defRPr>
      </a:lvl5pPr>
      <a:lvl6pPr marL="457200" algn="ctr" rtl="0" fontAlgn="base">
        <a:spcBef>
          <a:spcPct val="0"/>
        </a:spcBef>
        <a:spcAft>
          <a:spcPct val="0"/>
        </a:spcAft>
        <a:defRPr sz="4400">
          <a:solidFill>
            <a:schemeClr val="tx1"/>
          </a:solidFill>
          <a:latin typeface="Garamond" pitchFamily="18" charset="0"/>
          <a:ea typeface="標楷體" pitchFamily="65" charset="-120"/>
        </a:defRPr>
      </a:lvl6pPr>
      <a:lvl7pPr marL="914400" algn="ctr" rtl="0" fontAlgn="base">
        <a:spcBef>
          <a:spcPct val="0"/>
        </a:spcBef>
        <a:spcAft>
          <a:spcPct val="0"/>
        </a:spcAft>
        <a:defRPr sz="4400">
          <a:solidFill>
            <a:schemeClr val="tx1"/>
          </a:solidFill>
          <a:latin typeface="Garamond" pitchFamily="18" charset="0"/>
          <a:ea typeface="標楷體" pitchFamily="65" charset="-120"/>
        </a:defRPr>
      </a:lvl7pPr>
      <a:lvl8pPr marL="1371600" algn="ctr" rtl="0" fontAlgn="base">
        <a:spcBef>
          <a:spcPct val="0"/>
        </a:spcBef>
        <a:spcAft>
          <a:spcPct val="0"/>
        </a:spcAft>
        <a:defRPr sz="4400">
          <a:solidFill>
            <a:schemeClr val="tx1"/>
          </a:solidFill>
          <a:latin typeface="Garamond" pitchFamily="18" charset="0"/>
          <a:ea typeface="標楷體" pitchFamily="65" charset="-120"/>
        </a:defRPr>
      </a:lvl8pPr>
      <a:lvl9pPr marL="1828800" algn="ctr" rtl="0" fontAlgn="base">
        <a:spcBef>
          <a:spcPct val="0"/>
        </a:spcBef>
        <a:spcAft>
          <a:spcPct val="0"/>
        </a:spcAft>
        <a:defRPr sz="4400">
          <a:solidFill>
            <a:schemeClr val="tx1"/>
          </a:solidFill>
          <a:latin typeface="Garamond" pitchFamily="18" charset="0"/>
          <a:ea typeface="標楷體" pitchFamily="65" charset="-12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F2FDB1"/>
            </a:gs>
            <a:gs pos="100000">
              <a:srgbClr val="B8C087"/>
            </a:gs>
          </a:gsLst>
          <a:lin ang="5400000" scaled="1"/>
        </a:gra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TW" altLang="en-US" smtClean="0"/>
              <a:t>按一下以編輯母片標題樣式</a:t>
            </a:r>
          </a:p>
        </p:txBody>
      </p:sp>
      <p:sp>
        <p:nvSpPr>
          <p:cNvPr id="9219" name="Rectangle 3"/>
          <p:cNvSpPr>
            <a:spLocks noGrp="1" noChangeArrowheads="1"/>
          </p:cNvSpPr>
          <p:nvPr>
            <p:ph type="body" idx="1"/>
          </p:nvPr>
        </p:nvSpPr>
        <p:spPr bwMode="auto">
          <a:xfrm>
            <a:off x="468313" y="1628775"/>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TW" altLang="en-US" smtClean="0"/>
              <a:t>按一下以編輯母片</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p>
        </p:txBody>
      </p:sp>
      <p:sp>
        <p:nvSpPr>
          <p:cNvPr id="27652" name="Rectangle 4"/>
          <p:cNvSpPr>
            <a:spLocks noGrp="1" noChangeArrowheads="1"/>
          </p:cNvSpPr>
          <p:nvPr>
            <p:ph type="dt" sz="half" idx="2"/>
          </p:nvPr>
        </p:nvSpPr>
        <p:spPr bwMode="auto">
          <a:xfrm>
            <a:off x="457200" y="6245225"/>
            <a:ext cx="2133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defRPr sz="1400">
                <a:solidFill>
                  <a:srgbClr val="000000"/>
                </a:solidFill>
                <a:latin typeface="Arial"/>
                <a:ea typeface="標楷體" panose="03000509000000000000" pitchFamily="65" charset="-120"/>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27653" name="Rectangle 5"/>
          <p:cNvSpPr>
            <a:spLocks noGrp="1" noChangeArrowheads="1"/>
          </p:cNvSpPr>
          <p:nvPr>
            <p:ph type="ftr" sz="quarter" idx="3"/>
          </p:nvPr>
        </p:nvSpPr>
        <p:spPr bwMode="auto">
          <a:xfrm>
            <a:off x="3124200" y="6245225"/>
            <a:ext cx="2895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lgn="ctr">
              <a:defRPr sz="1400">
                <a:solidFill>
                  <a:srgbClr val="000000"/>
                </a:solidFill>
                <a:latin typeface="Arial"/>
                <a:ea typeface="標楷體" panose="03000509000000000000" pitchFamily="65" charset="-120"/>
              </a:defRPr>
            </a:lvl1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1" lang="en-US" altLang="zh-TW" sz="1400" b="0" i="0" u="none" strike="noStrike" kern="1200" cap="none" spc="0" normalizeH="0" baseline="0" noProof="0">
              <a:ln>
                <a:noFill/>
              </a:ln>
              <a:solidFill>
                <a:srgbClr val="000000"/>
              </a:solidFill>
              <a:effectLst/>
              <a:uLnTx/>
              <a:uFillTx/>
              <a:latin typeface="Arial"/>
              <a:ea typeface="標楷體" panose="03000509000000000000" pitchFamily="65" charset="-120"/>
              <a:cs typeface="+mn-cs"/>
            </a:endParaRPr>
          </a:p>
        </p:txBody>
      </p:sp>
      <p:sp>
        <p:nvSpPr>
          <p:cNvPr id="27654" name="Rectangle 6"/>
          <p:cNvSpPr>
            <a:spLocks noGrp="1" noChangeArrowheads="1"/>
          </p:cNvSpPr>
          <p:nvPr>
            <p:ph type="sldNum" sz="quarter" idx="4"/>
          </p:nvPr>
        </p:nvSpPr>
        <p:spPr bwMode="auto">
          <a:xfrm>
            <a:off x="6553200" y="6245225"/>
            <a:ext cx="2133600" cy="476250"/>
          </a:xfrm>
          <a:prstGeom prst="rect">
            <a:avLst/>
          </a:prstGeom>
          <a:noFill/>
          <a:ln>
            <a:noFill/>
          </a:ln>
          <a:effectLst/>
          <a:extLst/>
        </p:spPr>
        <p:txBody>
          <a:bodyPr vert="horz" wrap="square" lIns="91440" tIns="45720" rIns="91440" bIns="45720" numCol="1" anchor="t" anchorCtr="0" compatLnSpc="1">
            <a:prstTxWarp prst="textNoShape">
              <a:avLst/>
            </a:prstTxWarp>
          </a:bodyPr>
          <a:lstStyle>
            <a:lvl1pPr algn="r">
              <a:defRPr sz="1400">
                <a:solidFill>
                  <a:srgbClr val="000000"/>
                </a:solidFill>
                <a:ea typeface="標楷體" panose="03000509000000000000" pitchFamily="65" charset="-12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18F4F84A-0DEA-4736-ADF1-9F3677FCB7B4}" type="slidenum">
              <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1" lang="en-US" altLang="zh-TW" sz="1400" b="0" i="0" u="none" strike="noStrike" kern="1200" cap="none" spc="0" normalizeH="0" baseline="0" noProof="0" smtClean="0">
              <a:ln>
                <a:noFill/>
              </a:ln>
              <a:solidFill>
                <a:srgbClr val="000000"/>
              </a:solidFill>
              <a:effectLst/>
              <a:uLnTx/>
              <a:uFillTx/>
              <a:latin typeface="Arial" panose="020B0604020202020204" pitchFamily="34" charset="0"/>
              <a:ea typeface="標楷體" panose="03000509000000000000" pitchFamily="65" charset="-120"/>
              <a:cs typeface="+mn-cs"/>
            </a:endParaRPr>
          </a:p>
        </p:txBody>
      </p:sp>
      <p:grpSp>
        <p:nvGrpSpPr>
          <p:cNvPr id="9223" name="Group 7"/>
          <p:cNvGrpSpPr>
            <a:grpSpLocks/>
          </p:cNvGrpSpPr>
          <p:nvPr/>
        </p:nvGrpSpPr>
        <p:grpSpPr bwMode="auto">
          <a:xfrm rot="-1737491">
            <a:off x="8102600" y="1411288"/>
            <a:ext cx="412750" cy="414337"/>
            <a:chOff x="295" y="3385"/>
            <a:chExt cx="408" cy="340"/>
          </a:xfrm>
        </p:grpSpPr>
        <p:grpSp>
          <p:nvGrpSpPr>
            <p:cNvPr id="9302" name="Group 8"/>
            <p:cNvGrpSpPr>
              <a:grpSpLocks/>
            </p:cNvGrpSpPr>
            <p:nvPr userDrawn="1"/>
          </p:nvGrpSpPr>
          <p:grpSpPr bwMode="auto">
            <a:xfrm rot="2362656">
              <a:off x="295" y="3385"/>
              <a:ext cx="408" cy="273"/>
              <a:chOff x="1701" y="527"/>
              <a:chExt cx="498" cy="273"/>
            </a:xfrm>
          </p:grpSpPr>
          <p:grpSp>
            <p:nvGrpSpPr>
              <p:cNvPr id="9305" name="Group 9"/>
              <p:cNvGrpSpPr>
                <a:grpSpLocks/>
              </p:cNvGrpSpPr>
              <p:nvPr userDrawn="1"/>
            </p:nvGrpSpPr>
            <p:grpSpPr bwMode="auto">
              <a:xfrm rot="228844">
                <a:off x="1927" y="618"/>
                <a:ext cx="272" cy="90"/>
                <a:chOff x="1927" y="527"/>
                <a:chExt cx="272" cy="90"/>
              </a:xfrm>
            </p:grpSpPr>
            <p:sp>
              <p:nvSpPr>
                <p:cNvPr id="1120" name="Oval 10"/>
                <p:cNvSpPr>
                  <a:spLocks noChangeArrowheads="1"/>
                </p:cNvSpPr>
                <p:nvPr userDrawn="1"/>
              </p:nvSpPr>
              <p:spPr bwMode="auto">
                <a:xfrm rot="187092">
                  <a:off x="1905" y="563"/>
                  <a:ext cx="272" cy="43"/>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21" name="Oval 11"/>
                <p:cNvSpPr>
                  <a:spLocks noChangeArrowheads="1"/>
                </p:cNvSpPr>
                <p:nvPr userDrawn="1"/>
              </p:nvSpPr>
              <p:spPr bwMode="auto">
                <a:xfrm rot="10143706">
                  <a:off x="1904" y="517"/>
                  <a:ext cx="272" cy="47"/>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306" name="Group 12"/>
              <p:cNvGrpSpPr>
                <a:grpSpLocks/>
              </p:cNvGrpSpPr>
              <p:nvPr userDrawn="1"/>
            </p:nvGrpSpPr>
            <p:grpSpPr bwMode="auto">
              <a:xfrm rot="10800000">
                <a:off x="1701" y="618"/>
                <a:ext cx="272" cy="90"/>
                <a:chOff x="1927" y="527"/>
                <a:chExt cx="272" cy="90"/>
              </a:xfrm>
            </p:grpSpPr>
            <p:sp>
              <p:nvSpPr>
                <p:cNvPr id="1118" name="Oval 13"/>
                <p:cNvSpPr>
                  <a:spLocks noChangeArrowheads="1"/>
                </p:cNvSpPr>
                <p:nvPr userDrawn="1"/>
              </p:nvSpPr>
              <p:spPr bwMode="auto">
                <a:xfrm rot="187092">
                  <a:off x="1964" y="581"/>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9" name="Oval 14"/>
                <p:cNvSpPr>
                  <a:spLocks noChangeArrowheads="1"/>
                </p:cNvSpPr>
                <p:nvPr userDrawn="1"/>
              </p:nvSpPr>
              <p:spPr bwMode="auto">
                <a:xfrm rot="10143706">
                  <a:off x="1965" y="533"/>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15" name="Oval 15"/>
              <p:cNvSpPr>
                <a:spLocks noChangeArrowheads="1"/>
              </p:cNvSpPr>
              <p:nvPr userDrawn="1"/>
            </p:nvSpPr>
            <p:spPr bwMode="auto">
              <a:xfrm>
                <a:off x="1908" y="614"/>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6" name="Oval 16"/>
              <p:cNvSpPr>
                <a:spLocks noChangeArrowheads="1"/>
              </p:cNvSpPr>
              <p:nvPr userDrawn="1"/>
            </p:nvSpPr>
            <p:spPr bwMode="auto">
              <a:xfrm>
                <a:off x="1863" y="522"/>
                <a:ext cx="46"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7" name="Oval 17"/>
              <p:cNvSpPr>
                <a:spLocks noChangeArrowheads="1"/>
              </p:cNvSpPr>
              <p:nvPr userDrawn="1"/>
            </p:nvSpPr>
            <p:spPr bwMode="auto">
              <a:xfrm>
                <a:off x="1954" y="520"/>
                <a:ext cx="46" cy="48"/>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11" name="Oval 18"/>
            <p:cNvSpPr>
              <a:spLocks noChangeArrowheads="1"/>
            </p:cNvSpPr>
            <p:nvPr userDrawn="1"/>
          </p:nvSpPr>
          <p:spPr bwMode="auto">
            <a:xfrm flipH="1">
              <a:off x="340" y="3653"/>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12" name="Oval 19"/>
            <p:cNvSpPr>
              <a:spLocks noChangeArrowheads="1"/>
            </p:cNvSpPr>
            <p:nvPr userDrawn="1"/>
          </p:nvSpPr>
          <p:spPr bwMode="auto">
            <a:xfrm flipH="1">
              <a:off x="293" y="3695"/>
              <a:ext cx="25"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6" name="Group 20"/>
          <p:cNvGrpSpPr>
            <a:grpSpLocks/>
          </p:cNvGrpSpPr>
          <p:nvPr/>
        </p:nvGrpSpPr>
        <p:grpSpPr bwMode="auto">
          <a:xfrm rot="-3328072">
            <a:off x="4307682" y="6392069"/>
            <a:ext cx="412750" cy="414337"/>
            <a:chOff x="295" y="3385"/>
            <a:chExt cx="408" cy="340"/>
          </a:xfrm>
        </p:grpSpPr>
        <p:grpSp>
          <p:nvGrpSpPr>
            <p:cNvPr id="9290" name="Group 21"/>
            <p:cNvGrpSpPr>
              <a:grpSpLocks/>
            </p:cNvGrpSpPr>
            <p:nvPr userDrawn="1"/>
          </p:nvGrpSpPr>
          <p:grpSpPr bwMode="auto">
            <a:xfrm rot="2362656">
              <a:off x="295" y="3385"/>
              <a:ext cx="408" cy="273"/>
              <a:chOff x="1701" y="527"/>
              <a:chExt cx="498" cy="273"/>
            </a:xfrm>
          </p:grpSpPr>
          <p:grpSp>
            <p:nvGrpSpPr>
              <p:cNvPr id="9293" name="Group 22"/>
              <p:cNvGrpSpPr>
                <a:grpSpLocks/>
              </p:cNvGrpSpPr>
              <p:nvPr userDrawn="1"/>
            </p:nvGrpSpPr>
            <p:grpSpPr bwMode="auto">
              <a:xfrm rot="228844">
                <a:off x="1927" y="618"/>
                <a:ext cx="272" cy="90"/>
                <a:chOff x="1927" y="527"/>
                <a:chExt cx="272" cy="90"/>
              </a:xfrm>
            </p:grpSpPr>
            <p:sp>
              <p:nvSpPr>
                <p:cNvPr id="1108" name="Oval 23"/>
                <p:cNvSpPr>
                  <a:spLocks noChangeArrowheads="1"/>
                </p:cNvSpPr>
                <p:nvPr userDrawn="1"/>
              </p:nvSpPr>
              <p:spPr bwMode="auto">
                <a:xfrm rot="187092">
                  <a:off x="1910" y="549"/>
                  <a:ext cx="272" cy="43"/>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9" name="Oval 24"/>
                <p:cNvSpPr>
                  <a:spLocks noChangeArrowheads="1"/>
                </p:cNvSpPr>
                <p:nvPr userDrawn="1"/>
              </p:nvSpPr>
              <p:spPr bwMode="auto">
                <a:xfrm rot="10143706">
                  <a:off x="1908" y="504"/>
                  <a:ext cx="272" cy="48"/>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94" name="Group 25"/>
              <p:cNvGrpSpPr>
                <a:grpSpLocks/>
              </p:cNvGrpSpPr>
              <p:nvPr userDrawn="1"/>
            </p:nvGrpSpPr>
            <p:grpSpPr bwMode="auto">
              <a:xfrm rot="10800000">
                <a:off x="1701" y="618"/>
                <a:ext cx="272" cy="90"/>
                <a:chOff x="1927" y="527"/>
                <a:chExt cx="272" cy="90"/>
              </a:xfrm>
            </p:grpSpPr>
            <p:sp>
              <p:nvSpPr>
                <p:cNvPr id="1106" name="Oval 26"/>
                <p:cNvSpPr>
                  <a:spLocks noChangeArrowheads="1"/>
                </p:cNvSpPr>
                <p:nvPr userDrawn="1"/>
              </p:nvSpPr>
              <p:spPr bwMode="auto">
                <a:xfrm rot="187092">
                  <a:off x="1939" y="589"/>
                  <a:ext cx="272" cy="43"/>
                </a:xfrm>
                <a:prstGeom prst="ellipse">
                  <a:avLst/>
                </a:prstGeom>
                <a:solidFill>
                  <a:srgbClr val="FF99CC">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7" name="Oval 27"/>
                <p:cNvSpPr>
                  <a:spLocks noChangeArrowheads="1"/>
                </p:cNvSpPr>
                <p:nvPr userDrawn="1"/>
              </p:nvSpPr>
              <p:spPr bwMode="auto">
                <a:xfrm rot="10143706">
                  <a:off x="1940" y="539"/>
                  <a:ext cx="272" cy="47"/>
                </a:xfrm>
                <a:prstGeom prst="ellipse">
                  <a:avLst/>
                </a:prstGeom>
                <a:solidFill>
                  <a:srgbClr val="FF00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103" name="Oval 28"/>
              <p:cNvSpPr>
                <a:spLocks noChangeArrowheads="1"/>
              </p:cNvSpPr>
              <p:nvPr userDrawn="1"/>
            </p:nvSpPr>
            <p:spPr bwMode="auto">
              <a:xfrm>
                <a:off x="1915" y="605"/>
                <a:ext cx="46"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4" name="Oval 29"/>
              <p:cNvSpPr>
                <a:spLocks noChangeArrowheads="1"/>
              </p:cNvSpPr>
              <p:nvPr userDrawn="1"/>
            </p:nvSpPr>
            <p:spPr bwMode="auto">
              <a:xfrm>
                <a:off x="1871" y="513"/>
                <a:ext cx="46"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5" name="Oval 30"/>
              <p:cNvSpPr>
                <a:spLocks noChangeArrowheads="1"/>
              </p:cNvSpPr>
              <p:nvPr userDrawn="1"/>
            </p:nvSpPr>
            <p:spPr bwMode="auto">
              <a:xfrm>
                <a:off x="1962" y="510"/>
                <a:ext cx="50" cy="47"/>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99" name="Oval 31"/>
            <p:cNvSpPr>
              <a:spLocks noChangeArrowheads="1"/>
            </p:cNvSpPr>
            <p:nvPr userDrawn="1"/>
          </p:nvSpPr>
          <p:spPr bwMode="auto">
            <a:xfrm flipH="1">
              <a:off x="341" y="3652"/>
              <a:ext cx="22"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100" name="Oval 32"/>
            <p:cNvSpPr>
              <a:spLocks noChangeArrowheads="1"/>
            </p:cNvSpPr>
            <p:nvPr userDrawn="1"/>
          </p:nvSpPr>
          <p:spPr bwMode="auto">
            <a:xfrm flipH="1">
              <a:off x="296" y="3697"/>
              <a:ext cx="25" cy="21"/>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25" name="Group 33"/>
          <p:cNvGrpSpPr>
            <a:grpSpLocks/>
          </p:cNvGrpSpPr>
          <p:nvPr/>
        </p:nvGrpSpPr>
        <p:grpSpPr bwMode="auto">
          <a:xfrm rot="-708557">
            <a:off x="2051050" y="6623050"/>
            <a:ext cx="503238" cy="468313"/>
            <a:chOff x="295" y="3385"/>
            <a:chExt cx="408" cy="340"/>
          </a:xfrm>
        </p:grpSpPr>
        <p:grpSp>
          <p:nvGrpSpPr>
            <p:cNvPr id="9278" name="Group 34"/>
            <p:cNvGrpSpPr>
              <a:grpSpLocks/>
            </p:cNvGrpSpPr>
            <p:nvPr userDrawn="1"/>
          </p:nvGrpSpPr>
          <p:grpSpPr bwMode="auto">
            <a:xfrm rot="2362656">
              <a:off x="295" y="3385"/>
              <a:ext cx="408" cy="273"/>
              <a:chOff x="1701" y="527"/>
              <a:chExt cx="498" cy="273"/>
            </a:xfrm>
          </p:grpSpPr>
          <p:grpSp>
            <p:nvGrpSpPr>
              <p:cNvPr id="9281" name="Group 35"/>
              <p:cNvGrpSpPr>
                <a:grpSpLocks/>
              </p:cNvGrpSpPr>
              <p:nvPr userDrawn="1"/>
            </p:nvGrpSpPr>
            <p:grpSpPr bwMode="auto">
              <a:xfrm rot="228844">
                <a:off x="1927" y="618"/>
                <a:ext cx="272" cy="90"/>
                <a:chOff x="1927" y="527"/>
                <a:chExt cx="272" cy="90"/>
              </a:xfrm>
            </p:grpSpPr>
            <p:sp>
              <p:nvSpPr>
                <p:cNvPr id="1096" name="Oval 36"/>
                <p:cNvSpPr>
                  <a:spLocks noChangeArrowheads="1"/>
                </p:cNvSpPr>
                <p:nvPr userDrawn="1"/>
              </p:nvSpPr>
              <p:spPr bwMode="auto">
                <a:xfrm rot="187092">
                  <a:off x="1909" y="561"/>
                  <a:ext cx="272"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7" name="Oval 37"/>
                <p:cNvSpPr>
                  <a:spLocks noChangeArrowheads="1"/>
                </p:cNvSpPr>
                <p:nvPr userDrawn="1"/>
              </p:nvSpPr>
              <p:spPr bwMode="auto">
                <a:xfrm rot="10143706">
                  <a:off x="1905" y="518"/>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82" name="Group 38"/>
              <p:cNvGrpSpPr>
                <a:grpSpLocks/>
              </p:cNvGrpSpPr>
              <p:nvPr userDrawn="1"/>
            </p:nvGrpSpPr>
            <p:grpSpPr bwMode="auto">
              <a:xfrm rot="10800000">
                <a:off x="1701" y="618"/>
                <a:ext cx="272" cy="90"/>
                <a:chOff x="1927" y="527"/>
                <a:chExt cx="272" cy="90"/>
              </a:xfrm>
            </p:grpSpPr>
            <p:sp>
              <p:nvSpPr>
                <p:cNvPr id="1094" name="Oval 39"/>
                <p:cNvSpPr>
                  <a:spLocks noChangeArrowheads="1"/>
                </p:cNvSpPr>
                <p:nvPr userDrawn="1"/>
              </p:nvSpPr>
              <p:spPr bwMode="auto">
                <a:xfrm rot="187092">
                  <a:off x="1953" y="595"/>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5" name="Oval 40"/>
                <p:cNvSpPr>
                  <a:spLocks noChangeArrowheads="1"/>
                </p:cNvSpPr>
                <p:nvPr userDrawn="1"/>
              </p:nvSpPr>
              <p:spPr bwMode="auto">
                <a:xfrm rot="10143706">
                  <a:off x="1957" y="550"/>
                  <a:ext cx="272" cy="45"/>
                </a:xfrm>
                <a:prstGeom prst="ellipse">
                  <a:avLst/>
                </a:prstGeom>
                <a:solidFill>
                  <a:srgbClr val="FF99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91" name="Oval 41"/>
              <p:cNvSpPr>
                <a:spLocks noChangeArrowheads="1"/>
              </p:cNvSpPr>
              <p:nvPr userDrawn="1"/>
            </p:nvSpPr>
            <p:spPr bwMode="auto">
              <a:xfrm>
                <a:off x="1917" y="607"/>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2" name="Oval 42"/>
              <p:cNvSpPr>
                <a:spLocks noChangeArrowheads="1"/>
              </p:cNvSpPr>
              <p:nvPr userDrawn="1"/>
            </p:nvSpPr>
            <p:spPr bwMode="auto">
              <a:xfrm>
                <a:off x="1869" y="519"/>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93" name="Oval 43"/>
              <p:cNvSpPr>
                <a:spLocks noChangeArrowheads="1"/>
              </p:cNvSpPr>
              <p:nvPr userDrawn="1"/>
            </p:nvSpPr>
            <p:spPr bwMode="auto">
              <a:xfrm>
                <a:off x="1969" y="523"/>
                <a:ext cx="47"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87" name="Oval 44"/>
            <p:cNvSpPr>
              <a:spLocks noChangeArrowheads="1"/>
            </p:cNvSpPr>
            <p:nvPr userDrawn="1"/>
          </p:nvSpPr>
          <p:spPr bwMode="auto">
            <a:xfrm flipH="1">
              <a:off x="333" y="365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8" name="Oval 45"/>
            <p:cNvSpPr>
              <a:spLocks noChangeArrowheads="1"/>
            </p:cNvSpPr>
            <p:nvPr userDrawn="1"/>
          </p:nvSpPr>
          <p:spPr bwMode="auto">
            <a:xfrm flipH="1">
              <a:off x="292" y="3698"/>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26" name="Group 46"/>
          <p:cNvGrpSpPr>
            <a:grpSpLocks/>
          </p:cNvGrpSpPr>
          <p:nvPr/>
        </p:nvGrpSpPr>
        <p:grpSpPr bwMode="auto">
          <a:xfrm>
            <a:off x="203200" y="5957888"/>
            <a:ext cx="504825" cy="466725"/>
            <a:chOff x="295" y="3385"/>
            <a:chExt cx="408" cy="340"/>
          </a:xfrm>
        </p:grpSpPr>
        <p:grpSp>
          <p:nvGrpSpPr>
            <p:cNvPr id="9266" name="Group 47"/>
            <p:cNvGrpSpPr>
              <a:grpSpLocks/>
            </p:cNvGrpSpPr>
            <p:nvPr userDrawn="1"/>
          </p:nvGrpSpPr>
          <p:grpSpPr bwMode="auto">
            <a:xfrm rot="2362656">
              <a:off x="295" y="3385"/>
              <a:ext cx="408" cy="273"/>
              <a:chOff x="1701" y="527"/>
              <a:chExt cx="498" cy="273"/>
            </a:xfrm>
          </p:grpSpPr>
          <p:grpSp>
            <p:nvGrpSpPr>
              <p:cNvPr id="9269" name="Group 48"/>
              <p:cNvGrpSpPr>
                <a:grpSpLocks/>
              </p:cNvGrpSpPr>
              <p:nvPr userDrawn="1"/>
            </p:nvGrpSpPr>
            <p:grpSpPr bwMode="auto">
              <a:xfrm rot="228844">
                <a:off x="1927" y="618"/>
                <a:ext cx="272" cy="90"/>
                <a:chOff x="1927" y="527"/>
                <a:chExt cx="272" cy="90"/>
              </a:xfrm>
            </p:grpSpPr>
            <p:sp>
              <p:nvSpPr>
                <p:cNvPr id="1084" name="Oval 49"/>
                <p:cNvSpPr>
                  <a:spLocks noChangeArrowheads="1"/>
                </p:cNvSpPr>
                <p:nvPr userDrawn="1"/>
              </p:nvSpPr>
              <p:spPr bwMode="auto">
                <a:xfrm rot="187092">
                  <a:off x="1894" y="576"/>
                  <a:ext cx="272" cy="43"/>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5" name="Oval 50"/>
                <p:cNvSpPr>
                  <a:spLocks noChangeArrowheads="1"/>
                </p:cNvSpPr>
                <p:nvPr userDrawn="1"/>
              </p:nvSpPr>
              <p:spPr bwMode="auto">
                <a:xfrm rot="10143706">
                  <a:off x="1897" y="531"/>
                  <a:ext cx="272" cy="42"/>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70" name="Group 51"/>
              <p:cNvGrpSpPr>
                <a:grpSpLocks/>
              </p:cNvGrpSpPr>
              <p:nvPr userDrawn="1"/>
            </p:nvGrpSpPr>
            <p:grpSpPr bwMode="auto">
              <a:xfrm rot="10800000">
                <a:off x="1701" y="618"/>
                <a:ext cx="272" cy="90"/>
                <a:chOff x="1927" y="527"/>
                <a:chExt cx="272" cy="90"/>
              </a:xfrm>
            </p:grpSpPr>
            <p:sp>
              <p:nvSpPr>
                <p:cNvPr id="1082" name="Oval 52"/>
                <p:cNvSpPr>
                  <a:spLocks noChangeArrowheads="1"/>
                </p:cNvSpPr>
                <p:nvPr userDrawn="1"/>
              </p:nvSpPr>
              <p:spPr bwMode="auto">
                <a:xfrm rot="187092">
                  <a:off x="1939" y="572"/>
                  <a:ext cx="272" cy="39"/>
                </a:xfrm>
                <a:prstGeom prst="ellipse">
                  <a:avLst/>
                </a:prstGeom>
                <a:solidFill>
                  <a:srgbClr val="3366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3" name="Oval 53"/>
                <p:cNvSpPr>
                  <a:spLocks noChangeArrowheads="1"/>
                </p:cNvSpPr>
                <p:nvPr userDrawn="1"/>
              </p:nvSpPr>
              <p:spPr bwMode="auto">
                <a:xfrm rot="10143706">
                  <a:off x="1937" y="526"/>
                  <a:ext cx="272" cy="44"/>
                </a:xfrm>
                <a:prstGeom prst="ellipse">
                  <a:avLst/>
                </a:prstGeom>
                <a:solidFill>
                  <a:srgbClr val="00CCFF">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79" name="Oval 54"/>
              <p:cNvSpPr>
                <a:spLocks noChangeArrowheads="1"/>
              </p:cNvSpPr>
              <p:nvPr userDrawn="1"/>
            </p:nvSpPr>
            <p:spPr bwMode="auto">
              <a:xfrm>
                <a:off x="1918" y="619"/>
                <a:ext cx="47" cy="183"/>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0" name="Oval 55"/>
              <p:cNvSpPr>
                <a:spLocks noChangeArrowheads="1"/>
              </p:cNvSpPr>
              <p:nvPr userDrawn="1"/>
            </p:nvSpPr>
            <p:spPr bwMode="auto">
              <a:xfrm>
                <a:off x="1876" y="528"/>
                <a:ext cx="44"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81" name="Oval 56"/>
              <p:cNvSpPr>
                <a:spLocks noChangeArrowheads="1"/>
              </p:cNvSpPr>
              <p:nvPr userDrawn="1"/>
            </p:nvSpPr>
            <p:spPr bwMode="auto">
              <a:xfrm>
                <a:off x="1970" y="528"/>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75" name="Oval 57"/>
            <p:cNvSpPr>
              <a:spLocks noChangeArrowheads="1"/>
            </p:cNvSpPr>
            <p:nvPr userDrawn="1"/>
          </p:nvSpPr>
          <p:spPr bwMode="auto">
            <a:xfrm flipH="1">
              <a:off x="340" y="3657"/>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6" name="Oval 58"/>
            <p:cNvSpPr>
              <a:spLocks noChangeArrowheads="1"/>
            </p:cNvSpPr>
            <p:nvPr userDrawn="1"/>
          </p:nvSpPr>
          <p:spPr bwMode="auto">
            <a:xfrm flipH="1">
              <a:off x="295"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18" name="Group 59"/>
          <p:cNvGrpSpPr>
            <a:grpSpLocks/>
          </p:cNvGrpSpPr>
          <p:nvPr/>
        </p:nvGrpSpPr>
        <p:grpSpPr bwMode="auto">
          <a:xfrm rot="-2197408">
            <a:off x="8196263" y="5815013"/>
            <a:ext cx="511175" cy="322262"/>
            <a:chOff x="295" y="3385"/>
            <a:chExt cx="408" cy="340"/>
          </a:xfrm>
        </p:grpSpPr>
        <p:grpSp>
          <p:nvGrpSpPr>
            <p:cNvPr id="9254" name="Group 60"/>
            <p:cNvGrpSpPr>
              <a:grpSpLocks/>
            </p:cNvGrpSpPr>
            <p:nvPr userDrawn="1"/>
          </p:nvGrpSpPr>
          <p:grpSpPr bwMode="auto">
            <a:xfrm rot="2362656">
              <a:off x="295" y="3385"/>
              <a:ext cx="408" cy="273"/>
              <a:chOff x="1701" y="527"/>
              <a:chExt cx="498" cy="273"/>
            </a:xfrm>
          </p:grpSpPr>
          <p:grpSp>
            <p:nvGrpSpPr>
              <p:cNvPr id="9257" name="Group 61"/>
              <p:cNvGrpSpPr>
                <a:grpSpLocks/>
              </p:cNvGrpSpPr>
              <p:nvPr userDrawn="1"/>
            </p:nvGrpSpPr>
            <p:grpSpPr bwMode="auto">
              <a:xfrm rot="228844">
                <a:off x="1927" y="618"/>
                <a:ext cx="272" cy="90"/>
                <a:chOff x="1927" y="527"/>
                <a:chExt cx="272" cy="90"/>
              </a:xfrm>
            </p:grpSpPr>
            <p:sp>
              <p:nvSpPr>
                <p:cNvPr id="1072" name="Oval 62"/>
                <p:cNvSpPr>
                  <a:spLocks noChangeArrowheads="1"/>
                </p:cNvSpPr>
                <p:nvPr userDrawn="1"/>
              </p:nvSpPr>
              <p:spPr bwMode="auto">
                <a:xfrm rot="187092">
                  <a:off x="1899" y="541"/>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3" name="Oval 63"/>
                <p:cNvSpPr>
                  <a:spLocks noChangeArrowheads="1"/>
                </p:cNvSpPr>
                <p:nvPr userDrawn="1"/>
              </p:nvSpPr>
              <p:spPr bwMode="auto">
                <a:xfrm rot="10143706">
                  <a:off x="1900" y="499"/>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58" name="Group 64"/>
              <p:cNvGrpSpPr>
                <a:grpSpLocks/>
              </p:cNvGrpSpPr>
              <p:nvPr userDrawn="1"/>
            </p:nvGrpSpPr>
            <p:grpSpPr bwMode="auto">
              <a:xfrm rot="10800000">
                <a:off x="1701" y="618"/>
                <a:ext cx="272" cy="90"/>
                <a:chOff x="1927" y="527"/>
                <a:chExt cx="272" cy="90"/>
              </a:xfrm>
            </p:grpSpPr>
            <p:sp>
              <p:nvSpPr>
                <p:cNvPr id="1070" name="Oval 65"/>
                <p:cNvSpPr>
                  <a:spLocks noChangeArrowheads="1"/>
                </p:cNvSpPr>
                <p:nvPr userDrawn="1"/>
              </p:nvSpPr>
              <p:spPr bwMode="auto">
                <a:xfrm rot="187092">
                  <a:off x="1936" y="616"/>
                  <a:ext cx="272" cy="45"/>
                </a:xfrm>
                <a:prstGeom prst="ellipse">
                  <a:avLst/>
                </a:prstGeom>
                <a:solidFill>
                  <a:srgbClr val="FFFF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71" name="Oval 66"/>
                <p:cNvSpPr>
                  <a:spLocks noChangeArrowheads="1"/>
                </p:cNvSpPr>
                <p:nvPr userDrawn="1"/>
              </p:nvSpPr>
              <p:spPr bwMode="auto">
                <a:xfrm rot="10143706">
                  <a:off x="1937" y="574"/>
                  <a:ext cx="272" cy="45"/>
                </a:xfrm>
                <a:prstGeom prst="ellipse">
                  <a:avLst/>
                </a:prstGeom>
                <a:solidFill>
                  <a:srgbClr val="FFCC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67" name="Oval 67"/>
              <p:cNvSpPr>
                <a:spLocks noChangeArrowheads="1"/>
              </p:cNvSpPr>
              <p:nvPr userDrawn="1"/>
            </p:nvSpPr>
            <p:spPr bwMode="auto">
              <a:xfrm>
                <a:off x="1920" y="593"/>
                <a:ext cx="45" cy="183"/>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8" name="Oval 68"/>
              <p:cNvSpPr>
                <a:spLocks noChangeArrowheads="1"/>
              </p:cNvSpPr>
              <p:nvPr userDrawn="1"/>
            </p:nvSpPr>
            <p:spPr bwMode="auto">
              <a:xfrm>
                <a:off x="1869" y="503"/>
                <a:ext cx="46"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9" name="Oval 69"/>
              <p:cNvSpPr>
                <a:spLocks noChangeArrowheads="1"/>
              </p:cNvSpPr>
              <p:nvPr userDrawn="1"/>
            </p:nvSpPr>
            <p:spPr bwMode="auto">
              <a:xfrm>
                <a:off x="1967" y="506"/>
                <a:ext cx="45"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63" name="Oval 70"/>
            <p:cNvSpPr>
              <a:spLocks noChangeArrowheads="1"/>
            </p:cNvSpPr>
            <p:nvPr userDrawn="1"/>
          </p:nvSpPr>
          <p:spPr bwMode="auto">
            <a:xfrm flipH="1">
              <a:off x="340" y="3654"/>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4" name="Oval 71"/>
            <p:cNvSpPr>
              <a:spLocks noChangeArrowheads="1"/>
            </p:cNvSpPr>
            <p:nvPr userDrawn="1"/>
          </p:nvSpPr>
          <p:spPr bwMode="auto">
            <a:xfrm flipH="1">
              <a:off x="295" y="3701"/>
              <a:ext cx="23" cy="22"/>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28" name="Group 72"/>
          <p:cNvGrpSpPr>
            <a:grpSpLocks/>
          </p:cNvGrpSpPr>
          <p:nvPr/>
        </p:nvGrpSpPr>
        <p:grpSpPr bwMode="auto">
          <a:xfrm>
            <a:off x="6180138" y="6391275"/>
            <a:ext cx="576262" cy="466725"/>
            <a:chOff x="295" y="3385"/>
            <a:chExt cx="408" cy="340"/>
          </a:xfrm>
        </p:grpSpPr>
        <p:grpSp>
          <p:nvGrpSpPr>
            <p:cNvPr id="9242" name="Group 73"/>
            <p:cNvGrpSpPr>
              <a:grpSpLocks/>
            </p:cNvGrpSpPr>
            <p:nvPr userDrawn="1"/>
          </p:nvGrpSpPr>
          <p:grpSpPr bwMode="auto">
            <a:xfrm rot="2362656">
              <a:off x="295" y="3385"/>
              <a:ext cx="408" cy="273"/>
              <a:chOff x="1701" y="527"/>
              <a:chExt cx="498" cy="273"/>
            </a:xfrm>
          </p:grpSpPr>
          <p:grpSp>
            <p:nvGrpSpPr>
              <p:cNvPr id="9245" name="Group 74"/>
              <p:cNvGrpSpPr>
                <a:grpSpLocks/>
              </p:cNvGrpSpPr>
              <p:nvPr userDrawn="1"/>
            </p:nvGrpSpPr>
            <p:grpSpPr bwMode="auto">
              <a:xfrm rot="228844">
                <a:off x="1927" y="618"/>
                <a:ext cx="272" cy="90"/>
                <a:chOff x="1927" y="527"/>
                <a:chExt cx="272" cy="90"/>
              </a:xfrm>
            </p:grpSpPr>
            <p:sp>
              <p:nvSpPr>
                <p:cNvPr id="1060" name="Oval 75"/>
                <p:cNvSpPr>
                  <a:spLocks noChangeArrowheads="1"/>
                </p:cNvSpPr>
                <p:nvPr userDrawn="1"/>
              </p:nvSpPr>
              <p:spPr bwMode="auto">
                <a:xfrm rot="187092">
                  <a:off x="1921" y="573"/>
                  <a:ext cx="272" cy="43"/>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61" name="Oval 76"/>
                <p:cNvSpPr>
                  <a:spLocks noChangeArrowheads="1"/>
                </p:cNvSpPr>
                <p:nvPr userDrawn="1"/>
              </p:nvSpPr>
              <p:spPr bwMode="auto">
                <a:xfrm rot="10143706">
                  <a:off x="1911" y="530"/>
                  <a:ext cx="272" cy="43"/>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46" name="Group 77"/>
              <p:cNvGrpSpPr>
                <a:grpSpLocks/>
              </p:cNvGrpSpPr>
              <p:nvPr userDrawn="1"/>
            </p:nvGrpSpPr>
            <p:grpSpPr bwMode="auto">
              <a:xfrm rot="10800000">
                <a:off x="1701" y="618"/>
                <a:ext cx="272" cy="90"/>
                <a:chOff x="1927" y="527"/>
                <a:chExt cx="272" cy="90"/>
              </a:xfrm>
            </p:grpSpPr>
            <p:sp>
              <p:nvSpPr>
                <p:cNvPr id="1058" name="Oval 78"/>
                <p:cNvSpPr>
                  <a:spLocks noChangeArrowheads="1"/>
                </p:cNvSpPr>
                <p:nvPr userDrawn="1"/>
              </p:nvSpPr>
              <p:spPr bwMode="auto">
                <a:xfrm rot="187092">
                  <a:off x="1950" y="573"/>
                  <a:ext cx="272" cy="38"/>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9" name="Oval 79"/>
                <p:cNvSpPr>
                  <a:spLocks noChangeArrowheads="1"/>
                </p:cNvSpPr>
                <p:nvPr userDrawn="1"/>
              </p:nvSpPr>
              <p:spPr bwMode="auto">
                <a:xfrm rot="10143706">
                  <a:off x="1955" y="525"/>
                  <a:ext cx="272" cy="44"/>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55" name="Oval 80"/>
              <p:cNvSpPr>
                <a:spLocks noChangeArrowheads="1"/>
              </p:cNvSpPr>
              <p:nvPr userDrawn="1"/>
            </p:nvSpPr>
            <p:spPr bwMode="auto">
              <a:xfrm>
                <a:off x="1924" y="618"/>
                <a:ext cx="44"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6" name="Oval 81"/>
              <p:cNvSpPr>
                <a:spLocks noChangeArrowheads="1"/>
              </p:cNvSpPr>
              <p:nvPr userDrawn="1"/>
            </p:nvSpPr>
            <p:spPr bwMode="auto">
              <a:xfrm>
                <a:off x="1879" y="527"/>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7" name="Oval 82"/>
              <p:cNvSpPr>
                <a:spLocks noChangeArrowheads="1"/>
              </p:cNvSpPr>
              <p:nvPr userDrawn="1"/>
            </p:nvSpPr>
            <p:spPr bwMode="auto">
              <a:xfrm>
                <a:off x="1962" y="523"/>
                <a:ext cx="45"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51" name="Oval 83"/>
            <p:cNvSpPr>
              <a:spLocks noChangeArrowheads="1"/>
            </p:cNvSpPr>
            <p:nvPr userDrawn="1"/>
          </p:nvSpPr>
          <p:spPr bwMode="auto">
            <a:xfrm flipH="1">
              <a:off x="340" y="3657"/>
              <a:ext cx="24"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52" name="Oval 84"/>
            <p:cNvSpPr>
              <a:spLocks noChangeArrowheads="1"/>
            </p:cNvSpPr>
            <p:nvPr userDrawn="1"/>
          </p:nvSpPr>
          <p:spPr bwMode="auto">
            <a:xfrm flipH="1">
              <a:off x="295" y="3702"/>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26" name="Group 85"/>
          <p:cNvGrpSpPr>
            <a:grpSpLocks/>
          </p:cNvGrpSpPr>
          <p:nvPr/>
        </p:nvGrpSpPr>
        <p:grpSpPr bwMode="auto">
          <a:xfrm rot="-4249260">
            <a:off x="8459788" y="1341438"/>
            <a:ext cx="503237" cy="503237"/>
            <a:chOff x="295" y="3385"/>
            <a:chExt cx="408" cy="340"/>
          </a:xfrm>
        </p:grpSpPr>
        <p:grpSp>
          <p:nvGrpSpPr>
            <p:cNvPr id="9230" name="Group 86"/>
            <p:cNvGrpSpPr>
              <a:grpSpLocks/>
            </p:cNvGrpSpPr>
            <p:nvPr userDrawn="1"/>
          </p:nvGrpSpPr>
          <p:grpSpPr bwMode="auto">
            <a:xfrm rot="2362656">
              <a:off x="295" y="3385"/>
              <a:ext cx="408" cy="273"/>
              <a:chOff x="1701" y="527"/>
              <a:chExt cx="498" cy="273"/>
            </a:xfrm>
          </p:grpSpPr>
          <p:grpSp>
            <p:nvGrpSpPr>
              <p:cNvPr id="9233" name="Group 87"/>
              <p:cNvGrpSpPr>
                <a:grpSpLocks/>
              </p:cNvGrpSpPr>
              <p:nvPr userDrawn="1"/>
            </p:nvGrpSpPr>
            <p:grpSpPr bwMode="auto">
              <a:xfrm rot="228844">
                <a:off x="1927" y="618"/>
                <a:ext cx="272" cy="90"/>
                <a:chOff x="1927" y="527"/>
                <a:chExt cx="272" cy="90"/>
              </a:xfrm>
            </p:grpSpPr>
            <p:sp>
              <p:nvSpPr>
                <p:cNvPr id="1048" name="Oval 88"/>
                <p:cNvSpPr>
                  <a:spLocks noChangeArrowheads="1"/>
                </p:cNvSpPr>
                <p:nvPr userDrawn="1"/>
              </p:nvSpPr>
              <p:spPr bwMode="auto">
                <a:xfrm rot="187092">
                  <a:off x="1914" y="547"/>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9" name="Oval 89"/>
                <p:cNvSpPr>
                  <a:spLocks noChangeArrowheads="1"/>
                </p:cNvSpPr>
                <p:nvPr userDrawn="1"/>
              </p:nvSpPr>
              <p:spPr bwMode="auto">
                <a:xfrm rot="10143706">
                  <a:off x="1917" y="502"/>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grpSp>
            <p:nvGrpSpPr>
              <p:cNvPr id="9234" name="Group 90"/>
              <p:cNvGrpSpPr>
                <a:grpSpLocks/>
              </p:cNvGrpSpPr>
              <p:nvPr userDrawn="1"/>
            </p:nvGrpSpPr>
            <p:grpSpPr bwMode="auto">
              <a:xfrm rot="10800000">
                <a:off x="1701" y="618"/>
                <a:ext cx="272" cy="90"/>
                <a:chOff x="1927" y="527"/>
                <a:chExt cx="272" cy="90"/>
              </a:xfrm>
            </p:grpSpPr>
            <p:sp>
              <p:nvSpPr>
                <p:cNvPr id="1046" name="Oval 91"/>
                <p:cNvSpPr>
                  <a:spLocks noChangeArrowheads="1"/>
                </p:cNvSpPr>
                <p:nvPr userDrawn="1"/>
              </p:nvSpPr>
              <p:spPr bwMode="auto">
                <a:xfrm rot="187092">
                  <a:off x="1932" y="595"/>
                  <a:ext cx="272" cy="45"/>
                </a:xfrm>
                <a:prstGeom prst="ellipse">
                  <a:avLst/>
                </a:prstGeom>
                <a:solidFill>
                  <a:srgbClr val="FF9933">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7" name="Oval 92"/>
                <p:cNvSpPr>
                  <a:spLocks noChangeArrowheads="1"/>
                </p:cNvSpPr>
                <p:nvPr userDrawn="1"/>
              </p:nvSpPr>
              <p:spPr bwMode="auto">
                <a:xfrm rot="10143706">
                  <a:off x="1933" y="549"/>
                  <a:ext cx="272" cy="45"/>
                </a:xfrm>
                <a:prstGeom prst="ellipse">
                  <a:avLst/>
                </a:prstGeom>
                <a:solidFill>
                  <a:srgbClr val="FF6600">
                    <a:alpha val="79999"/>
                  </a:srgbClr>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43" name="Oval 93"/>
              <p:cNvSpPr>
                <a:spLocks noChangeArrowheads="1"/>
              </p:cNvSpPr>
              <p:nvPr userDrawn="1"/>
            </p:nvSpPr>
            <p:spPr bwMode="auto">
              <a:xfrm>
                <a:off x="1921" y="604"/>
                <a:ext cx="47" cy="182"/>
              </a:xfrm>
              <a:prstGeom prst="ellipse">
                <a:avLst/>
              </a:prstGeom>
              <a:solidFill>
                <a:srgbClr val="993300"/>
              </a:solidFill>
              <a:ln>
                <a:noFill/>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4" name="Oval 94"/>
              <p:cNvSpPr>
                <a:spLocks noChangeArrowheads="1"/>
              </p:cNvSpPr>
              <p:nvPr userDrawn="1"/>
            </p:nvSpPr>
            <p:spPr bwMode="auto">
              <a:xfrm>
                <a:off x="1881" y="510"/>
                <a:ext cx="46" cy="46"/>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5" name="Oval 95"/>
              <p:cNvSpPr>
                <a:spLocks noChangeArrowheads="1"/>
              </p:cNvSpPr>
              <p:nvPr userDrawn="1"/>
            </p:nvSpPr>
            <p:spPr bwMode="auto">
              <a:xfrm>
                <a:off x="1972" y="510"/>
                <a:ext cx="46" cy="45"/>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
          <p:nvSpPr>
            <p:cNvPr id="1039" name="Oval 96"/>
            <p:cNvSpPr>
              <a:spLocks noChangeArrowheads="1"/>
            </p:cNvSpPr>
            <p:nvPr userDrawn="1"/>
          </p:nvSpPr>
          <p:spPr bwMode="auto">
            <a:xfrm flipH="1">
              <a:off x="334" y="3658"/>
              <a:ext cx="22"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sp>
          <p:nvSpPr>
            <p:cNvPr id="1040" name="Oval 97"/>
            <p:cNvSpPr>
              <a:spLocks noChangeArrowheads="1"/>
            </p:cNvSpPr>
            <p:nvPr userDrawn="1"/>
          </p:nvSpPr>
          <p:spPr bwMode="auto">
            <a:xfrm flipH="1">
              <a:off x="287" y="3702"/>
              <a:ext cx="23" cy="23"/>
            </a:xfrm>
            <a:prstGeom prst="ellipse">
              <a:avLst/>
            </a:prstGeom>
            <a:solidFill>
              <a:schemeClr val="tx1"/>
            </a:solidFill>
            <a:ln w="9525">
              <a:solidFill>
                <a:schemeClr val="tx1"/>
              </a:solidFill>
              <a:round/>
              <a:headEnd/>
              <a:tailEnd/>
            </a:ln>
            <a:effectLs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charset="0"/>
                  <a:ea typeface="新細明體" pitchFamily="18"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dirty="0" smtClean="0">
                <a:ln>
                  <a:noFill/>
                </a:ln>
                <a:solidFill>
                  <a:srgbClr val="000000"/>
                </a:solidFill>
                <a:effectLst/>
                <a:uLnTx/>
                <a:uFillTx/>
                <a:latin typeface="Arial" charset="0"/>
                <a:ea typeface="標楷體" panose="03000509000000000000" pitchFamily="65" charset="-120"/>
                <a:cs typeface="+mn-cs"/>
              </a:endParaRPr>
            </a:p>
          </p:txBody>
        </p:sp>
      </p:grpSp>
    </p:spTree>
    <p:extLst>
      <p:ext uri="{BB962C8B-B14F-4D97-AF65-F5344CB8AC3E}">
        <p14:creationId xmlns:p14="http://schemas.microsoft.com/office/powerpoint/2010/main" val="3084322034"/>
      </p:ext>
    </p:extLst>
  </p:cSld>
  <p:clrMap bg1="lt1" tx1="dk1" bg2="lt2" tx2="dk2" accent1="accent1" accent2="accent2" accent3="accent3" accent4="accent4" accent5="accent5" accent6="accent6" hlink="hlink" folHlink="folHlink"/>
  <p:sldLayoutIdLst>
    <p:sldLayoutId id="2147484466" r:id="rId1"/>
    <p:sldLayoutId id="2147484467" r:id="rId2"/>
    <p:sldLayoutId id="2147484468" r:id="rId3"/>
    <p:sldLayoutId id="2147484469" r:id="rId4"/>
    <p:sldLayoutId id="2147484470" r:id="rId5"/>
    <p:sldLayoutId id="2147484471" r:id="rId6"/>
    <p:sldLayoutId id="2147484472" r:id="rId7"/>
    <p:sldLayoutId id="2147484473" r:id="rId8"/>
    <p:sldLayoutId id="2147484474" r:id="rId9"/>
    <p:sldLayoutId id="2147484475" r:id="rId10"/>
    <p:sldLayoutId id="2147484476" r:id="rId11"/>
  </p:sldLayoutIdLst>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6" presetClass="emph" presetSubtype="0" repeatCount="indefinite" fill="hold" nodeType="withEffect">
                                  <p:stCondLst>
                                    <p:cond delay="0"/>
                                  </p:stCondLst>
                                  <p:childTnLst>
                                    <p:animEffect transition="out" filter="fade">
                                      <p:cBhvr>
                                        <p:cTn id="6" dur="1000" tmFilter="0, 0; .2, .5; .8, .5; 1, 0"/>
                                        <p:tgtEl>
                                          <p:spTgt spid="6"/>
                                        </p:tgtEl>
                                      </p:cBhvr>
                                    </p:animEffect>
                                    <p:animScale>
                                      <p:cBhvr>
                                        <p:cTn id="7" dur="500" autoRev="1" fill="hold"/>
                                        <p:tgtEl>
                                          <p:spTgt spid="6"/>
                                        </p:tgtEl>
                                      </p:cBhvr>
                                      <p:by x="105000" y="105000"/>
                                    </p:animScale>
                                  </p:childTnLst>
                                </p:cTn>
                              </p:par>
                              <p:par>
                                <p:cTn id="8" presetID="26" presetClass="emph" presetSubtype="0" repeatCount="indefinite" fill="hold" nodeType="withEffect">
                                  <p:stCondLst>
                                    <p:cond delay="0"/>
                                  </p:stCondLst>
                                  <p:childTnLst>
                                    <p:animEffect transition="out" filter="fade">
                                      <p:cBhvr>
                                        <p:cTn id="9" dur="3000" tmFilter="0, 0; .2, .5; .8, .5; 1, 0"/>
                                        <p:tgtEl>
                                          <p:spTgt spid="18"/>
                                        </p:tgtEl>
                                      </p:cBhvr>
                                    </p:animEffect>
                                    <p:animScale>
                                      <p:cBhvr>
                                        <p:cTn id="10" dur="1500" autoRev="1" fill="hold"/>
                                        <p:tgtEl>
                                          <p:spTgt spid="18"/>
                                        </p:tgtEl>
                                      </p:cBhvr>
                                      <p:by x="105000" y="105000"/>
                                    </p:animScale>
                                  </p:childTnLst>
                                </p:cTn>
                              </p:par>
                              <p:par>
                                <p:cTn id="11" presetID="26" presetClass="emph" presetSubtype="0" repeatCount="indefinite" fill="hold" nodeType="withEffect">
                                  <p:stCondLst>
                                    <p:cond delay="0"/>
                                  </p:stCondLst>
                                  <p:childTnLst>
                                    <p:animEffect transition="out" filter="fade">
                                      <p:cBhvr>
                                        <p:cTn id="12" dur="3000" tmFilter="0, 0; .2, .5; .8, .5; 1, 0"/>
                                        <p:tgtEl>
                                          <p:spTgt spid="26"/>
                                        </p:tgtEl>
                                      </p:cBhvr>
                                    </p:animEffect>
                                    <p:animScale>
                                      <p:cBhvr>
                                        <p:cTn id="13" dur="1500" autoRev="1" fill="hold"/>
                                        <p:tgtEl>
                                          <p:spTgt spid="2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xStyles>
    <p:titleStyle>
      <a:lvl1pPr algn="ctr" rtl="0" eaLnBrk="0" fontAlgn="base" hangingPunct="0">
        <a:spcBef>
          <a:spcPct val="0"/>
        </a:spcBef>
        <a:spcAft>
          <a:spcPct val="0"/>
        </a:spcAft>
        <a:defRPr kumimoji="1" sz="4400">
          <a:solidFill>
            <a:schemeClr val="tx2"/>
          </a:solidFill>
          <a:latin typeface="+mj-lt"/>
          <a:ea typeface="標楷體" panose="03000509000000000000" pitchFamily="65" charset="-120"/>
          <a:cs typeface="+mj-cs"/>
        </a:defRPr>
      </a:lvl1pPr>
      <a:lvl2pPr algn="ctr" rtl="0" eaLnBrk="0" fontAlgn="base" hangingPunct="0">
        <a:spcBef>
          <a:spcPct val="0"/>
        </a:spcBef>
        <a:spcAft>
          <a:spcPct val="0"/>
        </a:spcAft>
        <a:defRPr kumimoji="1" sz="4400">
          <a:solidFill>
            <a:schemeClr val="tx2"/>
          </a:solidFill>
          <a:latin typeface="Arial" charset="0"/>
          <a:ea typeface="標楷體" pitchFamily="65" charset="-120"/>
        </a:defRPr>
      </a:lvl2pPr>
      <a:lvl3pPr algn="ctr" rtl="0" eaLnBrk="0" fontAlgn="base" hangingPunct="0">
        <a:spcBef>
          <a:spcPct val="0"/>
        </a:spcBef>
        <a:spcAft>
          <a:spcPct val="0"/>
        </a:spcAft>
        <a:defRPr kumimoji="1" sz="4400">
          <a:solidFill>
            <a:schemeClr val="tx2"/>
          </a:solidFill>
          <a:latin typeface="Arial" charset="0"/>
          <a:ea typeface="標楷體" pitchFamily="65" charset="-120"/>
        </a:defRPr>
      </a:lvl3pPr>
      <a:lvl4pPr algn="ctr" rtl="0" eaLnBrk="0" fontAlgn="base" hangingPunct="0">
        <a:spcBef>
          <a:spcPct val="0"/>
        </a:spcBef>
        <a:spcAft>
          <a:spcPct val="0"/>
        </a:spcAft>
        <a:defRPr kumimoji="1" sz="4400">
          <a:solidFill>
            <a:schemeClr val="tx2"/>
          </a:solidFill>
          <a:latin typeface="Arial" charset="0"/>
          <a:ea typeface="標楷體" pitchFamily="65" charset="-120"/>
        </a:defRPr>
      </a:lvl4pPr>
      <a:lvl5pPr algn="ctr" rtl="0" eaLnBrk="0" fontAlgn="base" hangingPunct="0">
        <a:spcBef>
          <a:spcPct val="0"/>
        </a:spcBef>
        <a:spcAft>
          <a:spcPct val="0"/>
        </a:spcAft>
        <a:defRPr kumimoji="1" sz="4400">
          <a:solidFill>
            <a:schemeClr val="tx2"/>
          </a:solidFill>
          <a:latin typeface="Arial" charset="0"/>
          <a:ea typeface="標楷體" pitchFamily="65" charset="-120"/>
        </a:defRPr>
      </a:lvl5pPr>
      <a:lvl6pPr marL="457200" algn="ctr" rtl="0" fontAlgn="base">
        <a:spcBef>
          <a:spcPct val="0"/>
        </a:spcBef>
        <a:spcAft>
          <a:spcPct val="0"/>
        </a:spcAft>
        <a:defRPr kumimoji="1" sz="4400">
          <a:solidFill>
            <a:schemeClr val="tx2"/>
          </a:solidFill>
          <a:latin typeface="Arial" charset="0"/>
          <a:ea typeface="新細明體" pitchFamily="18" charset="-120"/>
        </a:defRPr>
      </a:lvl6pPr>
      <a:lvl7pPr marL="914400" algn="ctr" rtl="0" fontAlgn="base">
        <a:spcBef>
          <a:spcPct val="0"/>
        </a:spcBef>
        <a:spcAft>
          <a:spcPct val="0"/>
        </a:spcAft>
        <a:defRPr kumimoji="1" sz="4400">
          <a:solidFill>
            <a:schemeClr val="tx2"/>
          </a:solidFill>
          <a:latin typeface="Arial" charset="0"/>
          <a:ea typeface="新細明體" pitchFamily="18" charset="-120"/>
        </a:defRPr>
      </a:lvl7pPr>
      <a:lvl8pPr marL="1371600" algn="ctr" rtl="0" fontAlgn="base">
        <a:spcBef>
          <a:spcPct val="0"/>
        </a:spcBef>
        <a:spcAft>
          <a:spcPct val="0"/>
        </a:spcAft>
        <a:defRPr kumimoji="1" sz="4400">
          <a:solidFill>
            <a:schemeClr val="tx2"/>
          </a:solidFill>
          <a:latin typeface="Arial" charset="0"/>
          <a:ea typeface="新細明體" pitchFamily="18" charset="-120"/>
        </a:defRPr>
      </a:lvl8pPr>
      <a:lvl9pPr marL="1828800" algn="ctr" rtl="0" fontAlgn="base">
        <a:spcBef>
          <a:spcPct val="0"/>
        </a:spcBef>
        <a:spcAft>
          <a:spcPct val="0"/>
        </a:spcAft>
        <a:defRPr kumimoji="1" sz="4400">
          <a:solidFill>
            <a:schemeClr val="tx2"/>
          </a:solidFill>
          <a:latin typeface="Arial" charset="0"/>
          <a:ea typeface="新細明體" pitchFamily="18" charset="-120"/>
        </a:defRPr>
      </a:lvl9pPr>
    </p:titleStyle>
    <p:bodyStyle>
      <a:lvl1pPr marL="342900" indent="-342900" algn="l" rtl="0" eaLnBrk="0" fontAlgn="base" hangingPunct="0">
        <a:spcBef>
          <a:spcPct val="20000"/>
        </a:spcBef>
        <a:spcAft>
          <a:spcPct val="0"/>
        </a:spcAft>
        <a:buChar char="•"/>
        <a:defRPr kumimoji="1" sz="3200">
          <a:solidFill>
            <a:schemeClr val="tx1"/>
          </a:solidFill>
          <a:latin typeface="+mn-lt"/>
          <a:ea typeface="標楷體" panose="03000509000000000000" pitchFamily="65" charset="-120"/>
          <a:cs typeface="+mn-cs"/>
        </a:defRPr>
      </a:lvl1pPr>
      <a:lvl2pPr marL="742950" indent="-285750" algn="l" rtl="0" eaLnBrk="0" fontAlgn="base" hangingPunct="0">
        <a:spcBef>
          <a:spcPct val="20000"/>
        </a:spcBef>
        <a:spcAft>
          <a:spcPct val="0"/>
        </a:spcAft>
        <a:buChar char="–"/>
        <a:defRPr kumimoji="1" sz="2800">
          <a:solidFill>
            <a:srgbClr val="FF0066"/>
          </a:solidFill>
          <a:latin typeface="+mn-lt"/>
          <a:ea typeface="標楷體" panose="03000509000000000000" pitchFamily="65" charset="-120"/>
        </a:defRPr>
      </a:lvl2pPr>
      <a:lvl3pPr marL="1143000" indent="-228600" algn="l" rtl="0" eaLnBrk="0" fontAlgn="base" hangingPunct="0">
        <a:spcBef>
          <a:spcPct val="20000"/>
        </a:spcBef>
        <a:spcAft>
          <a:spcPct val="0"/>
        </a:spcAft>
        <a:buChar char="•"/>
        <a:defRPr kumimoji="1" sz="2400">
          <a:solidFill>
            <a:schemeClr val="tx1"/>
          </a:solidFill>
          <a:latin typeface="+mn-lt"/>
          <a:ea typeface="標楷體" panose="03000509000000000000" pitchFamily="65" charset="-120"/>
        </a:defRPr>
      </a:lvl3pPr>
      <a:lvl4pPr marL="1600200" indent="-228600" algn="l" rtl="0" eaLnBrk="0" fontAlgn="base" hangingPunct="0">
        <a:spcBef>
          <a:spcPct val="20000"/>
        </a:spcBef>
        <a:spcAft>
          <a:spcPct val="0"/>
        </a:spcAft>
        <a:buChar char="–"/>
        <a:defRPr kumimoji="1" sz="2000">
          <a:solidFill>
            <a:srgbClr val="FF0066"/>
          </a:solidFill>
          <a:latin typeface="+mn-lt"/>
          <a:ea typeface="標楷體" panose="03000509000000000000" pitchFamily="65" charset="-120"/>
        </a:defRPr>
      </a:lvl4pPr>
      <a:lvl5pPr marL="2057400" indent="-228600" algn="l" rtl="0" eaLnBrk="0" fontAlgn="base" hangingPunct="0">
        <a:spcBef>
          <a:spcPct val="20000"/>
        </a:spcBef>
        <a:spcAft>
          <a:spcPct val="0"/>
        </a:spcAft>
        <a:buChar char="»"/>
        <a:defRPr kumimoji="1" sz="2000">
          <a:solidFill>
            <a:schemeClr val="tx1"/>
          </a:solidFill>
          <a:latin typeface="+mn-lt"/>
          <a:ea typeface="標楷體" panose="03000509000000000000" pitchFamily="65" charset="-120"/>
        </a:defRPr>
      </a:lvl5pPr>
      <a:lvl6pPr marL="2514600" indent="-228600" algn="l" rtl="0" fontAlgn="base">
        <a:spcBef>
          <a:spcPct val="20000"/>
        </a:spcBef>
        <a:spcAft>
          <a:spcPct val="0"/>
        </a:spcAft>
        <a:buChar char="»"/>
        <a:defRPr kumimoji="1" sz="2000">
          <a:solidFill>
            <a:schemeClr val="tx1"/>
          </a:solidFill>
          <a:latin typeface="+mn-lt"/>
          <a:ea typeface="+mn-ea"/>
        </a:defRPr>
      </a:lvl6pPr>
      <a:lvl7pPr marL="2971800" indent="-228600" algn="l" rtl="0" fontAlgn="base">
        <a:spcBef>
          <a:spcPct val="20000"/>
        </a:spcBef>
        <a:spcAft>
          <a:spcPct val="0"/>
        </a:spcAft>
        <a:buChar char="»"/>
        <a:defRPr kumimoji="1" sz="2000">
          <a:solidFill>
            <a:schemeClr val="tx1"/>
          </a:solidFill>
          <a:latin typeface="+mn-lt"/>
          <a:ea typeface="+mn-ea"/>
        </a:defRPr>
      </a:lvl7pPr>
      <a:lvl8pPr marL="3429000" indent="-228600" algn="l" rtl="0" fontAlgn="base">
        <a:spcBef>
          <a:spcPct val="20000"/>
        </a:spcBef>
        <a:spcAft>
          <a:spcPct val="0"/>
        </a:spcAft>
        <a:buChar char="»"/>
        <a:defRPr kumimoji="1" sz="2000">
          <a:solidFill>
            <a:schemeClr val="tx1"/>
          </a:solidFill>
          <a:latin typeface="+mn-lt"/>
          <a:ea typeface="+mn-ea"/>
        </a:defRPr>
      </a:lvl8pPr>
      <a:lvl9pPr marL="3886200" indent="-228600" algn="l" rtl="0" fontAlgn="base">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152910617"/>
      </p:ext>
    </p:extLst>
  </p:cSld>
  <p:clrMap bg1="lt1" tx1="dk1" bg2="lt2" tx2="dk2" accent1="accent1" accent2="accent2" accent3="accent3" accent4="accent4" accent5="accent5" accent6="accent6" hlink="hlink" folHlink="folHlink"/>
  <p:sldLayoutIdLst>
    <p:sldLayoutId id="2147484478" r:id="rId1"/>
    <p:sldLayoutId id="2147484479" r:id="rId2"/>
    <p:sldLayoutId id="2147484480" r:id="rId3"/>
    <p:sldLayoutId id="2147484481" r:id="rId4"/>
    <p:sldLayoutId id="2147484482" r:id="rId5"/>
    <p:sldLayoutId id="2147484483" r:id="rId6"/>
    <p:sldLayoutId id="2147484484" r:id="rId7"/>
    <p:sldLayoutId id="2147484485" r:id="rId8"/>
    <p:sldLayoutId id="2147484486" r:id="rId9"/>
    <p:sldLayoutId id="2147484487" r:id="rId10"/>
    <p:sldLayoutId id="2147484488"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7CBBF8A1-2453-4FFC-96A1-C454FB86F241}" type="datetimeFigureOut">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2025/12/1</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5" name="頁尾版面配置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
        <p:nvSpPr>
          <p:cNvPr id="6" name="投影片編號版面配置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4DF04A-BC54-4B2F-85D5-DBEB3778BDFB}" type="slidenum">
              <a:rPr kumimoji="0" lang="zh-TW" altLang="en-US" sz="1200" b="0" i="0" u="none" strike="noStrike" kern="1200" cap="none" spc="0" normalizeH="0" baseline="0" noProof="0" smtClean="0">
                <a:ln>
                  <a:noFill/>
                </a:ln>
                <a:solidFill>
                  <a:prstClr val="black">
                    <a:tint val="75000"/>
                  </a:prstClr>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TW" altLang="en-US" sz="1200" b="0" i="0" u="none" strike="noStrike" kern="1200" cap="none" spc="0" normalizeH="0" baseline="0" noProof="0">
              <a:ln>
                <a:noFill/>
              </a:ln>
              <a:solidFill>
                <a:prstClr val="black">
                  <a:tint val="75000"/>
                </a:prstClr>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61434615"/>
      </p:ext>
    </p:extLst>
  </p:cSld>
  <p:clrMap bg1="lt1" tx1="dk1" bg2="lt2" tx2="dk2" accent1="accent1" accent2="accent2" accent3="accent3" accent4="accent4" accent5="accent5" accent6="accent6" hlink="hlink" folHlink="folHlink"/>
  <p:sldLayoutIdLst>
    <p:sldLayoutId id="2147484490" r:id="rId1"/>
    <p:sldLayoutId id="2147484491" r:id="rId2"/>
    <p:sldLayoutId id="2147484492" r:id="rId3"/>
    <p:sldLayoutId id="2147484493" r:id="rId4"/>
    <p:sldLayoutId id="2147484494" r:id="rId5"/>
    <p:sldLayoutId id="2147484495" r:id="rId6"/>
    <p:sldLayoutId id="2147484496" r:id="rId7"/>
    <p:sldLayoutId id="2147484497" r:id="rId8"/>
    <p:sldLayoutId id="2147484498" r:id="rId9"/>
    <p:sldLayoutId id="2147484499" r:id="rId10"/>
    <p:sldLayoutId id="2147484500"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hyperlink" Target="http://upload.wikimedia.org/wikipedia/commons/8/82/CharlesBabbage.jpg"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upload.wikimedia.org/wikipedia/commons/b/b3/Scherbius-1928-patent.png"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zhuanlan.zhihu.com/p/20336621" TargetMode="External"/><Relationship Id="rId2" Type="http://schemas.openxmlformats.org/officeDocument/2006/relationships/hyperlink" Target="https://reurl.cc/K35Yr9"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reurl.cc/KrWrVq" TargetMode="External"/><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reurl.cc/L7rkax"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hyperlink" Target="https://reurl.cc/82AbqX"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reurl.cc/82AbqX"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Layout" Target="../slideLayouts/slideLayout6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8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image" Target="../media/image28.wmf"/><Relationship Id="rId1" Type="http://schemas.openxmlformats.org/officeDocument/2006/relationships/slideLayout" Target="../slideLayouts/slideLayout36.xml"/><Relationship Id="rId4"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4.emf"/><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image" Target="../media/image35.wmf"/><Relationship Id="rId1" Type="http://schemas.openxmlformats.org/officeDocument/2006/relationships/slideLayout" Target="../slideLayouts/slideLayout4.xml"/><Relationship Id="rId4" Type="http://schemas.openxmlformats.org/officeDocument/2006/relationships/image" Target="../media/image37.wmf"/></Relationships>
</file>

<file path=ppt/slides/_rels/slide75.x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Line 2"/>
          <p:cNvSpPr>
            <a:spLocks noChangeShapeType="1"/>
          </p:cNvSpPr>
          <p:nvPr/>
        </p:nvSpPr>
        <p:spPr bwMode="auto">
          <a:xfrm flipV="1">
            <a:off x="2368550" y="1292225"/>
            <a:ext cx="601663" cy="1146175"/>
          </a:xfrm>
          <a:prstGeom prst="line">
            <a:avLst/>
          </a:prstGeom>
          <a:noFill/>
          <a:ln w="12700" cap="rnd">
            <a:solidFill>
              <a:srgbClr val="003366"/>
            </a:solidFill>
            <a:prstDash val="sysDot"/>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TW" altLang="en-US" sz="1800" b="0" i="0" u="none" strike="noStrike" kern="1200" cap="none" spc="0" normalizeH="0" baseline="0" noProof="0" smtClean="0">
              <a:ln>
                <a:noFill/>
              </a:ln>
              <a:solidFill>
                <a:srgbClr val="080808"/>
              </a:solidFill>
              <a:effectLst/>
              <a:uLnTx/>
              <a:uFillTx/>
              <a:latin typeface="Arial" panose="020B0604020202020204" pitchFamily="34" charset="0"/>
              <a:ea typeface="+mn-ea"/>
              <a:cs typeface="+mn-cs"/>
            </a:endParaRPr>
          </a:p>
        </p:txBody>
      </p:sp>
      <p:sp>
        <p:nvSpPr>
          <p:cNvPr id="7171" name="Line 4"/>
          <p:cNvSpPr>
            <a:spLocks noChangeShapeType="1"/>
          </p:cNvSpPr>
          <p:nvPr/>
        </p:nvSpPr>
        <p:spPr bwMode="auto">
          <a:xfrm>
            <a:off x="2978150" y="1292225"/>
            <a:ext cx="609600" cy="0"/>
          </a:xfrm>
          <a:prstGeom prst="line">
            <a:avLst/>
          </a:prstGeom>
          <a:noFill/>
          <a:ln w="12700" cap="rnd">
            <a:solidFill>
              <a:srgbClr val="003366"/>
            </a:solidFill>
            <a:prstDash val="sysDot"/>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TW" altLang="en-US" sz="1800" b="0" i="0" u="none" strike="noStrike" kern="1200" cap="none" spc="0" normalizeH="0" baseline="0" noProof="0" smtClean="0">
              <a:ln>
                <a:noFill/>
              </a:ln>
              <a:solidFill>
                <a:srgbClr val="080808"/>
              </a:solidFill>
              <a:effectLst/>
              <a:uLnTx/>
              <a:uFillTx/>
              <a:latin typeface="Arial" panose="020B0604020202020204" pitchFamily="34" charset="0"/>
              <a:ea typeface="+mn-ea"/>
              <a:cs typeface="+mn-cs"/>
            </a:endParaRPr>
          </a:p>
        </p:txBody>
      </p:sp>
      <p:sp>
        <p:nvSpPr>
          <p:cNvPr id="7172" name="Line 6"/>
          <p:cNvSpPr>
            <a:spLocks noChangeShapeType="1"/>
          </p:cNvSpPr>
          <p:nvPr/>
        </p:nvSpPr>
        <p:spPr bwMode="auto">
          <a:xfrm flipV="1">
            <a:off x="2633663" y="2039938"/>
            <a:ext cx="715962" cy="501650"/>
          </a:xfrm>
          <a:prstGeom prst="line">
            <a:avLst/>
          </a:prstGeom>
          <a:noFill/>
          <a:ln w="12700" cap="rnd">
            <a:solidFill>
              <a:srgbClr val="003366"/>
            </a:solidFill>
            <a:prstDash val="sysDot"/>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TW" altLang="en-US" sz="1800" b="0" i="0" u="none" strike="noStrike" kern="1200" cap="none" spc="0" normalizeH="0" baseline="0" noProof="0" smtClean="0">
              <a:ln>
                <a:noFill/>
              </a:ln>
              <a:solidFill>
                <a:srgbClr val="080808"/>
              </a:solidFill>
              <a:effectLst/>
              <a:uLnTx/>
              <a:uFillTx/>
              <a:latin typeface="Arial" panose="020B0604020202020204" pitchFamily="34" charset="0"/>
              <a:ea typeface="+mn-ea"/>
              <a:cs typeface="+mn-cs"/>
            </a:endParaRPr>
          </a:p>
        </p:txBody>
      </p:sp>
      <p:sp>
        <p:nvSpPr>
          <p:cNvPr id="7173" name="Line 7"/>
          <p:cNvSpPr>
            <a:spLocks noChangeShapeType="1"/>
          </p:cNvSpPr>
          <p:nvPr/>
        </p:nvSpPr>
        <p:spPr bwMode="auto">
          <a:xfrm>
            <a:off x="2800350" y="3810000"/>
            <a:ext cx="609600" cy="0"/>
          </a:xfrm>
          <a:prstGeom prst="line">
            <a:avLst/>
          </a:prstGeom>
          <a:noFill/>
          <a:ln w="12700" cap="rnd">
            <a:solidFill>
              <a:srgbClr val="003366"/>
            </a:solidFill>
            <a:prstDash val="sysDot"/>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TW" altLang="en-US" sz="1800" b="0" i="0" u="none" strike="noStrike" kern="1200" cap="none" spc="0" normalizeH="0" baseline="0" noProof="0" smtClean="0">
              <a:ln>
                <a:noFill/>
              </a:ln>
              <a:solidFill>
                <a:srgbClr val="080808"/>
              </a:solidFill>
              <a:effectLst/>
              <a:uLnTx/>
              <a:uFillTx/>
              <a:latin typeface="Arial" panose="020B0604020202020204" pitchFamily="34" charset="0"/>
              <a:ea typeface="+mn-ea"/>
              <a:cs typeface="+mn-cs"/>
            </a:endParaRPr>
          </a:p>
        </p:txBody>
      </p:sp>
      <p:sp>
        <p:nvSpPr>
          <p:cNvPr id="7174" name="Line 8"/>
          <p:cNvSpPr>
            <a:spLocks noChangeShapeType="1"/>
          </p:cNvSpPr>
          <p:nvPr/>
        </p:nvSpPr>
        <p:spPr bwMode="auto">
          <a:xfrm>
            <a:off x="2673350" y="4267200"/>
            <a:ext cx="723900" cy="336550"/>
          </a:xfrm>
          <a:prstGeom prst="line">
            <a:avLst/>
          </a:prstGeom>
          <a:noFill/>
          <a:ln w="12700" cap="rnd">
            <a:solidFill>
              <a:srgbClr val="003366"/>
            </a:solidFill>
            <a:prstDash val="sysDot"/>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TW" altLang="en-US" sz="1800" b="0" i="0" u="none" strike="noStrike" kern="1200" cap="none" spc="0" normalizeH="0" baseline="0" noProof="0" smtClean="0">
              <a:ln>
                <a:noFill/>
              </a:ln>
              <a:solidFill>
                <a:srgbClr val="080808"/>
              </a:solidFill>
              <a:effectLst/>
              <a:uLnTx/>
              <a:uFillTx/>
              <a:latin typeface="Arial" panose="020B0604020202020204" pitchFamily="34" charset="0"/>
              <a:ea typeface="+mn-ea"/>
              <a:cs typeface="+mn-cs"/>
            </a:endParaRPr>
          </a:p>
        </p:txBody>
      </p:sp>
      <p:sp>
        <p:nvSpPr>
          <p:cNvPr id="7175" name="Rectangle 9"/>
          <p:cNvSpPr>
            <a:spLocks noGrp="1" noChangeArrowheads="1"/>
          </p:cNvSpPr>
          <p:nvPr>
            <p:ph type="title"/>
          </p:nvPr>
        </p:nvSpPr>
        <p:spPr>
          <a:xfrm>
            <a:off x="457200" y="76200"/>
            <a:ext cx="8229600" cy="868363"/>
          </a:xfrm>
        </p:spPr>
        <p:txBody>
          <a:bodyPr/>
          <a:lstStyle/>
          <a:p>
            <a:pPr eaLnBrk="1" hangingPunct="1"/>
            <a:r>
              <a:rPr lang="en-US" altLang="zh-CN" sz="4300" smtClean="0">
                <a:ea typeface="宋体" panose="02010600030101010101" pitchFamily="2" charset="-122"/>
              </a:rPr>
              <a:t>Contents</a:t>
            </a:r>
          </a:p>
        </p:txBody>
      </p:sp>
      <p:grpSp>
        <p:nvGrpSpPr>
          <p:cNvPr id="7176" name="Group 10"/>
          <p:cNvGrpSpPr>
            <a:grpSpLocks/>
          </p:cNvGrpSpPr>
          <p:nvPr/>
        </p:nvGrpSpPr>
        <p:grpSpPr bwMode="auto">
          <a:xfrm>
            <a:off x="304800" y="2205038"/>
            <a:ext cx="2673350" cy="2671762"/>
            <a:chOff x="140" y="1419"/>
            <a:chExt cx="1684" cy="1683"/>
          </a:xfrm>
        </p:grpSpPr>
        <p:sp>
          <p:nvSpPr>
            <p:cNvPr id="2" name="Oval 11"/>
            <p:cNvSpPr>
              <a:spLocks noChangeArrowheads="1"/>
            </p:cNvSpPr>
            <p:nvPr/>
          </p:nvSpPr>
          <p:spPr bwMode="gray">
            <a:xfrm>
              <a:off x="140" y="1419"/>
              <a:ext cx="1684" cy="1683"/>
            </a:xfrm>
            <a:prstGeom prst="ellipse">
              <a:avLst/>
            </a:prstGeom>
            <a:gradFill rotWithShape="1">
              <a:gsLst>
                <a:gs pos="0">
                  <a:schemeClr val="folHlink">
                    <a:gamma/>
                    <a:tint val="0"/>
                    <a:invGamma/>
                  </a:schemeClr>
                </a:gs>
                <a:gs pos="50000">
                  <a:schemeClr val="folHlink"/>
                </a:gs>
                <a:gs pos="100000">
                  <a:schemeClr val="folHlink">
                    <a:gamma/>
                    <a:tint val="0"/>
                    <a:invGamma/>
                  </a:schemeClr>
                </a:gs>
              </a:gsLst>
              <a:lin ang="2700000" scaled="1"/>
            </a:gradFill>
            <a:ln w="38100" algn="ctr">
              <a:noFill/>
              <a:round/>
              <a:headEnd/>
              <a:tailEnd/>
            </a:ln>
            <a:effectLst/>
          </p:spPr>
          <p:txBody>
            <a:bodyPr wrap="none" anchor="ct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3" name="Oval 12"/>
            <p:cNvSpPr>
              <a:spLocks noChangeArrowheads="1"/>
            </p:cNvSpPr>
            <p:nvPr/>
          </p:nvSpPr>
          <p:spPr bwMode="gray">
            <a:xfrm>
              <a:off x="251" y="1528"/>
              <a:ext cx="1461" cy="1463"/>
            </a:xfrm>
            <a:prstGeom prst="ellipse">
              <a:avLst/>
            </a:prstGeom>
            <a:gradFill rotWithShape="1">
              <a:gsLst>
                <a:gs pos="0">
                  <a:schemeClr val="folHlink">
                    <a:gamma/>
                    <a:shade val="54118"/>
                    <a:invGamma/>
                  </a:schemeClr>
                </a:gs>
                <a:gs pos="50000">
                  <a:schemeClr val="folHlink"/>
                </a:gs>
                <a:gs pos="100000">
                  <a:schemeClr val="folHlink">
                    <a:gamma/>
                    <a:shade val="54118"/>
                    <a:invGamma/>
                  </a:schemeClr>
                </a:gs>
              </a:gsLst>
              <a:lin ang="18900000" scaled="1"/>
            </a:gradFill>
            <a:ln w="38100" algn="ctr">
              <a:noFill/>
              <a:round/>
              <a:headEnd/>
              <a:tailEnd/>
            </a:ln>
            <a:effectLst/>
          </p:spPr>
          <p:txBody>
            <a:bodyPr anchor="ct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4" name="Oval 13"/>
            <p:cNvSpPr>
              <a:spLocks noChangeArrowheads="1"/>
            </p:cNvSpPr>
            <p:nvPr/>
          </p:nvSpPr>
          <p:spPr bwMode="gray">
            <a:xfrm>
              <a:off x="258" y="1536"/>
              <a:ext cx="1461" cy="1462"/>
            </a:xfrm>
            <a:prstGeom prst="ellipse">
              <a:avLst/>
            </a:prstGeom>
            <a:gradFill rotWithShape="1">
              <a:gsLst>
                <a:gs pos="0">
                  <a:schemeClr val="folHlink">
                    <a:gamma/>
                    <a:shade val="63529"/>
                    <a:invGamma/>
                  </a:schemeClr>
                </a:gs>
                <a:gs pos="100000">
                  <a:schemeClr val="folHlink">
                    <a:alpha val="0"/>
                  </a:schemeClr>
                </a:gs>
              </a:gsLst>
              <a:lin ang="2700000" scaled="1"/>
            </a:gradFill>
            <a:ln w="38100" algn="ctr">
              <a:noFill/>
              <a:round/>
              <a:headEnd/>
              <a:tailEnd/>
            </a:ln>
            <a:effectLst/>
          </p:spPr>
          <p:txBody>
            <a:bodyPr anchor="ct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208" name="Oval 14"/>
            <p:cNvSpPr>
              <a:spLocks noChangeArrowheads="1"/>
            </p:cNvSpPr>
            <p:nvPr/>
          </p:nvSpPr>
          <p:spPr bwMode="gray">
            <a:xfrm>
              <a:off x="323" y="1602"/>
              <a:ext cx="1317" cy="1316"/>
            </a:xfrm>
            <a:prstGeom prst="ellipse">
              <a:avLst/>
            </a:prstGeom>
            <a:solidFill>
              <a:srgbClr val="000000"/>
            </a:solidFill>
            <a:ln>
              <a:noFill/>
            </a:ln>
            <a:extLst>
              <a:ext uri="{91240B29-F687-4F45-9708-019B960494DF}">
                <a14:hiddenLine xmlns:a14="http://schemas.microsoft.com/office/drawing/2010/main" w="38100" algn="ctr">
                  <a:solidFill>
                    <a:srgbClr val="000000"/>
                  </a:solidFill>
                  <a:round/>
                  <a:headEnd/>
                  <a:tailEnd/>
                </a14:hiddenLine>
              </a:ext>
            </a:extLst>
          </p:spPr>
          <p:txBody>
            <a:bodyPr anchor="ctr">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209" name="Oval 15"/>
            <p:cNvSpPr>
              <a:spLocks noChangeArrowheads="1"/>
            </p:cNvSpPr>
            <p:nvPr/>
          </p:nvSpPr>
          <p:spPr bwMode="gray">
            <a:xfrm>
              <a:off x="344" y="1623"/>
              <a:ext cx="1276" cy="1277"/>
            </a:xfrm>
            <a:prstGeom prst="ellipse">
              <a:avLst/>
            </a:prstGeom>
            <a:gradFill rotWithShape="1">
              <a:gsLst>
                <a:gs pos="0">
                  <a:srgbClr val="636869"/>
                </a:gs>
                <a:gs pos="100000">
                  <a:srgbClr val="D6E1E2"/>
                </a:gs>
              </a:gsLst>
              <a:lin ang="5400000" scaled="1"/>
            </a:gradFill>
            <a:ln>
              <a:noFill/>
            </a:ln>
            <a:extLst>
              <a:ext uri="{91240B29-F687-4F45-9708-019B960494DF}">
                <a14:hiddenLine xmlns:a14="http://schemas.microsoft.com/office/drawing/2010/main" w="9525" algn="ctr">
                  <a:solidFill>
                    <a:srgbClr val="000000"/>
                  </a:solidFill>
                  <a:round/>
                  <a:headEnd/>
                  <a:tailEnd/>
                </a14:hiddenLine>
              </a:ext>
            </a:extLst>
          </p:spPr>
          <p:txBody>
            <a:bodyPr vert="eaVert"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210" name="Oval 16"/>
            <p:cNvSpPr>
              <a:spLocks noChangeArrowheads="1"/>
            </p:cNvSpPr>
            <p:nvPr/>
          </p:nvSpPr>
          <p:spPr bwMode="gray">
            <a:xfrm>
              <a:off x="360" y="1630"/>
              <a:ext cx="1246" cy="1246"/>
            </a:xfrm>
            <a:prstGeom prst="ellipse">
              <a:avLst/>
            </a:prstGeom>
            <a:gradFill rotWithShape="1">
              <a:gsLst>
                <a:gs pos="0">
                  <a:srgbClr val="D6E1E2">
                    <a:alpha val="0"/>
                  </a:srgbClr>
                </a:gs>
                <a:gs pos="100000">
                  <a:srgbClr val="F1F5F5"/>
                </a:gs>
              </a:gsLst>
              <a:lin ang="5400000" scaled="1"/>
            </a:gradFill>
            <a:ln>
              <a:noFill/>
            </a:ln>
            <a:extLst>
              <a:ext uri="{91240B29-F687-4F45-9708-019B960494DF}">
                <a14:hiddenLine xmlns:a14="http://schemas.microsoft.com/office/drawing/2010/main" w="9525" algn="ctr">
                  <a:solidFill>
                    <a:srgbClr val="000000"/>
                  </a:solidFill>
                  <a:round/>
                  <a:headEnd/>
                  <a:tailEnd/>
                </a14:hiddenLine>
              </a:ext>
            </a:extLst>
          </p:spPr>
          <p:txBody>
            <a:bodyPr vert="eaVert"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211" name="Oval 17"/>
            <p:cNvSpPr>
              <a:spLocks noChangeArrowheads="1"/>
            </p:cNvSpPr>
            <p:nvPr/>
          </p:nvSpPr>
          <p:spPr bwMode="gray">
            <a:xfrm>
              <a:off x="374" y="1642"/>
              <a:ext cx="1184" cy="1164"/>
            </a:xfrm>
            <a:prstGeom prst="ellipse">
              <a:avLst/>
            </a:prstGeom>
            <a:gradFill rotWithShape="1">
              <a:gsLst>
                <a:gs pos="0">
                  <a:srgbClr val="AAB2B3"/>
                </a:gs>
                <a:gs pos="100000">
                  <a:srgbClr val="D6E1E2">
                    <a:alpha val="48000"/>
                  </a:srgbClr>
                </a:gs>
              </a:gsLst>
              <a:lin ang="5400000" scaled="1"/>
            </a:gradFill>
            <a:ln>
              <a:noFill/>
            </a:ln>
            <a:extLst>
              <a:ext uri="{91240B29-F687-4F45-9708-019B960494DF}">
                <a14:hiddenLine xmlns:a14="http://schemas.microsoft.com/office/drawing/2010/main" w="9525" algn="ctr">
                  <a:solidFill>
                    <a:srgbClr val="000000"/>
                  </a:solidFill>
                  <a:round/>
                  <a:headEnd/>
                  <a:tailEnd/>
                </a14:hiddenLine>
              </a:ext>
            </a:extLst>
          </p:spPr>
          <p:txBody>
            <a:bodyPr vert="eaVert"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212" name="Oval 18"/>
            <p:cNvSpPr>
              <a:spLocks noChangeArrowheads="1"/>
            </p:cNvSpPr>
            <p:nvPr/>
          </p:nvSpPr>
          <p:spPr bwMode="gray">
            <a:xfrm>
              <a:off x="443" y="1675"/>
              <a:ext cx="1053" cy="945"/>
            </a:xfrm>
            <a:prstGeom prst="ellipse">
              <a:avLst/>
            </a:prstGeom>
            <a:gradFill rotWithShape="1">
              <a:gsLst>
                <a:gs pos="0">
                  <a:srgbClr val="FFFFFF"/>
                </a:gs>
                <a:gs pos="100000">
                  <a:srgbClr val="D6E1E2">
                    <a:alpha val="37999"/>
                  </a:srgbClr>
                </a:gs>
              </a:gsLst>
              <a:lin ang="5400000" scaled="1"/>
            </a:gradFill>
            <a:ln>
              <a:noFill/>
            </a:ln>
            <a:extLst>
              <a:ext uri="{91240B29-F687-4F45-9708-019B960494DF}">
                <a14:hiddenLine xmlns:a14="http://schemas.microsoft.com/office/drawing/2010/main" w="9525" algn="ctr">
                  <a:solidFill>
                    <a:srgbClr val="000000"/>
                  </a:solidFill>
                  <a:round/>
                  <a:headEnd/>
                  <a:tailEnd/>
                </a14:hiddenLine>
              </a:ext>
            </a:extLst>
          </p:spPr>
          <p:txBody>
            <a:bodyPr vert="eaVert"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pic>
          <p:nvPicPr>
            <p:cNvPr id="7213" name="Picture 19" descr="mark"/>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2" y="1773"/>
              <a:ext cx="1011" cy="10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7177" name="AutoShape 20"/>
          <p:cNvSpPr>
            <a:spLocks noChangeArrowheads="1"/>
          </p:cNvSpPr>
          <p:nvPr/>
        </p:nvSpPr>
        <p:spPr bwMode="gray">
          <a:xfrm>
            <a:off x="3349625" y="990600"/>
            <a:ext cx="5105400" cy="401638"/>
          </a:xfrm>
          <a:prstGeom prst="roundRect">
            <a:avLst>
              <a:gd name="adj" fmla="val 50000"/>
            </a:avLst>
          </a:prstGeom>
          <a:gradFill rotWithShape="1">
            <a:gsLst>
              <a:gs pos="0">
                <a:srgbClr val="F8F8F8"/>
              </a:gs>
              <a:gs pos="100000">
                <a:srgbClr val="BEBEBE"/>
              </a:gs>
            </a:gsLst>
            <a:lin ang="5400000" scaled="1"/>
          </a:gradFill>
          <a:ln w="19050">
            <a:solidFill>
              <a:srgbClr val="C0C0C0"/>
            </a:solidFill>
            <a:round/>
            <a:headEnd/>
            <a:tailEnd/>
          </a:ln>
          <a:effectLst>
            <a:outerShdw dist="53882" dir="2700000" algn="ctr" rotWithShape="0">
              <a:srgbClr val="292929">
                <a:alpha val="50000"/>
              </a:srgb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78" name="Rectangle 21"/>
          <p:cNvSpPr>
            <a:spLocks noChangeArrowheads="1"/>
          </p:cNvSpPr>
          <p:nvPr/>
        </p:nvSpPr>
        <p:spPr bwMode="auto">
          <a:xfrm>
            <a:off x="3670300" y="985838"/>
            <a:ext cx="203041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800" b="0" i="0" u="none" strike="noStrike" kern="1200" cap="none" spc="0" normalizeH="0" baseline="0" noProof="0" smtClean="0">
                <a:ln>
                  <a:noFill/>
                </a:ln>
                <a:solidFill>
                  <a:srgbClr val="FF0000"/>
                </a:solidFill>
                <a:effectLst/>
                <a:uLnTx/>
                <a:uFillTx/>
                <a:latin typeface="Arial" panose="020B0604020202020204" pitchFamily="34" charset="0"/>
                <a:ea typeface="宋体" panose="02010600030101010101" pitchFamily="2" charset="-122"/>
                <a:cs typeface="+mn-cs"/>
              </a:rPr>
              <a:t>第一篇　認識問題</a:t>
            </a:r>
            <a:endParaRPr kumimoji="0" lang="en-US" altLang="zh-CN" sz="1800" b="0" i="0" u="none" strike="noStrike" kern="1200" cap="none" spc="0" normalizeH="0" baseline="0" noProof="0" smtClean="0">
              <a:ln>
                <a:noFill/>
              </a:ln>
              <a:solidFill>
                <a:srgbClr val="FF0000"/>
              </a:solidFill>
              <a:effectLst/>
              <a:uLnTx/>
              <a:uFillTx/>
              <a:latin typeface="Arial" panose="020B0604020202020204" pitchFamily="34" charset="0"/>
              <a:ea typeface="宋体" panose="02010600030101010101" pitchFamily="2" charset="-122"/>
              <a:cs typeface="+mn-cs"/>
            </a:endParaRPr>
          </a:p>
        </p:txBody>
      </p:sp>
      <p:sp>
        <p:nvSpPr>
          <p:cNvPr id="7179" name="AutoShape 22"/>
          <p:cNvSpPr>
            <a:spLocks noChangeArrowheads="1"/>
          </p:cNvSpPr>
          <p:nvPr/>
        </p:nvSpPr>
        <p:spPr bwMode="gray">
          <a:xfrm>
            <a:off x="3408363" y="1781175"/>
            <a:ext cx="5105400" cy="404813"/>
          </a:xfrm>
          <a:prstGeom prst="roundRect">
            <a:avLst>
              <a:gd name="adj" fmla="val 50000"/>
            </a:avLst>
          </a:prstGeom>
          <a:gradFill rotWithShape="1">
            <a:gsLst>
              <a:gs pos="0">
                <a:srgbClr val="F8F8F8"/>
              </a:gs>
              <a:gs pos="100000">
                <a:srgbClr val="BEBEBE"/>
              </a:gs>
            </a:gsLst>
            <a:lin ang="5400000" scaled="1"/>
          </a:gradFill>
          <a:ln w="19050">
            <a:solidFill>
              <a:srgbClr val="C0C0C0"/>
            </a:solidFill>
            <a:round/>
            <a:headEnd/>
            <a:tailEnd/>
          </a:ln>
          <a:effectLst>
            <a:outerShdw dist="53882" dir="2700000" algn="ctr" rotWithShape="0">
              <a:srgbClr val="292929">
                <a:alpha val="50000"/>
              </a:srgb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80" name="AutoShape 24"/>
          <p:cNvSpPr>
            <a:spLocks noChangeArrowheads="1"/>
          </p:cNvSpPr>
          <p:nvPr/>
        </p:nvSpPr>
        <p:spPr bwMode="gray">
          <a:xfrm>
            <a:off x="3429000" y="4360863"/>
            <a:ext cx="5105400" cy="439737"/>
          </a:xfrm>
          <a:prstGeom prst="roundRect">
            <a:avLst>
              <a:gd name="adj" fmla="val 50000"/>
            </a:avLst>
          </a:prstGeom>
          <a:gradFill rotWithShape="1">
            <a:gsLst>
              <a:gs pos="0">
                <a:srgbClr val="F8F8F8"/>
              </a:gs>
              <a:gs pos="100000">
                <a:srgbClr val="BEBEBE"/>
              </a:gs>
            </a:gsLst>
            <a:lin ang="5400000" scaled="1"/>
          </a:gradFill>
          <a:ln w="19050">
            <a:solidFill>
              <a:srgbClr val="C0C0C0"/>
            </a:solidFill>
            <a:round/>
            <a:headEnd/>
            <a:tailEnd/>
          </a:ln>
          <a:effectLst>
            <a:outerShdw dist="53882" dir="2700000" algn="ctr" rotWithShape="0">
              <a:srgbClr val="292929">
                <a:alpha val="50000"/>
              </a:srgb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81" name="Oval 26"/>
          <p:cNvSpPr>
            <a:spLocks noChangeArrowheads="1"/>
          </p:cNvSpPr>
          <p:nvPr/>
        </p:nvSpPr>
        <p:spPr bwMode="gray">
          <a:xfrm>
            <a:off x="3263900" y="1163638"/>
            <a:ext cx="228600" cy="228600"/>
          </a:xfrm>
          <a:prstGeom prst="ellipse">
            <a:avLst/>
          </a:prstGeom>
          <a:gradFill rotWithShape="1">
            <a:gsLst>
              <a:gs pos="0">
                <a:srgbClr val="E96E29"/>
              </a:gs>
              <a:gs pos="100000">
                <a:srgbClr val="9B491B"/>
              </a:gs>
            </a:gsLst>
            <a:path path="shape">
              <a:fillToRect l="50000" t="50000" r="50000" b="50000"/>
            </a:path>
          </a:gradFill>
          <a:ln w="19050">
            <a:solidFill>
              <a:srgbClr val="FFFFFF"/>
            </a:solidFill>
            <a:round/>
            <a:headEnd/>
            <a:tailEnd/>
          </a:ln>
          <a:effectLst>
            <a:outerShdw dist="63500" dir="2212194" algn="ctr" rotWithShape="0">
              <a:schemeClr val="bg2">
                <a:alpha val="50000"/>
              </a:scheme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82" name="Oval 27"/>
          <p:cNvSpPr>
            <a:spLocks noChangeArrowheads="1"/>
          </p:cNvSpPr>
          <p:nvPr/>
        </p:nvSpPr>
        <p:spPr bwMode="gray">
          <a:xfrm>
            <a:off x="3287713" y="1874838"/>
            <a:ext cx="228600" cy="228600"/>
          </a:xfrm>
          <a:prstGeom prst="ellipse">
            <a:avLst/>
          </a:prstGeom>
          <a:gradFill rotWithShape="1">
            <a:gsLst>
              <a:gs pos="0">
                <a:srgbClr val="DCDC48"/>
              </a:gs>
              <a:gs pos="100000">
                <a:srgbClr val="939330"/>
              </a:gs>
            </a:gsLst>
            <a:path path="shape">
              <a:fillToRect l="50000" t="50000" r="50000" b="50000"/>
            </a:path>
          </a:gradFill>
          <a:ln w="19050">
            <a:solidFill>
              <a:srgbClr val="FFFFFF"/>
            </a:solidFill>
            <a:round/>
            <a:headEnd/>
            <a:tailEnd/>
          </a:ln>
          <a:effectLst>
            <a:outerShdw dist="63500" dir="2212194" algn="ctr" rotWithShape="0">
              <a:schemeClr val="bg2">
                <a:alpha val="50000"/>
              </a:scheme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83" name="AutoShape 29"/>
          <p:cNvSpPr>
            <a:spLocks noChangeArrowheads="1"/>
          </p:cNvSpPr>
          <p:nvPr/>
        </p:nvSpPr>
        <p:spPr bwMode="gray">
          <a:xfrm>
            <a:off x="3429000" y="5373688"/>
            <a:ext cx="5105400" cy="341312"/>
          </a:xfrm>
          <a:prstGeom prst="roundRect">
            <a:avLst>
              <a:gd name="adj" fmla="val 50000"/>
            </a:avLst>
          </a:prstGeom>
          <a:gradFill rotWithShape="1">
            <a:gsLst>
              <a:gs pos="0">
                <a:srgbClr val="F8F8F8"/>
              </a:gs>
              <a:gs pos="100000">
                <a:srgbClr val="BEBEBE"/>
              </a:gs>
            </a:gsLst>
            <a:lin ang="5400000" scaled="1"/>
          </a:gradFill>
          <a:ln w="19050">
            <a:solidFill>
              <a:srgbClr val="C0C0C0"/>
            </a:solidFill>
            <a:round/>
            <a:headEnd/>
            <a:tailEnd/>
          </a:ln>
          <a:effectLst>
            <a:outerShdw dist="53882" dir="2700000" algn="ctr" rotWithShape="0">
              <a:srgbClr val="292929">
                <a:alpha val="50000"/>
              </a:srgb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84" name="Rectangle 21"/>
          <p:cNvSpPr>
            <a:spLocks noChangeArrowheads="1"/>
          </p:cNvSpPr>
          <p:nvPr/>
        </p:nvSpPr>
        <p:spPr bwMode="auto">
          <a:xfrm>
            <a:off x="3725863" y="1793875"/>
            <a:ext cx="2032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800" b="0" i="0" u="none"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rPr>
              <a:t>第二篇　安全架構</a:t>
            </a:r>
            <a:endParaRPr kumimoji="0" lang="en-US" altLang="zh-CN" sz="1800" b="0" i="0" u="none"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endParaRPr>
          </a:p>
        </p:txBody>
      </p:sp>
      <p:sp>
        <p:nvSpPr>
          <p:cNvPr id="7185" name="Rectangle 21"/>
          <p:cNvSpPr>
            <a:spLocks noChangeArrowheads="1"/>
          </p:cNvSpPr>
          <p:nvPr/>
        </p:nvSpPr>
        <p:spPr bwMode="auto">
          <a:xfrm>
            <a:off x="3725863" y="4405313"/>
            <a:ext cx="2044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800" b="0" i="0" u="none" strike="noStrike" kern="1200" cap="none" spc="0" normalizeH="0" baseline="0" noProof="0" smtClean="0">
                <a:ln>
                  <a:noFill/>
                </a:ln>
                <a:solidFill>
                  <a:srgbClr val="FF0000"/>
                </a:solidFill>
                <a:effectLst/>
                <a:uLnTx/>
                <a:uFillTx/>
                <a:latin typeface="Arial" panose="020B0604020202020204" pitchFamily="34" charset="0"/>
                <a:ea typeface="宋体" panose="02010600030101010101" pitchFamily="2" charset="-122"/>
                <a:cs typeface="+mn-cs"/>
              </a:rPr>
              <a:t>第五篇　縱深防禦</a:t>
            </a:r>
            <a:endParaRPr kumimoji="0" lang="en-US" altLang="zh-CN" sz="1800" b="0" i="0" u="none" strike="noStrike" kern="1200" cap="none" spc="0" normalizeH="0" baseline="0" noProof="0" smtClean="0">
              <a:ln>
                <a:noFill/>
              </a:ln>
              <a:solidFill>
                <a:srgbClr val="FF0000"/>
              </a:solidFill>
              <a:effectLst/>
              <a:uLnTx/>
              <a:uFillTx/>
              <a:latin typeface="Arial" panose="020B0604020202020204" pitchFamily="34" charset="0"/>
              <a:ea typeface="宋体" panose="02010600030101010101" pitchFamily="2" charset="-122"/>
              <a:cs typeface="+mn-cs"/>
            </a:endParaRPr>
          </a:p>
        </p:txBody>
      </p:sp>
      <p:sp>
        <p:nvSpPr>
          <p:cNvPr id="7186" name="Rectangle 21"/>
          <p:cNvSpPr>
            <a:spLocks noChangeArrowheads="1"/>
          </p:cNvSpPr>
          <p:nvPr/>
        </p:nvSpPr>
        <p:spPr bwMode="auto">
          <a:xfrm>
            <a:off x="3738563" y="5413375"/>
            <a:ext cx="20313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800" b="0" i="0" u="none"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rPr>
              <a:t>第六篇　全面管理</a:t>
            </a:r>
            <a:endParaRPr kumimoji="0" lang="en-US" altLang="zh-CN" sz="1800" b="0" i="0" u="none"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endParaRPr>
          </a:p>
        </p:txBody>
      </p:sp>
      <p:sp>
        <p:nvSpPr>
          <p:cNvPr id="7187" name="文字方塊 1"/>
          <p:cNvSpPr txBox="1">
            <a:spLocks noChangeArrowheads="1"/>
          </p:cNvSpPr>
          <p:nvPr/>
        </p:nvSpPr>
        <p:spPr bwMode="auto">
          <a:xfrm>
            <a:off x="3730625" y="1447800"/>
            <a:ext cx="480377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1</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資訊安全概論、第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2</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資訊法律與事件處理、</a:t>
            </a:r>
          </a:p>
        </p:txBody>
      </p:sp>
      <p:sp>
        <p:nvSpPr>
          <p:cNvPr id="7188" name="文字方塊 39"/>
          <p:cNvSpPr txBox="1">
            <a:spLocks noChangeArrowheads="1"/>
          </p:cNvSpPr>
          <p:nvPr/>
        </p:nvSpPr>
        <p:spPr bwMode="auto">
          <a:xfrm>
            <a:off x="3749675" y="2209800"/>
            <a:ext cx="49641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5</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認證、授權與存取控制、第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8</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資訊系統與網路模型</a:t>
            </a:r>
          </a:p>
        </p:txBody>
      </p:sp>
      <p:sp>
        <p:nvSpPr>
          <p:cNvPr id="7189" name="文字方塊 40"/>
          <p:cNvSpPr txBox="1">
            <a:spLocks noChangeArrowheads="1"/>
          </p:cNvSpPr>
          <p:nvPr/>
        </p:nvSpPr>
        <p:spPr bwMode="auto">
          <a:xfrm>
            <a:off x="3749675" y="4830763"/>
            <a:ext cx="49657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9</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防火牆與使用政策、第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10</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入侵偵測與防禦系統、</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12</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多層次防禦</a:t>
            </a:r>
          </a:p>
        </p:txBody>
      </p:sp>
      <p:sp>
        <p:nvSpPr>
          <p:cNvPr id="7190" name="文字方塊 41"/>
          <p:cNvSpPr txBox="1">
            <a:spLocks noChangeArrowheads="1"/>
          </p:cNvSpPr>
          <p:nvPr/>
        </p:nvSpPr>
        <p:spPr bwMode="auto">
          <a:xfrm>
            <a:off x="3798888" y="5791200"/>
            <a:ext cx="4964112" cy="738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6</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章資訊安全架構與設計、第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13</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實體安全與營運安全、第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14</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資訊安全管理系統、第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15</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章緊急應變計、</a:t>
            </a:r>
            <a:endPar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endParaRPr>
          </a:p>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16</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資訊技術服務管理</a:t>
            </a:r>
            <a:endPar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endParaRPr>
          </a:p>
        </p:txBody>
      </p:sp>
      <p:sp>
        <p:nvSpPr>
          <p:cNvPr id="7191" name="文字方塊 1"/>
          <p:cNvSpPr txBox="1">
            <a:spLocks noChangeArrowheads="1"/>
          </p:cNvSpPr>
          <p:nvPr/>
        </p:nvSpPr>
        <p:spPr bwMode="auto">
          <a:xfrm>
            <a:off x="92075" y="176213"/>
            <a:ext cx="2803525" cy="2308225"/>
          </a:xfrm>
          <a:prstGeom prst="rect">
            <a:avLst/>
          </a:prstGeom>
          <a:noFill/>
          <a:ln w="9525">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參考書籍</a:t>
            </a:r>
            <a: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a:t>
            </a:r>
            <a:r>
              <a:rPr kumimoji="0" lang="zh-TW" altLang="en-US"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碁峰出版社</a:t>
            </a:r>
            <a:endPar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TW" sz="1800" b="0" i="0" u="none" strike="noStrike" kern="1200" cap="none" spc="0" normalizeH="0" baseline="0" noProof="0" smtClean="0">
                <a:ln>
                  <a:noFill/>
                </a:ln>
                <a:solidFill>
                  <a:srgbClr val="FF0000"/>
                </a:solidFill>
                <a:effectLst/>
                <a:uLnTx/>
                <a:uFillTx/>
                <a:latin typeface="標楷體" panose="03000509000000000000" pitchFamily="65" charset="-120"/>
                <a:ea typeface="標楷體" panose="03000509000000000000" pitchFamily="65" charset="-120"/>
                <a:cs typeface="+mn-cs"/>
              </a:rPr>
              <a:t>(</a:t>
            </a:r>
            <a:r>
              <a:rPr kumimoji="0" lang="zh-TW" altLang="en-US" sz="1800" b="0" i="0" u="none" strike="noStrike" kern="1200" cap="none" spc="0" normalizeH="0" baseline="0" noProof="0" smtClean="0">
                <a:ln>
                  <a:noFill/>
                </a:ln>
                <a:solidFill>
                  <a:srgbClr val="FF0000"/>
                </a:solidFill>
                <a:effectLst/>
                <a:uLnTx/>
                <a:uFillTx/>
                <a:latin typeface="標楷體" panose="03000509000000000000" pitchFamily="65" charset="-120"/>
                <a:ea typeface="標楷體" panose="03000509000000000000" pitchFamily="65" charset="-120"/>
                <a:cs typeface="+mn-cs"/>
              </a:rPr>
              <a:t>上課章節順序</a:t>
            </a:r>
            <a:r>
              <a:rPr kumimoji="0" lang="en-US" altLang="zh-TW" sz="1800" b="0" i="0" u="none" strike="noStrike" kern="1200" cap="none" spc="0" normalizeH="0" baseline="0" noProof="0" smtClean="0">
                <a:ln>
                  <a:noFill/>
                </a:ln>
                <a:solidFill>
                  <a:srgbClr val="FF0000"/>
                </a:solidFill>
                <a:effectLst/>
                <a:uLnTx/>
                <a:uFillTx/>
                <a:latin typeface="標楷體" panose="03000509000000000000" pitchFamily="65" charset="-120"/>
                <a:ea typeface="標楷體" panose="03000509000000000000" pitchFamily="65" charset="-120"/>
                <a:cs typeface="+mn-cs"/>
              </a:rPr>
              <a:t>)</a:t>
            </a:r>
            <a: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
            </a:r>
            <a:b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br>
            <a:r>
              <a:rPr kumimoji="0" lang="zh-TW" altLang="en-US"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作者</a:t>
            </a:r>
            <a: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a:t>
            </a:r>
            <a:r>
              <a:rPr kumimoji="0" lang="zh-TW" altLang="en-US"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潘天佑</a:t>
            </a:r>
            <a: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
            </a:r>
            <a:b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br>
            <a:r>
              <a:rPr kumimoji="0" lang="zh-TW" altLang="en-US"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書名</a:t>
            </a:r>
            <a: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a:t>
            </a:r>
            <a:r>
              <a:rPr kumimoji="0" lang="zh-TW" altLang="en-US"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資訊安全概論與實務</a:t>
            </a:r>
            <a: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a:t>
            </a:r>
            <a:r>
              <a:rPr kumimoji="0" lang="zh-TW" altLang="en-US"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第三版</a:t>
            </a:r>
            <a:r>
              <a:rPr kumimoji="0" lang="en-US" altLang="zh-TW"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rPr>
              <a:t>) Information Security: Fundamentals &amp; Practices (3rd Edition)</a:t>
            </a:r>
            <a:endParaRPr kumimoji="0" lang="zh-TW" altLang="en-US" sz="1800" b="0" i="0" u="none" strike="noStrike" kern="1200" cap="none" spc="0" normalizeH="0" baseline="0" noProof="0" smtClean="0">
              <a:ln>
                <a:noFill/>
              </a:ln>
              <a:solidFill>
                <a:srgbClr val="080808"/>
              </a:solidFill>
              <a:effectLst/>
              <a:uLnTx/>
              <a:uFillTx/>
              <a:latin typeface="標楷體" panose="03000509000000000000" pitchFamily="65" charset="-120"/>
              <a:ea typeface="標楷體" panose="03000509000000000000" pitchFamily="65" charset="-120"/>
              <a:cs typeface="+mn-cs"/>
            </a:endParaRPr>
          </a:p>
        </p:txBody>
      </p:sp>
      <p:sp>
        <p:nvSpPr>
          <p:cNvPr id="7192" name="Line 3"/>
          <p:cNvSpPr>
            <a:spLocks noChangeShapeType="1"/>
          </p:cNvSpPr>
          <p:nvPr/>
        </p:nvSpPr>
        <p:spPr bwMode="auto">
          <a:xfrm>
            <a:off x="2292350" y="4724400"/>
            <a:ext cx="676275" cy="914400"/>
          </a:xfrm>
          <a:prstGeom prst="line">
            <a:avLst/>
          </a:prstGeom>
          <a:noFill/>
          <a:ln w="12700" cap="rnd">
            <a:solidFill>
              <a:srgbClr val="003366"/>
            </a:solidFill>
            <a:prstDash val="sysDot"/>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TW" altLang="en-US" sz="1800" b="0" i="0" u="none" strike="noStrike" kern="1200" cap="none" spc="0" normalizeH="0" baseline="0" noProof="0" smtClean="0">
              <a:ln>
                <a:noFill/>
              </a:ln>
              <a:solidFill>
                <a:srgbClr val="080808"/>
              </a:solidFill>
              <a:effectLst/>
              <a:uLnTx/>
              <a:uFillTx/>
              <a:latin typeface="Arial" panose="020B0604020202020204" pitchFamily="34" charset="0"/>
              <a:ea typeface="+mn-ea"/>
              <a:cs typeface="+mn-cs"/>
            </a:endParaRPr>
          </a:p>
        </p:txBody>
      </p:sp>
      <p:sp>
        <p:nvSpPr>
          <p:cNvPr id="7193" name="AutoShape 22"/>
          <p:cNvSpPr>
            <a:spLocks noChangeArrowheads="1"/>
          </p:cNvSpPr>
          <p:nvPr/>
        </p:nvSpPr>
        <p:spPr bwMode="gray">
          <a:xfrm>
            <a:off x="3352800" y="2616200"/>
            <a:ext cx="5105400" cy="404813"/>
          </a:xfrm>
          <a:prstGeom prst="roundRect">
            <a:avLst>
              <a:gd name="adj" fmla="val 50000"/>
            </a:avLst>
          </a:prstGeom>
          <a:gradFill rotWithShape="1">
            <a:gsLst>
              <a:gs pos="0">
                <a:srgbClr val="F8F8F8"/>
              </a:gs>
              <a:gs pos="100000">
                <a:srgbClr val="BEBEBE"/>
              </a:gs>
            </a:gsLst>
            <a:lin ang="5400000" scaled="1"/>
          </a:gradFill>
          <a:ln w="19050">
            <a:solidFill>
              <a:srgbClr val="C0C0C0"/>
            </a:solidFill>
            <a:round/>
            <a:headEnd/>
            <a:tailEnd/>
          </a:ln>
          <a:effectLst>
            <a:outerShdw dist="53882" dir="2700000" algn="ctr" rotWithShape="0">
              <a:srgbClr val="292929">
                <a:alpha val="50000"/>
              </a:srgb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94" name="Oval 27"/>
          <p:cNvSpPr>
            <a:spLocks noChangeArrowheads="1"/>
          </p:cNvSpPr>
          <p:nvPr/>
        </p:nvSpPr>
        <p:spPr bwMode="gray">
          <a:xfrm>
            <a:off x="3352800" y="4495800"/>
            <a:ext cx="228600" cy="228600"/>
          </a:xfrm>
          <a:prstGeom prst="ellipse">
            <a:avLst/>
          </a:prstGeom>
          <a:gradFill rotWithShape="1">
            <a:gsLst>
              <a:gs pos="0">
                <a:srgbClr val="DCDC48"/>
              </a:gs>
              <a:gs pos="100000">
                <a:srgbClr val="939330"/>
              </a:gs>
            </a:gsLst>
            <a:path path="shape">
              <a:fillToRect l="50000" t="50000" r="50000" b="50000"/>
            </a:path>
          </a:gradFill>
          <a:ln w="19050">
            <a:solidFill>
              <a:srgbClr val="FFFFFF"/>
            </a:solidFill>
            <a:round/>
            <a:headEnd/>
            <a:tailEnd/>
          </a:ln>
          <a:effectLst>
            <a:outerShdw dist="63500" dir="2212194" algn="ctr" rotWithShape="0">
              <a:schemeClr val="bg2">
                <a:alpha val="50000"/>
              </a:scheme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95" name="Rectangle 21"/>
          <p:cNvSpPr>
            <a:spLocks noChangeArrowheads="1"/>
          </p:cNvSpPr>
          <p:nvPr/>
        </p:nvSpPr>
        <p:spPr bwMode="auto">
          <a:xfrm>
            <a:off x="3714750" y="2628900"/>
            <a:ext cx="15700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800" b="1" i="0"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rPr>
              <a:t>第三篇　威脅</a:t>
            </a:r>
            <a:endParaRPr kumimoji="0" lang="en-US" altLang="zh-CN" sz="1800" b="1" i="0"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endParaRPr>
          </a:p>
        </p:txBody>
      </p:sp>
      <p:sp>
        <p:nvSpPr>
          <p:cNvPr id="7196" name="文字方塊 39"/>
          <p:cNvSpPr txBox="1">
            <a:spLocks noChangeArrowheads="1"/>
          </p:cNvSpPr>
          <p:nvPr/>
        </p:nvSpPr>
        <p:spPr bwMode="auto">
          <a:xfrm>
            <a:off x="3738563" y="3048000"/>
            <a:ext cx="4964112"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3</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資訊安全威脅、第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11</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惡意程式與防毒、第</a:t>
            </a:r>
            <a:r>
              <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4</a:t>
            </a:r>
            <a:r>
              <a:rPr kumimoji="0" lang="zh-TW" altLang="en-US"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rPr>
              <a:t>章 駭客手法研究</a:t>
            </a:r>
            <a:endParaRPr kumimoji="0" lang="en-US" altLang="zh-TW" sz="1400" b="0" i="0" u="none" strike="noStrike" kern="1200" cap="none" spc="0" normalizeH="0" baseline="0" noProof="0" smtClean="0">
              <a:ln>
                <a:noFill/>
              </a:ln>
              <a:solidFill>
                <a:srgbClr val="0000FF"/>
              </a:solidFill>
              <a:effectLst/>
              <a:uLnTx/>
              <a:uFillTx/>
              <a:latin typeface="標楷體" panose="03000509000000000000" pitchFamily="65" charset="-120"/>
              <a:ea typeface="標楷體" panose="03000509000000000000" pitchFamily="65" charset="-120"/>
              <a:cs typeface="+mn-cs"/>
            </a:endParaRPr>
          </a:p>
        </p:txBody>
      </p:sp>
      <p:sp>
        <p:nvSpPr>
          <p:cNvPr id="7197" name="Line 6"/>
          <p:cNvSpPr>
            <a:spLocks noChangeShapeType="1"/>
          </p:cNvSpPr>
          <p:nvPr/>
        </p:nvSpPr>
        <p:spPr bwMode="auto">
          <a:xfrm flipV="1">
            <a:off x="2854325" y="2870200"/>
            <a:ext cx="574675" cy="128588"/>
          </a:xfrm>
          <a:prstGeom prst="line">
            <a:avLst/>
          </a:prstGeom>
          <a:noFill/>
          <a:ln w="12700" cap="rnd">
            <a:solidFill>
              <a:srgbClr val="003366"/>
            </a:solidFill>
            <a:prstDash val="sysDot"/>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TW" altLang="en-US" sz="1800" b="0" i="0" u="none" strike="noStrike" kern="1200" cap="none" spc="0" normalizeH="0" baseline="0" noProof="0" smtClean="0">
              <a:ln>
                <a:noFill/>
              </a:ln>
              <a:solidFill>
                <a:srgbClr val="080808"/>
              </a:solidFill>
              <a:effectLst/>
              <a:uLnTx/>
              <a:uFillTx/>
              <a:latin typeface="Arial" panose="020B0604020202020204" pitchFamily="34" charset="0"/>
              <a:ea typeface="+mn-ea"/>
              <a:cs typeface="+mn-cs"/>
            </a:endParaRPr>
          </a:p>
        </p:txBody>
      </p:sp>
      <p:sp>
        <p:nvSpPr>
          <p:cNvPr id="7198" name="AutoShape 24"/>
          <p:cNvSpPr>
            <a:spLocks noChangeArrowheads="1"/>
          </p:cNvSpPr>
          <p:nvPr/>
        </p:nvSpPr>
        <p:spPr bwMode="gray">
          <a:xfrm>
            <a:off x="3429000" y="3581400"/>
            <a:ext cx="5105400" cy="417513"/>
          </a:xfrm>
          <a:prstGeom prst="roundRect">
            <a:avLst>
              <a:gd name="adj" fmla="val 50000"/>
            </a:avLst>
          </a:prstGeom>
          <a:gradFill rotWithShape="1">
            <a:gsLst>
              <a:gs pos="0">
                <a:srgbClr val="F8F8F8"/>
              </a:gs>
              <a:gs pos="100000">
                <a:srgbClr val="BEBEBE"/>
              </a:gs>
            </a:gsLst>
            <a:lin ang="5400000" scaled="1"/>
          </a:gradFill>
          <a:ln w="19050">
            <a:solidFill>
              <a:srgbClr val="C0C0C0"/>
            </a:solidFill>
            <a:round/>
            <a:headEnd/>
            <a:tailEnd/>
          </a:ln>
          <a:effectLst>
            <a:outerShdw dist="53882" dir="2700000" algn="ctr" rotWithShape="0">
              <a:srgbClr val="292929">
                <a:alpha val="50000"/>
              </a:srgb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199" name="Rectangle 21"/>
          <p:cNvSpPr>
            <a:spLocks noChangeArrowheads="1"/>
          </p:cNvSpPr>
          <p:nvPr/>
        </p:nvSpPr>
        <p:spPr bwMode="auto">
          <a:xfrm>
            <a:off x="3805238" y="3646488"/>
            <a:ext cx="2890837"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TW" altLang="en-US" sz="1800" b="1" i="0" u="sng"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rPr>
              <a:t>第四篇  資安核心篇</a:t>
            </a:r>
            <a:r>
              <a:rPr kumimoji="0" lang="en-US" altLang="zh-TW" sz="1800" b="1" i="0" u="sng"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rPr>
              <a:t>Kernel</a:t>
            </a:r>
            <a:endParaRPr kumimoji="0" lang="en-US" altLang="zh-CN" sz="1800" b="1" i="0" u="sng" strike="noStrike" kern="1200" cap="none" spc="0" normalizeH="0" baseline="0" noProof="0" dirty="0" smtClean="0">
              <a:ln>
                <a:noFill/>
              </a:ln>
              <a:solidFill>
                <a:srgbClr val="FF0000"/>
              </a:solidFill>
              <a:effectLst/>
              <a:uLnTx/>
              <a:uFillTx/>
              <a:latin typeface="Arial" panose="020B0604020202020204" pitchFamily="34" charset="0"/>
              <a:ea typeface="宋体" panose="02010600030101010101" pitchFamily="2" charset="-122"/>
              <a:cs typeface="+mn-cs"/>
            </a:endParaRPr>
          </a:p>
        </p:txBody>
      </p:sp>
      <p:sp>
        <p:nvSpPr>
          <p:cNvPr id="7200" name="文字方塊 40"/>
          <p:cNvSpPr txBox="1">
            <a:spLocks noChangeArrowheads="1"/>
          </p:cNvSpPr>
          <p:nvPr/>
        </p:nvSpPr>
        <p:spPr bwMode="auto">
          <a:xfrm>
            <a:off x="3805238" y="4038600"/>
            <a:ext cx="49657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zh-TW" altLang="en-US" sz="1400" b="0" i="0" u="sng" strike="noStrike" kern="1200" cap="none" spc="0" normalizeH="0" baseline="0" noProof="0" dirty="0" smtClean="0">
                <a:ln>
                  <a:noFill/>
                </a:ln>
                <a:solidFill>
                  <a:srgbClr val="0000FF"/>
                </a:solidFill>
                <a:effectLst/>
                <a:uLnTx/>
                <a:uFillTx/>
                <a:latin typeface="標楷體" panose="03000509000000000000" pitchFamily="65" charset="-120"/>
                <a:ea typeface="標楷體" panose="03000509000000000000" pitchFamily="65" charset="-120"/>
                <a:cs typeface="+mn-cs"/>
              </a:rPr>
              <a:t>第</a:t>
            </a:r>
            <a:r>
              <a:rPr kumimoji="0" lang="en-US" altLang="zh-TW" sz="1400" b="0" i="0" u="sng" strike="noStrike" kern="1200" cap="none" spc="0" normalizeH="0" baseline="0" noProof="0" dirty="0" smtClean="0">
                <a:ln>
                  <a:noFill/>
                </a:ln>
                <a:solidFill>
                  <a:srgbClr val="0000FF"/>
                </a:solidFill>
                <a:effectLst/>
                <a:uLnTx/>
                <a:uFillTx/>
                <a:latin typeface="標楷體" panose="03000509000000000000" pitchFamily="65" charset="-120"/>
                <a:ea typeface="標楷體" panose="03000509000000000000" pitchFamily="65" charset="-120"/>
                <a:cs typeface="+mn-cs"/>
              </a:rPr>
              <a:t>7</a:t>
            </a:r>
            <a:r>
              <a:rPr kumimoji="0" lang="zh-TW" altLang="en-US" sz="1400" b="0" i="0" u="sng" strike="noStrike" kern="1200" cap="none" spc="0" normalizeH="0" baseline="0" noProof="0" dirty="0" smtClean="0">
                <a:ln>
                  <a:noFill/>
                </a:ln>
                <a:solidFill>
                  <a:srgbClr val="0000FF"/>
                </a:solidFill>
                <a:effectLst/>
                <a:uLnTx/>
                <a:uFillTx/>
                <a:latin typeface="標楷體" panose="03000509000000000000" pitchFamily="65" charset="-120"/>
                <a:ea typeface="標楷體" panose="03000509000000000000" pitchFamily="65" charset="-120"/>
                <a:cs typeface="+mn-cs"/>
              </a:rPr>
              <a:t>章 基礎密碼學</a:t>
            </a:r>
          </a:p>
        </p:txBody>
      </p:sp>
      <p:sp>
        <p:nvSpPr>
          <p:cNvPr id="56" name="Oval 28"/>
          <p:cNvSpPr>
            <a:spLocks noChangeArrowheads="1"/>
          </p:cNvSpPr>
          <p:nvPr/>
        </p:nvSpPr>
        <p:spPr bwMode="gray">
          <a:xfrm>
            <a:off x="3276600" y="2743200"/>
            <a:ext cx="228600" cy="228600"/>
          </a:xfrm>
          <a:prstGeom prst="ellipse">
            <a:avLst/>
          </a:prstGeom>
          <a:gradFill rotWithShape="1">
            <a:gsLst>
              <a:gs pos="0">
                <a:schemeClr val="accent2"/>
              </a:gs>
              <a:gs pos="100000">
                <a:schemeClr val="accent2">
                  <a:gamma/>
                  <a:shade val="66667"/>
                  <a:invGamma/>
                </a:schemeClr>
              </a:gs>
            </a:gsLst>
            <a:path path="shape">
              <a:fillToRect l="50000" t="50000" r="50000" b="50000"/>
            </a:path>
          </a:gradFill>
          <a:ln w="19050">
            <a:solidFill>
              <a:srgbClr val="FFFFFF"/>
            </a:solidFill>
            <a:round/>
            <a:headEnd/>
            <a:tailEnd/>
          </a:ln>
          <a:effectLst>
            <a:outerShdw dist="63500" dir="2212194" algn="ctr" rotWithShape="0">
              <a:schemeClr val="bg2">
                <a:alpha val="50000"/>
              </a:scheme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202" name="Oval 31"/>
          <p:cNvSpPr>
            <a:spLocks noChangeArrowheads="1"/>
          </p:cNvSpPr>
          <p:nvPr/>
        </p:nvSpPr>
        <p:spPr bwMode="gray">
          <a:xfrm>
            <a:off x="3322638" y="3689350"/>
            <a:ext cx="228600" cy="228600"/>
          </a:xfrm>
          <a:prstGeom prst="ellipse">
            <a:avLst/>
          </a:prstGeom>
          <a:gradFill rotWithShape="1">
            <a:gsLst>
              <a:gs pos="0">
                <a:srgbClr val="E96E29"/>
              </a:gs>
              <a:gs pos="100000">
                <a:srgbClr val="9B491B"/>
              </a:gs>
            </a:gsLst>
            <a:path path="shape">
              <a:fillToRect l="50000" t="50000" r="50000" b="50000"/>
            </a:path>
          </a:gradFill>
          <a:ln w="19050">
            <a:solidFill>
              <a:srgbClr val="FFFFFF"/>
            </a:solidFill>
            <a:round/>
            <a:headEnd/>
            <a:tailEnd/>
          </a:ln>
          <a:effectLst>
            <a:outerShdw dist="63500" dir="2212194" algn="ctr" rotWithShape="0">
              <a:schemeClr val="bg2">
                <a:alpha val="50000"/>
              </a:schemeClr>
            </a:outerShdw>
          </a:effectLst>
        </p:spPr>
        <p:txBody>
          <a:bodyPr wrap="none" anchor="ctr"/>
          <a:lstStyle>
            <a:lvl1pPr>
              <a:spcBef>
                <a:spcPct val="20000"/>
              </a:spcBef>
              <a:buClr>
                <a:schemeClr val="folHlink"/>
              </a:buClr>
              <a:buFont typeface="Wingdings" panose="05000000000000000000" pitchFamily="2" charset="2"/>
              <a:buChar char="v"/>
              <a:defRPr sz="3200">
                <a:solidFill>
                  <a:schemeClr val="tx1"/>
                </a:solidFill>
                <a:latin typeface="Arial" panose="020B0604020202020204" pitchFamily="34" charset="0"/>
              </a:defRPr>
            </a:lvl1pPr>
            <a:lvl2pPr marL="742950" indent="-285750">
              <a:spcBef>
                <a:spcPct val="20000"/>
              </a:spcBef>
              <a:buClr>
                <a:schemeClr val="tx2"/>
              </a:buClr>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58" name="Oval 28"/>
          <p:cNvSpPr>
            <a:spLocks noChangeArrowheads="1"/>
          </p:cNvSpPr>
          <p:nvPr/>
        </p:nvSpPr>
        <p:spPr bwMode="gray">
          <a:xfrm>
            <a:off x="3352800" y="5484813"/>
            <a:ext cx="228600" cy="228600"/>
          </a:xfrm>
          <a:prstGeom prst="ellipse">
            <a:avLst/>
          </a:prstGeom>
          <a:gradFill rotWithShape="1">
            <a:gsLst>
              <a:gs pos="0">
                <a:schemeClr val="accent2"/>
              </a:gs>
              <a:gs pos="100000">
                <a:schemeClr val="accent2">
                  <a:gamma/>
                  <a:shade val="66667"/>
                  <a:invGamma/>
                </a:schemeClr>
              </a:gs>
            </a:gsLst>
            <a:path path="shape">
              <a:fillToRect l="50000" t="50000" r="50000" b="50000"/>
            </a:path>
          </a:gradFill>
          <a:ln w="19050">
            <a:solidFill>
              <a:srgbClr val="FFFFFF"/>
            </a:solidFill>
            <a:round/>
            <a:headEnd/>
            <a:tailEnd/>
          </a:ln>
          <a:effectLst>
            <a:outerShdw dist="63500" dir="2212194" algn="ctr" rotWithShape="0">
              <a:schemeClr val="bg2">
                <a:alpha val="50000"/>
              </a:scheme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smtClean="0">
              <a:ln>
                <a:noFill/>
              </a:ln>
              <a:solidFill>
                <a:srgbClr val="080808"/>
              </a:solidFill>
              <a:effectLst/>
              <a:uLnTx/>
              <a:uFillTx/>
              <a:latin typeface="Arial" panose="020B0604020202020204" pitchFamily="34" charset="0"/>
              <a:ea typeface="宋体" panose="02010600030101010101" pitchFamily="2" charset="-122"/>
              <a:cs typeface="+mn-cs"/>
            </a:endParaRPr>
          </a:p>
        </p:txBody>
      </p:sp>
      <p:sp>
        <p:nvSpPr>
          <p:cNvPr id="7204" name="Line 4"/>
          <p:cNvSpPr>
            <a:spLocks noChangeShapeType="1"/>
          </p:cNvSpPr>
          <p:nvPr/>
        </p:nvSpPr>
        <p:spPr bwMode="auto">
          <a:xfrm>
            <a:off x="2978150" y="5637213"/>
            <a:ext cx="419100" cy="6350"/>
          </a:xfrm>
          <a:prstGeom prst="line">
            <a:avLst/>
          </a:prstGeom>
          <a:noFill/>
          <a:ln w="12700" cap="rnd">
            <a:solidFill>
              <a:srgbClr val="003366"/>
            </a:solidFill>
            <a:prstDash val="sysDot"/>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TW" altLang="en-US" sz="1800" b="0" i="0" u="none" strike="noStrike" kern="1200" cap="none" spc="0" normalizeH="0" baseline="0" noProof="0" smtClean="0">
              <a:ln>
                <a:noFill/>
              </a:ln>
              <a:solidFill>
                <a:srgbClr val="080808"/>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836009460"/>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1043608" y="3933056"/>
            <a:ext cx="6255488" cy="1362075"/>
          </a:xfrm>
        </p:spPr>
        <p:txBody>
          <a:bodyPr>
            <a:normAutofit fontScale="90000"/>
          </a:bodyPr>
          <a:lstStyle/>
          <a:p>
            <a:pPr algn="ctr"/>
            <a:r>
              <a:rPr lang="zh-TW" altLang="en-US" dirty="0" smtClean="0">
                <a:solidFill>
                  <a:srgbClr val="0000FF"/>
                </a:solidFill>
              </a:rPr>
              <a:t>第</a:t>
            </a:r>
            <a:r>
              <a:rPr lang="en-US" altLang="zh-TW" dirty="0">
                <a:solidFill>
                  <a:srgbClr val="0000FF"/>
                </a:solidFill>
              </a:rPr>
              <a:t>7</a:t>
            </a:r>
            <a:r>
              <a:rPr lang="zh-TW" altLang="en-US" dirty="0">
                <a:solidFill>
                  <a:srgbClr val="0000FF"/>
                </a:solidFill>
              </a:rPr>
              <a:t>章 </a:t>
            </a:r>
            <a:r>
              <a:rPr lang="zh-TW" altLang="en-US" dirty="0" smtClean="0">
                <a:solidFill>
                  <a:srgbClr val="0000FF"/>
                </a:solidFill>
              </a:rPr>
              <a:t> </a:t>
            </a:r>
            <a:r>
              <a:rPr lang="en-US" altLang="zh-TW" dirty="0" smtClean="0">
                <a:solidFill>
                  <a:srgbClr val="0000FF"/>
                </a:solidFill>
              </a:rPr>
              <a:t/>
            </a:r>
            <a:br>
              <a:rPr lang="en-US" altLang="zh-TW" dirty="0" smtClean="0">
                <a:solidFill>
                  <a:srgbClr val="0000FF"/>
                </a:solidFill>
              </a:rPr>
            </a:br>
            <a:r>
              <a:rPr lang="zh-TW" altLang="en-US" dirty="0" smtClean="0">
                <a:solidFill>
                  <a:srgbClr val="0000FF"/>
                </a:solidFill>
              </a:rPr>
              <a:t>基礎</a:t>
            </a:r>
            <a:r>
              <a:rPr lang="zh-TW" altLang="en-US" dirty="0">
                <a:solidFill>
                  <a:srgbClr val="0000FF"/>
                </a:solidFill>
              </a:rPr>
              <a:t>密碼學</a:t>
            </a:r>
            <a:br>
              <a:rPr lang="zh-TW" altLang="en-US" dirty="0">
                <a:solidFill>
                  <a:srgbClr val="0000FF"/>
                </a:solidFill>
              </a:rPr>
            </a:br>
            <a:endParaRPr lang="zh-TW" altLang="en-US" dirty="0">
              <a:solidFill>
                <a:srgbClr val="0000FF"/>
              </a:solidFill>
            </a:endParaRPr>
          </a:p>
        </p:txBody>
      </p:sp>
      <p:sp>
        <p:nvSpPr>
          <p:cNvPr id="3" name="文字版面配置區 2"/>
          <p:cNvSpPr>
            <a:spLocks noGrp="1"/>
          </p:cNvSpPr>
          <p:nvPr>
            <p:ph type="body" idx="1"/>
          </p:nvPr>
        </p:nvSpPr>
        <p:spPr>
          <a:xfrm>
            <a:off x="1115616" y="1124744"/>
            <a:ext cx="6255488" cy="1379984"/>
          </a:xfrm>
        </p:spPr>
        <p:txBody>
          <a:bodyPr>
            <a:normAutofit/>
          </a:bodyPr>
          <a:lstStyle/>
          <a:p>
            <a:pPr algn="ctr"/>
            <a:r>
              <a:rPr lang="zh-TW" altLang="en-US" sz="4200" b="1" cap="all" dirty="0" smtClean="0">
                <a:ln w="500">
                  <a:solidFill>
                    <a:schemeClr val="tx2">
                      <a:shade val="20000"/>
                      <a:satMod val="120000"/>
                    </a:schemeClr>
                  </a:solidFill>
                </a:ln>
                <a:solidFill>
                  <a:srgbClr val="FF0000"/>
                </a:solidFill>
                <a:cs typeface="Arial" pitchFamily="34" charset="0"/>
              </a:rPr>
              <a:t>第</a:t>
            </a:r>
            <a:r>
              <a:rPr lang="zh-TW" altLang="en-US" sz="4200" b="1" cap="all" dirty="0">
                <a:ln w="500">
                  <a:solidFill>
                    <a:schemeClr val="tx2">
                      <a:shade val="20000"/>
                      <a:satMod val="120000"/>
                    </a:schemeClr>
                  </a:solidFill>
                </a:ln>
                <a:solidFill>
                  <a:srgbClr val="FF0000"/>
                </a:solidFill>
                <a:cs typeface="Arial" pitchFamily="34" charset="0"/>
              </a:rPr>
              <a:t>四</a:t>
            </a:r>
            <a:r>
              <a:rPr lang="zh-TW" altLang="en-US" sz="4200" b="1" cap="all" dirty="0" smtClean="0">
                <a:ln w="500">
                  <a:solidFill>
                    <a:schemeClr val="tx2">
                      <a:shade val="20000"/>
                      <a:satMod val="120000"/>
                    </a:schemeClr>
                  </a:solidFill>
                </a:ln>
                <a:solidFill>
                  <a:srgbClr val="FF0000"/>
                </a:solidFill>
                <a:cs typeface="Arial" pitchFamily="34" charset="0"/>
              </a:rPr>
              <a:t>篇 </a:t>
            </a:r>
            <a:endParaRPr lang="en-US" altLang="zh-TW" sz="4200" b="1" cap="all" dirty="0">
              <a:ln w="500">
                <a:solidFill>
                  <a:schemeClr val="tx2">
                    <a:shade val="20000"/>
                    <a:satMod val="120000"/>
                  </a:schemeClr>
                </a:solidFill>
              </a:ln>
              <a:solidFill>
                <a:srgbClr val="FF0000"/>
              </a:solidFill>
              <a:cs typeface="Arial" pitchFamily="34" charset="0"/>
            </a:endParaRPr>
          </a:p>
          <a:p>
            <a:pPr algn="ctr"/>
            <a:r>
              <a:rPr lang="zh-TW" altLang="en-US" sz="4200" b="1" cap="all" dirty="0">
                <a:ln w="500">
                  <a:solidFill>
                    <a:schemeClr val="tx2">
                      <a:shade val="20000"/>
                      <a:satMod val="120000"/>
                    </a:schemeClr>
                  </a:solidFill>
                </a:ln>
                <a:solidFill>
                  <a:srgbClr val="FF0000"/>
                </a:solidFill>
                <a:cs typeface="Arial" pitchFamily="34" charset="0"/>
              </a:rPr>
              <a:t>安全架構</a:t>
            </a:r>
          </a:p>
        </p:txBody>
      </p:sp>
    </p:spTree>
    <p:extLst>
      <p:ext uri="{BB962C8B-B14F-4D97-AF65-F5344CB8AC3E}">
        <p14:creationId xmlns:p14="http://schemas.microsoft.com/office/powerpoint/2010/main" val="59956057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302780" y="1124744"/>
            <a:ext cx="8215370" cy="5186976"/>
          </a:xfrm>
        </p:spPr>
        <p:txBody>
          <a:bodyPr>
            <a:normAutofit fontScale="92500" lnSpcReduction="20000"/>
          </a:bodyPr>
          <a:lstStyle/>
          <a:p>
            <a:r>
              <a:rPr lang="en-US" altLang="zh-TW" dirty="0" smtClean="0">
                <a:latin typeface="標楷體" panose="03000509000000000000" pitchFamily="65" charset="-120"/>
                <a:ea typeface="標楷體" panose="03000509000000000000" pitchFamily="65" charset="-120"/>
              </a:rPr>
              <a:t>1. Definition </a:t>
            </a:r>
            <a:r>
              <a:rPr lang="zh-TW" altLang="en-US" dirty="0" smtClean="0">
                <a:latin typeface="標楷體" panose="03000509000000000000" pitchFamily="65" charset="-120"/>
                <a:ea typeface="標楷體" panose="03000509000000000000" pitchFamily="65" charset="-120"/>
              </a:rPr>
              <a:t>定義</a:t>
            </a:r>
            <a:r>
              <a:rPr lang="en-US" altLang="zh-TW" dirty="0" smtClean="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資訊安全核心</a:t>
            </a:r>
            <a:r>
              <a:rPr lang="en-US" altLang="zh-TW" dirty="0" smtClean="0">
                <a:latin typeface="標楷體" panose="03000509000000000000" pitchFamily="65" charset="-120"/>
                <a:ea typeface="標楷體" panose="03000509000000000000" pitchFamily="65" charset="-120"/>
              </a:rPr>
              <a:t>kernel)</a:t>
            </a:r>
          </a:p>
          <a:p>
            <a:r>
              <a:rPr lang="en-US" altLang="zh-TW" dirty="0" smtClean="0">
                <a:latin typeface="標楷體" panose="03000509000000000000" pitchFamily="65" charset="-120"/>
                <a:ea typeface="標楷體" panose="03000509000000000000" pitchFamily="65" charset="-120"/>
              </a:rPr>
              <a:t>2. Important </a:t>
            </a:r>
            <a:r>
              <a:rPr lang="zh-TW" altLang="en-US" dirty="0" smtClean="0">
                <a:latin typeface="標楷體" panose="03000509000000000000" pitchFamily="65" charset="-120"/>
                <a:ea typeface="標楷體" panose="03000509000000000000" pitchFamily="65" charset="-120"/>
              </a:rPr>
              <a:t>重要性</a:t>
            </a:r>
            <a:r>
              <a:rPr lang="en-US" altLang="zh-TW" dirty="0" smtClean="0">
                <a:latin typeface="標楷體" panose="03000509000000000000" pitchFamily="65" charset="-120"/>
                <a:ea typeface="標楷體" panose="03000509000000000000" pitchFamily="65" charset="-120"/>
              </a:rPr>
              <a:t> (war history/instances)</a:t>
            </a:r>
          </a:p>
          <a:p>
            <a:r>
              <a:rPr lang="en-US" altLang="zh-TW" dirty="0" smtClean="0">
                <a:latin typeface="標楷體" panose="03000509000000000000" pitchFamily="65" charset="-120"/>
                <a:ea typeface="標楷體" panose="03000509000000000000" pitchFamily="65" charset="-120"/>
              </a:rPr>
              <a:t>3. Classical/Traditional (</a:t>
            </a:r>
            <a:r>
              <a:rPr lang="zh-TW" altLang="en-US" dirty="0" smtClean="0">
                <a:latin typeface="標楷體" panose="03000509000000000000" pitchFamily="65" charset="-120"/>
                <a:ea typeface="標楷體" panose="03000509000000000000" pitchFamily="65" charset="-120"/>
              </a:rPr>
              <a:t>古典</a:t>
            </a:r>
            <a:r>
              <a:rPr lang="en-US" altLang="zh-TW" dirty="0" smtClean="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傳統</a:t>
            </a:r>
            <a:r>
              <a:rPr lang="en-US" altLang="zh-TW" dirty="0" smtClean="0">
                <a:latin typeface="標楷體" panose="03000509000000000000" pitchFamily="65" charset="-120"/>
                <a:ea typeface="標楷體" panose="03000509000000000000" pitchFamily="65" charset="-120"/>
              </a:rPr>
              <a:t>)</a:t>
            </a:r>
          </a:p>
          <a:p>
            <a:r>
              <a:rPr lang="en-US" altLang="zh-TW" dirty="0" smtClean="0">
                <a:latin typeface="標楷體" panose="03000509000000000000" pitchFamily="65" charset="-120"/>
                <a:ea typeface="標楷體" panose="03000509000000000000" pitchFamily="65" charset="-120"/>
              </a:rPr>
              <a:t>4. Modern</a:t>
            </a:r>
            <a:r>
              <a:rPr lang="zh-TW" altLang="en-US" dirty="0" smtClean="0">
                <a:latin typeface="標楷體" panose="03000509000000000000" pitchFamily="65" charset="-120"/>
                <a:ea typeface="標楷體" panose="03000509000000000000" pitchFamily="65" charset="-120"/>
              </a:rPr>
              <a:t>現代</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solidFill>
                  <a:srgbClr val="FF0000"/>
                </a:solidFill>
                <a:latin typeface="標楷體" panose="03000509000000000000" pitchFamily="65" charset="-120"/>
                <a:ea typeface="標楷體" panose="03000509000000000000" pitchFamily="65" charset="-120"/>
              </a:rPr>
              <a:t>Encrypt/Decrypt (</a:t>
            </a:r>
            <a:r>
              <a:rPr lang="zh-TW" altLang="en-US" dirty="0" smtClean="0">
                <a:solidFill>
                  <a:srgbClr val="FF0000"/>
                </a:solidFill>
                <a:latin typeface="標楷體" panose="03000509000000000000" pitchFamily="65" charset="-120"/>
                <a:ea typeface="標楷體" panose="03000509000000000000" pitchFamily="65" charset="-120"/>
              </a:rPr>
              <a:t>加密</a:t>
            </a:r>
            <a:r>
              <a:rPr lang="en-US" altLang="zh-TW" dirty="0" smtClean="0">
                <a:solidFill>
                  <a:srgbClr val="FF0000"/>
                </a:solidFill>
                <a:latin typeface="標楷體" panose="03000509000000000000" pitchFamily="65" charset="-120"/>
                <a:ea typeface="標楷體" panose="03000509000000000000" pitchFamily="65" charset="-120"/>
              </a:rPr>
              <a:t>/</a:t>
            </a:r>
            <a:r>
              <a:rPr lang="zh-TW" altLang="en-US" dirty="0" smtClean="0">
                <a:solidFill>
                  <a:srgbClr val="FF0000"/>
                </a:solidFill>
                <a:latin typeface="標楷體" panose="03000509000000000000" pitchFamily="65" charset="-120"/>
                <a:ea typeface="標楷體" panose="03000509000000000000" pitchFamily="65" charset="-120"/>
              </a:rPr>
              <a:t>解密</a:t>
            </a:r>
            <a:r>
              <a:rPr lang="en-US" altLang="zh-TW" dirty="0" smtClean="0">
                <a:solidFill>
                  <a:srgbClr val="FF0000"/>
                </a:solidFill>
                <a:latin typeface="標楷體" panose="03000509000000000000" pitchFamily="65" charset="-120"/>
                <a:ea typeface="標楷體" panose="03000509000000000000" pitchFamily="65" charset="-120"/>
              </a:rPr>
              <a:t>)</a:t>
            </a:r>
          </a:p>
          <a:p>
            <a:pPr lvl="2"/>
            <a:r>
              <a:rPr lang="en-US" altLang="zh-TW" dirty="0" smtClean="0">
                <a:latin typeface="標楷體" panose="03000509000000000000" pitchFamily="65" charset="-120"/>
                <a:ea typeface="標楷體" panose="03000509000000000000" pitchFamily="65" charset="-120"/>
              </a:rPr>
              <a:t>Symmetric/Asymmetric (</a:t>
            </a:r>
            <a:r>
              <a:rPr lang="zh-TW" altLang="en-US" dirty="0" smtClean="0">
                <a:latin typeface="標楷體" panose="03000509000000000000" pitchFamily="65" charset="-120"/>
                <a:ea typeface="標楷體" panose="03000509000000000000" pitchFamily="65" charset="-120"/>
              </a:rPr>
              <a:t>對稱加密</a:t>
            </a:r>
            <a:r>
              <a:rPr lang="en-US" altLang="zh-TW" dirty="0" smtClean="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非</a:t>
            </a:r>
            <a:r>
              <a:rPr lang="zh-TW" altLang="en-US" dirty="0">
                <a:latin typeface="標楷體" panose="03000509000000000000" pitchFamily="65" charset="-120"/>
                <a:ea typeface="標楷體" panose="03000509000000000000" pitchFamily="65" charset="-120"/>
              </a:rPr>
              <a:t>對稱加</a:t>
            </a:r>
            <a:r>
              <a:rPr lang="zh-TW" altLang="en-US" dirty="0" smtClean="0">
                <a:latin typeface="標楷體" panose="03000509000000000000" pitchFamily="65" charset="-120"/>
                <a:ea typeface="標楷體" panose="03000509000000000000" pitchFamily="65" charset="-120"/>
              </a:rPr>
              <a:t>密</a:t>
            </a:r>
            <a:r>
              <a:rPr lang="en-US" altLang="zh-TW" dirty="0" smtClean="0">
                <a:latin typeface="標楷體" panose="03000509000000000000" pitchFamily="65" charset="-120"/>
                <a:ea typeface="標楷體" panose="03000509000000000000" pitchFamily="65" charset="-120"/>
              </a:rPr>
              <a:t>) Key</a:t>
            </a:r>
            <a:r>
              <a:rPr lang="zh-TW" altLang="en-US" dirty="0" smtClean="0">
                <a:latin typeface="標楷體" panose="03000509000000000000" pitchFamily="65" charset="-120"/>
                <a:ea typeface="標楷體" panose="03000509000000000000" pitchFamily="65" charset="-120"/>
              </a:rPr>
              <a:t>數量</a:t>
            </a:r>
            <a:endParaRPr lang="en-US" altLang="zh-TW" dirty="0" smtClean="0">
              <a:latin typeface="標楷體" panose="03000509000000000000" pitchFamily="65" charset="-120"/>
              <a:ea typeface="標楷體" panose="03000509000000000000" pitchFamily="65" charset="-120"/>
            </a:endParaRPr>
          </a:p>
          <a:p>
            <a:pPr lvl="2"/>
            <a:r>
              <a:rPr lang="en-US" altLang="zh-TW" dirty="0" smtClean="0">
                <a:latin typeface="標楷體" panose="03000509000000000000" pitchFamily="65" charset="-120"/>
                <a:ea typeface="標楷體" panose="03000509000000000000" pitchFamily="65" charset="-120"/>
              </a:rPr>
              <a:t>Block cipher/Stream cipher (</a:t>
            </a:r>
            <a:r>
              <a:rPr lang="zh-TW" altLang="en-US" dirty="0" smtClean="0">
                <a:latin typeface="標楷體" panose="03000509000000000000" pitchFamily="65" charset="-120"/>
                <a:ea typeface="標楷體" panose="03000509000000000000" pitchFamily="65" charset="-120"/>
              </a:rPr>
              <a:t>區塊密碼</a:t>
            </a:r>
            <a:r>
              <a:rPr lang="en-US" altLang="zh-TW" dirty="0" smtClean="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串流密碼</a:t>
            </a:r>
            <a:r>
              <a:rPr lang="en-US" altLang="zh-TW" dirty="0" smtClean="0">
                <a:latin typeface="標楷體" panose="03000509000000000000" pitchFamily="65" charset="-120"/>
                <a:ea typeface="標楷體" panose="03000509000000000000" pitchFamily="65" charset="-120"/>
              </a:rPr>
              <a:t>)</a:t>
            </a:r>
          </a:p>
          <a:p>
            <a:pPr lvl="1"/>
            <a:r>
              <a:rPr lang="en-US" altLang="zh-TW" dirty="0" smtClean="0">
                <a:solidFill>
                  <a:srgbClr val="FF0000"/>
                </a:solidFill>
                <a:latin typeface="標楷體" panose="03000509000000000000" pitchFamily="65" charset="-120"/>
                <a:ea typeface="標楷體" panose="03000509000000000000" pitchFamily="65" charset="-120"/>
              </a:rPr>
              <a:t>Signature </a:t>
            </a:r>
            <a:r>
              <a:rPr lang="zh-TW" altLang="en-US" dirty="0" smtClean="0">
                <a:solidFill>
                  <a:srgbClr val="FF0000"/>
                </a:solidFill>
                <a:latin typeface="標楷體" panose="03000509000000000000" pitchFamily="65" charset="-120"/>
                <a:ea typeface="標楷體" panose="03000509000000000000" pitchFamily="65" charset="-120"/>
              </a:rPr>
              <a:t>簽章</a:t>
            </a:r>
            <a:endParaRPr lang="en-US" altLang="zh-TW" dirty="0" smtClean="0">
              <a:solidFill>
                <a:srgbClr val="FF0000"/>
              </a:solidFill>
              <a:latin typeface="標楷體" panose="03000509000000000000" pitchFamily="65" charset="-120"/>
              <a:ea typeface="標楷體" panose="03000509000000000000" pitchFamily="65" charset="-120"/>
            </a:endParaRPr>
          </a:p>
          <a:p>
            <a:pPr lvl="1"/>
            <a:r>
              <a:rPr lang="en-US" altLang="zh-TW" dirty="0" smtClean="0">
                <a:solidFill>
                  <a:srgbClr val="FF0000"/>
                </a:solidFill>
                <a:latin typeface="標楷體" panose="03000509000000000000" pitchFamily="65" charset="-120"/>
                <a:ea typeface="標楷體" panose="03000509000000000000" pitchFamily="65" charset="-120"/>
              </a:rPr>
              <a:t>Authentication </a:t>
            </a:r>
            <a:r>
              <a:rPr lang="zh-TW" altLang="en-US" dirty="0" smtClean="0">
                <a:solidFill>
                  <a:srgbClr val="FF0000"/>
                </a:solidFill>
                <a:latin typeface="標楷體" panose="03000509000000000000" pitchFamily="65" charset="-120"/>
                <a:ea typeface="標楷體" panose="03000509000000000000" pitchFamily="65" charset="-120"/>
              </a:rPr>
              <a:t>鑑別</a:t>
            </a:r>
            <a:endParaRPr lang="en-US" altLang="zh-TW" dirty="0" smtClean="0">
              <a:solidFill>
                <a:srgbClr val="FF0000"/>
              </a:solidFill>
              <a:latin typeface="標楷體" panose="03000509000000000000" pitchFamily="65" charset="-120"/>
              <a:ea typeface="標楷體" panose="03000509000000000000" pitchFamily="65" charset="-120"/>
            </a:endParaRPr>
          </a:p>
          <a:p>
            <a:pPr lvl="1"/>
            <a:r>
              <a:rPr lang="en-US" altLang="zh-TW" dirty="0" smtClean="0">
                <a:solidFill>
                  <a:srgbClr val="FF0000"/>
                </a:solidFill>
                <a:latin typeface="標楷體" panose="03000509000000000000" pitchFamily="65" charset="-120"/>
                <a:ea typeface="標楷體" panose="03000509000000000000" pitchFamily="65" charset="-120"/>
              </a:rPr>
              <a:t>Authorization </a:t>
            </a:r>
            <a:r>
              <a:rPr lang="zh-TW" altLang="en-US" dirty="0" smtClean="0">
                <a:solidFill>
                  <a:srgbClr val="FF0000"/>
                </a:solidFill>
                <a:latin typeface="標楷體" panose="03000509000000000000" pitchFamily="65" charset="-120"/>
                <a:ea typeface="標楷體" panose="03000509000000000000" pitchFamily="65" charset="-120"/>
              </a:rPr>
              <a:t>授權</a:t>
            </a:r>
            <a:endParaRPr lang="en-US" altLang="zh-TW" dirty="0" smtClean="0">
              <a:solidFill>
                <a:srgbClr val="FF0000"/>
              </a:solidFill>
              <a:latin typeface="標楷體" panose="03000509000000000000" pitchFamily="65" charset="-120"/>
              <a:ea typeface="標楷體" panose="03000509000000000000" pitchFamily="65" charset="-120"/>
            </a:endParaRPr>
          </a:p>
          <a:p>
            <a:pPr lvl="1"/>
            <a:r>
              <a:rPr lang="en-US" altLang="zh-TW" dirty="0">
                <a:solidFill>
                  <a:srgbClr val="FF0000"/>
                </a:solidFill>
                <a:latin typeface="標楷體" panose="03000509000000000000" pitchFamily="65" charset="-120"/>
                <a:ea typeface="標楷體" panose="03000509000000000000" pitchFamily="65" charset="-120"/>
              </a:rPr>
              <a:t>Leak </a:t>
            </a:r>
            <a:r>
              <a:rPr lang="zh-TW" altLang="en-US" dirty="0" smtClean="0">
                <a:solidFill>
                  <a:srgbClr val="FF0000"/>
                </a:solidFill>
                <a:latin typeface="標楷體" panose="03000509000000000000" pitchFamily="65" charset="-120"/>
                <a:ea typeface="標楷體" panose="03000509000000000000" pitchFamily="65" charset="-120"/>
              </a:rPr>
              <a:t>洩漏</a:t>
            </a:r>
            <a:endParaRPr lang="en-US" altLang="zh-TW" dirty="0" smtClean="0">
              <a:solidFill>
                <a:srgbClr val="FF0000"/>
              </a:solidFill>
              <a:latin typeface="標楷體" panose="03000509000000000000" pitchFamily="65" charset="-120"/>
              <a:ea typeface="標楷體" panose="03000509000000000000" pitchFamily="65" charset="-120"/>
            </a:endParaRPr>
          </a:p>
          <a:p>
            <a:pPr lvl="1"/>
            <a:r>
              <a:rPr lang="en-US" altLang="zh-TW" dirty="0">
                <a:solidFill>
                  <a:srgbClr val="FF0000"/>
                </a:solidFill>
                <a:latin typeface="標楷體" panose="03000509000000000000" pitchFamily="65" charset="-120"/>
                <a:ea typeface="標楷體" panose="03000509000000000000" pitchFamily="65" charset="-120"/>
              </a:rPr>
              <a:t>Tamper </a:t>
            </a:r>
            <a:r>
              <a:rPr lang="zh-TW" altLang="en-US" dirty="0" smtClean="0">
                <a:solidFill>
                  <a:srgbClr val="FF0000"/>
                </a:solidFill>
                <a:latin typeface="標楷體" panose="03000509000000000000" pitchFamily="65" charset="-120"/>
                <a:ea typeface="標楷體" panose="03000509000000000000" pitchFamily="65" charset="-120"/>
              </a:rPr>
              <a:t>竄改</a:t>
            </a:r>
            <a:endParaRPr lang="en-US" altLang="zh-TW" dirty="0" smtClean="0">
              <a:solidFill>
                <a:srgbClr val="FF0000"/>
              </a:solidFill>
              <a:latin typeface="標楷體" panose="03000509000000000000" pitchFamily="65" charset="-120"/>
              <a:ea typeface="標楷體" panose="03000509000000000000" pitchFamily="65" charset="-120"/>
            </a:endParaRPr>
          </a:p>
          <a:p>
            <a:pPr lvl="1"/>
            <a:endParaRPr lang="zh-TW" altLang="en-US" dirty="0">
              <a:latin typeface="標楷體" panose="03000509000000000000" pitchFamily="65" charset="-120"/>
              <a:ea typeface="標楷體" panose="03000509000000000000" pitchFamily="65" charset="-120"/>
            </a:endParaRPr>
          </a:p>
        </p:txBody>
      </p:sp>
      <p:sp>
        <p:nvSpPr>
          <p:cNvPr id="3" name="標題 2"/>
          <p:cNvSpPr>
            <a:spLocks noGrp="1"/>
          </p:cNvSpPr>
          <p:nvPr>
            <p:ph type="title"/>
          </p:nvPr>
        </p:nvSpPr>
        <p:spPr>
          <a:xfrm>
            <a:off x="302780" y="188640"/>
            <a:ext cx="8215370" cy="680068"/>
          </a:xfrm>
          <a:solidFill>
            <a:srgbClr val="0000FF"/>
          </a:solidFill>
        </p:spPr>
        <p:txBody>
          <a:bodyPr/>
          <a:lstStyle/>
          <a:p>
            <a:pPr algn="ctr"/>
            <a:r>
              <a:rPr lang="zh-TW" altLang="en-US" sz="4000" dirty="0">
                <a:latin typeface="標楷體" panose="03000509000000000000" pitchFamily="65" charset="-120"/>
                <a:ea typeface="標楷體" panose="03000509000000000000" pitchFamily="65" charset="-120"/>
                <a:cs typeface="Arial" pitchFamily="34" charset="0"/>
              </a:rPr>
              <a:t>密碼</a:t>
            </a:r>
            <a:r>
              <a:rPr lang="zh-TW" altLang="en-US" sz="4000" dirty="0" smtClean="0">
                <a:latin typeface="標楷體" panose="03000509000000000000" pitchFamily="65" charset="-120"/>
                <a:ea typeface="標楷體" panose="03000509000000000000" pitchFamily="65" charset="-120"/>
                <a:cs typeface="Arial" pitchFamily="34" charset="0"/>
              </a:rPr>
              <a:t>學</a:t>
            </a:r>
            <a:r>
              <a:rPr lang="en-US" altLang="zh-TW" sz="4000" dirty="0" smtClean="0">
                <a:latin typeface="標楷體" panose="03000509000000000000" pitchFamily="65" charset="-120"/>
                <a:ea typeface="標楷體" panose="03000509000000000000" pitchFamily="65" charset="-120"/>
                <a:cs typeface="Arial" pitchFamily="34" charset="0"/>
              </a:rPr>
              <a:t>(Cryptography)</a:t>
            </a:r>
            <a:r>
              <a:rPr lang="zh-TW" altLang="en-US" sz="4000" dirty="0" smtClean="0">
                <a:latin typeface="標楷體" panose="03000509000000000000" pitchFamily="65" charset="-120"/>
                <a:ea typeface="標楷體" panose="03000509000000000000" pitchFamily="65" charset="-120"/>
                <a:cs typeface="Arial" pitchFamily="34" charset="0"/>
              </a:rPr>
              <a:t> </a:t>
            </a:r>
            <a:r>
              <a:rPr lang="en-US" altLang="zh-TW" dirty="0" smtClean="0">
                <a:solidFill>
                  <a:srgbClr val="FF0000"/>
                </a:solidFill>
              </a:rPr>
              <a:t>Guide line</a:t>
            </a:r>
            <a:endParaRPr lang="zh-TW" altLang="en-US" dirty="0">
              <a:solidFill>
                <a:srgbClr val="FF0000"/>
              </a:solidFill>
            </a:endParaRPr>
          </a:p>
        </p:txBody>
      </p:sp>
      <p:sp>
        <p:nvSpPr>
          <p:cNvPr id="5" name="矩形 4"/>
          <p:cNvSpPr/>
          <p:nvPr/>
        </p:nvSpPr>
        <p:spPr>
          <a:xfrm>
            <a:off x="4860032" y="4221088"/>
            <a:ext cx="3545911" cy="2520280"/>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sz="2800" dirty="0" smtClean="0">
                <a:solidFill>
                  <a:schemeClr val="bg1"/>
                </a:solidFill>
              </a:rPr>
              <a:t>達成</a:t>
            </a:r>
            <a:r>
              <a:rPr lang="en-US" altLang="zh-TW" dirty="0" smtClean="0"/>
              <a:t/>
            </a:r>
            <a:br>
              <a:rPr lang="en-US" altLang="zh-TW" dirty="0" smtClean="0"/>
            </a:br>
            <a:r>
              <a:rPr lang="en-US" altLang="zh-TW" dirty="0" smtClean="0"/>
              <a:t>1. Confidentiality </a:t>
            </a:r>
            <a:r>
              <a:rPr lang="zh-TW" altLang="en-US" dirty="0"/>
              <a:t>機密性</a:t>
            </a:r>
          </a:p>
          <a:p>
            <a:r>
              <a:rPr lang="en-US" altLang="zh-TW" dirty="0" smtClean="0"/>
              <a:t>2. Integrity </a:t>
            </a:r>
            <a:r>
              <a:rPr lang="zh-TW" altLang="en-US" dirty="0"/>
              <a:t>完整性</a:t>
            </a:r>
          </a:p>
          <a:p>
            <a:r>
              <a:rPr lang="en-US" altLang="zh-TW" dirty="0" smtClean="0"/>
              <a:t>3. Non-repudiation </a:t>
            </a:r>
            <a:r>
              <a:rPr lang="zh-TW" altLang="en-US" dirty="0"/>
              <a:t>不可否認性</a:t>
            </a:r>
          </a:p>
          <a:p>
            <a:r>
              <a:rPr lang="en-US" altLang="zh-TW" dirty="0" smtClean="0"/>
              <a:t>4. Authentication </a:t>
            </a:r>
            <a:r>
              <a:rPr lang="zh-TW" altLang="en-US" dirty="0"/>
              <a:t>身分鑑別</a:t>
            </a:r>
          </a:p>
          <a:p>
            <a:r>
              <a:rPr lang="en-US" altLang="zh-TW" dirty="0"/>
              <a:t>----------------------------</a:t>
            </a:r>
          </a:p>
          <a:p>
            <a:r>
              <a:rPr lang="en-US" altLang="zh-TW" dirty="0" smtClean="0"/>
              <a:t>5.Authority </a:t>
            </a:r>
            <a:r>
              <a:rPr lang="zh-TW" altLang="en-US" dirty="0"/>
              <a:t>授權</a:t>
            </a:r>
            <a:r>
              <a:rPr lang="en-US" altLang="zh-TW" dirty="0"/>
              <a:t>(</a:t>
            </a:r>
            <a:r>
              <a:rPr lang="zh-TW" altLang="en-US" dirty="0"/>
              <a:t>存取權限控制</a:t>
            </a:r>
            <a:r>
              <a:rPr lang="en-US" altLang="zh-TW" dirty="0"/>
              <a:t>)</a:t>
            </a:r>
          </a:p>
          <a:p>
            <a:r>
              <a:rPr lang="en-US" altLang="zh-TW" dirty="0" smtClean="0"/>
              <a:t>6.Availability </a:t>
            </a:r>
            <a:r>
              <a:rPr lang="zh-TW" altLang="en-US" dirty="0"/>
              <a:t>可用性</a:t>
            </a:r>
          </a:p>
        </p:txBody>
      </p:sp>
      <p:cxnSp>
        <p:nvCxnSpPr>
          <p:cNvPr id="7" name="直線單箭頭接點 6"/>
          <p:cNvCxnSpPr/>
          <p:nvPr/>
        </p:nvCxnSpPr>
        <p:spPr>
          <a:xfrm>
            <a:off x="2627784" y="4365104"/>
            <a:ext cx="2160240" cy="10081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直線單箭頭接點 8"/>
          <p:cNvCxnSpPr/>
          <p:nvPr/>
        </p:nvCxnSpPr>
        <p:spPr>
          <a:xfrm>
            <a:off x="3203848" y="4869160"/>
            <a:ext cx="1584176" cy="7920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直線單箭頭接點 10"/>
          <p:cNvCxnSpPr/>
          <p:nvPr/>
        </p:nvCxnSpPr>
        <p:spPr>
          <a:xfrm>
            <a:off x="3059832" y="5229200"/>
            <a:ext cx="1728192" cy="936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直線單箭頭接點 12"/>
          <p:cNvCxnSpPr/>
          <p:nvPr/>
        </p:nvCxnSpPr>
        <p:spPr>
          <a:xfrm flipV="1">
            <a:off x="2051720" y="4869160"/>
            <a:ext cx="2808312" cy="792088"/>
          </a:xfrm>
          <a:prstGeom prst="straightConnector1">
            <a:avLst/>
          </a:prstGeom>
          <a:ln>
            <a:solidFill>
              <a:srgbClr val="0000FF"/>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線單箭頭接點 14"/>
          <p:cNvCxnSpPr/>
          <p:nvPr/>
        </p:nvCxnSpPr>
        <p:spPr>
          <a:xfrm flipV="1">
            <a:off x="2267744" y="5229200"/>
            <a:ext cx="2592288" cy="792088"/>
          </a:xfrm>
          <a:prstGeom prst="straightConnector1">
            <a:avLst/>
          </a:prstGeom>
          <a:ln>
            <a:solidFill>
              <a:srgbClr val="0000FF"/>
            </a:solidFill>
            <a:tailEnd type="triangle"/>
          </a:ln>
        </p:spPr>
        <p:style>
          <a:lnRef idx="1">
            <a:schemeClr val="accent1"/>
          </a:lnRef>
          <a:fillRef idx="0">
            <a:schemeClr val="accent1"/>
          </a:fillRef>
          <a:effectRef idx="0">
            <a:schemeClr val="accent1"/>
          </a:effectRef>
          <a:fontRef idx="minor">
            <a:schemeClr val="tx1"/>
          </a:fontRef>
        </p:style>
      </p:cxnSp>
      <p:sp>
        <p:nvSpPr>
          <p:cNvPr id="4" name="矩形 3"/>
          <p:cNvSpPr/>
          <p:nvPr/>
        </p:nvSpPr>
        <p:spPr>
          <a:xfrm>
            <a:off x="6043969" y="2420888"/>
            <a:ext cx="2361974"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b="1" u="sng" dirty="0" smtClean="0"/>
              <a:t>Steganography</a:t>
            </a:r>
          </a:p>
          <a:p>
            <a:pPr algn="ctr"/>
            <a:r>
              <a:rPr lang="zh-TW" altLang="en-US" b="1" u="sng" dirty="0" smtClean="0"/>
              <a:t>隱藏學</a:t>
            </a:r>
            <a:endParaRPr lang="zh-TW" altLang="en-US" dirty="0"/>
          </a:p>
        </p:txBody>
      </p:sp>
    </p:spTree>
    <p:extLst>
      <p:ext uri="{BB962C8B-B14F-4D97-AF65-F5344CB8AC3E}">
        <p14:creationId xmlns:p14="http://schemas.microsoft.com/office/powerpoint/2010/main" val="3319201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196752"/>
            <a:ext cx="8215370" cy="5258984"/>
          </a:xfrm>
        </p:spPr>
        <p:txBody>
          <a:bodyPr>
            <a:normAutofit fontScale="92500" lnSpcReduction="10000"/>
          </a:bodyPr>
          <a:lstStyle/>
          <a:p>
            <a:r>
              <a:rPr lang="en-US" altLang="zh-TW" dirty="0">
                <a:latin typeface="標楷體" panose="03000509000000000000" pitchFamily="65" charset="-120"/>
                <a:ea typeface="標楷體" panose="03000509000000000000" pitchFamily="65" charset="-120"/>
              </a:rPr>
              <a:t>A.</a:t>
            </a:r>
            <a:r>
              <a:rPr lang="zh-TW" altLang="en-US" dirty="0">
                <a:solidFill>
                  <a:srgbClr val="0000FF"/>
                </a:solidFill>
                <a:latin typeface="標楷體" panose="03000509000000000000" pitchFamily="65" charset="-120"/>
                <a:ea typeface="標楷體" panose="03000509000000000000" pitchFamily="65" charset="-120"/>
              </a:rPr>
              <a:t>密碼學的演進 </a:t>
            </a:r>
            <a:r>
              <a:rPr lang="en-US" altLang="zh-TW" dirty="0">
                <a:solidFill>
                  <a:srgbClr val="0000FF"/>
                </a:solidFill>
                <a:latin typeface="標楷體" panose="03000509000000000000" pitchFamily="65" charset="-120"/>
                <a:ea typeface="標楷體" panose="03000509000000000000" pitchFamily="65" charset="-120"/>
              </a:rPr>
              <a:t>(classical)</a:t>
            </a:r>
          </a:p>
          <a:p>
            <a:r>
              <a:rPr lang="en-US" altLang="zh-TW" dirty="0">
                <a:latin typeface="標楷體" panose="03000509000000000000" pitchFamily="65" charset="-120"/>
                <a:ea typeface="標楷體" panose="03000509000000000000" pitchFamily="65" charset="-120"/>
              </a:rPr>
              <a:t>B.</a:t>
            </a:r>
            <a:r>
              <a:rPr lang="zh-TW" altLang="en-US" dirty="0">
                <a:solidFill>
                  <a:srgbClr val="FF0000"/>
                </a:solidFill>
                <a:latin typeface="標楷體" panose="03000509000000000000" pitchFamily="65" charset="-120"/>
                <a:ea typeface="標楷體" panose="03000509000000000000" pitchFamily="65" charset="-120"/>
              </a:rPr>
              <a:t>近代電腦密碼學 </a:t>
            </a:r>
            <a:r>
              <a:rPr lang="en-US" altLang="zh-TW" dirty="0">
                <a:solidFill>
                  <a:srgbClr val="FF0000"/>
                </a:solidFill>
                <a:latin typeface="標楷體" panose="03000509000000000000" pitchFamily="65" charset="-120"/>
                <a:ea typeface="標楷體" panose="03000509000000000000" pitchFamily="65" charset="-120"/>
              </a:rPr>
              <a:t>(modern)</a:t>
            </a:r>
          </a:p>
          <a:p>
            <a:pPr lvl="1"/>
            <a:r>
              <a:rPr lang="en-US" altLang="zh-TW" dirty="0">
                <a:latin typeface="標楷體" panose="03000509000000000000" pitchFamily="65" charset="-120"/>
                <a:ea typeface="標楷體" panose="03000509000000000000" pitchFamily="65" charset="-120"/>
              </a:rPr>
              <a:t>B.1 </a:t>
            </a:r>
            <a:r>
              <a:rPr lang="zh-TW" altLang="en-US" dirty="0">
                <a:solidFill>
                  <a:srgbClr val="0000FF"/>
                </a:solidFill>
                <a:latin typeface="標楷體" panose="03000509000000000000" pitchFamily="65" charset="-120"/>
                <a:ea typeface="標楷體" panose="03000509000000000000" pitchFamily="65" charset="-120"/>
              </a:rPr>
              <a:t>對</a:t>
            </a:r>
            <a:r>
              <a:rPr lang="zh-TW" altLang="en-US" dirty="0">
                <a:latin typeface="標楷體" panose="03000509000000000000" pitchFamily="65" charset="-120"/>
                <a:ea typeface="標楷體" panose="03000509000000000000" pitchFamily="65" charset="-120"/>
              </a:rPr>
              <a:t>稱式加密</a:t>
            </a:r>
            <a:r>
              <a:rPr lang="en-US" altLang="zh-TW" dirty="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解密 </a:t>
            </a:r>
            <a:r>
              <a:rPr lang="en-US" altLang="zh-TW" dirty="0">
                <a:latin typeface="標楷體" panose="03000509000000000000" pitchFamily="65" charset="-120"/>
                <a:ea typeface="標楷體" panose="03000509000000000000" pitchFamily="65" charset="-120"/>
              </a:rPr>
              <a:t>(Symmetric)</a:t>
            </a:r>
          </a:p>
          <a:p>
            <a:pPr lvl="1"/>
            <a:r>
              <a:rPr lang="en-US" altLang="zh-TW" dirty="0">
                <a:latin typeface="標楷體" panose="03000509000000000000" pitchFamily="65" charset="-120"/>
                <a:ea typeface="標楷體" panose="03000509000000000000" pitchFamily="65" charset="-120"/>
              </a:rPr>
              <a:t>B.2 </a:t>
            </a:r>
            <a:r>
              <a:rPr lang="zh-TW" altLang="en-US" dirty="0">
                <a:solidFill>
                  <a:srgbClr val="FF0000"/>
                </a:solidFill>
                <a:latin typeface="標楷體" panose="03000509000000000000" pitchFamily="65" charset="-120"/>
                <a:ea typeface="標楷體" panose="03000509000000000000" pitchFamily="65" charset="-120"/>
              </a:rPr>
              <a:t>非</a:t>
            </a:r>
            <a:r>
              <a:rPr lang="zh-TW" altLang="en-US" dirty="0">
                <a:latin typeface="標楷體" panose="03000509000000000000" pitchFamily="65" charset="-120"/>
                <a:ea typeface="標楷體" panose="03000509000000000000" pitchFamily="65" charset="-120"/>
              </a:rPr>
              <a:t>對稱式加</a:t>
            </a:r>
            <a:r>
              <a:rPr lang="en-US" altLang="zh-TW" dirty="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解密 </a:t>
            </a:r>
            <a:r>
              <a:rPr lang="en-US" altLang="zh-TW" dirty="0">
                <a:latin typeface="標楷體" panose="03000509000000000000" pitchFamily="65" charset="-120"/>
                <a:ea typeface="標楷體" panose="03000509000000000000" pitchFamily="65" charset="-120"/>
              </a:rPr>
              <a:t>(Asymmetric)</a:t>
            </a:r>
          </a:p>
          <a:p>
            <a:pPr lvl="1"/>
            <a:r>
              <a:rPr lang="en-US" altLang="zh-TW" dirty="0" smtClean="0">
                <a:latin typeface="標楷體" panose="03000509000000000000" pitchFamily="65" charset="-120"/>
                <a:ea typeface="標楷體" panose="03000509000000000000" pitchFamily="65" charset="-120"/>
              </a:rPr>
              <a:t>B.4 </a:t>
            </a:r>
            <a:r>
              <a:rPr lang="zh-TW" altLang="en-US" dirty="0" smtClean="0">
                <a:solidFill>
                  <a:srgbClr val="FF0000"/>
                </a:solidFill>
                <a:latin typeface="標楷體" panose="03000509000000000000" pitchFamily="65" charset="-120"/>
                <a:ea typeface="標楷體" panose="03000509000000000000" pitchFamily="65" charset="-120"/>
              </a:rPr>
              <a:t>非</a:t>
            </a:r>
            <a:r>
              <a:rPr lang="zh-TW" altLang="en-US" dirty="0" smtClean="0">
                <a:latin typeface="標楷體" panose="03000509000000000000" pitchFamily="65" charset="-120"/>
                <a:ea typeface="標楷體" panose="03000509000000000000" pitchFamily="65" charset="-120"/>
              </a:rPr>
              <a:t>對稱式簽</a:t>
            </a:r>
            <a:r>
              <a:rPr lang="en-US" altLang="zh-TW" dirty="0" smtClean="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驗章 </a:t>
            </a:r>
            <a:r>
              <a:rPr lang="en-US" altLang="zh-TW" dirty="0" smtClean="0">
                <a:latin typeface="標楷體" panose="03000509000000000000" pitchFamily="65" charset="-120"/>
                <a:ea typeface="標楷體" panose="03000509000000000000" pitchFamily="65" charset="-120"/>
              </a:rPr>
              <a:t>(</a:t>
            </a:r>
            <a:r>
              <a:rPr lang="en-US" altLang="zh-TW" dirty="0">
                <a:latin typeface="標楷體" panose="03000509000000000000" pitchFamily="65" charset="-120"/>
                <a:ea typeface="標楷體" panose="03000509000000000000" pitchFamily="65" charset="-120"/>
              </a:rPr>
              <a:t>Signature</a:t>
            </a:r>
            <a:r>
              <a:rPr lang="en-US" altLang="zh-TW" dirty="0" smtClean="0">
                <a:latin typeface="標楷體" panose="03000509000000000000" pitchFamily="65" charset="-120"/>
                <a:ea typeface="標楷體" panose="03000509000000000000" pitchFamily="65" charset="-120"/>
              </a:rPr>
              <a:t>)</a:t>
            </a:r>
          </a:p>
          <a:p>
            <a:pPr lvl="1"/>
            <a:r>
              <a:rPr lang="en-US" altLang="zh-TW" dirty="0">
                <a:latin typeface="標楷體" panose="03000509000000000000" pitchFamily="65" charset="-120"/>
                <a:ea typeface="標楷體" panose="03000509000000000000" pitchFamily="65" charset="-120"/>
              </a:rPr>
              <a:t>B.3 </a:t>
            </a:r>
            <a:r>
              <a:rPr lang="zh-TW" altLang="en-US" dirty="0">
                <a:latin typeface="標楷體" panose="03000509000000000000" pitchFamily="65" charset="-120"/>
                <a:ea typeface="標楷體" panose="03000509000000000000" pitchFamily="65" charset="-120"/>
              </a:rPr>
              <a:t>雜湊函數 </a:t>
            </a:r>
            <a:r>
              <a:rPr lang="en-US" altLang="zh-TW" dirty="0">
                <a:latin typeface="標楷體" panose="03000509000000000000" pitchFamily="65" charset="-120"/>
                <a:ea typeface="標楷體" panose="03000509000000000000" pitchFamily="65" charset="-120"/>
              </a:rPr>
              <a:t>(HASH</a:t>
            </a:r>
            <a:r>
              <a:rPr lang="en-US" altLang="zh-TW" dirty="0" smtClean="0">
                <a:latin typeface="標楷體" panose="03000509000000000000" pitchFamily="65" charset="-120"/>
                <a:ea typeface="標楷體" panose="03000509000000000000" pitchFamily="65" charset="-120"/>
              </a:rPr>
              <a:t>)</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latin typeface="標楷體" panose="03000509000000000000" pitchFamily="65" charset="-120"/>
                <a:ea typeface="標楷體" panose="03000509000000000000" pitchFamily="65" charset="-120"/>
              </a:rPr>
              <a:t>B.5 </a:t>
            </a:r>
            <a:r>
              <a:rPr lang="zh-TW" altLang="en-US" dirty="0">
                <a:solidFill>
                  <a:srgbClr val="0000FF"/>
                </a:solidFill>
                <a:latin typeface="標楷體" panose="03000509000000000000" pitchFamily="65" charset="-120"/>
                <a:ea typeface="標楷體" panose="03000509000000000000" pitchFamily="65" charset="-120"/>
              </a:rPr>
              <a:t>數位信封</a:t>
            </a:r>
            <a:r>
              <a:rPr lang="en-US" altLang="zh-TW" dirty="0">
                <a:latin typeface="標楷體" panose="03000509000000000000" pitchFamily="65" charset="-120"/>
                <a:ea typeface="標楷體" panose="03000509000000000000" pitchFamily="65" charset="-120"/>
              </a:rPr>
              <a:t>(</a:t>
            </a:r>
            <a:r>
              <a:rPr lang="en-US" altLang="zh-TW" dirty="0" smtClean="0">
                <a:latin typeface="標楷體" panose="03000509000000000000" pitchFamily="65" charset="-120"/>
                <a:ea typeface="標楷體" panose="03000509000000000000" pitchFamily="65" charset="-120"/>
              </a:rPr>
              <a:t>Digital  </a:t>
            </a:r>
            <a:r>
              <a:rPr lang="en-US" altLang="zh-TW" dirty="0">
                <a:latin typeface="標楷體" panose="03000509000000000000" pitchFamily="65" charset="-120"/>
                <a:ea typeface="標楷體" panose="03000509000000000000" pitchFamily="65" charset="-120"/>
              </a:rPr>
              <a:t>Envelope)</a:t>
            </a:r>
          </a:p>
          <a:p>
            <a:pPr lvl="1"/>
            <a:r>
              <a:rPr lang="en-US" altLang="zh-TW" i="1" dirty="0" smtClean="0">
                <a:solidFill>
                  <a:srgbClr val="FFC000"/>
                </a:solidFill>
                <a:latin typeface="標楷體" panose="03000509000000000000" pitchFamily="65" charset="-120"/>
                <a:ea typeface="標楷體" panose="03000509000000000000" pitchFamily="65" charset="-120"/>
              </a:rPr>
              <a:t>B.6 </a:t>
            </a:r>
            <a:r>
              <a:rPr lang="zh-TW" altLang="en-US" i="1" dirty="0">
                <a:solidFill>
                  <a:srgbClr val="FFC000"/>
                </a:solidFill>
                <a:latin typeface="標楷體" panose="03000509000000000000" pitchFamily="65" charset="-120"/>
                <a:ea typeface="標楷體" panose="03000509000000000000" pitchFamily="65" charset="-120"/>
              </a:rPr>
              <a:t>對稱式加密的模式 </a:t>
            </a:r>
            <a:r>
              <a:rPr lang="en-US" altLang="zh-TW" i="1" dirty="0">
                <a:solidFill>
                  <a:srgbClr val="FFC000"/>
                </a:solidFill>
                <a:latin typeface="標楷體" panose="03000509000000000000" pitchFamily="65" charset="-120"/>
                <a:ea typeface="標楷體" panose="03000509000000000000" pitchFamily="65" charset="-120"/>
              </a:rPr>
              <a:t>(mode)</a:t>
            </a:r>
          </a:p>
          <a:p>
            <a:pPr lvl="1"/>
            <a:r>
              <a:rPr lang="en-US" altLang="zh-TW" dirty="0" smtClean="0">
                <a:latin typeface="標楷體" panose="03000509000000000000" pitchFamily="65" charset="-120"/>
                <a:ea typeface="標楷體" panose="03000509000000000000" pitchFamily="65" charset="-120"/>
              </a:rPr>
              <a:t>B.7 </a:t>
            </a:r>
            <a:r>
              <a:rPr lang="en-US" altLang="zh-TW" dirty="0">
                <a:latin typeface="標楷體" panose="03000509000000000000" pitchFamily="65" charset="-120"/>
                <a:ea typeface="標楷體" panose="03000509000000000000" pitchFamily="65" charset="-120"/>
              </a:rPr>
              <a:t>PKI</a:t>
            </a:r>
            <a:r>
              <a:rPr lang="zh-TW" altLang="en-US" dirty="0">
                <a:latin typeface="標楷體" panose="03000509000000000000" pitchFamily="65" charset="-120"/>
                <a:ea typeface="標楷體" panose="03000509000000000000" pitchFamily="65" charset="-120"/>
              </a:rPr>
              <a:t>的架構及其它的應用 </a:t>
            </a:r>
            <a:r>
              <a:rPr lang="en-US" altLang="zh-TW" dirty="0">
                <a:latin typeface="標楷體" panose="03000509000000000000" pitchFamily="65" charset="-120"/>
                <a:ea typeface="標楷體" panose="03000509000000000000" pitchFamily="65" charset="-120"/>
              </a:rPr>
              <a:t>(</a:t>
            </a:r>
            <a:r>
              <a:rPr lang="en-US" altLang="zh-TW" dirty="0" smtClean="0">
                <a:latin typeface="標楷體" panose="03000509000000000000" pitchFamily="65" charset="-120"/>
                <a:ea typeface="標楷體" panose="03000509000000000000" pitchFamily="65" charset="-120"/>
              </a:rPr>
              <a:t>Architecture &amp; Application)</a:t>
            </a:r>
            <a:endParaRPr lang="en-US" altLang="zh-TW" dirty="0">
              <a:latin typeface="標楷體" panose="03000509000000000000" pitchFamily="65" charset="-120"/>
              <a:ea typeface="標楷體" panose="03000509000000000000" pitchFamily="65" charset="-120"/>
            </a:endParaRPr>
          </a:p>
          <a:p>
            <a:pPr lvl="1"/>
            <a:r>
              <a:rPr lang="en-US" altLang="zh-TW" dirty="0" smtClean="0">
                <a:latin typeface="標楷體" panose="03000509000000000000" pitchFamily="65" charset="-120"/>
                <a:ea typeface="標楷體" panose="03000509000000000000" pitchFamily="65" charset="-120"/>
              </a:rPr>
              <a:t>B.8 </a:t>
            </a:r>
            <a:r>
              <a:rPr lang="zh-TW" altLang="en-US" dirty="0">
                <a:latin typeface="標楷體" panose="03000509000000000000" pitchFamily="65" charset="-120"/>
                <a:ea typeface="標楷體" panose="03000509000000000000" pitchFamily="65" charset="-120"/>
              </a:rPr>
              <a:t>金鑰管理 </a:t>
            </a:r>
            <a:r>
              <a:rPr lang="en-US" altLang="zh-TW" dirty="0">
                <a:latin typeface="標楷體" panose="03000509000000000000" pitchFamily="65" charset="-120"/>
                <a:ea typeface="標楷體" panose="03000509000000000000" pitchFamily="65" charset="-120"/>
              </a:rPr>
              <a:t>(Key Management)</a:t>
            </a:r>
          </a:p>
          <a:p>
            <a:pPr lvl="1"/>
            <a:r>
              <a:rPr lang="en-US" altLang="zh-TW" dirty="0" smtClean="0">
                <a:latin typeface="標楷體" panose="03000509000000000000" pitchFamily="65" charset="-120"/>
                <a:ea typeface="標楷體" panose="03000509000000000000" pitchFamily="65" charset="-120"/>
              </a:rPr>
              <a:t>B.9 </a:t>
            </a:r>
            <a:r>
              <a:rPr lang="zh-TW" altLang="en-US" dirty="0">
                <a:latin typeface="標楷體" panose="03000509000000000000" pitchFamily="65" charset="-120"/>
                <a:ea typeface="標楷體" panose="03000509000000000000" pitchFamily="65" charset="-120"/>
              </a:rPr>
              <a:t>密碼系統攻擊 </a:t>
            </a:r>
            <a:r>
              <a:rPr lang="en-US" altLang="zh-TW" dirty="0">
                <a:latin typeface="標楷體" panose="03000509000000000000" pitchFamily="65" charset="-120"/>
                <a:ea typeface="標楷體" panose="03000509000000000000" pitchFamily="65" charset="-120"/>
              </a:rPr>
              <a:t>(Cryptosystem Attack)</a:t>
            </a:r>
            <a:endParaRPr lang="zh-TW" altLang="en-US" dirty="0">
              <a:latin typeface="標楷體" panose="03000509000000000000" pitchFamily="65" charset="-120"/>
              <a:ea typeface="標楷體" panose="03000509000000000000" pitchFamily="65" charset="-120"/>
            </a:endParaRPr>
          </a:p>
        </p:txBody>
      </p:sp>
      <p:sp>
        <p:nvSpPr>
          <p:cNvPr id="3" name="標題 2"/>
          <p:cNvSpPr>
            <a:spLocks noGrp="1"/>
          </p:cNvSpPr>
          <p:nvPr>
            <p:ph type="title"/>
          </p:nvPr>
        </p:nvSpPr>
        <p:spPr>
          <a:xfrm>
            <a:off x="285720" y="116632"/>
            <a:ext cx="8215370" cy="680068"/>
          </a:xfrm>
          <a:solidFill>
            <a:srgbClr val="0000FF"/>
          </a:solidFill>
        </p:spPr>
        <p:txBody>
          <a:bodyPr>
            <a:normAutofit/>
          </a:bodyPr>
          <a:lstStyle/>
          <a:p>
            <a:pPr algn="ctr"/>
            <a:r>
              <a:rPr lang="zh-TW" altLang="en-US" sz="3600" dirty="0">
                <a:latin typeface="標楷體" panose="03000509000000000000" pitchFamily="65" charset="-120"/>
                <a:ea typeface="標楷體" panose="03000509000000000000" pitchFamily="65" charset="-120"/>
              </a:rPr>
              <a:t>第二篇 第</a:t>
            </a:r>
            <a:r>
              <a:rPr lang="en-US" altLang="zh-TW" sz="3600" dirty="0">
                <a:latin typeface="標楷體" panose="03000509000000000000" pitchFamily="65" charset="-120"/>
                <a:ea typeface="標楷體" panose="03000509000000000000" pitchFamily="65" charset="-120"/>
              </a:rPr>
              <a:t>7</a:t>
            </a:r>
            <a:r>
              <a:rPr lang="zh-TW" altLang="en-US" sz="3600" dirty="0">
                <a:latin typeface="標楷體" panose="03000509000000000000" pitchFamily="65" charset="-120"/>
                <a:ea typeface="標楷體" panose="03000509000000000000" pitchFamily="65" charset="-120"/>
              </a:rPr>
              <a:t>章 </a:t>
            </a:r>
            <a:r>
              <a:rPr lang="zh-TW" altLang="en-US" sz="3600" dirty="0" smtClean="0">
                <a:latin typeface="標楷體" panose="03000509000000000000" pitchFamily="65" charset="-120"/>
                <a:ea typeface="標楷體" panose="03000509000000000000" pitchFamily="65" charset="-120"/>
                <a:cs typeface="Arial" pitchFamily="34" charset="0"/>
              </a:rPr>
              <a:t>基礎</a:t>
            </a:r>
            <a:r>
              <a:rPr lang="zh-TW" altLang="en-US" sz="3600" dirty="0">
                <a:latin typeface="標楷體" panose="03000509000000000000" pitchFamily="65" charset="-120"/>
                <a:ea typeface="標楷體" panose="03000509000000000000" pitchFamily="65" charset="-120"/>
                <a:cs typeface="Arial" pitchFamily="34" charset="0"/>
              </a:rPr>
              <a:t>密碼</a:t>
            </a:r>
            <a:r>
              <a:rPr lang="zh-TW" altLang="en-US" sz="3600" dirty="0" smtClean="0">
                <a:latin typeface="標楷體" panose="03000509000000000000" pitchFamily="65" charset="-120"/>
                <a:ea typeface="標楷體" panose="03000509000000000000" pitchFamily="65" charset="-120"/>
                <a:cs typeface="Arial" pitchFamily="34" charset="0"/>
              </a:rPr>
              <a:t>學</a:t>
            </a:r>
            <a:endParaRPr lang="zh-TW" altLang="en-US" dirty="0"/>
          </a:p>
        </p:txBody>
      </p:sp>
    </p:spTree>
    <p:extLst>
      <p:ext uri="{BB962C8B-B14F-4D97-AF65-F5344CB8AC3E}">
        <p14:creationId xmlns:p14="http://schemas.microsoft.com/office/powerpoint/2010/main" val="407945457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827584" y="1988840"/>
            <a:ext cx="7070768" cy="2304256"/>
          </a:xfrm>
          <a:solidFill>
            <a:srgbClr val="0000FF"/>
          </a:solidFill>
          <a:ln w="25400">
            <a:solidFill>
              <a:srgbClr val="FF0000"/>
            </a:solidFill>
          </a:ln>
        </p:spPr>
        <p:txBody>
          <a:bodyPr anchor="ctr"/>
          <a:lstStyle/>
          <a:p>
            <a:pPr algn="ctr"/>
            <a:r>
              <a:rPr lang="en-US" altLang="zh-TW" dirty="0">
                <a:solidFill>
                  <a:schemeClr val="bg1"/>
                </a:solidFill>
                <a:latin typeface="標楷體" panose="03000509000000000000" pitchFamily="65" charset="-120"/>
                <a:ea typeface="標楷體" panose="03000509000000000000" pitchFamily="65" charset="-120"/>
              </a:rPr>
              <a:t>A. </a:t>
            </a:r>
            <a:r>
              <a:rPr lang="zh-TW" altLang="en-US" dirty="0" smtClean="0">
                <a:solidFill>
                  <a:schemeClr val="bg1"/>
                </a:solidFill>
                <a:latin typeface="標楷體" panose="03000509000000000000" pitchFamily="65" charset="-120"/>
                <a:ea typeface="標楷體" panose="03000509000000000000" pitchFamily="65" charset="-120"/>
              </a:rPr>
              <a:t>古典</a:t>
            </a:r>
            <a:r>
              <a:rPr lang="en-US" altLang="zh-TW" dirty="0" smtClean="0">
                <a:solidFill>
                  <a:schemeClr val="bg1"/>
                </a:solidFill>
                <a:latin typeface="標楷體" panose="03000509000000000000" pitchFamily="65" charset="-120"/>
                <a:ea typeface="標楷體" panose="03000509000000000000" pitchFamily="65" charset="-120"/>
              </a:rPr>
              <a:t>(classical</a:t>
            </a:r>
            <a:r>
              <a:rPr lang="en-US" altLang="zh-TW" dirty="0">
                <a:solidFill>
                  <a:schemeClr val="bg1"/>
                </a:solidFill>
                <a:latin typeface="標楷體" panose="03000509000000000000" pitchFamily="65" charset="-120"/>
                <a:ea typeface="標楷體" panose="03000509000000000000" pitchFamily="65" charset="-120"/>
              </a:rPr>
              <a:t>)</a:t>
            </a:r>
            <a:r>
              <a:rPr lang="zh-TW" altLang="en-US" dirty="0" smtClean="0">
                <a:solidFill>
                  <a:schemeClr val="bg1"/>
                </a:solidFill>
                <a:latin typeface="標楷體" panose="03000509000000000000" pitchFamily="65" charset="-120"/>
                <a:ea typeface="標楷體" panose="03000509000000000000" pitchFamily="65" charset="-120"/>
              </a:rPr>
              <a:t>密碼學</a:t>
            </a:r>
            <a:r>
              <a:rPr lang="en-US" altLang="zh-TW" dirty="0" smtClean="0">
                <a:solidFill>
                  <a:schemeClr val="bg1"/>
                </a:solidFill>
                <a:latin typeface="標楷體" panose="03000509000000000000" pitchFamily="65" charset="-120"/>
                <a:ea typeface="標楷體" panose="03000509000000000000" pitchFamily="65" charset="-120"/>
              </a:rPr>
              <a:t/>
            </a:r>
            <a:br>
              <a:rPr lang="en-US" altLang="zh-TW" dirty="0" smtClean="0">
                <a:solidFill>
                  <a:schemeClr val="bg1"/>
                </a:solidFill>
                <a:latin typeface="標楷體" panose="03000509000000000000" pitchFamily="65" charset="-120"/>
                <a:ea typeface="標楷體" panose="03000509000000000000" pitchFamily="65" charset="-120"/>
              </a:rPr>
            </a:br>
            <a:r>
              <a:rPr lang="zh-TW" altLang="en-US" dirty="0" smtClean="0">
                <a:solidFill>
                  <a:schemeClr val="bg1"/>
                </a:solidFill>
                <a:latin typeface="標楷體" panose="03000509000000000000" pitchFamily="65" charset="-120"/>
                <a:ea typeface="標楷體" panose="03000509000000000000" pitchFamily="65" charset="-120"/>
              </a:rPr>
              <a:t>演進 </a:t>
            </a:r>
            <a:r>
              <a:rPr lang="en-US" altLang="zh-TW" dirty="0" smtClean="0">
                <a:solidFill>
                  <a:schemeClr val="bg1"/>
                </a:solidFill>
                <a:latin typeface="標楷體" panose="03000509000000000000" pitchFamily="65" charset="-120"/>
                <a:ea typeface="標楷體" panose="03000509000000000000" pitchFamily="65" charset="-120"/>
              </a:rPr>
              <a:t>evolution</a:t>
            </a:r>
            <a:r>
              <a:rPr lang="zh-TW" altLang="en-US" dirty="0" smtClean="0">
                <a:solidFill>
                  <a:schemeClr val="bg1"/>
                </a:solidFill>
                <a:latin typeface="標楷體" panose="03000509000000000000" pitchFamily="65" charset="-120"/>
                <a:ea typeface="標楷體" panose="03000509000000000000" pitchFamily="65" charset="-120"/>
              </a:rPr>
              <a:t> </a:t>
            </a:r>
            <a:endParaRPr lang="zh-TW" altLang="en-US" dirty="0">
              <a:solidFill>
                <a:schemeClr val="bg1"/>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91147510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dirty="0" smtClean="0"/>
              <a:t>密碼學的演進</a:t>
            </a:r>
            <a:endParaRPr lang="zh-TW" altLang="en-US" dirty="0"/>
          </a:p>
        </p:txBody>
      </p:sp>
      <p:grpSp>
        <p:nvGrpSpPr>
          <p:cNvPr id="138" name="群組 137"/>
          <p:cNvGrpSpPr/>
          <p:nvPr/>
        </p:nvGrpSpPr>
        <p:grpSpPr>
          <a:xfrm>
            <a:off x="5004048" y="4293096"/>
            <a:ext cx="3183670" cy="1779110"/>
            <a:chOff x="5715008" y="4857760"/>
            <a:chExt cx="2428892" cy="1357322"/>
          </a:xfrm>
        </p:grpSpPr>
        <p:sp>
          <p:nvSpPr>
            <p:cNvPr id="71" name="圓角矩形 70"/>
            <p:cNvSpPr/>
            <p:nvPr/>
          </p:nvSpPr>
          <p:spPr>
            <a:xfrm>
              <a:off x="5715008" y="4857760"/>
              <a:ext cx="2428892" cy="42862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MEET ME AT NINE</a:t>
              </a:r>
              <a:endParaRPr lang="zh-TW" altLang="en-US" sz="2000" dirty="0">
                <a:latin typeface="Calibri" pitchFamily="34" charset="0"/>
              </a:endParaRPr>
            </a:p>
          </p:txBody>
        </p:sp>
        <p:sp>
          <p:nvSpPr>
            <p:cNvPr id="72" name="圓角矩形 71"/>
            <p:cNvSpPr/>
            <p:nvPr/>
          </p:nvSpPr>
          <p:spPr>
            <a:xfrm>
              <a:off x="5715008" y="5786454"/>
              <a:ext cx="2428892" cy="42862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PHHW PH DW QLQH</a:t>
              </a:r>
              <a:endParaRPr lang="zh-TW" altLang="en-US" sz="2000" dirty="0">
                <a:latin typeface="Calibri" pitchFamily="34" charset="0"/>
              </a:endParaRPr>
            </a:p>
          </p:txBody>
        </p:sp>
        <p:sp>
          <p:nvSpPr>
            <p:cNvPr id="73" name="向下箭號 72"/>
            <p:cNvSpPr/>
            <p:nvPr/>
          </p:nvSpPr>
          <p:spPr>
            <a:xfrm>
              <a:off x="6715140" y="5357826"/>
              <a:ext cx="428628" cy="357190"/>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2000">
                <a:latin typeface="Calibri" pitchFamily="34" charset="0"/>
              </a:endParaRPr>
            </a:p>
          </p:txBody>
        </p:sp>
      </p:grpSp>
      <p:sp>
        <p:nvSpPr>
          <p:cNvPr id="75" name="文字方塊 74"/>
          <p:cNvSpPr txBox="1"/>
          <p:nvPr/>
        </p:nvSpPr>
        <p:spPr>
          <a:xfrm>
            <a:off x="467544" y="1268760"/>
            <a:ext cx="4032448" cy="2677656"/>
          </a:xfrm>
          <a:prstGeom prst="rect">
            <a:avLst/>
          </a:prstGeom>
          <a:noFill/>
        </p:spPr>
        <p:txBody>
          <a:bodyPr wrap="square" rtlCol="0">
            <a:spAutoFit/>
          </a:bodyPr>
          <a:lstStyle/>
          <a:p>
            <a:pPr>
              <a:lnSpc>
                <a:spcPct val="120000"/>
              </a:lnSpc>
            </a:pPr>
            <a:r>
              <a:rPr lang="zh-TW" altLang="en-US" sz="2000" dirty="0" smtClean="0">
                <a:latin typeface="Calibri" pitchFamily="34" charset="0"/>
              </a:rPr>
              <a:t>西元前五世紀斯巴達人以多角形木杖纏上細長條皮革，將信息寫於其上。例如右圖所示，</a:t>
            </a:r>
            <a:r>
              <a:rPr lang="en-US" altLang="zh-TW" sz="2000" dirty="0" smtClean="0">
                <a:solidFill>
                  <a:srgbClr val="FF0000"/>
                </a:solidFill>
                <a:latin typeface="Calibri" pitchFamily="34" charset="0"/>
              </a:rPr>
              <a:t>“MEET ME AT NINE …”</a:t>
            </a:r>
            <a:r>
              <a:rPr lang="en-US" altLang="zh-TW" sz="2000" dirty="0" smtClean="0">
                <a:latin typeface="Calibri" pitchFamily="34" charset="0"/>
              </a:rPr>
              <a:t> </a:t>
            </a:r>
            <a:r>
              <a:rPr lang="zh-TW" altLang="en-US" sz="2000" dirty="0" smtClean="0">
                <a:latin typeface="Calibri" pitchFamily="34" charset="0"/>
              </a:rPr>
              <a:t>但當皮革解開時上面的信息卻是 </a:t>
            </a:r>
            <a:r>
              <a:rPr lang="en-US" altLang="zh-TW" sz="2000" dirty="0" smtClean="0">
                <a:solidFill>
                  <a:srgbClr val="0000FF"/>
                </a:solidFill>
                <a:latin typeface="Calibri" pitchFamily="34" charset="0"/>
              </a:rPr>
              <a:t>“MTAI..EMTN..EENE”</a:t>
            </a:r>
            <a:r>
              <a:rPr lang="zh-TW" altLang="en-US" sz="2000" dirty="0" smtClean="0">
                <a:latin typeface="Calibri" pitchFamily="34" charset="0"/>
              </a:rPr>
              <a:t>。收信人將皮革纏上相同尺寸的木杖後，原信息就得重現。</a:t>
            </a:r>
            <a:endParaRPr lang="en-US" altLang="zh-TW" sz="2000" dirty="0" smtClean="0">
              <a:latin typeface="Calibri" pitchFamily="34" charset="0"/>
            </a:endParaRPr>
          </a:p>
        </p:txBody>
      </p:sp>
      <p:sp>
        <p:nvSpPr>
          <p:cNvPr id="76" name="文字方塊 75"/>
          <p:cNvSpPr txBox="1"/>
          <p:nvPr/>
        </p:nvSpPr>
        <p:spPr>
          <a:xfrm>
            <a:off x="467544" y="4000996"/>
            <a:ext cx="4176464" cy="2308324"/>
          </a:xfrm>
          <a:prstGeom prst="rect">
            <a:avLst/>
          </a:prstGeom>
          <a:noFill/>
        </p:spPr>
        <p:txBody>
          <a:bodyPr wrap="square" rtlCol="0">
            <a:spAutoFit/>
          </a:bodyPr>
          <a:lstStyle/>
          <a:p>
            <a:pPr>
              <a:lnSpc>
                <a:spcPct val="120000"/>
              </a:lnSpc>
            </a:pPr>
            <a:r>
              <a:rPr lang="zh-TW" altLang="en-US" sz="2000" dirty="0" smtClean="0">
                <a:latin typeface="Calibri" pitchFamily="34" charset="0"/>
              </a:rPr>
              <a:t>凱撒大帝在西元前一世紀，以當時簡單又有效的方式給自己傳出的信息加密：他將每個字母移動三位。如右圖所示，</a:t>
            </a:r>
            <a:r>
              <a:rPr lang="en-US" altLang="zh-TW" sz="2000" dirty="0" smtClean="0">
                <a:latin typeface="Calibri" pitchFamily="34" charset="0"/>
              </a:rPr>
              <a:t>M</a:t>
            </a:r>
            <a:r>
              <a:rPr lang="zh-TW" altLang="en-US" sz="2000" dirty="0" smtClean="0">
                <a:latin typeface="Calibri" pitchFamily="34" charset="0"/>
              </a:rPr>
              <a:t>移三位成為</a:t>
            </a:r>
            <a:r>
              <a:rPr lang="en-US" altLang="zh-TW" sz="2000" dirty="0" smtClean="0">
                <a:latin typeface="Calibri" pitchFamily="34" charset="0"/>
              </a:rPr>
              <a:t>P</a:t>
            </a:r>
            <a:r>
              <a:rPr lang="zh-TW" altLang="en-US" sz="2000" dirty="0" smtClean="0">
                <a:latin typeface="Calibri" pitchFamily="34" charset="0"/>
              </a:rPr>
              <a:t>；</a:t>
            </a:r>
            <a:r>
              <a:rPr lang="en-US" altLang="zh-TW" sz="2000" dirty="0" smtClean="0">
                <a:latin typeface="Calibri" pitchFamily="34" charset="0"/>
              </a:rPr>
              <a:t>E</a:t>
            </a:r>
            <a:r>
              <a:rPr lang="zh-TW" altLang="en-US" sz="2000" dirty="0" smtClean="0">
                <a:latin typeface="Calibri" pitchFamily="34" charset="0"/>
              </a:rPr>
              <a:t>成為</a:t>
            </a:r>
            <a:r>
              <a:rPr lang="en-US" altLang="zh-TW" sz="2000" dirty="0" smtClean="0">
                <a:latin typeface="Calibri" pitchFamily="34" charset="0"/>
              </a:rPr>
              <a:t>H</a:t>
            </a:r>
            <a:r>
              <a:rPr lang="zh-TW" altLang="en-US" sz="2000" dirty="0" smtClean="0">
                <a:latin typeface="Calibri" pitchFamily="34" charset="0"/>
              </a:rPr>
              <a:t>；而</a:t>
            </a:r>
            <a:r>
              <a:rPr lang="en-US" altLang="zh-TW" sz="2000" dirty="0" smtClean="0">
                <a:latin typeface="Calibri" pitchFamily="34" charset="0"/>
              </a:rPr>
              <a:t>T</a:t>
            </a:r>
            <a:r>
              <a:rPr lang="zh-TW" altLang="en-US" sz="2000" dirty="0" smtClean="0">
                <a:latin typeface="Calibri" pitchFamily="34" charset="0"/>
              </a:rPr>
              <a:t>成</a:t>
            </a:r>
            <a:r>
              <a:rPr lang="en-US" altLang="zh-TW" sz="2000" dirty="0" smtClean="0">
                <a:latin typeface="Calibri" pitchFamily="34" charset="0"/>
              </a:rPr>
              <a:t>W</a:t>
            </a:r>
            <a:r>
              <a:rPr lang="zh-TW" altLang="en-US" sz="2000" dirty="0" smtClean="0">
                <a:latin typeface="Calibri" pitchFamily="34" charset="0"/>
              </a:rPr>
              <a:t>。幾乎不可能再從字面上瞭解加密之後的文字。</a:t>
            </a:r>
            <a:endParaRPr lang="zh-TW" altLang="en-US" sz="2000" dirty="0">
              <a:latin typeface="Calibri" pitchFamily="34" charset="0"/>
            </a:endParaRPr>
          </a:p>
        </p:txBody>
      </p:sp>
      <p:grpSp>
        <p:nvGrpSpPr>
          <p:cNvPr id="137" name="群組 136"/>
          <p:cNvGrpSpPr/>
          <p:nvPr/>
        </p:nvGrpSpPr>
        <p:grpSpPr>
          <a:xfrm>
            <a:off x="5004048" y="1628800"/>
            <a:ext cx="3243301" cy="1551416"/>
            <a:chOff x="5643570" y="3060477"/>
            <a:chExt cx="2572563" cy="1230572"/>
          </a:xfrm>
        </p:grpSpPr>
        <p:sp>
          <p:nvSpPr>
            <p:cNvPr id="4" name="十邊形 3"/>
            <p:cNvSpPr/>
            <p:nvPr/>
          </p:nvSpPr>
          <p:spPr>
            <a:xfrm>
              <a:off x="5643570" y="3274791"/>
              <a:ext cx="285752" cy="928694"/>
            </a:xfrm>
            <a:prstGeom prst="decag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2000">
                <a:latin typeface="Calibri" pitchFamily="34" charset="0"/>
              </a:endParaRPr>
            </a:p>
          </p:txBody>
        </p:sp>
        <p:cxnSp>
          <p:nvCxnSpPr>
            <p:cNvPr id="8" name="直線接點 7"/>
            <p:cNvCxnSpPr>
              <a:stCxn id="4" idx="9"/>
            </p:cNvCxnSpPr>
            <p:nvPr/>
          </p:nvCxnSpPr>
          <p:spPr>
            <a:xfrm rot="16200000" flipH="1">
              <a:off x="6981580" y="2123808"/>
              <a:ext cx="11333" cy="2313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直線接點 11"/>
            <p:cNvCxnSpPr>
              <a:stCxn id="4" idx="1"/>
            </p:cNvCxnSpPr>
            <p:nvPr/>
          </p:nvCxnSpPr>
          <p:spPr>
            <a:xfrm>
              <a:off x="5929322" y="3739138"/>
              <a:ext cx="2286016"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直線接點 13"/>
            <p:cNvCxnSpPr/>
            <p:nvPr/>
          </p:nvCxnSpPr>
          <p:spPr>
            <a:xfrm>
              <a:off x="5857884" y="4000504"/>
              <a:ext cx="2357454"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直線接點 15"/>
            <p:cNvCxnSpPr>
              <a:stCxn id="4" idx="3"/>
            </p:cNvCxnSpPr>
            <p:nvPr/>
          </p:nvCxnSpPr>
          <p:spPr>
            <a:xfrm rot="16200000" flipH="1">
              <a:off x="6981580" y="3052501"/>
              <a:ext cx="11334" cy="2313300"/>
            </a:xfrm>
            <a:prstGeom prst="line">
              <a:avLst/>
            </a:prstGeom>
          </p:spPr>
          <p:style>
            <a:lnRef idx="1">
              <a:schemeClr val="accent1"/>
            </a:lnRef>
            <a:fillRef idx="0">
              <a:schemeClr val="accent1"/>
            </a:fillRef>
            <a:effectRef idx="0">
              <a:schemeClr val="accent1"/>
            </a:effectRef>
            <a:fontRef idx="minor">
              <a:schemeClr val="tx1"/>
            </a:fontRef>
          </p:style>
        </p:cxnSp>
        <p:grpSp>
          <p:nvGrpSpPr>
            <p:cNvPr id="83" name="群組 82"/>
            <p:cNvGrpSpPr/>
            <p:nvPr/>
          </p:nvGrpSpPr>
          <p:grpSpPr>
            <a:xfrm>
              <a:off x="6572264" y="3274790"/>
              <a:ext cx="72233" cy="940031"/>
              <a:chOff x="6143636" y="3274790"/>
              <a:chExt cx="72233" cy="940031"/>
            </a:xfrm>
          </p:grpSpPr>
          <p:cxnSp>
            <p:nvCxnSpPr>
              <p:cNvPr id="46" name="直線接點 45"/>
              <p:cNvCxnSpPr/>
              <p:nvPr/>
            </p:nvCxnSpPr>
            <p:spPr>
              <a:xfrm rot="16200000" flipH="1">
                <a:off x="6102251" y="3316176"/>
                <a:ext cx="154209" cy="7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直線接點 46"/>
              <p:cNvCxnSpPr/>
              <p:nvPr/>
            </p:nvCxnSpPr>
            <p:spPr>
              <a:xfrm rot="5400000">
                <a:off x="6066532" y="3566209"/>
                <a:ext cx="297085"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直線接點 47"/>
              <p:cNvCxnSpPr/>
              <p:nvPr/>
            </p:nvCxnSpPr>
            <p:spPr>
              <a:xfrm rot="5400000">
                <a:off x="6077865" y="3851961"/>
                <a:ext cx="274419"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直線接點 48"/>
              <p:cNvCxnSpPr/>
              <p:nvPr/>
            </p:nvCxnSpPr>
            <p:spPr>
              <a:xfrm rot="5400000">
                <a:off x="6066531" y="4066276"/>
                <a:ext cx="225650" cy="71439"/>
              </a:xfrm>
              <a:prstGeom prst="line">
                <a:avLst/>
              </a:prstGeom>
            </p:spPr>
            <p:style>
              <a:lnRef idx="1">
                <a:schemeClr val="accent1"/>
              </a:lnRef>
              <a:fillRef idx="0">
                <a:schemeClr val="accent1"/>
              </a:fillRef>
              <a:effectRef idx="0">
                <a:schemeClr val="accent1"/>
              </a:effectRef>
              <a:fontRef idx="minor">
                <a:schemeClr val="tx1"/>
              </a:fontRef>
            </p:style>
          </p:cxnSp>
        </p:grpSp>
        <p:sp>
          <p:nvSpPr>
            <p:cNvPr id="50" name="文字方塊 49"/>
            <p:cNvSpPr txBox="1"/>
            <p:nvPr/>
          </p:nvSpPr>
          <p:spPr>
            <a:xfrm>
              <a:off x="6715140" y="3478413"/>
              <a:ext cx="245652" cy="317364"/>
            </a:xfrm>
            <a:prstGeom prst="rect">
              <a:avLst/>
            </a:prstGeom>
            <a:noFill/>
          </p:spPr>
          <p:txBody>
            <a:bodyPr wrap="none" rtlCol="0">
              <a:spAutoFit/>
            </a:bodyPr>
            <a:lstStyle/>
            <a:p>
              <a:r>
                <a:rPr lang="en-US" altLang="zh-TW" sz="2000" dirty="0" smtClean="0">
                  <a:latin typeface="Calibri" pitchFamily="34" charset="0"/>
                </a:rPr>
                <a:t>T</a:t>
              </a:r>
              <a:endParaRPr lang="zh-TW" altLang="en-US" sz="2000" dirty="0">
                <a:latin typeface="Calibri" pitchFamily="34" charset="0"/>
              </a:endParaRPr>
            </a:p>
          </p:txBody>
        </p:sp>
        <p:sp>
          <p:nvSpPr>
            <p:cNvPr id="51" name="文字方塊 50"/>
            <p:cNvSpPr txBox="1"/>
            <p:nvPr/>
          </p:nvSpPr>
          <p:spPr>
            <a:xfrm rot="21000000">
              <a:off x="6647628" y="3239325"/>
              <a:ext cx="257056" cy="317364"/>
            </a:xfrm>
            <a:prstGeom prst="rect">
              <a:avLst/>
            </a:prstGeom>
            <a:noFill/>
          </p:spPr>
          <p:txBody>
            <a:bodyPr wrap="square" rtlCol="0">
              <a:spAutoFit/>
            </a:bodyPr>
            <a:lstStyle/>
            <a:p>
              <a:r>
                <a:rPr lang="en-US" altLang="zh-TW" sz="2000" dirty="0" smtClean="0">
                  <a:latin typeface="Calibri" pitchFamily="34" charset="0"/>
                </a:rPr>
                <a:t>M</a:t>
              </a:r>
              <a:endParaRPr lang="zh-TW" altLang="en-US" sz="2000" dirty="0">
                <a:latin typeface="Calibri" pitchFamily="34" charset="0"/>
              </a:endParaRPr>
            </a:p>
          </p:txBody>
        </p:sp>
        <p:sp>
          <p:nvSpPr>
            <p:cNvPr id="52" name="文字方塊 51"/>
            <p:cNvSpPr txBox="1"/>
            <p:nvPr/>
          </p:nvSpPr>
          <p:spPr>
            <a:xfrm rot="21000000">
              <a:off x="7025662" y="3226667"/>
              <a:ext cx="257056" cy="317364"/>
            </a:xfrm>
            <a:prstGeom prst="rect">
              <a:avLst/>
            </a:prstGeom>
            <a:noFill/>
          </p:spPr>
          <p:txBody>
            <a:bodyPr wrap="square" rtlCol="0">
              <a:spAutoFit/>
            </a:bodyPr>
            <a:lstStyle/>
            <a:p>
              <a:r>
                <a:rPr lang="en-US" altLang="zh-TW" sz="2000" dirty="0" smtClean="0">
                  <a:latin typeface="Calibri" pitchFamily="34" charset="0"/>
                </a:rPr>
                <a:t>E</a:t>
              </a:r>
              <a:endParaRPr lang="zh-TW" altLang="en-US" sz="2000" dirty="0">
                <a:latin typeface="Calibri" pitchFamily="34" charset="0"/>
              </a:endParaRPr>
            </a:p>
          </p:txBody>
        </p:sp>
        <p:sp>
          <p:nvSpPr>
            <p:cNvPr id="53" name="文字方塊 52"/>
            <p:cNvSpPr txBox="1"/>
            <p:nvPr/>
          </p:nvSpPr>
          <p:spPr>
            <a:xfrm rot="21000000">
              <a:off x="7382852" y="3226667"/>
              <a:ext cx="257056" cy="317364"/>
            </a:xfrm>
            <a:prstGeom prst="rect">
              <a:avLst/>
            </a:prstGeom>
            <a:noFill/>
          </p:spPr>
          <p:txBody>
            <a:bodyPr wrap="square" rtlCol="0">
              <a:spAutoFit/>
            </a:bodyPr>
            <a:lstStyle/>
            <a:p>
              <a:r>
                <a:rPr lang="en-US" altLang="zh-TW" sz="2000" dirty="0" smtClean="0">
                  <a:latin typeface="Calibri" pitchFamily="34" charset="0"/>
                </a:rPr>
                <a:t>E</a:t>
              </a:r>
              <a:endParaRPr lang="zh-TW" altLang="en-US" sz="2000" dirty="0">
                <a:latin typeface="Calibri" pitchFamily="34" charset="0"/>
              </a:endParaRPr>
            </a:p>
          </p:txBody>
        </p:sp>
        <p:sp>
          <p:nvSpPr>
            <p:cNvPr id="55" name="文字方塊 54"/>
            <p:cNvSpPr txBox="1"/>
            <p:nvPr/>
          </p:nvSpPr>
          <p:spPr>
            <a:xfrm>
              <a:off x="7019528" y="3476852"/>
              <a:ext cx="320670" cy="317364"/>
            </a:xfrm>
            <a:prstGeom prst="rect">
              <a:avLst/>
            </a:prstGeom>
            <a:noFill/>
          </p:spPr>
          <p:txBody>
            <a:bodyPr wrap="none" rtlCol="0">
              <a:spAutoFit/>
            </a:bodyPr>
            <a:lstStyle/>
            <a:p>
              <a:r>
                <a:rPr lang="en-US" altLang="zh-TW" sz="2000" dirty="0" smtClean="0">
                  <a:latin typeface="Calibri" pitchFamily="34" charset="0"/>
                </a:rPr>
                <a:t>M</a:t>
              </a:r>
              <a:endParaRPr lang="zh-TW" altLang="en-US" sz="2000" dirty="0">
                <a:latin typeface="Calibri" pitchFamily="34" charset="0"/>
              </a:endParaRPr>
            </a:p>
          </p:txBody>
        </p:sp>
        <p:sp>
          <p:nvSpPr>
            <p:cNvPr id="56" name="文字方塊 55"/>
            <p:cNvSpPr txBox="1"/>
            <p:nvPr/>
          </p:nvSpPr>
          <p:spPr>
            <a:xfrm>
              <a:off x="7434426" y="3465650"/>
              <a:ext cx="245652" cy="317364"/>
            </a:xfrm>
            <a:prstGeom prst="rect">
              <a:avLst/>
            </a:prstGeom>
            <a:noFill/>
          </p:spPr>
          <p:txBody>
            <a:bodyPr wrap="none" rtlCol="0">
              <a:spAutoFit/>
            </a:bodyPr>
            <a:lstStyle/>
            <a:p>
              <a:r>
                <a:rPr lang="en-US" altLang="zh-TW" sz="2000" dirty="0" smtClean="0">
                  <a:latin typeface="Calibri" pitchFamily="34" charset="0"/>
                </a:rPr>
                <a:t>E</a:t>
              </a:r>
              <a:endParaRPr lang="zh-TW" altLang="en-US" sz="2000" dirty="0">
                <a:latin typeface="Calibri" pitchFamily="34" charset="0"/>
              </a:endParaRPr>
            </a:p>
          </p:txBody>
        </p:sp>
        <p:sp>
          <p:nvSpPr>
            <p:cNvPr id="57" name="文字方塊 56"/>
            <p:cNvSpPr txBox="1"/>
            <p:nvPr/>
          </p:nvSpPr>
          <p:spPr>
            <a:xfrm>
              <a:off x="6710428" y="3714752"/>
              <a:ext cx="264725" cy="317364"/>
            </a:xfrm>
            <a:prstGeom prst="rect">
              <a:avLst/>
            </a:prstGeom>
            <a:noFill/>
          </p:spPr>
          <p:txBody>
            <a:bodyPr wrap="none" rtlCol="0">
              <a:spAutoFit/>
            </a:bodyPr>
            <a:lstStyle/>
            <a:p>
              <a:r>
                <a:rPr lang="en-US" altLang="zh-TW" sz="2000" dirty="0" smtClean="0">
                  <a:latin typeface="Calibri" pitchFamily="34" charset="0"/>
                </a:rPr>
                <a:t>A</a:t>
              </a:r>
              <a:endParaRPr lang="zh-TW" altLang="en-US" sz="2000" dirty="0">
                <a:latin typeface="Calibri" pitchFamily="34" charset="0"/>
              </a:endParaRPr>
            </a:p>
          </p:txBody>
        </p:sp>
        <p:sp>
          <p:nvSpPr>
            <p:cNvPr id="58" name="文字方塊 57"/>
            <p:cNvSpPr txBox="1"/>
            <p:nvPr/>
          </p:nvSpPr>
          <p:spPr>
            <a:xfrm>
              <a:off x="7085250" y="3718863"/>
              <a:ext cx="245652" cy="317364"/>
            </a:xfrm>
            <a:prstGeom prst="rect">
              <a:avLst/>
            </a:prstGeom>
            <a:noFill/>
          </p:spPr>
          <p:txBody>
            <a:bodyPr wrap="none" rtlCol="0">
              <a:spAutoFit/>
            </a:bodyPr>
            <a:lstStyle/>
            <a:p>
              <a:r>
                <a:rPr lang="en-US" altLang="zh-TW" sz="2000" dirty="0" smtClean="0">
                  <a:latin typeface="Calibri" pitchFamily="34" charset="0"/>
                </a:rPr>
                <a:t>T</a:t>
              </a:r>
              <a:endParaRPr lang="zh-TW" altLang="en-US" sz="2000" dirty="0">
                <a:latin typeface="Calibri" pitchFamily="34" charset="0"/>
              </a:endParaRPr>
            </a:p>
          </p:txBody>
        </p:sp>
        <p:sp>
          <p:nvSpPr>
            <p:cNvPr id="59" name="文字方塊 58"/>
            <p:cNvSpPr txBox="1"/>
            <p:nvPr/>
          </p:nvSpPr>
          <p:spPr>
            <a:xfrm>
              <a:off x="7416792" y="3717864"/>
              <a:ext cx="277440" cy="317364"/>
            </a:xfrm>
            <a:prstGeom prst="rect">
              <a:avLst/>
            </a:prstGeom>
            <a:noFill/>
          </p:spPr>
          <p:txBody>
            <a:bodyPr wrap="none" rtlCol="0">
              <a:spAutoFit/>
            </a:bodyPr>
            <a:lstStyle/>
            <a:p>
              <a:r>
                <a:rPr lang="en-US" altLang="zh-TW" sz="2000" dirty="0" smtClean="0">
                  <a:latin typeface="Calibri" pitchFamily="34" charset="0"/>
                </a:rPr>
                <a:t>N</a:t>
              </a:r>
              <a:endParaRPr lang="zh-TW" altLang="en-US" sz="2000" dirty="0">
                <a:latin typeface="Calibri" pitchFamily="34" charset="0"/>
              </a:endParaRPr>
            </a:p>
          </p:txBody>
        </p:sp>
        <p:sp>
          <p:nvSpPr>
            <p:cNvPr id="60" name="文字方塊 59"/>
            <p:cNvSpPr txBox="1"/>
            <p:nvPr/>
          </p:nvSpPr>
          <p:spPr>
            <a:xfrm rot="600000">
              <a:off x="6687158" y="3973685"/>
              <a:ext cx="197335" cy="317364"/>
            </a:xfrm>
            <a:prstGeom prst="rect">
              <a:avLst/>
            </a:prstGeom>
            <a:noFill/>
          </p:spPr>
          <p:txBody>
            <a:bodyPr wrap="none" rtlCol="0">
              <a:spAutoFit/>
            </a:bodyPr>
            <a:lstStyle/>
            <a:p>
              <a:r>
                <a:rPr lang="en-US" altLang="zh-TW" sz="2000" dirty="0" smtClean="0">
                  <a:latin typeface="Calibri" pitchFamily="34" charset="0"/>
                </a:rPr>
                <a:t>I</a:t>
              </a:r>
              <a:endParaRPr lang="zh-TW" altLang="en-US" sz="2000" dirty="0">
                <a:latin typeface="Calibri" pitchFamily="34" charset="0"/>
              </a:endParaRPr>
            </a:p>
          </p:txBody>
        </p:sp>
        <p:sp>
          <p:nvSpPr>
            <p:cNvPr id="61" name="文字方塊 60"/>
            <p:cNvSpPr txBox="1"/>
            <p:nvPr/>
          </p:nvSpPr>
          <p:spPr>
            <a:xfrm rot="600000">
              <a:off x="7035868" y="3948372"/>
              <a:ext cx="277440" cy="317364"/>
            </a:xfrm>
            <a:prstGeom prst="rect">
              <a:avLst/>
            </a:prstGeom>
            <a:noFill/>
          </p:spPr>
          <p:txBody>
            <a:bodyPr wrap="none" rtlCol="0">
              <a:spAutoFit/>
            </a:bodyPr>
            <a:lstStyle/>
            <a:p>
              <a:r>
                <a:rPr lang="en-US" altLang="zh-TW" sz="2000" dirty="0" smtClean="0">
                  <a:latin typeface="Calibri" pitchFamily="34" charset="0"/>
                </a:rPr>
                <a:t>N</a:t>
              </a:r>
              <a:endParaRPr lang="zh-TW" altLang="en-US" sz="2000" dirty="0">
                <a:latin typeface="Calibri" pitchFamily="34" charset="0"/>
              </a:endParaRPr>
            </a:p>
          </p:txBody>
        </p:sp>
        <p:sp>
          <p:nvSpPr>
            <p:cNvPr id="62" name="文字方塊 61"/>
            <p:cNvSpPr txBox="1"/>
            <p:nvPr/>
          </p:nvSpPr>
          <p:spPr>
            <a:xfrm rot="600000">
              <a:off x="7427433" y="3964055"/>
              <a:ext cx="245652" cy="317364"/>
            </a:xfrm>
            <a:prstGeom prst="rect">
              <a:avLst/>
            </a:prstGeom>
            <a:noFill/>
          </p:spPr>
          <p:txBody>
            <a:bodyPr wrap="none" rtlCol="0">
              <a:spAutoFit/>
            </a:bodyPr>
            <a:lstStyle/>
            <a:p>
              <a:r>
                <a:rPr lang="en-US" altLang="zh-TW" sz="2000" dirty="0" smtClean="0">
                  <a:latin typeface="Calibri" pitchFamily="34" charset="0"/>
                </a:rPr>
                <a:t>E</a:t>
              </a:r>
              <a:endParaRPr lang="zh-TW" altLang="en-US" sz="2000" dirty="0">
                <a:latin typeface="Calibri" pitchFamily="34" charset="0"/>
              </a:endParaRPr>
            </a:p>
          </p:txBody>
        </p:sp>
        <p:cxnSp>
          <p:nvCxnSpPr>
            <p:cNvPr id="65" name="直線接點 64"/>
            <p:cNvCxnSpPr/>
            <p:nvPr/>
          </p:nvCxnSpPr>
          <p:spPr>
            <a:xfrm rot="16200000" flipV="1">
              <a:off x="6429388" y="3131915"/>
              <a:ext cx="214314" cy="7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直線接點 65"/>
            <p:cNvCxnSpPr/>
            <p:nvPr/>
          </p:nvCxnSpPr>
          <p:spPr>
            <a:xfrm rot="16200000" flipV="1">
              <a:off x="6786578" y="3131915"/>
              <a:ext cx="214314" cy="7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直線接點 67"/>
            <p:cNvCxnSpPr/>
            <p:nvPr/>
          </p:nvCxnSpPr>
          <p:spPr>
            <a:xfrm>
              <a:off x="6500826" y="3060477"/>
              <a:ext cx="357190" cy="1588"/>
            </a:xfrm>
            <a:prstGeom prst="line">
              <a:avLst/>
            </a:prstGeom>
          </p:spPr>
          <p:style>
            <a:lnRef idx="1">
              <a:schemeClr val="accent1"/>
            </a:lnRef>
            <a:fillRef idx="0">
              <a:schemeClr val="accent1"/>
            </a:fillRef>
            <a:effectRef idx="0">
              <a:schemeClr val="accent1"/>
            </a:effectRef>
            <a:fontRef idx="minor">
              <a:schemeClr val="tx1"/>
            </a:fontRef>
          </p:style>
        </p:cxnSp>
        <p:grpSp>
          <p:nvGrpSpPr>
            <p:cNvPr id="84" name="群組 83"/>
            <p:cNvGrpSpPr/>
            <p:nvPr/>
          </p:nvGrpSpPr>
          <p:grpSpPr>
            <a:xfrm>
              <a:off x="7285849" y="3286124"/>
              <a:ext cx="72233" cy="940031"/>
              <a:chOff x="6143636" y="3274790"/>
              <a:chExt cx="72233" cy="940031"/>
            </a:xfrm>
          </p:grpSpPr>
          <p:cxnSp>
            <p:nvCxnSpPr>
              <p:cNvPr id="85" name="直線接點 84"/>
              <p:cNvCxnSpPr/>
              <p:nvPr/>
            </p:nvCxnSpPr>
            <p:spPr>
              <a:xfrm rot="16200000" flipH="1">
                <a:off x="6102251" y="3316176"/>
                <a:ext cx="154209" cy="7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接點 85"/>
              <p:cNvCxnSpPr/>
              <p:nvPr/>
            </p:nvCxnSpPr>
            <p:spPr>
              <a:xfrm rot="5400000">
                <a:off x="6066532" y="3566209"/>
                <a:ext cx="297085"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直線接點 86"/>
              <p:cNvCxnSpPr/>
              <p:nvPr/>
            </p:nvCxnSpPr>
            <p:spPr>
              <a:xfrm rot="5400000">
                <a:off x="6077865" y="3851961"/>
                <a:ext cx="274419"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直線接點 87"/>
              <p:cNvCxnSpPr/>
              <p:nvPr/>
            </p:nvCxnSpPr>
            <p:spPr>
              <a:xfrm rot="5400000">
                <a:off x="6066531" y="4066276"/>
                <a:ext cx="225650" cy="71439"/>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89" name="群組 88"/>
            <p:cNvGrpSpPr/>
            <p:nvPr/>
          </p:nvGrpSpPr>
          <p:grpSpPr>
            <a:xfrm>
              <a:off x="7643039" y="3286124"/>
              <a:ext cx="72233" cy="940031"/>
              <a:chOff x="6143636" y="3274790"/>
              <a:chExt cx="72233" cy="940031"/>
            </a:xfrm>
          </p:grpSpPr>
          <p:cxnSp>
            <p:nvCxnSpPr>
              <p:cNvPr id="90" name="直線接點 89"/>
              <p:cNvCxnSpPr/>
              <p:nvPr/>
            </p:nvCxnSpPr>
            <p:spPr>
              <a:xfrm rot="16200000" flipH="1">
                <a:off x="6102251" y="3316176"/>
                <a:ext cx="154209" cy="7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直線接點 90"/>
              <p:cNvCxnSpPr/>
              <p:nvPr/>
            </p:nvCxnSpPr>
            <p:spPr>
              <a:xfrm rot="5400000">
                <a:off x="6066532" y="3566209"/>
                <a:ext cx="297085"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直線接點 91"/>
              <p:cNvCxnSpPr/>
              <p:nvPr/>
            </p:nvCxnSpPr>
            <p:spPr>
              <a:xfrm rot="5400000">
                <a:off x="6077865" y="3851961"/>
                <a:ext cx="274419"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接點 92"/>
              <p:cNvCxnSpPr/>
              <p:nvPr/>
            </p:nvCxnSpPr>
            <p:spPr>
              <a:xfrm rot="5400000">
                <a:off x="6066531" y="4066276"/>
                <a:ext cx="225650" cy="71439"/>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94" name="群組 93"/>
            <p:cNvGrpSpPr/>
            <p:nvPr/>
          </p:nvGrpSpPr>
          <p:grpSpPr>
            <a:xfrm>
              <a:off x="6929454" y="3286124"/>
              <a:ext cx="72233" cy="940031"/>
              <a:chOff x="6143636" y="3274790"/>
              <a:chExt cx="72233" cy="940031"/>
            </a:xfrm>
          </p:grpSpPr>
          <p:cxnSp>
            <p:nvCxnSpPr>
              <p:cNvPr id="95" name="直線接點 94"/>
              <p:cNvCxnSpPr/>
              <p:nvPr/>
            </p:nvCxnSpPr>
            <p:spPr>
              <a:xfrm rot="16200000" flipH="1">
                <a:off x="6102251" y="3316176"/>
                <a:ext cx="154209" cy="7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直線接點 95"/>
              <p:cNvCxnSpPr/>
              <p:nvPr/>
            </p:nvCxnSpPr>
            <p:spPr>
              <a:xfrm rot="5400000">
                <a:off x="6066532" y="3566209"/>
                <a:ext cx="297085"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直線接點 96"/>
              <p:cNvCxnSpPr/>
              <p:nvPr/>
            </p:nvCxnSpPr>
            <p:spPr>
              <a:xfrm rot="5400000">
                <a:off x="6077865" y="3851961"/>
                <a:ext cx="274419"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98" name="直線接點 97"/>
              <p:cNvCxnSpPr/>
              <p:nvPr/>
            </p:nvCxnSpPr>
            <p:spPr>
              <a:xfrm rot="5400000">
                <a:off x="6066531" y="4066276"/>
                <a:ext cx="225650" cy="71439"/>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04" name="群組 103"/>
            <p:cNvGrpSpPr/>
            <p:nvPr/>
          </p:nvGrpSpPr>
          <p:grpSpPr>
            <a:xfrm>
              <a:off x="8143900" y="3274787"/>
              <a:ext cx="72233" cy="940031"/>
              <a:chOff x="6143636" y="3274790"/>
              <a:chExt cx="72233" cy="940031"/>
            </a:xfrm>
          </p:grpSpPr>
          <p:cxnSp>
            <p:nvCxnSpPr>
              <p:cNvPr id="105" name="直線接點 104"/>
              <p:cNvCxnSpPr/>
              <p:nvPr/>
            </p:nvCxnSpPr>
            <p:spPr>
              <a:xfrm rot="16200000" flipH="1">
                <a:off x="6102251" y="3316176"/>
                <a:ext cx="154209" cy="714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6" name="直線接點 105"/>
              <p:cNvCxnSpPr/>
              <p:nvPr/>
            </p:nvCxnSpPr>
            <p:spPr>
              <a:xfrm rot="5400000">
                <a:off x="6066532" y="3566209"/>
                <a:ext cx="297085"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7" name="直線接點 106"/>
              <p:cNvCxnSpPr/>
              <p:nvPr/>
            </p:nvCxnSpPr>
            <p:spPr>
              <a:xfrm rot="5400000">
                <a:off x="6077865" y="3851961"/>
                <a:ext cx="274419"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直線接點 107"/>
              <p:cNvCxnSpPr/>
              <p:nvPr/>
            </p:nvCxnSpPr>
            <p:spPr>
              <a:xfrm rot="5400000">
                <a:off x="6066531" y="4066276"/>
                <a:ext cx="225650" cy="71439"/>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136" name="直線接點 135"/>
            <p:cNvCxnSpPr/>
            <p:nvPr/>
          </p:nvCxnSpPr>
          <p:spPr>
            <a:xfrm>
              <a:off x="5929322" y="3498850"/>
              <a:ext cx="2286016" cy="1588"/>
            </a:xfrm>
            <a:prstGeom prst="line">
              <a:avLst/>
            </a:prstGeom>
          </p:spPr>
          <p:style>
            <a:lnRef idx="1">
              <a:schemeClr val="accent1"/>
            </a:lnRef>
            <a:fillRef idx="0">
              <a:schemeClr val="accent1"/>
            </a:fillRef>
            <a:effectRef idx="0">
              <a:schemeClr val="accent1"/>
            </a:effectRef>
            <a:fontRef idx="minor">
              <a:schemeClr val="tx1"/>
            </a:fontRef>
          </p:style>
        </p:cxn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4430296" cy="5286412"/>
          </a:xfrm>
        </p:spPr>
        <p:txBody>
          <a:bodyPr>
            <a:normAutofit/>
          </a:bodyPr>
          <a:lstStyle/>
          <a:p>
            <a:pPr>
              <a:spcBef>
                <a:spcPts val="1200"/>
              </a:spcBef>
            </a:pPr>
            <a:r>
              <a:rPr lang="zh-TW" altLang="en-US" sz="2000" dirty="0" smtClean="0"/>
              <a:t>前述斯巴達人的木杖使用簡單的位移加密法 </a:t>
            </a:r>
            <a:r>
              <a:rPr lang="en-US" altLang="zh-TW" sz="2000" dirty="0" smtClean="0"/>
              <a:t>(</a:t>
            </a:r>
            <a:r>
              <a:rPr lang="en-US" altLang="zh-TW" sz="2000" dirty="0" smtClean="0">
                <a:solidFill>
                  <a:srgbClr val="FF0000"/>
                </a:solidFill>
              </a:rPr>
              <a:t>transposition</a:t>
            </a:r>
            <a:r>
              <a:rPr lang="en-US" altLang="zh-TW" sz="2000" dirty="0" smtClean="0"/>
              <a:t> ciphers)</a:t>
            </a:r>
            <a:r>
              <a:rPr lang="zh-TW" altLang="en-US" sz="2000" dirty="0" smtClean="0"/>
              <a:t>。</a:t>
            </a:r>
            <a:endParaRPr lang="en-US" altLang="zh-TW" sz="2000" dirty="0" smtClean="0"/>
          </a:p>
          <a:p>
            <a:pPr>
              <a:spcBef>
                <a:spcPts val="1200"/>
              </a:spcBef>
            </a:pPr>
            <a:r>
              <a:rPr lang="zh-TW" altLang="en-US" sz="2000" dirty="0" smtClean="0"/>
              <a:t>將訊息重新調整字母、位元的順序，藉以隱藏機密。</a:t>
            </a:r>
            <a:endParaRPr lang="en-US" altLang="zh-TW" sz="2000" dirty="0" smtClean="0"/>
          </a:p>
          <a:p>
            <a:pPr>
              <a:spcBef>
                <a:spcPts val="1200"/>
              </a:spcBef>
            </a:pPr>
            <a:r>
              <a:rPr lang="zh-TW" altLang="en-US" sz="2000" dirty="0" smtClean="0"/>
              <a:t>右邊的明碼為：</a:t>
            </a:r>
            <a:r>
              <a:rPr lang="zh-TW" altLang="en-US" sz="2000" dirty="0" smtClean="0">
                <a:latin typeface="微軟正黑體"/>
                <a:ea typeface="微軟正黑體"/>
              </a:rPr>
              <a:t>「</a:t>
            </a:r>
            <a:r>
              <a:rPr lang="zh-TW" altLang="en-US" sz="2000" dirty="0" smtClean="0">
                <a:solidFill>
                  <a:srgbClr val="FF0000"/>
                </a:solidFill>
              </a:rPr>
              <a:t>小明今天早上把收集幾個月的蠶寶寶以每隻十塊錢價格賣給他的鄰居</a:t>
            </a:r>
            <a:r>
              <a:rPr lang="zh-TW" altLang="en-US" sz="2000" dirty="0" smtClean="0"/>
              <a:t>。</a:t>
            </a:r>
            <a:r>
              <a:rPr lang="zh-TW" altLang="en-US" sz="2000" dirty="0" smtClean="0">
                <a:latin typeface="微軟正黑體"/>
              </a:rPr>
              <a:t>」</a:t>
            </a:r>
            <a:endParaRPr lang="en-US" altLang="zh-TW" sz="2000" dirty="0" smtClean="0">
              <a:latin typeface="微軟正黑體"/>
            </a:endParaRPr>
          </a:p>
          <a:p>
            <a:pPr>
              <a:spcBef>
                <a:spcPts val="1200"/>
              </a:spcBef>
            </a:pPr>
            <a:r>
              <a:rPr lang="zh-TW" altLang="en-US" sz="2000" dirty="0" smtClean="0">
                <a:latin typeface="微軟正黑體"/>
              </a:rPr>
              <a:t>加密之後變成：</a:t>
            </a:r>
            <a:r>
              <a:rPr lang="zh-TW" altLang="en-US" sz="2000" dirty="0" smtClean="0">
                <a:latin typeface="微軟正黑體"/>
                <a:ea typeface="微軟正黑體"/>
              </a:rPr>
              <a:t>「</a:t>
            </a:r>
            <a:r>
              <a:rPr lang="zh-TW" altLang="en-US" sz="2000" dirty="0" smtClean="0">
                <a:solidFill>
                  <a:srgbClr val="0000FF"/>
                </a:solidFill>
                <a:latin typeface="微軟正黑體"/>
                <a:ea typeface="微軟正黑體"/>
              </a:rPr>
              <a:t>小上個寶塊給明把月以錢他今收的每價的天集蠶隻格鄰早幾寶十賣居</a:t>
            </a:r>
            <a:r>
              <a:rPr lang="zh-TW" altLang="en-US" sz="2000" dirty="0" smtClean="0">
                <a:latin typeface="微軟正黑體"/>
                <a:ea typeface="微軟正黑體"/>
              </a:rPr>
              <a:t>。」乍看之下，不易讀懂。</a:t>
            </a:r>
            <a:endParaRPr lang="en-US" altLang="zh-TW" sz="2000" dirty="0" smtClean="0">
              <a:latin typeface="微軟正黑體"/>
              <a:ea typeface="微軟正黑體"/>
            </a:endParaRPr>
          </a:p>
        </p:txBody>
      </p:sp>
      <p:sp>
        <p:nvSpPr>
          <p:cNvPr id="3" name="標題 2"/>
          <p:cNvSpPr>
            <a:spLocks noGrp="1"/>
          </p:cNvSpPr>
          <p:nvPr>
            <p:ph type="title"/>
          </p:nvPr>
        </p:nvSpPr>
        <p:spPr/>
        <p:txBody>
          <a:bodyPr/>
          <a:lstStyle/>
          <a:p>
            <a:r>
              <a:rPr lang="zh-TW" altLang="en-US" u="sng" dirty="0" smtClean="0">
                <a:solidFill>
                  <a:srgbClr val="FF0000"/>
                </a:solidFill>
              </a:rPr>
              <a:t>位移</a:t>
            </a:r>
            <a:r>
              <a:rPr lang="zh-TW" altLang="en-US" dirty="0" smtClean="0"/>
              <a:t>加密法</a:t>
            </a:r>
            <a:endParaRPr lang="zh-TW" altLang="en-US" dirty="0"/>
          </a:p>
        </p:txBody>
      </p:sp>
      <p:graphicFrame>
        <p:nvGraphicFramePr>
          <p:cNvPr id="4" name="表格 3"/>
          <p:cNvGraphicFramePr>
            <a:graphicFrameLocks noGrp="1"/>
          </p:cNvGraphicFramePr>
          <p:nvPr/>
        </p:nvGraphicFramePr>
        <p:xfrm>
          <a:off x="5076057" y="1988838"/>
          <a:ext cx="3210720" cy="3454716"/>
        </p:xfrm>
        <a:graphic>
          <a:graphicData uri="http://schemas.openxmlformats.org/drawingml/2006/table">
            <a:tbl>
              <a:tblPr firstRow="1" bandRow="1">
                <a:tableStyleId>{5940675A-B579-460E-94D1-54222C63F5DA}</a:tableStyleId>
              </a:tblPr>
              <a:tblGrid>
                <a:gridCol w="642144">
                  <a:extLst>
                    <a:ext uri="{9D8B030D-6E8A-4147-A177-3AD203B41FA5}">
                      <a16:colId xmlns:a16="http://schemas.microsoft.com/office/drawing/2014/main" val="20000"/>
                    </a:ext>
                  </a:extLst>
                </a:gridCol>
                <a:gridCol w="642144">
                  <a:extLst>
                    <a:ext uri="{9D8B030D-6E8A-4147-A177-3AD203B41FA5}">
                      <a16:colId xmlns:a16="http://schemas.microsoft.com/office/drawing/2014/main" val="20001"/>
                    </a:ext>
                  </a:extLst>
                </a:gridCol>
                <a:gridCol w="642144">
                  <a:extLst>
                    <a:ext uri="{9D8B030D-6E8A-4147-A177-3AD203B41FA5}">
                      <a16:colId xmlns:a16="http://schemas.microsoft.com/office/drawing/2014/main" val="20002"/>
                    </a:ext>
                  </a:extLst>
                </a:gridCol>
                <a:gridCol w="642144">
                  <a:extLst>
                    <a:ext uri="{9D8B030D-6E8A-4147-A177-3AD203B41FA5}">
                      <a16:colId xmlns:a16="http://schemas.microsoft.com/office/drawing/2014/main" val="20003"/>
                    </a:ext>
                  </a:extLst>
                </a:gridCol>
                <a:gridCol w="642144">
                  <a:extLst>
                    <a:ext uri="{9D8B030D-6E8A-4147-A177-3AD203B41FA5}">
                      <a16:colId xmlns:a16="http://schemas.microsoft.com/office/drawing/2014/main" val="20004"/>
                    </a:ext>
                  </a:extLst>
                </a:gridCol>
              </a:tblGrid>
              <a:tr h="575786">
                <a:tc>
                  <a:txBody>
                    <a:bodyPr/>
                    <a:lstStyle/>
                    <a:p>
                      <a:pPr algn="ctr"/>
                      <a:r>
                        <a:rPr lang="zh-TW" altLang="en-US" sz="2000" dirty="0" smtClean="0"/>
                        <a:t>小</a:t>
                      </a:r>
                      <a:endParaRPr lang="zh-TW" altLang="en-US" sz="2000" dirty="0"/>
                    </a:p>
                  </a:txBody>
                  <a:tcPr anchor="ctr"/>
                </a:tc>
                <a:tc>
                  <a:txBody>
                    <a:bodyPr/>
                    <a:lstStyle/>
                    <a:p>
                      <a:pPr algn="ctr"/>
                      <a:r>
                        <a:rPr lang="zh-TW" altLang="en-US" sz="2000" dirty="0" smtClean="0"/>
                        <a:t>明</a:t>
                      </a:r>
                      <a:endParaRPr lang="zh-TW" altLang="en-US" sz="2000" dirty="0"/>
                    </a:p>
                  </a:txBody>
                  <a:tcPr anchor="ctr"/>
                </a:tc>
                <a:tc>
                  <a:txBody>
                    <a:bodyPr/>
                    <a:lstStyle/>
                    <a:p>
                      <a:pPr algn="ctr"/>
                      <a:r>
                        <a:rPr lang="zh-TW" altLang="en-US" sz="2000" dirty="0" smtClean="0"/>
                        <a:t>今</a:t>
                      </a:r>
                      <a:endParaRPr lang="zh-TW" altLang="en-US" sz="2000" dirty="0"/>
                    </a:p>
                  </a:txBody>
                  <a:tcPr anchor="ctr"/>
                </a:tc>
                <a:tc>
                  <a:txBody>
                    <a:bodyPr/>
                    <a:lstStyle/>
                    <a:p>
                      <a:pPr algn="ctr"/>
                      <a:r>
                        <a:rPr lang="zh-TW" altLang="en-US" sz="2000" dirty="0" smtClean="0"/>
                        <a:t>天</a:t>
                      </a:r>
                      <a:endParaRPr lang="zh-TW" altLang="en-US" sz="2000" dirty="0"/>
                    </a:p>
                  </a:txBody>
                  <a:tcPr anchor="ctr"/>
                </a:tc>
                <a:tc>
                  <a:txBody>
                    <a:bodyPr/>
                    <a:lstStyle/>
                    <a:p>
                      <a:pPr algn="ctr"/>
                      <a:r>
                        <a:rPr lang="zh-TW" altLang="en-US" sz="2000" dirty="0" smtClean="0"/>
                        <a:t>早</a:t>
                      </a:r>
                      <a:endParaRPr lang="zh-TW" altLang="en-US" sz="2000" dirty="0"/>
                    </a:p>
                  </a:txBody>
                  <a:tcPr anchor="ctr"/>
                </a:tc>
                <a:extLst>
                  <a:ext uri="{0D108BD9-81ED-4DB2-BD59-A6C34878D82A}">
                    <a16:rowId xmlns:a16="http://schemas.microsoft.com/office/drawing/2014/main" val="10000"/>
                  </a:ext>
                </a:extLst>
              </a:tr>
              <a:tr h="575786">
                <a:tc>
                  <a:txBody>
                    <a:bodyPr/>
                    <a:lstStyle/>
                    <a:p>
                      <a:pPr algn="ctr"/>
                      <a:r>
                        <a:rPr lang="zh-TW" altLang="en-US" sz="2000" dirty="0" smtClean="0"/>
                        <a:t>上</a:t>
                      </a:r>
                      <a:endParaRPr lang="zh-TW" altLang="en-US" sz="2000" dirty="0"/>
                    </a:p>
                  </a:txBody>
                  <a:tcPr anchor="ctr"/>
                </a:tc>
                <a:tc>
                  <a:txBody>
                    <a:bodyPr/>
                    <a:lstStyle/>
                    <a:p>
                      <a:pPr algn="ctr"/>
                      <a:r>
                        <a:rPr lang="zh-TW" altLang="en-US" sz="2000" dirty="0" smtClean="0"/>
                        <a:t>把</a:t>
                      </a:r>
                      <a:endParaRPr lang="zh-TW" altLang="en-US" sz="2000" dirty="0"/>
                    </a:p>
                  </a:txBody>
                  <a:tcPr anchor="ctr"/>
                </a:tc>
                <a:tc>
                  <a:txBody>
                    <a:bodyPr/>
                    <a:lstStyle/>
                    <a:p>
                      <a:pPr algn="ctr"/>
                      <a:r>
                        <a:rPr lang="zh-TW" altLang="en-US" sz="2000" dirty="0" smtClean="0"/>
                        <a:t>收</a:t>
                      </a:r>
                      <a:endParaRPr lang="zh-TW" altLang="en-US" sz="2000" dirty="0"/>
                    </a:p>
                  </a:txBody>
                  <a:tcPr anchor="ctr"/>
                </a:tc>
                <a:tc>
                  <a:txBody>
                    <a:bodyPr/>
                    <a:lstStyle/>
                    <a:p>
                      <a:pPr algn="ctr"/>
                      <a:r>
                        <a:rPr lang="zh-TW" altLang="en-US" sz="2000" dirty="0" smtClean="0"/>
                        <a:t>集</a:t>
                      </a:r>
                      <a:endParaRPr lang="zh-TW" altLang="en-US" sz="2000" dirty="0"/>
                    </a:p>
                  </a:txBody>
                  <a:tcPr anchor="ctr"/>
                </a:tc>
                <a:tc>
                  <a:txBody>
                    <a:bodyPr/>
                    <a:lstStyle/>
                    <a:p>
                      <a:pPr algn="ctr"/>
                      <a:r>
                        <a:rPr lang="zh-TW" altLang="en-US" sz="2000" dirty="0" smtClean="0"/>
                        <a:t>幾</a:t>
                      </a:r>
                      <a:endParaRPr lang="zh-TW" altLang="en-US" sz="2000" dirty="0"/>
                    </a:p>
                  </a:txBody>
                  <a:tcPr anchor="ctr"/>
                </a:tc>
                <a:extLst>
                  <a:ext uri="{0D108BD9-81ED-4DB2-BD59-A6C34878D82A}">
                    <a16:rowId xmlns:a16="http://schemas.microsoft.com/office/drawing/2014/main" val="10001"/>
                  </a:ext>
                </a:extLst>
              </a:tr>
              <a:tr h="575786">
                <a:tc>
                  <a:txBody>
                    <a:bodyPr/>
                    <a:lstStyle/>
                    <a:p>
                      <a:pPr algn="ctr"/>
                      <a:r>
                        <a:rPr lang="zh-TW" altLang="en-US" sz="2000" dirty="0" smtClean="0"/>
                        <a:t>個</a:t>
                      </a:r>
                      <a:endParaRPr lang="zh-TW" altLang="en-US" sz="2000" dirty="0"/>
                    </a:p>
                  </a:txBody>
                  <a:tcPr anchor="ctr"/>
                </a:tc>
                <a:tc>
                  <a:txBody>
                    <a:bodyPr/>
                    <a:lstStyle/>
                    <a:p>
                      <a:pPr algn="ctr"/>
                      <a:r>
                        <a:rPr lang="zh-TW" altLang="en-US" sz="2000" dirty="0" smtClean="0"/>
                        <a:t>月</a:t>
                      </a:r>
                      <a:endParaRPr lang="zh-TW" altLang="en-US" sz="2000" dirty="0"/>
                    </a:p>
                  </a:txBody>
                  <a:tcPr anchor="ctr"/>
                </a:tc>
                <a:tc>
                  <a:txBody>
                    <a:bodyPr/>
                    <a:lstStyle/>
                    <a:p>
                      <a:pPr algn="ctr"/>
                      <a:r>
                        <a:rPr lang="zh-TW" altLang="en-US" sz="2000" dirty="0" smtClean="0"/>
                        <a:t>的</a:t>
                      </a:r>
                      <a:endParaRPr lang="zh-TW" altLang="en-US" sz="2000" dirty="0"/>
                    </a:p>
                  </a:txBody>
                  <a:tcPr anchor="ctr"/>
                </a:tc>
                <a:tc>
                  <a:txBody>
                    <a:bodyPr/>
                    <a:lstStyle/>
                    <a:p>
                      <a:pPr algn="ctr"/>
                      <a:r>
                        <a:rPr lang="zh-TW" altLang="en-US" sz="2000" dirty="0" smtClean="0"/>
                        <a:t>蠶</a:t>
                      </a:r>
                      <a:endParaRPr lang="zh-TW" altLang="en-US" sz="2000" dirty="0"/>
                    </a:p>
                  </a:txBody>
                  <a:tcPr anchor="ctr"/>
                </a:tc>
                <a:tc>
                  <a:txBody>
                    <a:bodyPr/>
                    <a:lstStyle/>
                    <a:p>
                      <a:pPr algn="ctr"/>
                      <a:r>
                        <a:rPr lang="zh-TW" altLang="en-US" sz="2000" dirty="0" smtClean="0"/>
                        <a:t>寶</a:t>
                      </a:r>
                      <a:endParaRPr lang="zh-TW" altLang="en-US" sz="2000" dirty="0"/>
                    </a:p>
                  </a:txBody>
                  <a:tcPr anchor="ctr"/>
                </a:tc>
                <a:extLst>
                  <a:ext uri="{0D108BD9-81ED-4DB2-BD59-A6C34878D82A}">
                    <a16:rowId xmlns:a16="http://schemas.microsoft.com/office/drawing/2014/main" val="10002"/>
                  </a:ext>
                </a:extLst>
              </a:tr>
              <a:tr h="575786">
                <a:tc>
                  <a:txBody>
                    <a:bodyPr/>
                    <a:lstStyle/>
                    <a:p>
                      <a:pPr algn="ctr"/>
                      <a:r>
                        <a:rPr lang="zh-TW" altLang="en-US" sz="2000" dirty="0" smtClean="0"/>
                        <a:t>寶</a:t>
                      </a:r>
                      <a:endParaRPr lang="zh-TW" altLang="en-US" sz="2000" dirty="0"/>
                    </a:p>
                  </a:txBody>
                  <a:tcPr anchor="ctr"/>
                </a:tc>
                <a:tc>
                  <a:txBody>
                    <a:bodyPr/>
                    <a:lstStyle/>
                    <a:p>
                      <a:pPr algn="ctr"/>
                      <a:r>
                        <a:rPr lang="zh-TW" altLang="en-US" sz="2000" dirty="0" smtClean="0"/>
                        <a:t>以</a:t>
                      </a:r>
                      <a:endParaRPr lang="zh-TW" altLang="en-US" sz="2000" dirty="0"/>
                    </a:p>
                  </a:txBody>
                  <a:tcPr anchor="ctr"/>
                </a:tc>
                <a:tc>
                  <a:txBody>
                    <a:bodyPr/>
                    <a:lstStyle/>
                    <a:p>
                      <a:pPr algn="ctr"/>
                      <a:r>
                        <a:rPr lang="zh-TW" altLang="en-US" sz="2000" dirty="0" smtClean="0"/>
                        <a:t>每</a:t>
                      </a:r>
                      <a:endParaRPr lang="zh-TW" altLang="en-US" sz="2000" dirty="0"/>
                    </a:p>
                  </a:txBody>
                  <a:tcPr anchor="ctr"/>
                </a:tc>
                <a:tc>
                  <a:txBody>
                    <a:bodyPr/>
                    <a:lstStyle/>
                    <a:p>
                      <a:pPr algn="ctr"/>
                      <a:r>
                        <a:rPr lang="zh-TW" altLang="en-US" sz="2000" dirty="0" smtClean="0"/>
                        <a:t>隻</a:t>
                      </a:r>
                      <a:endParaRPr lang="zh-TW" altLang="en-US" sz="2000" dirty="0"/>
                    </a:p>
                  </a:txBody>
                  <a:tcPr anchor="ctr"/>
                </a:tc>
                <a:tc>
                  <a:txBody>
                    <a:bodyPr/>
                    <a:lstStyle/>
                    <a:p>
                      <a:pPr algn="ctr"/>
                      <a:r>
                        <a:rPr lang="zh-TW" altLang="en-US" sz="2000" dirty="0" smtClean="0"/>
                        <a:t>十</a:t>
                      </a:r>
                      <a:endParaRPr lang="zh-TW" altLang="en-US" sz="2000" dirty="0"/>
                    </a:p>
                  </a:txBody>
                  <a:tcPr anchor="ctr"/>
                </a:tc>
                <a:extLst>
                  <a:ext uri="{0D108BD9-81ED-4DB2-BD59-A6C34878D82A}">
                    <a16:rowId xmlns:a16="http://schemas.microsoft.com/office/drawing/2014/main" val="10003"/>
                  </a:ext>
                </a:extLst>
              </a:tr>
              <a:tr h="575786">
                <a:tc>
                  <a:txBody>
                    <a:bodyPr/>
                    <a:lstStyle/>
                    <a:p>
                      <a:pPr algn="ctr"/>
                      <a:r>
                        <a:rPr lang="zh-TW" altLang="en-US" sz="2000" dirty="0" smtClean="0"/>
                        <a:t>塊</a:t>
                      </a:r>
                      <a:endParaRPr lang="zh-TW" altLang="en-US" sz="2000" dirty="0"/>
                    </a:p>
                  </a:txBody>
                  <a:tcPr anchor="ctr"/>
                </a:tc>
                <a:tc>
                  <a:txBody>
                    <a:bodyPr/>
                    <a:lstStyle/>
                    <a:p>
                      <a:pPr algn="ctr"/>
                      <a:r>
                        <a:rPr lang="zh-TW" altLang="en-US" sz="2000" dirty="0" smtClean="0"/>
                        <a:t>錢</a:t>
                      </a:r>
                      <a:endParaRPr lang="zh-TW" altLang="en-US" sz="2000" dirty="0"/>
                    </a:p>
                  </a:txBody>
                  <a:tcPr anchor="ctr"/>
                </a:tc>
                <a:tc>
                  <a:txBody>
                    <a:bodyPr/>
                    <a:lstStyle/>
                    <a:p>
                      <a:pPr algn="ctr"/>
                      <a:r>
                        <a:rPr lang="zh-TW" altLang="en-US" sz="2000" dirty="0" smtClean="0"/>
                        <a:t>價</a:t>
                      </a:r>
                      <a:endParaRPr lang="zh-TW" altLang="en-US" sz="2000" dirty="0"/>
                    </a:p>
                  </a:txBody>
                  <a:tcPr anchor="ctr"/>
                </a:tc>
                <a:tc>
                  <a:txBody>
                    <a:bodyPr/>
                    <a:lstStyle/>
                    <a:p>
                      <a:pPr algn="ctr"/>
                      <a:r>
                        <a:rPr lang="zh-TW" altLang="en-US" sz="2000" dirty="0" smtClean="0"/>
                        <a:t>格</a:t>
                      </a:r>
                      <a:endParaRPr lang="zh-TW" altLang="en-US" sz="2000" dirty="0"/>
                    </a:p>
                  </a:txBody>
                  <a:tcPr anchor="ctr"/>
                </a:tc>
                <a:tc>
                  <a:txBody>
                    <a:bodyPr/>
                    <a:lstStyle/>
                    <a:p>
                      <a:pPr algn="ctr"/>
                      <a:r>
                        <a:rPr lang="zh-TW" altLang="en-US" sz="2000" dirty="0" smtClean="0"/>
                        <a:t>賣</a:t>
                      </a:r>
                      <a:endParaRPr lang="zh-TW" altLang="en-US" sz="2000" dirty="0"/>
                    </a:p>
                  </a:txBody>
                  <a:tcPr anchor="ctr"/>
                </a:tc>
                <a:extLst>
                  <a:ext uri="{0D108BD9-81ED-4DB2-BD59-A6C34878D82A}">
                    <a16:rowId xmlns:a16="http://schemas.microsoft.com/office/drawing/2014/main" val="10004"/>
                  </a:ext>
                </a:extLst>
              </a:tr>
              <a:tr h="575786">
                <a:tc>
                  <a:txBody>
                    <a:bodyPr/>
                    <a:lstStyle/>
                    <a:p>
                      <a:pPr algn="ctr"/>
                      <a:r>
                        <a:rPr lang="zh-TW" altLang="en-US" sz="2000" dirty="0" smtClean="0"/>
                        <a:t>給</a:t>
                      </a:r>
                      <a:endParaRPr lang="zh-TW" altLang="en-US" sz="2000" dirty="0"/>
                    </a:p>
                  </a:txBody>
                  <a:tcPr anchor="ctr"/>
                </a:tc>
                <a:tc>
                  <a:txBody>
                    <a:bodyPr/>
                    <a:lstStyle/>
                    <a:p>
                      <a:pPr algn="ctr"/>
                      <a:r>
                        <a:rPr lang="zh-TW" altLang="en-US" sz="2000" dirty="0" smtClean="0"/>
                        <a:t>他</a:t>
                      </a:r>
                      <a:endParaRPr lang="zh-TW" altLang="en-US" sz="2000" dirty="0"/>
                    </a:p>
                  </a:txBody>
                  <a:tcPr anchor="ctr"/>
                </a:tc>
                <a:tc>
                  <a:txBody>
                    <a:bodyPr/>
                    <a:lstStyle/>
                    <a:p>
                      <a:pPr algn="ctr"/>
                      <a:r>
                        <a:rPr lang="zh-TW" altLang="en-US" sz="2000" dirty="0" smtClean="0"/>
                        <a:t>的</a:t>
                      </a:r>
                      <a:endParaRPr lang="zh-TW" altLang="en-US" sz="2000" dirty="0"/>
                    </a:p>
                  </a:txBody>
                  <a:tcPr anchor="ctr"/>
                </a:tc>
                <a:tc>
                  <a:txBody>
                    <a:bodyPr/>
                    <a:lstStyle/>
                    <a:p>
                      <a:pPr algn="ctr"/>
                      <a:r>
                        <a:rPr lang="zh-TW" altLang="en-US" sz="2000" dirty="0" smtClean="0"/>
                        <a:t>鄰</a:t>
                      </a:r>
                      <a:endParaRPr lang="zh-TW" altLang="en-US" sz="2000" dirty="0"/>
                    </a:p>
                  </a:txBody>
                  <a:tcPr anchor="ctr"/>
                </a:tc>
                <a:tc>
                  <a:txBody>
                    <a:bodyPr/>
                    <a:lstStyle/>
                    <a:p>
                      <a:pPr algn="ctr"/>
                      <a:r>
                        <a:rPr lang="zh-TW" altLang="en-US" sz="2000" dirty="0" smtClean="0"/>
                        <a:t>居</a:t>
                      </a:r>
                      <a:endParaRPr lang="zh-TW" altLang="en-US" sz="2000" dirty="0"/>
                    </a:p>
                  </a:txBody>
                  <a:tcPr anchor="ct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8215370" cy="5500702"/>
          </a:xfrm>
        </p:spPr>
        <p:txBody>
          <a:bodyPr>
            <a:normAutofit/>
          </a:bodyPr>
          <a:lstStyle/>
          <a:p>
            <a:r>
              <a:rPr lang="zh-TW" altLang="en-US" sz="2000" dirty="0" smtClean="0"/>
              <a:t>凱撒則使用簡單的替換加密法 </a:t>
            </a:r>
            <a:r>
              <a:rPr lang="en-US" altLang="zh-TW" sz="2000" dirty="0" smtClean="0"/>
              <a:t>(</a:t>
            </a:r>
            <a:r>
              <a:rPr lang="en-US" altLang="zh-TW" sz="2000" dirty="0" smtClean="0">
                <a:solidFill>
                  <a:srgbClr val="FF0000"/>
                </a:solidFill>
              </a:rPr>
              <a:t>substitution</a:t>
            </a:r>
            <a:r>
              <a:rPr lang="en-US" altLang="zh-TW" sz="2000" dirty="0" smtClean="0"/>
              <a:t> ciphers)</a:t>
            </a:r>
            <a:r>
              <a:rPr lang="zh-TW" altLang="en-US" sz="2000" dirty="0" smtClean="0"/>
              <a:t>。</a:t>
            </a:r>
            <a:r>
              <a:rPr lang="zh-TW" altLang="en-US" sz="1800" dirty="0" smtClean="0"/>
              <a:t>簡單的替換加密法，使用直接字母位移，如以下移動三位：</a:t>
            </a:r>
            <a:endParaRPr lang="en-US" altLang="zh-TW" sz="1800" dirty="0" smtClean="0"/>
          </a:p>
          <a:p>
            <a:pPr lvl="1"/>
            <a:endParaRPr lang="en-US" altLang="zh-TW" sz="1800" dirty="0" smtClean="0"/>
          </a:p>
          <a:p>
            <a:pPr lvl="1"/>
            <a:endParaRPr lang="en-US" altLang="zh-TW" sz="1800" dirty="0" smtClean="0"/>
          </a:p>
          <a:p>
            <a:pPr lvl="1"/>
            <a:endParaRPr lang="en-US" altLang="zh-TW" sz="1800" dirty="0" smtClean="0"/>
          </a:p>
          <a:p>
            <a:pPr lvl="1"/>
            <a:endParaRPr lang="en-US" altLang="zh-TW" sz="1800" dirty="0" smtClean="0"/>
          </a:p>
          <a:p>
            <a:pPr>
              <a:spcBef>
                <a:spcPts val="1800"/>
              </a:spcBef>
            </a:pPr>
            <a:r>
              <a:rPr lang="zh-TW" altLang="en-US" sz="2000" dirty="0" smtClean="0"/>
              <a:t>也可以使用攪亂</a:t>
            </a:r>
            <a:r>
              <a:rPr lang="zh-TW" altLang="en-US" sz="2000" dirty="0" smtClean="0">
                <a:ea typeface="微軟正黑體"/>
              </a:rPr>
              <a:t> </a:t>
            </a:r>
            <a:r>
              <a:rPr lang="en-US" altLang="zh-TW" sz="2000" dirty="0" smtClean="0">
                <a:ea typeface="微軟正黑體"/>
              </a:rPr>
              <a:t>(</a:t>
            </a:r>
            <a:r>
              <a:rPr lang="zh-TW" altLang="en-US" sz="2000" dirty="0" smtClean="0">
                <a:ea typeface="微軟正黑體"/>
              </a:rPr>
              <a:t>但固定</a:t>
            </a:r>
            <a:r>
              <a:rPr lang="en-US" altLang="zh-TW" sz="2000" dirty="0" smtClean="0">
                <a:ea typeface="微軟正黑體"/>
              </a:rPr>
              <a:t>)</a:t>
            </a:r>
            <a:r>
              <a:rPr lang="zh-TW" altLang="en-US" sz="2000" dirty="0" smtClean="0">
                <a:ea typeface="微軟正黑體"/>
              </a:rPr>
              <a:t> </a:t>
            </a:r>
            <a:r>
              <a:rPr lang="zh-TW" altLang="en-US" sz="2000" dirty="0" smtClean="0"/>
              <a:t>的替換表加密，較難以觀察法找到規則性：</a:t>
            </a:r>
            <a:endParaRPr lang="en-US" altLang="zh-TW" sz="2000" dirty="0" smtClean="0"/>
          </a:p>
        </p:txBody>
      </p:sp>
      <p:sp>
        <p:nvSpPr>
          <p:cNvPr id="3" name="標題 2"/>
          <p:cNvSpPr>
            <a:spLocks noGrp="1"/>
          </p:cNvSpPr>
          <p:nvPr>
            <p:ph type="title"/>
          </p:nvPr>
        </p:nvSpPr>
        <p:spPr/>
        <p:txBody>
          <a:bodyPr/>
          <a:lstStyle/>
          <a:p>
            <a:r>
              <a:rPr lang="zh-TW" altLang="en-US" u="sng" dirty="0" smtClean="0">
                <a:solidFill>
                  <a:srgbClr val="FF0000"/>
                </a:solidFill>
              </a:rPr>
              <a:t>替換</a:t>
            </a:r>
            <a:r>
              <a:rPr lang="zh-TW" altLang="en-US" dirty="0" smtClean="0"/>
              <a:t>加密法</a:t>
            </a:r>
            <a:endParaRPr lang="zh-TW" altLang="en-US" dirty="0"/>
          </a:p>
        </p:txBody>
      </p:sp>
      <p:grpSp>
        <p:nvGrpSpPr>
          <p:cNvPr id="23" name="群組 22"/>
          <p:cNvGrpSpPr/>
          <p:nvPr/>
        </p:nvGrpSpPr>
        <p:grpSpPr>
          <a:xfrm>
            <a:off x="1860775" y="2348880"/>
            <a:ext cx="4565573" cy="1437310"/>
            <a:chOff x="1428728" y="2500306"/>
            <a:chExt cx="3857652" cy="1214446"/>
          </a:xfrm>
        </p:grpSpPr>
        <p:sp>
          <p:nvSpPr>
            <p:cNvPr id="9" name="圓角矩形 8"/>
            <p:cNvSpPr/>
            <p:nvPr/>
          </p:nvSpPr>
          <p:spPr>
            <a:xfrm>
              <a:off x="1428728" y="2500306"/>
              <a:ext cx="2428892"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A</a:t>
              </a:r>
              <a:r>
                <a:rPr lang="zh-TW" altLang="en-US" sz="2000" dirty="0" smtClean="0">
                  <a:latin typeface="Calibri" pitchFamily="34" charset="0"/>
                </a:rPr>
                <a:t> </a:t>
              </a:r>
              <a:r>
                <a:rPr lang="en-US" altLang="zh-TW" sz="2000" dirty="0" smtClean="0">
                  <a:latin typeface="Calibri" pitchFamily="34" charset="0"/>
                </a:rPr>
                <a:t>B</a:t>
              </a:r>
              <a:r>
                <a:rPr lang="zh-TW" altLang="en-US" sz="2000" dirty="0" smtClean="0">
                  <a:latin typeface="Calibri" pitchFamily="34" charset="0"/>
                </a:rPr>
                <a:t> </a:t>
              </a:r>
              <a:r>
                <a:rPr lang="en-US" altLang="zh-TW" sz="2000" dirty="0" smtClean="0">
                  <a:latin typeface="Calibri" pitchFamily="34" charset="0"/>
                </a:rPr>
                <a:t>C</a:t>
              </a:r>
              <a:r>
                <a:rPr lang="zh-TW" altLang="en-US" sz="2000" dirty="0" smtClean="0">
                  <a:latin typeface="Calibri" pitchFamily="34" charset="0"/>
                </a:rPr>
                <a:t> </a:t>
              </a:r>
              <a:r>
                <a:rPr lang="en-US" altLang="zh-TW" sz="2000" dirty="0" smtClean="0">
                  <a:latin typeface="Calibri" pitchFamily="34" charset="0"/>
                </a:rPr>
                <a:t>D</a:t>
              </a:r>
              <a:r>
                <a:rPr lang="zh-TW" altLang="en-US" sz="2000" dirty="0" smtClean="0">
                  <a:latin typeface="Calibri" pitchFamily="34" charset="0"/>
                </a:rPr>
                <a:t> </a:t>
              </a:r>
              <a:r>
                <a:rPr lang="en-US" altLang="zh-TW" sz="2000" dirty="0" smtClean="0">
                  <a:latin typeface="Calibri" pitchFamily="34" charset="0"/>
                </a:rPr>
                <a:t>E</a:t>
              </a:r>
              <a:r>
                <a:rPr lang="zh-TW" altLang="en-US" sz="2000" dirty="0" smtClean="0">
                  <a:latin typeface="Calibri" pitchFamily="34" charset="0"/>
                </a:rPr>
                <a:t> </a:t>
              </a:r>
              <a:r>
                <a:rPr lang="en-US" altLang="zh-TW" sz="2000" dirty="0" smtClean="0">
                  <a:latin typeface="Calibri" pitchFamily="34" charset="0"/>
                </a:rPr>
                <a:t>F</a:t>
              </a:r>
              <a:r>
                <a:rPr lang="zh-TW" altLang="en-US" sz="2000" dirty="0" smtClean="0">
                  <a:latin typeface="Calibri" pitchFamily="34" charset="0"/>
                </a:rPr>
                <a:t> </a:t>
              </a:r>
              <a:r>
                <a:rPr lang="en-US" altLang="zh-TW" sz="2000" dirty="0" smtClean="0">
                  <a:latin typeface="Calibri" pitchFamily="34" charset="0"/>
                </a:rPr>
                <a:t>G</a:t>
              </a:r>
              <a:r>
                <a:rPr lang="zh-TW" altLang="en-US" sz="2000" dirty="0" smtClean="0">
                  <a:latin typeface="Calibri" pitchFamily="34" charset="0"/>
                </a:rPr>
                <a:t> </a:t>
              </a:r>
              <a:r>
                <a:rPr lang="en-US" altLang="zh-TW" sz="2000" dirty="0" smtClean="0">
                  <a:latin typeface="Calibri" pitchFamily="34" charset="0"/>
                </a:rPr>
                <a:t>H</a:t>
              </a:r>
              <a:r>
                <a:rPr lang="zh-TW" altLang="en-US" sz="2000" dirty="0" smtClean="0">
                  <a:latin typeface="Calibri" pitchFamily="34" charset="0"/>
                </a:rPr>
                <a:t> </a:t>
              </a:r>
              <a:r>
                <a:rPr lang="en-US" altLang="zh-TW" sz="2000" dirty="0" smtClean="0">
                  <a:latin typeface="Calibri" pitchFamily="34" charset="0"/>
                </a:rPr>
                <a:t>I</a:t>
              </a:r>
              <a:endParaRPr lang="zh-TW" altLang="en-US" sz="2000" dirty="0">
                <a:latin typeface="Calibri" pitchFamily="34" charset="0"/>
              </a:endParaRPr>
            </a:p>
          </p:txBody>
        </p:sp>
        <p:sp>
          <p:nvSpPr>
            <p:cNvPr id="10" name="圓角矩形 9"/>
            <p:cNvSpPr/>
            <p:nvPr/>
          </p:nvSpPr>
          <p:spPr>
            <a:xfrm>
              <a:off x="1428728" y="3357562"/>
              <a:ext cx="2428892"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D</a:t>
              </a:r>
              <a:r>
                <a:rPr lang="zh-TW" altLang="en-US" sz="2000" dirty="0" smtClean="0">
                  <a:latin typeface="Calibri" pitchFamily="34" charset="0"/>
                </a:rPr>
                <a:t> </a:t>
              </a:r>
              <a:r>
                <a:rPr lang="en-US" altLang="zh-TW" sz="2000" dirty="0" smtClean="0">
                  <a:latin typeface="Calibri" pitchFamily="34" charset="0"/>
                </a:rPr>
                <a:t>E F G H I J K L</a:t>
              </a:r>
              <a:endParaRPr lang="zh-TW" altLang="en-US" sz="2000" dirty="0">
                <a:latin typeface="Calibri" pitchFamily="34" charset="0"/>
              </a:endParaRPr>
            </a:p>
          </p:txBody>
        </p:sp>
        <p:sp>
          <p:nvSpPr>
            <p:cNvPr id="11" name="向下箭號 10"/>
            <p:cNvSpPr/>
            <p:nvPr/>
          </p:nvSpPr>
          <p:spPr>
            <a:xfrm>
              <a:off x="2428860" y="2928934"/>
              <a:ext cx="428628" cy="357190"/>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2000">
                <a:latin typeface="Calibri" pitchFamily="34" charset="0"/>
              </a:endParaRPr>
            </a:p>
          </p:txBody>
        </p:sp>
        <p:sp>
          <p:nvSpPr>
            <p:cNvPr id="12" name="圓角矩形 11"/>
            <p:cNvSpPr/>
            <p:nvPr/>
          </p:nvSpPr>
          <p:spPr>
            <a:xfrm>
              <a:off x="4357686" y="2500306"/>
              <a:ext cx="928694"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CAGE</a:t>
              </a:r>
              <a:endParaRPr lang="zh-TW" altLang="en-US" sz="2000" dirty="0">
                <a:latin typeface="Calibri" pitchFamily="34" charset="0"/>
              </a:endParaRPr>
            </a:p>
          </p:txBody>
        </p:sp>
        <p:sp>
          <p:nvSpPr>
            <p:cNvPr id="13" name="圓角矩形 12"/>
            <p:cNvSpPr/>
            <p:nvPr/>
          </p:nvSpPr>
          <p:spPr>
            <a:xfrm>
              <a:off x="4357686" y="3357562"/>
              <a:ext cx="928694"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FDJH</a:t>
              </a:r>
              <a:endParaRPr lang="zh-TW" altLang="en-US" sz="2000" dirty="0">
                <a:latin typeface="Calibri" pitchFamily="34" charset="0"/>
              </a:endParaRPr>
            </a:p>
          </p:txBody>
        </p:sp>
        <p:sp>
          <p:nvSpPr>
            <p:cNvPr id="14" name="向下箭號 13"/>
            <p:cNvSpPr/>
            <p:nvPr/>
          </p:nvSpPr>
          <p:spPr>
            <a:xfrm>
              <a:off x="4643438" y="2928934"/>
              <a:ext cx="428628" cy="357190"/>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2000">
                <a:latin typeface="Calibri" pitchFamily="34" charset="0"/>
              </a:endParaRPr>
            </a:p>
          </p:txBody>
        </p:sp>
      </p:grpSp>
      <p:grpSp>
        <p:nvGrpSpPr>
          <p:cNvPr id="24" name="群組 23"/>
          <p:cNvGrpSpPr/>
          <p:nvPr/>
        </p:nvGrpSpPr>
        <p:grpSpPr>
          <a:xfrm>
            <a:off x="1860776" y="4794380"/>
            <a:ext cx="4583432" cy="1442932"/>
            <a:chOff x="1428728" y="4572008"/>
            <a:chExt cx="3857652" cy="1214446"/>
          </a:xfrm>
        </p:grpSpPr>
        <p:sp>
          <p:nvSpPr>
            <p:cNvPr id="15" name="圓角矩形 14"/>
            <p:cNvSpPr/>
            <p:nvPr/>
          </p:nvSpPr>
          <p:spPr>
            <a:xfrm>
              <a:off x="1428728" y="4572008"/>
              <a:ext cx="2428892"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A</a:t>
              </a:r>
              <a:r>
                <a:rPr lang="zh-TW" altLang="en-US" sz="2000" dirty="0" smtClean="0">
                  <a:latin typeface="Calibri" pitchFamily="34" charset="0"/>
                </a:rPr>
                <a:t> </a:t>
              </a:r>
              <a:r>
                <a:rPr lang="en-US" altLang="zh-TW" sz="2000" dirty="0" smtClean="0">
                  <a:latin typeface="Calibri" pitchFamily="34" charset="0"/>
                </a:rPr>
                <a:t>B</a:t>
              </a:r>
              <a:r>
                <a:rPr lang="zh-TW" altLang="en-US" sz="2000" dirty="0" smtClean="0">
                  <a:latin typeface="Calibri" pitchFamily="34" charset="0"/>
                </a:rPr>
                <a:t> </a:t>
              </a:r>
              <a:r>
                <a:rPr lang="en-US" altLang="zh-TW" sz="2000" dirty="0" smtClean="0">
                  <a:latin typeface="Calibri" pitchFamily="34" charset="0"/>
                </a:rPr>
                <a:t>C</a:t>
              </a:r>
              <a:r>
                <a:rPr lang="zh-TW" altLang="en-US" sz="2000" dirty="0" smtClean="0">
                  <a:latin typeface="Calibri" pitchFamily="34" charset="0"/>
                </a:rPr>
                <a:t> </a:t>
              </a:r>
              <a:r>
                <a:rPr lang="en-US" altLang="zh-TW" sz="2000" dirty="0" smtClean="0">
                  <a:latin typeface="Calibri" pitchFamily="34" charset="0"/>
                </a:rPr>
                <a:t>D</a:t>
              </a:r>
              <a:r>
                <a:rPr lang="zh-TW" altLang="en-US" sz="2000" dirty="0" smtClean="0">
                  <a:latin typeface="Calibri" pitchFamily="34" charset="0"/>
                </a:rPr>
                <a:t> </a:t>
              </a:r>
              <a:r>
                <a:rPr lang="en-US" altLang="zh-TW" sz="2000" dirty="0" smtClean="0">
                  <a:latin typeface="Calibri" pitchFamily="34" charset="0"/>
                </a:rPr>
                <a:t>E</a:t>
              </a:r>
              <a:r>
                <a:rPr lang="zh-TW" altLang="en-US" sz="2000" dirty="0" smtClean="0">
                  <a:latin typeface="Calibri" pitchFamily="34" charset="0"/>
                </a:rPr>
                <a:t> </a:t>
              </a:r>
              <a:r>
                <a:rPr lang="en-US" altLang="zh-TW" sz="2000" dirty="0" smtClean="0">
                  <a:latin typeface="Calibri" pitchFamily="34" charset="0"/>
                </a:rPr>
                <a:t>F</a:t>
              </a:r>
              <a:r>
                <a:rPr lang="zh-TW" altLang="en-US" sz="2000" dirty="0" smtClean="0">
                  <a:latin typeface="Calibri" pitchFamily="34" charset="0"/>
                </a:rPr>
                <a:t> </a:t>
              </a:r>
              <a:r>
                <a:rPr lang="en-US" altLang="zh-TW" sz="2000" dirty="0" smtClean="0">
                  <a:latin typeface="Calibri" pitchFamily="34" charset="0"/>
                </a:rPr>
                <a:t>G</a:t>
              </a:r>
              <a:r>
                <a:rPr lang="zh-TW" altLang="en-US" sz="2000" dirty="0" smtClean="0">
                  <a:latin typeface="Calibri" pitchFamily="34" charset="0"/>
                </a:rPr>
                <a:t> </a:t>
              </a:r>
              <a:r>
                <a:rPr lang="en-US" altLang="zh-TW" sz="2000" dirty="0" smtClean="0">
                  <a:latin typeface="Calibri" pitchFamily="34" charset="0"/>
                </a:rPr>
                <a:t>H</a:t>
              </a:r>
              <a:r>
                <a:rPr lang="zh-TW" altLang="en-US" sz="2000" dirty="0" smtClean="0">
                  <a:latin typeface="Calibri" pitchFamily="34" charset="0"/>
                </a:rPr>
                <a:t> </a:t>
              </a:r>
              <a:r>
                <a:rPr lang="en-US" altLang="zh-TW" sz="2000" dirty="0" smtClean="0">
                  <a:latin typeface="Calibri" pitchFamily="34" charset="0"/>
                </a:rPr>
                <a:t>I</a:t>
              </a:r>
              <a:endParaRPr lang="zh-TW" altLang="en-US" sz="2000" dirty="0">
                <a:latin typeface="Calibri" pitchFamily="34" charset="0"/>
              </a:endParaRPr>
            </a:p>
          </p:txBody>
        </p:sp>
        <p:sp>
          <p:nvSpPr>
            <p:cNvPr id="16" name="圓角矩形 15"/>
            <p:cNvSpPr/>
            <p:nvPr/>
          </p:nvSpPr>
          <p:spPr>
            <a:xfrm>
              <a:off x="1428728" y="5429264"/>
              <a:ext cx="2428892"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X T R F O A Z C N</a:t>
              </a:r>
              <a:endParaRPr lang="zh-TW" altLang="en-US" sz="2000" dirty="0">
                <a:latin typeface="Calibri" pitchFamily="34" charset="0"/>
              </a:endParaRPr>
            </a:p>
          </p:txBody>
        </p:sp>
        <p:sp>
          <p:nvSpPr>
            <p:cNvPr id="17" name="向下箭號 16"/>
            <p:cNvSpPr/>
            <p:nvPr/>
          </p:nvSpPr>
          <p:spPr>
            <a:xfrm>
              <a:off x="2428860" y="5000636"/>
              <a:ext cx="428628" cy="357190"/>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2000">
                <a:latin typeface="Calibri" pitchFamily="34" charset="0"/>
              </a:endParaRPr>
            </a:p>
          </p:txBody>
        </p:sp>
        <p:sp>
          <p:nvSpPr>
            <p:cNvPr id="18" name="圓角矩形 17"/>
            <p:cNvSpPr/>
            <p:nvPr/>
          </p:nvSpPr>
          <p:spPr>
            <a:xfrm>
              <a:off x="4357686" y="4572008"/>
              <a:ext cx="928694"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CAGE</a:t>
              </a:r>
              <a:endParaRPr lang="zh-TW" altLang="en-US" sz="2000" dirty="0">
                <a:latin typeface="Calibri" pitchFamily="34" charset="0"/>
              </a:endParaRPr>
            </a:p>
          </p:txBody>
        </p:sp>
        <p:sp>
          <p:nvSpPr>
            <p:cNvPr id="19" name="圓角矩形 18"/>
            <p:cNvSpPr/>
            <p:nvPr/>
          </p:nvSpPr>
          <p:spPr>
            <a:xfrm>
              <a:off x="4357686" y="5429264"/>
              <a:ext cx="928694"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smtClean="0">
                  <a:latin typeface="Calibri" pitchFamily="34" charset="0"/>
                </a:rPr>
                <a:t>RXZO</a:t>
              </a:r>
              <a:endParaRPr lang="zh-TW" altLang="en-US" sz="2000" dirty="0">
                <a:latin typeface="Calibri" pitchFamily="34" charset="0"/>
              </a:endParaRPr>
            </a:p>
          </p:txBody>
        </p:sp>
        <p:sp>
          <p:nvSpPr>
            <p:cNvPr id="20" name="向下箭號 19"/>
            <p:cNvSpPr/>
            <p:nvPr/>
          </p:nvSpPr>
          <p:spPr>
            <a:xfrm>
              <a:off x="4643438" y="5000636"/>
              <a:ext cx="428628" cy="357190"/>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2000">
                <a:latin typeface="Calibri" pitchFamily="34" charset="0"/>
              </a:endParaRPr>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smtClean="0"/>
              <a:t>頻率分析法 </a:t>
            </a:r>
            <a:r>
              <a:rPr lang="en-US" altLang="zh-TW" dirty="0" smtClean="0">
                <a:solidFill>
                  <a:srgbClr val="0000FF"/>
                </a:solidFill>
              </a:rPr>
              <a:t>(</a:t>
            </a:r>
            <a:r>
              <a:rPr lang="zh-TW" altLang="en-US" dirty="0" smtClean="0">
                <a:solidFill>
                  <a:srgbClr val="0000FF"/>
                </a:solidFill>
              </a:rPr>
              <a:t>破解</a:t>
            </a:r>
            <a:r>
              <a:rPr lang="en-US" altLang="zh-TW" dirty="0" smtClean="0">
                <a:solidFill>
                  <a:srgbClr val="0000FF"/>
                </a:solidFill>
              </a:rPr>
              <a:t>)</a:t>
            </a:r>
            <a:endParaRPr lang="zh-TW" altLang="en-US" dirty="0">
              <a:solidFill>
                <a:srgbClr val="0000FF"/>
              </a:solidFill>
            </a:endParaRPr>
          </a:p>
        </p:txBody>
      </p:sp>
      <p:sp>
        <p:nvSpPr>
          <p:cNvPr id="3" name="內容版面配置區 2"/>
          <p:cNvSpPr>
            <a:spLocks noGrp="1"/>
          </p:cNvSpPr>
          <p:nvPr>
            <p:ph sz="half" idx="1"/>
          </p:nvPr>
        </p:nvSpPr>
        <p:spPr>
          <a:xfrm>
            <a:off x="645760" y="1285860"/>
            <a:ext cx="3422184" cy="5572140"/>
          </a:xfrm>
        </p:spPr>
        <p:txBody>
          <a:bodyPr>
            <a:normAutofit/>
          </a:bodyPr>
          <a:lstStyle/>
          <a:p>
            <a:pPr>
              <a:spcBef>
                <a:spcPts val="1200"/>
              </a:spcBef>
            </a:pPr>
            <a:r>
              <a:rPr lang="zh-TW" altLang="en-US" dirty="0" smtClean="0"/>
              <a:t>一篇以替換法加密的密文，</a:t>
            </a:r>
            <a:r>
              <a:rPr lang="zh-TW" altLang="en-US" b="1" dirty="0" smtClean="0">
                <a:solidFill>
                  <a:srgbClr val="FF0000"/>
                </a:solidFill>
              </a:rPr>
              <a:t>可以用字母出現的頻率反推出原文</a:t>
            </a:r>
            <a:r>
              <a:rPr lang="zh-TW" altLang="en-US" dirty="0" smtClean="0"/>
              <a:t>。</a:t>
            </a:r>
            <a:endParaRPr lang="en-US" altLang="zh-TW" dirty="0" smtClean="0"/>
          </a:p>
          <a:p>
            <a:pPr>
              <a:spcBef>
                <a:spcPts val="1200"/>
              </a:spcBef>
            </a:pPr>
            <a:r>
              <a:rPr lang="zh-TW" altLang="en-US" dirty="0" smtClean="0"/>
              <a:t>右圖為每個英文字母在文章中出現的機率統計表；出現機率最高的字母依序為 </a:t>
            </a:r>
            <a:r>
              <a:rPr lang="en-US" altLang="zh-TW" dirty="0" smtClean="0">
                <a:solidFill>
                  <a:srgbClr val="FF0000"/>
                </a:solidFill>
              </a:rPr>
              <a:t>E, T, A, O, I</a:t>
            </a:r>
            <a:r>
              <a:rPr lang="zh-TW" altLang="en-US" dirty="0" smtClean="0">
                <a:solidFill>
                  <a:srgbClr val="FF0000"/>
                </a:solidFill>
              </a:rPr>
              <a:t> </a:t>
            </a:r>
            <a:r>
              <a:rPr lang="zh-TW" altLang="en-US" dirty="0" smtClean="0"/>
              <a:t>等。</a:t>
            </a:r>
            <a:endParaRPr lang="en-US" altLang="zh-TW" dirty="0" smtClean="0"/>
          </a:p>
          <a:p>
            <a:pPr>
              <a:spcBef>
                <a:spcPts val="1200"/>
              </a:spcBef>
            </a:pPr>
            <a:r>
              <a:rPr lang="zh-TW" altLang="en-US" dirty="0" smtClean="0"/>
              <a:t>仔細統計</a:t>
            </a:r>
            <a:r>
              <a:rPr lang="zh-TW" altLang="en-US" dirty="0" smtClean="0">
                <a:solidFill>
                  <a:srgbClr val="0000FF"/>
                </a:solidFill>
              </a:rPr>
              <a:t>密文中</a:t>
            </a:r>
            <a:r>
              <a:rPr lang="zh-TW" altLang="en-US" dirty="0" smtClean="0"/>
              <a:t>出現機率最高的字母，例如依序為 </a:t>
            </a:r>
            <a:r>
              <a:rPr lang="en-US" altLang="zh-TW" dirty="0" smtClean="0">
                <a:solidFill>
                  <a:srgbClr val="0000FF"/>
                </a:solidFill>
              </a:rPr>
              <a:t>O, K, X, M, N</a:t>
            </a:r>
            <a:r>
              <a:rPr lang="zh-TW" altLang="en-US" dirty="0" smtClean="0"/>
              <a:t>，就能找出可能的替換表對應關係。</a:t>
            </a:r>
            <a:endParaRPr lang="en-US" altLang="zh-TW" dirty="0" smtClean="0"/>
          </a:p>
        </p:txBody>
      </p:sp>
      <p:graphicFrame>
        <p:nvGraphicFramePr>
          <p:cNvPr id="5" name="內容版面配置區 4"/>
          <p:cNvGraphicFramePr>
            <a:graphicFrameLocks noGrp="1"/>
          </p:cNvGraphicFramePr>
          <p:nvPr>
            <p:ph sz="half" idx="2"/>
          </p:nvPr>
        </p:nvGraphicFramePr>
        <p:xfrm>
          <a:off x="4378724" y="1188680"/>
          <a:ext cx="3649660" cy="5120640"/>
        </p:xfrm>
        <a:graphic>
          <a:graphicData uri="http://schemas.openxmlformats.org/drawingml/2006/table">
            <a:tbl>
              <a:tblPr firstRow="1" bandRow="1">
                <a:tableStyleId>{5C22544A-7EE6-4342-B048-85BDC9FD1C3A}</a:tableStyleId>
              </a:tblPr>
              <a:tblGrid>
                <a:gridCol w="912415">
                  <a:extLst>
                    <a:ext uri="{9D8B030D-6E8A-4147-A177-3AD203B41FA5}">
                      <a16:colId xmlns:a16="http://schemas.microsoft.com/office/drawing/2014/main" val="20000"/>
                    </a:ext>
                  </a:extLst>
                </a:gridCol>
                <a:gridCol w="912415">
                  <a:extLst>
                    <a:ext uri="{9D8B030D-6E8A-4147-A177-3AD203B41FA5}">
                      <a16:colId xmlns:a16="http://schemas.microsoft.com/office/drawing/2014/main" val="20001"/>
                    </a:ext>
                  </a:extLst>
                </a:gridCol>
                <a:gridCol w="912415">
                  <a:extLst>
                    <a:ext uri="{9D8B030D-6E8A-4147-A177-3AD203B41FA5}">
                      <a16:colId xmlns:a16="http://schemas.microsoft.com/office/drawing/2014/main" val="20002"/>
                    </a:ext>
                  </a:extLst>
                </a:gridCol>
                <a:gridCol w="912415">
                  <a:extLst>
                    <a:ext uri="{9D8B030D-6E8A-4147-A177-3AD203B41FA5}">
                      <a16:colId xmlns:a16="http://schemas.microsoft.com/office/drawing/2014/main" val="20003"/>
                    </a:ext>
                  </a:extLst>
                </a:gridCol>
              </a:tblGrid>
              <a:tr h="179917">
                <a:tc>
                  <a:txBody>
                    <a:bodyPr/>
                    <a:lstStyle/>
                    <a:p>
                      <a:pPr algn="ctr"/>
                      <a:r>
                        <a:rPr lang="zh-TW" altLang="en-US" sz="1800" dirty="0" smtClean="0">
                          <a:latin typeface="Calibri" pitchFamily="34" charset="0"/>
                        </a:rPr>
                        <a:t>字母</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a:r>
                        <a:rPr lang="zh-TW" altLang="en-US" sz="1800" dirty="0" smtClean="0">
                          <a:latin typeface="Calibri" pitchFamily="34" charset="0"/>
                        </a:rPr>
                        <a:t>百分比</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lgn="ctr"/>
                      <a:r>
                        <a:rPr lang="zh-TW" altLang="en-US" sz="1800" dirty="0" smtClean="0">
                          <a:latin typeface="Calibri" pitchFamily="34" charset="0"/>
                        </a:rPr>
                        <a:t>字母</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a:r>
                        <a:rPr lang="zh-TW" altLang="en-US" sz="1800" dirty="0" smtClean="0">
                          <a:latin typeface="Calibri" pitchFamily="34" charset="0"/>
                        </a:rPr>
                        <a:t>百分比</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0"/>
                  </a:ext>
                </a:extLst>
              </a:tr>
              <a:tr h="179917">
                <a:tc>
                  <a:txBody>
                    <a:bodyPr/>
                    <a:lstStyle/>
                    <a:p>
                      <a:pPr algn="ctr"/>
                      <a:r>
                        <a:rPr lang="en-US" altLang="zh-TW" sz="1800" dirty="0" smtClean="0">
                          <a:latin typeface="Calibri" pitchFamily="34" charset="0"/>
                        </a:rPr>
                        <a:t>A</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8.2</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N</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6.7</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79917">
                <a:tc>
                  <a:txBody>
                    <a:bodyPr/>
                    <a:lstStyle/>
                    <a:p>
                      <a:pPr algn="ctr"/>
                      <a:r>
                        <a:rPr lang="en-US" altLang="zh-TW" sz="1800" dirty="0" smtClean="0">
                          <a:latin typeface="Calibri" pitchFamily="34" charset="0"/>
                        </a:rPr>
                        <a:t>B</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1.5</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O</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7.5</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79917">
                <a:tc>
                  <a:txBody>
                    <a:bodyPr/>
                    <a:lstStyle/>
                    <a:p>
                      <a:pPr algn="ctr"/>
                      <a:r>
                        <a:rPr lang="en-US" altLang="zh-TW" sz="1800" dirty="0" smtClean="0">
                          <a:latin typeface="Calibri" pitchFamily="34" charset="0"/>
                        </a:rPr>
                        <a:t>C</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2.8</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P</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1.9</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79917">
                <a:tc>
                  <a:txBody>
                    <a:bodyPr/>
                    <a:lstStyle/>
                    <a:p>
                      <a:pPr algn="ctr"/>
                      <a:r>
                        <a:rPr lang="en-US" altLang="zh-TW" sz="1800" dirty="0" smtClean="0">
                          <a:latin typeface="Calibri" pitchFamily="34" charset="0"/>
                        </a:rPr>
                        <a:t>D</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4.3</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Q</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0.1</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79917">
                <a:tc>
                  <a:txBody>
                    <a:bodyPr/>
                    <a:lstStyle/>
                    <a:p>
                      <a:pPr algn="ctr"/>
                      <a:r>
                        <a:rPr lang="en-US" altLang="zh-TW" sz="1800" dirty="0" smtClean="0">
                          <a:latin typeface="Calibri" pitchFamily="34" charset="0"/>
                        </a:rPr>
                        <a:t>E</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12.7</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R</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6.0</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79917">
                <a:tc>
                  <a:txBody>
                    <a:bodyPr/>
                    <a:lstStyle/>
                    <a:p>
                      <a:pPr algn="ctr"/>
                      <a:r>
                        <a:rPr lang="en-US" altLang="zh-TW" sz="1800" dirty="0" smtClean="0">
                          <a:latin typeface="Calibri" pitchFamily="34" charset="0"/>
                        </a:rPr>
                        <a:t>F</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2.2</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S</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6.3</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79917">
                <a:tc>
                  <a:txBody>
                    <a:bodyPr/>
                    <a:lstStyle/>
                    <a:p>
                      <a:pPr algn="ctr"/>
                      <a:r>
                        <a:rPr lang="en-US" altLang="zh-TW" sz="1800" dirty="0" smtClean="0">
                          <a:latin typeface="Calibri" pitchFamily="34" charset="0"/>
                        </a:rPr>
                        <a:t>G</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2.0</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T</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9.1</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79917">
                <a:tc>
                  <a:txBody>
                    <a:bodyPr/>
                    <a:lstStyle/>
                    <a:p>
                      <a:pPr algn="ctr"/>
                      <a:r>
                        <a:rPr lang="en-US" altLang="zh-TW" sz="1800" dirty="0" smtClean="0">
                          <a:latin typeface="Calibri" pitchFamily="34" charset="0"/>
                        </a:rPr>
                        <a:t>H</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6.1</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U</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2.8</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79917">
                <a:tc>
                  <a:txBody>
                    <a:bodyPr/>
                    <a:lstStyle/>
                    <a:p>
                      <a:pPr algn="ctr"/>
                      <a:r>
                        <a:rPr lang="en-US" altLang="zh-TW" sz="1800" dirty="0" smtClean="0">
                          <a:latin typeface="Calibri" pitchFamily="34" charset="0"/>
                        </a:rPr>
                        <a:t>I</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7.0</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V</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1.0</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79917">
                <a:tc>
                  <a:txBody>
                    <a:bodyPr/>
                    <a:lstStyle/>
                    <a:p>
                      <a:pPr algn="ctr"/>
                      <a:r>
                        <a:rPr lang="en-US" altLang="zh-TW" sz="1800" dirty="0" smtClean="0">
                          <a:latin typeface="Calibri" pitchFamily="34" charset="0"/>
                        </a:rPr>
                        <a:t>J</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0.2</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W</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2.4</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79917">
                <a:tc>
                  <a:txBody>
                    <a:bodyPr/>
                    <a:lstStyle/>
                    <a:p>
                      <a:pPr algn="ctr"/>
                      <a:r>
                        <a:rPr lang="en-US" altLang="zh-TW" sz="1800" dirty="0" smtClean="0">
                          <a:latin typeface="Calibri" pitchFamily="34" charset="0"/>
                        </a:rPr>
                        <a:t>K</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0.8</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X</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0.2</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79917">
                <a:tc>
                  <a:txBody>
                    <a:bodyPr/>
                    <a:lstStyle/>
                    <a:p>
                      <a:pPr algn="ctr"/>
                      <a:r>
                        <a:rPr lang="en-US" altLang="zh-TW" sz="1800" dirty="0" smtClean="0">
                          <a:latin typeface="Calibri" pitchFamily="34" charset="0"/>
                        </a:rPr>
                        <a:t>L</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4.0</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tc>
                  <a:txBody>
                    <a:bodyPr/>
                    <a:lstStyle/>
                    <a:p>
                      <a:pPr algn="ctr"/>
                      <a:r>
                        <a:rPr lang="en-US" altLang="zh-TW" sz="1800" dirty="0" smtClean="0">
                          <a:latin typeface="Calibri" pitchFamily="34" charset="0"/>
                        </a:rPr>
                        <a:t>Y</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tcPr>
                </a:tc>
                <a:tc>
                  <a:txBody>
                    <a:bodyPr/>
                    <a:lstStyle/>
                    <a:p>
                      <a:pPr algn="r"/>
                      <a:r>
                        <a:rPr lang="en-US" altLang="zh-TW" sz="1800" dirty="0" smtClean="0">
                          <a:latin typeface="Calibri" pitchFamily="34" charset="0"/>
                        </a:rPr>
                        <a:t>2.0</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79917">
                <a:tc>
                  <a:txBody>
                    <a:bodyPr/>
                    <a:lstStyle/>
                    <a:p>
                      <a:pPr algn="ctr"/>
                      <a:r>
                        <a:rPr lang="en-US" altLang="zh-TW" sz="1800" dirty="0" smtClean="0">
                          <a:latin typeface="Calibri" pitchFamily="34" charset="0"/>
                        </a:rPr>
                        <a:t>M</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a:r>
                        <a:rPr lang="en-US" altLang="zh-TW" sz="1800" dirty="0" smtClean="0">
                          <a:latin typeface="Calibri" pitchFamily="34" charset="0"/>
                        </a:rPr>
                        <a:t>2.4</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lgn="ctr"/>
                      <a:r>
                        <a:rPr lang="en-US" altLang="zh-TW" sz="1800" dirty="0" smtClean="0">
                          <a:latin typeface="Calibri" pitchFamily="34" charset="0"/>
                        </a:rPr>
                        <a:t>Z</a:t>
                      </a:r>
                      <a:endParaRPr lang="zh-TW" altLang="en-US" sz="1800" dirty="0">
                        <a:latin typeface="Calibri"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a:r>
                        <a:rPr lang="en-US" altLang="zh-TW" sz="1800" dirty="0" smtClean="0">
                          <a:latin typeface="Calibri" pitchFamily="34" charset="0"/>
                        </a:rPr>
                        <a:t>0.1</a:t>
                      </a:r>
                      <a:endParaRPr lang="zh-TW" altLang="en-US" sz="1800" dirty="0">
                        <a:latin typeface="Calibri"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8215370" cy="2863790"/>
          </a:xfrm>
        </p:spPr>
        <p:txBody>
          <a:bodyPr>
            <a:normAutofit fontScale="92500"/>
          </a:bodyPr>
          <a:lstStyle/>
          <a:p>
            <a:r>
              <a:rPr lang="zh-TW" altLang="en-US" sz="2000" dirty="0" smtClean="0"/>
              <a:t>為了混淆頻率分析法，發展出多重字母替換加密法 </a:t>
            </a:r>
            <a:r>
              <a:rPr lang="en-US" altLang="zh-TW" sz="2000" dirty="0" smtClean="0"/>
              <a:t>(polyalphabetic ciphers</a:t>
            </a:r>
            <a:r>
              <a:rPr lang="zh-TW" altLang="en-US" sz="2000" dirty="0" smtClean="0"/>
              <a:t> 或稱為 </a:t>
            </a:r>
            <a:r>
              <a:rPr lang="en-US" altLang="zh-TW" sz="2000" dirty="0" err="1" smtClean="0"/>
              <a:t>Vigenere</a:t>
            </a:r>
            <a:r>
              <a:rPr lang="en-US" altLang="zh-TW" sz="2000" dirty="0" smtClean="0"/>
              <a:t> cipher)</a:t>
            </a:r>
            <a:r>
              <a:rPr lang="zh-TW" altLang="en-US" sz="2000" dirty="0" smtClean="0"/>
              <a:t>。</a:t>
            </a:r>
            <a:r>
              <a:rPr lang="zh-TW" altLang="en-US" sz="2200" dirty="0" smtClean="0"/>
              <a:t>下圖使用該法，移動位數有</a:t>
            </a:r>
            <a:r>
              <a:rPr lang="en-US" altLang="zh-TW" sz="2200" dirty="0" smtClean="0"/>
              <a:t>26</a:t>
            </a:r>
            <a:r>
              <a:rPr lang="zh-TW" altLang="en-US" sz="2200" dirty="0" smtClean="0"/>
              <a:t>種可能。</a:t>
            </a:r>
            <a:r>
              <a:rPr lang="zh-TW" altLang="en-US" sz="2200" dirty="0" smtClean="0">
                <a:solidFill>
                  <a:srgbClr val="FF0000"/>
                </a:solidFill>
              </a:rPr>
              <a:t>我們定義</a:t>
            </a:r>
            <a:r>
              <a:rPr lang="zh-TW" altLang="en-US" sz="2200" dirty="0" smtClean="0">
                <a:solidFill>
                  <a:srgbClr val="FF0000"/>
                </a:solidFill>
                <a:latin typeface="微軟正黑體"/>
                <a:ea typeface="微軟正黑體"/>
              </a:rPr>
              <a:t>「</a:t>
            </a:r>
            <a:r>
              <a:rPr lang="zh-TW" altLang="en-US" sz="2200" dirty="0" smtClean="0">
                <a:solidFill>
                  <a:srgbClr val="FF0000"/>
                </a:solidFill>
              </a:rPr>
              <a:t>金鑰</a:t>
            </a:r>
            <a:r>
              <a:rPr lang="zh-TW" altLang="en-US" sz="2200" dirty="0" smtClean="0">
                <a:solidFill>
                  <a:srgbClr val="FF0000"/>
                </a:solidFill>
                <a:latin typeface="微軟正黑體"/>
                <a:ea typeface="微軟正黑體"/>
              </a:rPr>
              <a:t>」為</a:t>
            </a:r>
            <a:r>
              <a:rPr lang="zh-TW" altLang="en-US" sz="2200" dirty="0" smtClean="0">
                <a:solidFill>
                  <a:srgbClr val="FF0000"/>
                </a:solidFill>
              </a:rPr>
              <a:t>每個字母的位移數，例如</a:t>
            </a:r>
            <a:r>
              <a:rPr lang="en-US" altLang="zh-TW" sz="2200" dirty="0" smtClean="0">
                <a:solidFill>
                  <a:srgbClr val="FF0000"/>
                </a:solidFill>
              </a:rPr>
              <a:t>123</a:t>
            </a:r>
            <a:r>
              <a:rPr lang="zh-TW" altLang="en-US" sz="2200" dirty="0" smtClean="0">
                <a:solidFill>
                  <a:srgbClr val="FF0000"/>
                </a:solidFill>
              </a:rPr>
              <a:t>是指第一個字母向左移一位；第二字母移二位；第三字母移三位。</a:t>
            </a:r>
            <a:r>
              <a:rPr lang="zh-TW" altLang="en-US" sz="2200" dirty="0" smtClean="0"/>
              <a:t>依此金鑰，</a:t>
            </a:r>
            <a:r>
              <a:rPr lang="en-US" altLang="zh-TW" sz="2200" dirty="0" smtClean="0"/>
              <a:t>CAB</a:t>
            </a:r>
            <a:r>
              <a:rPr lang="zh-TW" altLang="en-US" sz="2200" dirty="0" smtClean="0"/>
              <a:t>被加密為</a:t>
            </a:r>
            <a:r>
              <a:rPr lang="en-US" altLang="zh-TW" sz="2200" dirty="0" smtClean="0"/>
              <a:t>BYY</a:t>
            </a:r>
            <a:r>
              <a:rPr lang="zh-TW" altLang="en-US" sz="2200" dirty="0" smtClean="0"/>
              <a:t>。</a:t>
            </a:r>
            <a:endParaRPr lang="en-US" altLang="zh-TW" sz="2200" dirty="0" smtClean="0"/>
          </a:p>
          <a:p>
            <a:r>
              <a:rPr lang="zh-TW" altLang="en-US" sz="2200" dirty="0" smtClean="0"/>
              <a:t>假設我們以 </a:t>
            </a:r>
            <a:r>
              <a:rPr lang="en-US" altLang="zh-TW" sz="2200" dirty="0" smtClean="0">
                <a:solidFill>
                  <a:schemeClr val="accent6">
                    <a:lumMod val="75000"/>
                  </a:schemeClr>
                </a:solidFill>
              </a:rPr>
              <a:t>2413</a:t>
            </a:r>
            <a:r>
              <a:rPr lang="zh-TW" altLang="en-US" sz="2200" dirty="0" smtClean="0"/>
              <a:t> 這個金鑰來加密 </a:t>
            </a:r>
            <a:r>
              <a:rPr lang="en-US" altLang="zh-TW" sz="2200" dirty="0" smtClean="0">
                <a:solidFill>
                  <a:srgbClr val="FF0000"/>
                </a:solidFill>
              </a:rPr>
              <a:t>PEEPER</a:t>
            </a:r>
            <a:r>
              <a:rPr lang="zh-TW" altLang="en-US" sz="2200" dirty="0" smtClean="0">
                <a:latin typeface="微軟正黑體"/>
                <a:ea typeface="微軟正黑體"/>
              </a:rPr>
              <a:t> </a:t>
            </a:r>
            <a:r>
              <a:rPr lang="en-US" altLang="zh-TW" sz="2200" dirty="0" smtClean="0">
                <a:latin typeface="微軟正黑體"/>
                <a:ea typeface="微軟正黑體"/>
              </a:rPr>
              <a:t>(</a:t>
            </a:r>
            <a:r>
              <a:rPr lang="zh-TW" altLang="en-US" sz="2200" dirty="0" smtClean="0">
                <a:solidFill>
                  <a:srgbClr val="0000FF"/>
                </a:solidFill>
                <a:latin typeface="微軟正黑體"/>
                <a:ea typeface="微軟正黑體"/>
              </a:rPr>
              <a:t>若金鑰長度不夠，則重複使用</a:t>
            </a:r>
            <a:r>
              <a:rPr lang="en-US" altLang="zh-TW" sz="2200" dirty="0" smtClean="0">
                <a:solidFill>
                  <a:srgbClr val="0000FF"/>
                </a:solidFill>
                <a:latin typeface="微軟正黑體"/>
                <a:ea typeface="微軟正黑體"/>
              </a:rPr>
              <a:t>)</a:t>
            </a:r>
            <a:r>
              <a:rPr lang="zh-TW" altLang="en-US" sz="2200" dirty="0" smtClean="0"/>
              <a:t>，會成為 </a:t>
            </a:r>
            <a:r>
              <a:rPr lang="en-US" altLang="zh-TW" sz="2200" dirty="0" smtClean="0">
                <a:solidFill>
                  <a:srgbClr val="0000FF"/>
                </a:solidFill>
              </a:rPr>
              <a:t>NADMCN</a:t>
            </a:r>
            <a:r>
              <a:rPr lang="zh-TW" altLang="en-US" sz="2200" dirty="0" smtClean="0"/>
              <a:t>。請注意原文的三個 </a:t>
            </a:r>
            <a:r>
              <a:rPr lang="en-US" altLang="zh-TW" sz="2200" dirty="0" smtClean="0"/>
              <a:t>E</a:t>
            </a:r>
            <a:r>
              <a:rPr lang="zh-TW" altLang="en-US" sz="2200" dirty="0" smtClean="0"/>
              <a:t> 對應到密文中分別被替換為</a:t>
            </a:r>
            <a:r>
              <a:rPr lang="en-US" altLang="zh-TW" sz="2200" dirty="0" smtClean="0"/>
              <a:t> A, D, C</a:t>
            </a:r>
            <a:r>
              <a:rPr lang="zh-TW" altLang="en-US" sz="2200" dirty="0" smtClean="0"/>
              <a:t>，</a:t>
            </a:r>
            <a:r>
              <a:rPr lang="zh-TW" altLang="en-US" sz="2200" dirty="0" smtClean="0">
                <a:solidFill>
                  <a:srgbClr val="0000FF"/>
                </a:solidFill>
              </a:rPr>
              <a:t>因此 </a:t>
            </a:r>
            <a:r>
              <a:rPr lang="en-US" altLang="zh-TW" sz="2200" dirty="0" smtClean="0">
                <a:solidFill>
                  <a:srgbClr val="0000FF"/>
                </a:solidFill>
              </a:rPr>
              <a:t>E</a:t>
            </a:r>
            <a:r>
              <a:rPr lang="zh-TW" altLang="en-US" sz="2200" dirty="0" smtClean="0">
                <a:solidFill>
                  <a:srgbClr val="0000FF"/>
                </a:solidFill>
              </a:rPr>
              <a:t> 字母出現機率最高的這個線索就被掩蓋了。</a:t>
            </a:r>
            <a:endParaRPr lang="zh-TW" altLang="en-US" sz="2200" dirty="0">
              <a:solidFill>
                <a:srgbClr val="0000FF"/>
              </a:solidFill>
            </a:endParaRPr>
          </a:p>
        </p:txBody>
      </p:sp>
      <p:sp>
        <p:nvSpPr>
          <p:cNvPr id="3" name="標題 2"/>
          <p:cNvSpPr>
            <a:spLocks noGrp="1"/>
          </p:cNvSpPr>
          <p:nvPr>
            <p:ph type="title"/>
          </p:nvPr>
        </p:nvSpPr>
        <p:spPr/>
        <p:txBody>
          <a:bodyPr/>
          <a:lstStyle/>
          <a:p>
            <a:r>
              <a:rPr lang="zh-TW" altLang="en-US" dirty="0" smtClean="0"/>
              <a:t>多重字母替換加密法</a:t>
            </a:r>
            <a:endParaRPr lang="zh-TW" altLang="en-US" dirty="0"/>
          </a:p>
        </p:txBody>
      </p:sp>
      <p:graphicFrame>
        <p:nvGraphicFramePr>
          <p:cNvPr id="4" name="內容版面配置區 3"/>
          <p:cNvGraphicFramePr>
            <a:graphicFrameLocks/>
          </p:cNvGraphicFramePr>
          <p:nvPr/>
        </p:nvGraphicFramePr>
        <p:xfrm>
          <a:off x="285750" y="4293098"/>
          <a:ext cx="8215344" cy="2207736"/>
        </p:xfrm>
        <a:graphic>
          <a:graphicData uri="http://schemas.openxmlformats.org/drawingml/2006/table">
            <a:tbl>
              <a:tblPr firstRow="1" bandRow="1">
                <a:tableStyleId>{3C2FFA5D-87B4-456A-9821-1D502468CF0F}</a:tableStyleId>
              </a:tblPr>
              <a:tblGrid>
                <a:gridCol w="304272">
                  <a:extLst>
                    <a:ext uri="{9D8B030D-6E8A-4147-A177-3AD203B41FA5}">
                      <a16:colId xmlns:a16="http://schemas.microsoft.com/office/drawing/2014/main" val="20000"/>
                    </a:ext>
                  </a:extLst>
                </a:gridCol>
                <a:gridCol w="304272">
                  <a:extLst>
                    <a:ext uri="{9D8B030D-6E8A-4147-A177-3AD203B41FA5}">
                      <a16:colId xmlns:a16="http://schemas.microsoft.com/office/drawing/2014/main" val="20001"/>
                    </a:ext>
                  </a:extLst>
                </a:gridCol>
                <a:gridCol w="304272">
                  <a:extLst>
                    <a:ext uri="{9D8B030D-6E8A-4147-A177-3AD203B41FA5}">
                      <a16:colId xmlns:a16="http://schemas.microsoft.com/office/drawing/2014/main" val="20002"/>
                    </a:ext>
                  </a:extLst>
                </a:gridCol>
                <a:gridCol w="304272">
                  <a:extLst>
                    <a:ext uri="{9D8B030D-6E8A-4147-A177-3AD203B41FA5}">
                      <a16:colId xmlns:a16="http://schemas.microsoft.com/office/drawing/2014/main" val="20003"/>
                    </a:ext>
                  </a:extLst>
                </a:gridCol>
                <a:gridCol w="304272">
                  <a:extLst>
                    <a:ext uri="{9D8B030D-6E8A-4147-A177-3AD203B41FA5}">
                      <a16:colId xmlns:a16="http://schemas.microsoft.com/office/drawing/2014/main" val="20004"/>
                    </a:ext>
                  </a:extLst>
                </a:gridCol>
                <a:gridCol w="304272">
                  <a:extLst>
                    <a:ext uri="{9D8B030D-6E8A-4147-A177-3AD203B41FA5}">
                      <a16:colId xmlns:a16="http://schemas.microsoft.com/office/drawing/2014/main" val="20005"/>
                    </a:ext>
                  </a:extLst>
                </a:gridCol>
                <a:gridCol w="304272">
                  <a:extLst>
                    <a:ext uri="{9D8B030D-6E8A-4147-A177-3AD203B41FA5}">
                      <a16:colId xmlns:a16="http://schemas.microsoft.com/office/drawing/2014/main" val="20006"/>
                    </a:ext>
                  </a:extLst>
                </a:gridCol>
                <a:gridCol w="304272">
                  <a:extLst>
                    <a:ext uri="{9D8B030D-6E8A-4147-A177-3AD203B41FA5}">
                      <a16:colId xmlns:a16="http://schemas.microsoft.com/office/drawing/2014/main" val="20007"/>
                    </a:ext>
                  </a:extLst>
                </a:gridCol>
                <a:gridCol w="304272">
                  <a:extLst>
                    <a:ext uri="{9D8B030D-6E8A-4147-A177-3AD203B41FA5}">
                      <a16:colId xmlns:a16="http://schemas.microsoft.com/office/drawing/2014/main" val="20008"/>
                    </a:ext>
                  </a:extLst>
                </a:gridCol>
                <a:gridCol w="304272">
                  <a:extLst>
                    <a:ext uri="{9D8B030D-6E8A-4147-A177-3AD203B41FA5}">
                      <a16:colId xmlns:a16="http://schemas.microsoft.com/office/drawing/2014/main" val="20009"/>
                    </a:ext>
                  </a:extLst>
                </a:gridCol>
                <a:gridCol w="304272">
                  <a:extLst>
                    <a:ext uri="{9D8B030D-6E8A-4147-A177-3AD203B41FA5}">
                      <a16:colId xmlns:a16="http://schemas.microsoft.com/office/drawing/2014/main" val="20010"/>
                    </a:ext>
                  </a:extLst>
                </a:gridCol>
                <a:gridCol w="304272">
                  <a:extLst>
                    <a:ext uri="{9D8B030D-6E8A-4147-A177-3AD203B41FA5}">
                      <a16:colId xmlns:a16="http://schemas.microsoft.com/office/drawing/2014/main" val="20011"/>
                    </a:ext>
                  </a:extLst>
                </a:gridCol>
                <a:gridCol w="304272">
                  <a:extLst>
                    <a:ext uri="{9D8B030D-6E8A-4147-A177-3AD203B41FA5}">
                      <a16:colId xmlns:a16="http://schemas.microsoft.com/office/drawing/2014/main" val="20012"/>
                    </a:ext>
                  </a:extLst>
                </a:gridCol>
                <a:gridCol w="304272">
                  <a:extLst>
                    <a:ext uri="{9D8B030D-6E8A-4147-A177-3AD203B41FA5}">
                      <a16:colId xmlns:a16="http://schemas.microsoft.com/office/drawing/2014/main" val="20013"/>
                    </a:ext>
                  </a:extLst>
                </a:gridCol>
                <a:gridCol w="304272">
                  <a:extLst>
                    <a:ext uri="{9D8B030D-6E8A-4147-A177-3AD203B41FA5}">
                      <a16:colId xmlns:a16="http://schemas.microsoft.com/office/drawing/2014/main" val="20014"/>
                    </a:ext>
                  </a:extLst>
                </a:gridCol>
                <a:gridCol w="304272">
                  <a:extLst>
                    <a:ext uri="{9D8B030D-6E8A-4147-A177-3AD203B41FA5}">
                      <a16:colId xmlns:a16="http://schemas.microsoft.com/office/drawing/2014/main" val="20015"/>
                    </a:ext>
                  </a:extLst>
                </a:gridCol>
                <a:gridCol w="304272">
                  <a:extLst>
                    <a:ext uri="{9D8B030D-6E8A-4147-A177-3AD203B41FA5}">
                      <a16:colId xmlns:a16="http://schemas.microsoft.com/office/drawing/2014/main" val="20016"/>
                    </a:ext>
                  </a:extLst>
                </a:gridCol>
                <a:gridCol w="304272">
                  <a:extLst>
                    <a:ext uri="{9D8B030D-6E8A-4147-A177-3AD203B41FA5}">
                      <a16:colId xmlns:a16="http://schemas.microsoft.com/office/drawing/2014/main" val="20017"/>
                    </a:ext>
                  </a:extLst>
                </a:gridCol>
                <a:gridCol w="304272">
                  <a:extLst>
                    <a:ext uri="{9D8B030D-6E8A-4147-A177-3AD203B41FA5}">
                      <a16:colId xmlns:a16="http://schemas.microsoft.com/office/drawing/2014/main" val="20018"/>
                    </a:ext>
                  </a:extLst>
                </a:gridCol>
                <a:gridCol w="304272">
                  <a:extLst>
                    <a:ext uri="{9D8B030D-6E8A-4147-A177-3AD203B41FA5}">
                      <a16:colId xmlns:a16="http://schemas.microsoft.com/office/drawing/2014/main" val="20019"/>
                    </a:ext>
                  </a:extLst>
                </a:gridCol>
                <a:gridCol w="304272">
                  <a:extLst>
                    <a:ext uri="{9D8B030D-6E8A-4147-A177-3AD203B41FA5}">
                      <a16:colId xmlns:a16="http://schemas.microsoft.com/office/drawing/2014/main" val="20020"/>
                    </a:ext>
                  </a:extLst>
                </a:gridCol>
                <a:gridCol w="304272">
                  <a:extLst>
                    <a:ext uri="{9D8B030D-6E8A-4147-A177-3AD203B41FA5}">
                      <a16:colId xmlns:a16="http://schemas.microsoft.com/office/drawing/2014/main" val="20021"/>
                    </a:ext>
                  </a:extLst>
                </a:gridCol>
                <a:gridCol w="304272">
                  <a:extLst>
                    <a:ext uri="{9D8B030D-6E8A-4147-A177-3AD203B41FA5}">
                      <a16:colId xmlns:a16="http://schemas.microsoft.com/office/drawing/2014/main" val="20022"/>
                    </a:ext>
                  </a:extLst>
                </a:gridCol>
                <a:gridCol w="304272">
                  <a:extLst>
                    <a:ext uri="{9D8B030D-6E8A-4147-A177-3AD203B41FA5}">
                      <a16:colId xmlns:a16="http://schemas.microsoft.com/office/drawing/2014/main" val="20023"/>
                    </a:ext>
                  </a:extLst>
                </a:gridCol>
                <a:gridCol w="304272">
                  <a:extLst>
                    <a:ext uri="{9D8B030D-6E8A-4147-A177-3AD203B41FA5}">
                      <a16:colId xmlns:a16="http://schemas.microsoft.com/office/drawing/2014/main" val="20024"/>
                    </a:ext>
                  </a:extLst>
                </a:gridCol>
                <a:gridCol w="304272">
                  <a:extLst>
                    <a:ext uri="{9D8B030D-6E8A-4147-A177-3AD203B41FA5}">
                      <a16:colId xmlns:a16="http://schemas.microsoft.com/office/drawing/2014/main" val="20025"/>
                    </a:ext>
                  </a:extLst>
                </a:gridCol>
                <a:gridCol w="304272">
                  <a:extLst>
                    <a:ext uri="{9D8B030D-6E8A-4147-A177-3AD203B41FA5}">
                      <a16:colId xmlns:a16="http://schemas.microsoft.com/office/drawing/2014/main" val="20026"/>
                    </a:ext>
                  </a:extLst>
                </a:gridCol>
              </a:tblGrid>
              <a:tr h="367956">
                <a:tc>
                  <a:txBody>
                    <a:bodyPr/>
                    <a:lstStyle/>
                    <a:p>
                      <a:pPr algn="ct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B</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C</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D</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F</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G</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H</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J</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K</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L</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M</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N</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O</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P</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Q</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U</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V</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W</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X</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Y</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Z</a:t>
                      </a:r>
                      <a:endParaRPr lang="zh-TW" altLang="en-US" sz="1600" dirty="0">
                        <a:latin typeface="Calibri" pitchFamily="34" charset="0"/>
                      </a:endParaRPr>
                    </a:p>
                  </a:txBody>
                  <a:tcPr anchor="ctr"/>
                </a:tc>
                <a:extLst>
                  <a:ext uri="{0D108BD9-81ED-4DB2-BD59-A6C34878D82A}">
                    <a16:rowId xmlns:a16="http://schemas.microsoft.com/office/drawing/2014/main" val="10000"/>
                  </a:ext>
                </a:extLst>
              </a:tr>
              <a:tr h="367956">
                <a:tc>
                  <a:txBody>
                    <a:bodyPr/>
                    <a:lstStyle/>
                    <a:p>
                      <a:pPr algn="ctr"/>
                      <a:r>
                        <a:rPr lang="en-US" altLang="zh-TW" sz="1600" dirty="0" smtClean="0">
                          <a:latin typeface="Calibri" pitchFamily="34" charset="0"/>
                        </a:rPr>
                        <a:t>1</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Z</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B</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C</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D</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F</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G</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H</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J</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K</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L</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M</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N</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O</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P</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Q</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U</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V</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W</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X</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Y</a:t>
                      </a:r>
                      <a:endParaRPr lang="zh-TW" altLang="en-US" sz="1600" dirty="0">
                        <a:latin typeface="Calibri" pitchFamily="34" charset="0"/>
                      </a:endParaRPr>
                    </a:p>
                  </a:txBody>
                  <a:tcPr anchor="ctr"/>
                </a:tc>
                <a:extLst>
                  <a:ext uri="{0D108BD9-81ED-4DB2-BD59-A6C34878D82A}">
                    <a16:rowId xmlns:a16="http://schemas.microsoft.com/office/drawing/2014/main" val="10001"/>
                  </a:ext>
                </a:extLst>
              </a:tr>
              <a:tr h="367956">
                <a:tc>
                  <a:txBody>
                    <a:bodyPr/>
                    <a:lstStyle/>
                    <a:p>
                      <a:pPr algn="ctr"/>
                      <a:r>
                        <a:rPr lang="en-US" altLang="zh-TW" sz="1600" dirty="0" smtClean="0">
                          <a:latin typeface="Calibri" pitchFamily="34" charset="0"/>
                        </a:rPr>
                        <a:t>2</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Y</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Z</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B</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C</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D</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F</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G</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H</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J</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K</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L</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M</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N</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O</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P</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Q</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U</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V</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W</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X</a:t>
                      </a:r>
                      <a:endParaRPr lang="zh-TW" altLang="en-US" sz="1600" dirty="0">
                        <a:latin typeface="Calibri" pitchFamily="34" charset="0"/>
                      </a:endParaRPr>
                    </a:p>
                  </a:txBody>
                  <a:tcPr anchor="ctr"/>
                </a:tc>
                <a:extLst>
                  <a:ext uri="{0D108BD9-81ED-4DB2-BD59-A6C34878D82A}">
                    <a16:rowId xmlns:a16="http://schemas.microsoft.com/office/drawing/2014/main" val="10002"/>
                  </a:ext>
                </a:extLst>
              </a:tr>
              <a:tr h="367956">
                <a:tc>
                  <a:txBody>
                    <a:bodyPr/>
                    <a:lstStyle/>
                    <a:p>
                      <a:pPr algn="ctr"/>
                      <a:r>
                        <a:rPr lang="en-US" altLang="zh-TW" sz="1600" dirty="0" smtClean="0">
                          <a:latin typeface="Calibri" pitchFamily="34" charset="0"/>
                        </a:rPr>
                        <a:t>3</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X</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Y</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Z</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B</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C</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D</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F</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G</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H</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J</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K</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L</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M</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N</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O</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P</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Q</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U</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V</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W</a:t>
                      </a:r>
                      <a:endParaRPr lang="zh-TW" altLang="en-US" sz="1600" dirty="0">
                        <a:latin typeface="Calibri" pitchFamily="34" charset="0"/>
                      </a:endParaRPr>
                    </a:p>
                  </a:txBody>
                  <a:tcPr anchor="ctr"/>
                </a:tc>
                <a:extLst>
                  <a:ext uri="{0D108BD9-81ED-4DB2-BD59-A6C34878D82A}">
                    <a16:rowId xmlns:a16="http://schemas.microsoft.com/office/drawing/2014/main" val="10003"/>
                  </a:ext>
                </a:extLst>
              </a:tr>
              <a:tr h="367956">
                <a:tc>
                  <a:txBody>
                    <a:bodyPr/>
                    <a:lstStyle/>
                    <a:p>
                      <a:pPr algn="ctr"/>
                      <a:r>
                        <a:rPr lang="en-US" altLang="zh-TW" sz="1600" dirty="0" smtClean="0">
                          <a:latin typeface="Calibri" pitchFamily="34" charset="0"/>
                        </a:rPr>
                        <a:t>4</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W</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X</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Y</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Z</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B</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C</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D</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F</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G</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H</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J</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K</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L</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M</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N</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O</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P</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Q</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U</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V</a:t>
                      </a:r>
                      <a:endParaRPr lang="zh-TW" altLang="en-US" sz="1600" dirty="0">
                        <a:latin typeface="Calibri" pitchFamily="34" charset="0"/>
                      </a:endParaRPr>
                    </a:p>
                  </a:txBody>
                  <a:tcPr anchor="ctr"/>
                </a:tc>
                <a:extLst>
                  <a:ext uri="{0D108BD9-81ED-4DB2-BD59-A6C34878D82A}">
                    <a16:rowId xmlns:a16="http://schemas.microsoft.com/office/drawing/2014/main" val="10004"/>
                  </a:ext>
                </a:extLst>
              </a:tr>
              <a:tr h="367956">
                <a:tc gridSpan="27">
                  <a:txBody>
                    <a:bodyPr/>
                    <a:lstStyle/>
                    <a:p>
                      <a:pPr algn="ctr"/>
                      <a:r>
                        <a:rPr lang="zh-TW" altLang="en-US" sz="1600" dirty="0" smtClean="0">
                          <a:latin typeface="Calibri" pitchFamily="34" charset="0"/>
                        </a:rPr>
                        <a:t>本表格可以依規則繼續延伸 </a:t>
                      </a:r>
                      <a:r>
                        <a:rPr lang="en-US" altLang="zh-TW" sz="1600" dirty="0" smtClean="0">
                          <a:latin typeface="Calibri" pitchFamily="34" charset="0"/>
                        </a:rPr>
                        <a:t>…</a:t>
                      </a:r>
                      <a:endParaRPr lang="zh-TW" altLang="en-US" sz="1600" dirty="0">
                        <a:latin typeface="Calibri" pitchFamily="34" charset="0"/>
                      </a:endParaRPr>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tc hMerge="1">
                  <a:txBody>
                    <a:bodyPr/>
                    <a:lstStyle/>
                    <a:p>
                      <a:pPr algn="ctr"/>
                      <a:endParaRPr lang="zh-TW" altLang="en-US" sz="1400" dirty="0"/>
                    </a:p>
                  </a:txBody>
                  <a:tcPr anchor="ct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5582424" cy="5098438"/>
          </a:xfrm>
        </p:spPr>
        <p:txBody>
          <a:bodyPr>
            <a:noAutofit/>
          </a:bodyPr>
          <a:lstStyle/>
          <a:p>
            <a:r>
              <a:rPr lang="zh-TW" altLang="en-US" sz="2000" dirty="0" smtClean="0"/>
              <a:t>多重字母替換加密法，被十九世紀偉大的數學家巴貝奇 </a:t>
            </a:r>
            <a:r>
              <a:rPr lang="en-US" altLang="zh-TW" sz="2000" dirty="0" smtClean="0"/>
              <a:t>(Charles Babbage)</a:t>
            </a:r>
            <a:r>
              <a:rPr lang="zh-TW" altLang="en-US" sz="2000" dirty="0" smtClean="0"/>
              <a:t>破解。</a:t>
            </a:r>
            <a:endParaRPr lang="en-US" altLang="zh-TW" sz="2000" dirty="0" smtClean="0"/>
          </a:p>
          <a:p>
            <a:r>
              <a:rPr lang="zh-TW" altLang="en-US" sz="2000" dirty="0" smtClean="0">
                <a:solidFill>
                  <a:srgbClr val="FF0000"/>
                </a:solidFill>
              </a:rPr>
              <a:t>由於</a:t>
            </a:r>
            <a:r>
              <a:rPr lang="zh-TW" altLang="en-US" sz="2000" dirty="0" smtClean="0">
                <a:solidFill>
                  <a:srgbClr val="FF0000"/>
                </a:solidFill>
                <a:latin typeface="微軟正黑體"/>
              </a:rPr>
              <a:t>「若金鑰長度不夠，則重複使用」</a:t>
            </a:r>
            <a:r>
              <a:rPr lang="zh-TW" altLang="en-US" sz="2000" dirty="0" smtClean="0">
                <a:latin typeface="微軟正黑體"/>
              </a:rPr>
              <a:t>，因此</a:t>
            </a:r>
            <a:r>
              <a:rPr lang="zh-TW" altLang="en-US" sz="2000" dirty="0" smtClean="0"/>
              <a:t>破解多重字母替換加密法的第一步是</a:t>
            </a:r>
            <a:r>
              <a:rPr lang="zh-TW" altLang="en-US" sz="2000" dirty="0" smtClean="0">
                <a:solidFill>
                  <a:srgbClr val="0000FF"/>
                </a:solidFill>
              </a:rPr>
              <a:t>在一大篇密文中尋找重複出現的字串，因為那可能代表同一個常用字 </a:t>
            </a:r>
            <a:r>
              <a:rPr lang="en-US" altLang="zh-TW" sz="2000" dirty="0" smtClean="0">
                <a:solidFill>
                  <a:srgbClr val="0000FF"/>
                </a:solidFill>
              </a:rPr>
              <a:t>(</a:t>
            </a:r>
            <a:r>
              <a:rPr lang="zh-TW" altLang="en-US" sz="2000" dirty="0" smtClean="0">
                <a:solidFill>
                  <a:srgbClr val="0000FF"/>
                </a:solidFill>
              </a:rPr>
              <a:t>例如 </a:t>
            </a:r>
            <a:r>
              <a:rPr lang="en-US" altLang="zh-TW" sz="2000" dirty="0" smtClean="0">
                <a:solidFill>
                  <a:srgbClr val="0000FF"/>
                </a:solidFill>
              </a:rPr>
              <a:t>the)</a:t>
            </a:r>
            <a:r>
              <a:rPr lang="zh-TW" altLang="en-US" sz="2000" dirty="0" smtClean="0">
                <a:solidFill>
                  <a:srgbClr val="0000FF"/>
                </a:solidFill>
              </a:rPr>
              <a:t> </a:t>
            </a:r>
            <a:r>
              <a:rPr lang="zh-TW" altLang="en-US" sz="2000" dirty="0" smtClean="0"/>
              <a:t>碰上了金鑰重複出現的位置。多找出幾組重複出現的字串，就可以推測出金鑰的長度。</a:t>
            </a:r>
            <a:endParaRPr lang="en-US" altLang="zh-TW" sz="2000" dirty="0" smtClean="0"/>
          </a:p>
          <a:p>
            <a:r>
              <a:rPr lang="zh-TW" altLang="en-US" sz="2000" dirty="0" smtClean="0"/>
              <a:t>如前例，假設金鑰長度為四位，並重複使用。我們可以按照金鑰重複的規律將密文依順序分成四組，每組就等於是用同一個簡單替換表，因此可分別以頻率分析法破解。</a:t>
            </a:r>
            <a:endParaRPr lang="en-US" altLang="zh-TW" sz="2000" dirty="0" smtClean="0"/>
          </a:p>
        </p:txBody>
      </p:sp>
      <p:sp>
        <p:nvSpPr>
          <p:cNvPr id="3" name="標題 2"/>
          <p:cNvSpPr>
            <a:spLocks noGrp="1"/>
          </p:cNvSpPr>
          <p:nvPr>
            <p:ph type="title"/>
          </p:nvPr>
        </p:nvSpPr>
        <p:spPr/>
        <p:txBody>
          <a:bodyPr/>
          <a:lstStyle/>
          <a:p>
            <a:r>
              <a:rPr lang="zh-TW" altLang="en-US" dirty="0" smtClean="0"/>
              <a:t>巴貝奇的解密</a:t>
            </a:r>
            <a:endParaRPr lang="zh-TW" altLang="en-US" dirty="0"/>
          </a:p>
        </p:txBody>
      </p:sp>
      <p:pic>
        <p:nvPicPr>
          <p:cNvPr id="1026" name="Picture 2" descr="Image:CharlesBabbage.jpg">
            <a:hlinkClick r:id="rId2"/>
          </p:cNvPr>
          <p:cNvPicPr>
            <a:picLocks noChangeAspect="1" noChangeArrowheads="1"/>
          </p:cNvPicPr>
          <p:nvPr/>
        </p:nvPicPr>
        <p:blipFill>
          <a:blip r:embed="rId3" cstate="print"/>
          <a:srcRect/>
          <a:stretch>
            <a:fillRect/>
          </a:stretch>
        </p:blipFill>
        <p:spPr bwMode="auto">
          <a:xfrm>
            <a:off x="6156176" y="1412776"/>
            <a:ext cx="2130822" cy="2524114"/>
          </a:xfrm>
          <a:prstGeom prst="rect">
            <a:avLst/>
          </a:prstGeom>
          <a:noFill/>
        </p:spPr>
      </p:pic>
      <p:sp>
        <p:nvSpPr>
          <p:cNvPr id="5" name="文字方塊 4"/>
          <p:cNvSpPr txBox="1"/>
          <p:nvPr/>
        </p:nvSpPr>
        <p:spPr>
          <a:xfrm>
            <a:off x="6513366" y="4008328"/>
            <a:ext cx="1571636" cy="584775"/>
          </a:xfrm>
          <a:prstGeom prst="rect">
            <a:avLst/>
          </a:prstGeom>
          <a:noFill/>
        </p:spPr>
        <p:txBody>
          <a:bodyPr wrap="square" rtlCol="0">
            <a:spAutoFit/>
          </a:bodyPr>
          <a:lstStyle/>
          <a:p>
            <a:r>
              <a:rPr lang="en-US" altLang="zh-TW" sz="1600" dirty="0" smtClean="0">
                <a:latin typeface="Calibri" pitchFamily="34" charset="0"/>
              </a:rPr>
              <a:t>Charles Babbage</a:t>
            </a:r>
          </a:p>
          <a:p>
            <a:r>
              <a:rPr lang="en-US" altLang="zh-TW" sz="1600" dirty="0" smtClean="0">
                <a:latin typeface="Calibri" pitchFamily="34" charset="0"/>
              </a:rPr>
              <a:t>1792 – 1871</a:t>
            </a:r>
            <a:endParaRPr lang="zh-TW" altLang="en-US" sz="1600" dirty="0">
              <a:latin typeface="Calibri"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8215370" cy="2928958"/>
          </a:xfrm>
        </p:spPr>
        <p:txBody>
          <a:bodyPr/>
          <a:lstStyle/>
          <a:p>
            <a:r>
              <a:rPr lang="zh-TW" altLang="en-US" sz="2000" dirty="0" smtClean="0"/>
              <a:t>巴貝奇破解多重字母替換加密法的經驗中我們學到：</a:t>
            </a:r>
            <a:r>
              <a:rPr lang="zh-TW" altLang="en-US" sz="2000" dirty="0" smtClean="0">
                <a:solidFill>
                  <a:srgbClr val="FF0000"/>
                </a:solidFill>
              </a:rPr>
              <a:t>若金鑰長度不夠，密文就容易出現重複字串</a:t>
            </a:r>
            <a:r>
              <a:rPr lang="zh-TW" altLang="en-US" sz="2000" dirty="0" smtClean="0"/>
              <a:t>，而被找到加密的規則性。</a:t>
            </a:r>
            <a:endParaRPr lang="en-US" altLang="zh-TW" sz="2000" dirty="0" smtClean="0"/>
          </a:p>
          <a:p>
            <a:r>
              <a:rPr lang="zh-TW" altLang="en-US" sz="2000" dirty="0" smtClean="0"/>
              <a:t>連續金鑰加密 </a:t>
            </a:r>
            <a:r>
              <a:rPr lang="en-US" altLang="zh-TW" sz="2000" dirty="0" smtClean="0"/>
              <a:t>(running-key ciphers)</a:t>
            </a:r>
            <a:r>
              <a:rPr lang="zh-TW" altLang="en-US" sz="2000" dirty="0" smtClean="0"/>
              <a:t> 使用不重複的金鑰。</a:t>
            </a:r>
            <a:endParaRPr lang="en-US" altLang="zh-TW" sz="2000" dirty="0" smtClean="0"/>
          </a:p>
          <a:p>
            <a:pPr lvl="1"/>
            <a:r>
              <a:rPr lang="zh-TW" altLang="en-US" sz="1800" dirty="0" smtClean="0">
                <a:solidFill>
                  <a:srgbClr val="0000FF"/>
                </a:solidFill>
              </a:rPr>
              <a:t>例如密碼傳送者與接收者之間事先約定好一本書，然後每次傳送訊息時都有一個秘密資訊就是那本書的某一頁數</a:t>
            </a:r>
            <a:r>
              <a:rPr lang="zh-TW" altLang="en-US" sz="1800" dirty="0" smtClean="0"/>
              <a:t>。</a:t>
            </a:r>
            <a:endParaRPr lang="en-US" altLang="zh-TW" sz="1800" dirty="0" smtClean="0"/>
          </a:p>
          <a:p>
            <a:pPr lvl="1"/>
            <a:r>
              <a:rPr lang="zh-TW" altLang="en-US" sz="1800" dirty="0" smtClean="0"/>
              <a:t>訊息原文的每個字與該頁起的逐字做某種運算，例如兩個字母所代表的數字相加，若超過</a:t>
            </a:r>
            <a:r>
              <a:rPr lang="en-US" altLang="zh-TW" sz="1800" dirty="0" smtClean="0"/>
              <a:t>26</a:t>
            </a:r>
            <a:r>
              <a:rPr lang="zh-TW" altLang="en-US" sz="1800" dirty="0" smtClean="0"/>
              <a:t>則減</a:t>
            </a:r>
            <a:r>
              <a:rPr lang="en-US" altLang="zh-TW" sz="1800" dirty="0" smtClean="0"/>
              <a:t>26</a:t>
            </a:r>
            <a:r>
              <a:rPr lang="zh-TW" altLang="en-US" sz="1800" dirty="0" smtClean="0"/>
              <a:t>，如下表：</a:t>
            </a:r>
            <a:endParaRPr lang="zh-TW" altLang="en-US" sz="1800" dirty="0"/>
          </a:p>
        </p:txBody>
      </p:sp>
      <p:sp>
        <p:nvSpPr>
          <p:cNvPr id="3" name="標題 2"/>
          <p:cNvSpPr>
            <a:spLocks noGrp="1"/>
          </p:cNvSpPr>
          <p:nvPr>
            <p:ph type="title"/>
          </p:nvPr>
        </p:nvSpPr>
        <p:spPr/>
        <p:txBody>
          <a:bodyPr>
            <a:normAutofit/>
          </a:bodyPr>
          <a:lstStyle/>
          <a:p>
            <a:r>
              <a:rPr lang="zh-TW" altLang="en-US" dirty="0" smtClean="0"/>
              <a:t>連續金鑰加密</a:t>
            </a:r>
            <a:endParaRPr lang="zh-TW" altLang="en-US" dirty="0"/>
          </a:p>
        </p:txBody>
      </p:sp>
      <p:graphicFrame>
        <p:nvGraphicFramePr>
          <p:cNvPr id="4" name="表格 3"/>
          <p:cNvGraphicFramePr>
            <a:graphicFrameLocks noGrp="1"/>
          </p:cNvGraphicFramePr>
          <p:nvPr/>
        </p:nvGraphicFramePr>
        <p:xfrm>
          <a:off x="214333" y="4417716"/>
          <a:ext cx="8358189" cy="2011680"/>
        </p:xfrm>
        <a:graphic>
          <a:graphicData uri="http://schemas.openxmlformats.org/drawingml/2006/table">
            <a:tbl>
              <a:tblPr firstRow="1" bandRow="1">
                <a:tableStyleId>{5940675A-B579-460E-94D1-54222C63F5DA}</a:tableStyleId>
              </a:tblPr>
              <a:tblGrid>
                <a:gridCol w="1071519">
                  <a:extLst>
                    <a:ext uri="{9D8B030D-6E8A-4147-A177-3AD203B41FA5}">
                      <a16:colId xmlns:a16="http://schemas.microsoft.com/office/drawing/2014/main" val="20000"/>
                    </a:ext>
                  </a:extLst>
                </a:gridCol>
                <a:gridCol w="404815">
                  <a:extLst>
                    <a:ext uri="{9D8B030D-6E8A-4147-A177-3AD203B41FA5}">
                      <a16:colId xmlns:a16="http://schemas.microsoft.com/office/drawing/2014/main" val="20001"/>
                    </a:ext>
                  </a:extLst>
                </a:gridCol>
                <a:gridCol w="404815">
                  <a:extLst>
                    <a:ext uri="{9D8B030D-6E8A-4147-A177-3AD203B41FA5}">
                      <a16:colId xmlns:a16="http://schemas.microsoft.com/office/drawing/2014/main" val="20002"/>
                    </a:ext>
                  </a:extLst>
                </a:gridCol>
                <a:gridCol w="404815">
                  <a:extLst>
                    <a:ext uri="{9D8B030D-6E8A-4147-A177-3AD203B41FA5}">
                      <a16:colId xmlns:a16="http://schemas.microsoft.com/office/drawing/2014/main" val="20003"/>
                    </a:ext>
                  </a:extLst>
                </a:gridCol>
                <a:gridCol w="404815">
                  <a:extLst>
                    <a:ext uri="{9D8B030D-6E8A-4147-A177-3AD203B41FA5}">
                      <a16:colId xmlns:a16="http://schemas.microsoft.com/office/drawing/2014/main" val="20004"/>
                    </a:ext>
                  </a:extLst>
                </a:gridCol>
                <a:gridCol w="404815">
                  <a:extLst>
                    <a:ext uri="{9D8B030D-6E8A-4147-A177-3AD203B41FA5}">
                      <a16:colId xmlns:a16="http://schemas.microsoft.com/office/drawing/2014/main" val="20005"/>
                    </a:ext>
                  </a:extLst>
                </a:gridCol>
                <a:gridCol w="404815">
                  <a:extLst>
                    <a:ext uri="{9D8B030D-6E8A-4147-A177-3AD203B41FA5}">
                      <a16:colId xmlns:a16="http://schemas.microsoft.com/office/drawing/2014/main" val="20006"/>
                    </a:ext>
                  </a:extLst>
                </a:gridCol>
                <a:gridCol w="404815">
                  <a:extLst>
                    <a:ext uri="{9D8B030D-6E8A-4147-A177-3AD203B41FA5}">
                      <a16:colId xmlns:a16="http://schemas.microsoft.com/office/drawing/2014/main" val="20007"/>
                    </a:ext>
                  </a:extLst>
                </a:gridCol>
                <a:gridCol w="404815">
                  <a:extLst>
                    <a:ext uri="{9D8B030D-6E8A-4147-A177-3AD203B41FA5}">
                      <a16:colId xmlns:a16="http://schemas.microsoft.com/office/drawing/2014/main" val="20008"/>
                    </a:ext>
                  </a:extLst>
                </a:gridCol>
                <a:gridCol w="404815">
                  <a:extLst>
                    <a:ext uri="{9D8B030D-6E8A-4147-A177-3AD203B41FA5}">
                      <a16:colId xmlns:a16="http://schemas.microsoft.com/office/drawing/2014/main" val="20009"/>
                    </a:ext>
                  </a:extLst>
                </a:gridCol>
                <a:gridCol w="404815">
                  <a:extLst>
                    <a:ext uri="{9D8B030D-6E8A-4147-A177-3AD203B41FA5}">
                      <a16:colId xmlns:a16="http://schemas.microsoft.com/office/drawing/2014/main" val="20010"/>
                    </a:ext>
                  </a:extLst>
                </a:gridCol>
                <a:gridCol w="404815">
                  <a:extLst>
                    <a:ext uri="{9D8B030D-6E8A-4147-A177-3AD203B41FA5}">
                      <a16:colId xmlns:a16="http://schemas.microsoft.com/office/drawing/2014/main" val="20011"/>
                    </a:ext>
                  </a:extLst>
                </a:gridCol>
                <a:gridCol w="404815">
                  <a:extLst>
                    <a:ext uri="{9D8B030D-6E8A-4147-A177-3AD203B41FA5}">
                      <a16:colId xmlns:a16="http://schemas.microsoft.com/office/drawing/2014/main" val="20012"/>
                    </a:ext>
                  </a:extLst>
                </a:gridCol>
                <a:gridCol w="404815">
                  <a:extLst>
                    <a:ext uri="{9D8B030D-6E8A-4147-A177-3AD203B41FA5}">
                      <a16:colId xmlns:a16="http://schemas.microsoft.com/office/drawing/2014/main" val="20013"/>
                    </a:ext>
                  </a:extLst>
                </a:gridCol>
                <a:gridCol w="404815">
                  <a:extLst>
                    <a:ext uri="{9D8B030D-6E8A-4147-A177-3AD203B41FA5}">
                      <a16:colId xmlns:a16="http://schemas.microsoft.com/office/drawing/2014/main" val="20014"/>
                    </a:ext>
                  </a:extLst>
                </a:gridCol>
                <a:gridCol w="404815">
                  <a:extLst>
                    <a:ext uri="{9D8B030D-6E8A-4147-A177-3AD203B41FA5}">
                      <a16:colId xmlns:a16="http://schemas.microsoft.com/office/drawing/2014/main" val="20015"/>
                    </a:ext>
                  </a:extLst>
                </a:gridCol>
                <a:gridCol w="404815">
                  <a:extLst>
                    <a:ext uri="{9D8B030D-6E8A-4147-A177-3AD203B41FA5}">
                      <a16:colId xmlns:a16="http://schemas.microsoft.com/office/drawing/2014/main" val="20016"/>
                    </a:ext>
                  </a:extLst>
                </a:gridCol>
                <a:gridCol w="404815">
                  <a:extLst>
                    <a:ext uri="{9D8B030D-6E8A-4147-A177-3AD203B41FA5}">
                      <a16:colId xmlns:a16="http://schemas.microsoft.com/office/drawing/2014/main" val="20017"/>
                    </a:ext>
                  </a:extLst>
                </a:gridCol>
                <a:gridCol w="404815">
                  <a:extLst>
                    <a:ext uri="{9D8B030D-6E8A-4147-A177-3AD203B41FA5}">
                      <a16:colId xmlns:a16="http://schemas.microsoft.com/office/drawing/2014/main" val="20018"/>
                    </a:ext>
                  </a:extLst>
                </a:gridCol>
              </a:tblGrid>
              <a:tr h="210104">
                <a:tc>
                  <a:txBody>
                    <a:bodyPr/>
                    <a:lstStyle/>
                    <a:p>
                      <a:r>
                        <a:rPr lang="zh-TW" altLang="en-US" sz="1600" dirty="0" smtClean="0">
                          <a:latin typeface="Calibri" pitchFamily="34" charset="0"/>
                        </a:rPr>
                        <a:t>原文</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C</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K</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N</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M</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Y</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V</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N</a:t>
                      </a:r>
                      <a:endParaRPr lang="zh-TW" altLang="en-US" sz="1600" b="1" dirty="0">
                        <a:solidFill>
                          <a:schemeClr val="bg1"/>
                        </a:solidFill>
                        <a:latin typeface="Calibri" pitchFamily="34" charset="0"/>
                      </a:endParaRPr>
                    </a:p>
                  </a:txBody>
                  <a:tcPr anchor="ctr"/>
                </a:tc>
                <a:extLst>
                  <a:ext uri="{0D108BD9-81ED-4DB2-BD59-A6C34878D82A}">
                    <a16:rowId xmlns:a16="http://schemas.microsoft.com/office/drawing/2014/main" val="10000"/>
                  </a:ext>
                </a:extLst>
              </a:tr>
              <a:tr h="210104">
                <a:tc>
                  <a:txBody>
                    <a:bodyPr/>
                    <a:lstStyle/>
                    <a:p>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0</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19</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19</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0</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2</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10</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4</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13</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4</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12</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24</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0</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19</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4</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21</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4</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13</a:t>
                      </a:r>
                      <a:endParaRPr lang="zh-TW" altLang="en-US" sz="1600" dirty="0">
                        <a:latin typeface="Calibri" pitchFamily="34" charset="0"/>
                      </a:endParaRPr>
                    </a:p>
                  </a:txBody>
                  <a:tcPr anchor="ctr"/>
                </a:tc>
                <a:extLst>
                  <a:ext uri="{0D108BD9-81ED-4DB2-BD59-A6C34878D82A}">
                    <a16:rowId xmlns:a16="http://schemas.microsoft.com/office/drawing/2014/main" val="10001"/>
                  </a:ext>
                </a:extLst>
              </a:tr>
              <a:tr h="210104">
                <a:tc>
                  <a:txBody>
                    <a:bodyPr/>
                    <a:lstStyle/>
                    <a:p>
                      <a:r>
                        <a:rPr lang="zh-TW" altLang="en-US" sz="1600" dirty="0" smtClean="0">
                          <a:latin typeface="Calibri" pitchFamily="34" charset="0"/>
                        </a:rPr>
                        <a:t>連續金鑰</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H</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H</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F</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L</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N</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E</a:t>
                      </a:r>
                      <a:endParaRPr lang="zh-TW" altLang="en-US" sz="1600" dirty="0">
                        <a:latin typeface="Calibri" pitchFamily="34" charset="0"/>
                      </a:endParaRPr>
                    </a:p>
                  </a:txBody>
                  <a:tcPr anchor="ctr"/>
                </a:tc>
                <a:extLst>
                  <a:ext uri="{0D108BD9-81ED-4DB2-BD59-A6C34878D82A}">
                    <a16:rowId xmlns:a16="http://schemas.microsoft.com/office/drawing/2014/main" val="10002"/>
                  </a:ext>
                </a:extLst>
              </a:tr>
              <a:tr h="210104">
                <a:tc>
                  <a:txBody>
                    <a:bodyPr/>
                    <a:lstStyle/>
                    <a:p>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19</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7</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19</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7</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4</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5</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17</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19</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11</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13</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4</a:t>
                      </a:r>
                      <a:endParaRPr lang="zh-TW" altLang="en-US" sz="1600" dirty="0">
                        <a:latin typeface="Calibri" pitchFamily="34" charset="0"/>
                      </a:endParaRPr>
                    </a:p>
                  </a:txBody>
                  <a:tcPr anchor="ctr"/>
                </a:tc>
                <a:extLst>
                  <a:ext uri="{0D108BD9-81ED-4DB2-BD59-A6C34878D82A}">
                    <a16:rowId xmlns:a16="http://schemas.microsoft.com/office/drawing/2014/main" val="10003"/>
                  </a:ext>
                </a:extLst>
              </a:tr>
              <a:tr h="210104">
                <a:tc>
                  <a:txBody>
                    <a:bodyPr/>
                    <a:lstStyle/>
                    <a:p>
                      <a:r>
                        <a:rPr lang="zh-TW" altLang="en-US" sz="1600" dirty="0" smtClean="0">
                          <a:latin typeface="Calibri" pitchFamily="34" charset="0"/>
                        </a:rPr>
                        <a:t>運算</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19</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0</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10</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2</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23</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20</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8</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17</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6</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17</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11</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11</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15</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3</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17</a:t>
                      </a:r>
                      <a:endParaRPr lang="zh-TW" altLang="en-US" sz="1600" dirty="0">
                        <a:latin typeface="Calibri" pitchFamily="34" charset="0"/>
                      </a:endParaRPr>
                    </a:p>
                  </a:txBody>
                  <a:tcPr anchor="ctr"/>
                </a:tc>
                <a:tc>
                  <a:txBody>
                    <a:bodyPr/>
                    <a:lstStyle/>
                    <a:p>
                      <a:pPr algn="ctr"/>
                      <a:r>
                        <a:rPr lang="en-US" altLang="zh-TW" sz="1600" dirty="0" smtClean="0">
                          <a:latin typeface="Calibri" pitchFamily="34" charset="0"/>
                        </a:rPr>
                        <a:t>17</a:t>
                      </a:r>
                      <a:endParaRPr lang="zh-TW" altLang="en-US" sz="1600" dirty="0">
                        <a:latin typeface="Calibri" pitchFamily="34" charset="0"/>
                      </a:endParaRPr>
                    </a:p>
                  </a:txBody>
                  <a:tcPr anchor="ctr"/>
                </a:tc>
                <a:extLst>
                  <a:ext uri="{0D108BD9-81ED-4DB2-BD59-A6C34878D82A}">
                    <a16:rowId xmlns:a16="http://schemas.microsoft.com/office/drawing/2014/main" val="10004"/>
                  </a:ext>
                </a:extLst>
              </a:tr>
              <a:tr h="210104">
                <a:tc>
                  <a:txBody>
                    <a:bodyPr/>
                    <a:lstStyle/>
                    <a:p>
                      <a:r>
                        <a:rPr lang="zh-TW" altLang="en-US" sz="1600" dirty="0" smtClean="0">
                          <a:latin typeface="Calibri" pitchFamily="34" charset="0"/>
                        </a:rPr>
                        <a:t>密文</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T</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A</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B</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S</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K</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C</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X</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U</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I</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G</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L</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L</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P</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D</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b="1" dirty="0">
                        <a:solidFill>
                          <a:schemeClr val="bg1"/>
                        </a:solidFill>
                        <a:latin typeface="Calibri" pitchFamily="34" charset="0"/>
                      </a:endParaRPr>
                    </a:p>
                  </a:txBody>
                  <a:tcPr anchor="ctr"/>
                </a:tc>
                <a:tc>
                  <a:txBody>
                    <a:bodyPr/>
                    <a:lstStyle/>
                    <a:p>
                      <a:pPr algn="ctr"/>
                      <a:r>
                        <a:rPr lang="en-US" altLang="zh-TW" sz="1600" dirty="0" smtClean="0">
                          <a:latin typeface="Calibri" pitchFamily="34" charset="0"/>
                        </a:rPr>
                        <a:t>R</a:t>
                      </a:r>
                      <a:endParaRPr lang="zh-TW" altLang="en-US" sz="1600" b="1" dirty="0">
                        <a:solidFill>
                          <a:schemeClr val="bg1"/>
                        </a:solidFill>
                        <a:latin typeface="Calibri" pitchFamily="34" charset="0"/>
                      </a:endParaRPr>
                    </a:p>
                  </a:txBody>
                  <a:tcPr anchor="ct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pPr>
              <a:spcBef>
                <a:spcPts val="1200"/>
              </a:spcBef>
            </a:pPr>
            <a:r>
              <a:rPr lang="zh-TW" altLang="en-US" sz="2000" dirty="0" smtClean="0">
                <a:solidFill>
                  <a:srgbClr val="FF0000"/>
                </a:solidFill>
              </a:rPr>
              <a:t>一次性密碼本 </a:t>
            </a:r>
            <a:r>
              <a:rPr lang="en-US" altLang="zh-TW" sz="2000" dirty="0" smtClean="0">
                <a:solidFill>
                  <a:srgbClr val="FF0000"/>
                </a:solidFill>
              </a:rPr>
              <a:t>(onetime pad)</a:t>
            </a:r>
            <a:r>
              <a:rPr lang="zh-TW" altLang="en-US" sz="2000" dirty="0" smtClean="0">
                <a:solidFill>
                  <a:srgbClr val="FF0000"/>
                </a:solidFill>
              </a:rPr>
              <a:t> </a:t>
            </a:r>
            <a:r>
              <a:rPr lang="zh-TW" altLang="en-US" sz="2000" dirty="0" smtClean="0"/>
              <a:t>仍然使用多重字母替換加密法</a:t>
            </a:r>
            <a:r>
              <a:rPr lang="zh-TW" altLang="en-US" sz="2000" dirty="0" smtClean="0">
                <a:ea typeface="微軟正黑體"/>
              </a:rPr>
              <a:t> ，但是選用的金鑰有以下特性：</a:t>
            </a:r>
            <a:endParaRPr lang="en-US" altLang="zh-TW" sz="2000" dirty="0" smtClean="0">
              <a:ea typeface="微軟正黑體"/>
            </a:endParaRPr>
          </a:p>
          <a:p>
            <a:pPr lvl="1">
              <a:spcBef>
                <a:spcPts val="1200"/>
              </a:spcBef>
            </a:pPr>
            <a:r>
              <a:rPr lang="zh-TW" altLang="en-US" dirty="0" smtClean="0">
                <a:solidFill>
                  <a:srgbClr val="0000FF"/>
                </a:solidFill>
                <a:ea typeface="微軟正黑體"/>
              </a:rPr>
              <a:t>金鑰的位數很長</a:t>
            </a:r>
            <a:r>
              <a:rPr lang="zh-TW" altLang="en-US" dirty="0" smtClean="0">
                <a:ea typeface="微軟正黑體"/>
              </a:rPr>
              <a:t>，</a:t>
            </a:r>
            <a:r>
              <a:rPr lang="zh-TW" altLang="en-US" dirty="0" smtClean="0">
                <a:solidFill>
                  <a:srgbClr val="0000FF"/>
                </a:solidFill>
                <a:ea typeface="微軟正黑體"/>
              </a:rPr>
              <a:t>要長過訊息本身</a:t>
            </a:r>
            <a:r>
              <a:rPr lang="zh-TW" altLang="en-US" dirty="0" smtClean="0">
                <a:ea typeface="微軟正黑體"/>
              </a:rPr>
              <a:t>；所以巴貝奇要「在</a:t>
            </a:r>
            <a:r>
              <a:rPr lang="zh-TW" altLang="en-US" dirty="0" smtClean="0"/>
              <a:t>密文中尋找重複出現的字串</a:t>
            </a:r>
            <a:r>
              <a:rPr lang="zh-TW" altLang="en-US" dirty="0" smtClean="0">
                <a:ea typeface="微軟正黑體"/>
              </a:rPr>
              <a:t>」就沒有意義了。</a:t>
            </a:r>
            <a:endParaRPr lang="en-US" altLang="zh-TW" dirty="0" smtClean="0">
              <a:ea typeface="微軟正黑體"/>
            </a:endParaRPr>
          </a:p>
          <a:p>
            <a:pPr lvl="1">
              <a:spcBef>
                <a:spcPts val="1200"/>
              </a:spcBef>
            </a:pPr>
            <a:r>
              <a:rPr lang="zh-TW" altLang="en-US" dirty="0" smtClean="0">
                <a:solidFill>
                  <a:srgbClr val="0000FF"/>
                </a:solidFill>
                <a:ea typeface="微軟正黑體"/>
              </a:rPr>
              <a:t>金鑰須以隨機 </a:t>
            </a:r>
            <a:r>
              <a:rPr lang="en-US" altLang="zh-TW" dirty="0" smtClean="0">
                <a:solidFill>
                  <a:srgbClr val="0000FF"/>
                </a:solidFill>
                <a:ea typeface="微軟正黑體"/>
              </a:rPr>
              <a:t>(random) </a:t>
            </a:r>
            <a:r>
              <a:rPr lang="zh-TW" altLang="en-US" dirty="0" smtClean="0">
                <a:solidFill>
                  <a:srgbClr val="0000FF"/>
                </a:solidFill>
                <a:ea typeface="微軟正黑體"/>
              </a:rPr>
              <a:t>方法產生</a:t>
            </a:r>
            <a:r>
              <a:rPr lang="zh-TW" altLang="en-US" dirty="0" smtClean="0">
                <a:ea typeface="微軟正黑體"/>
              </a:rPr>
              <a:t>，以避免金鑰被查出任何規律性。</a:t>
            </a:r>
            <a:endParaRPr lang="en-US" altLang="zh-TW" dirty="0" smtClean="0">
              <a:ea typeface="微軟正黑體"/>
            </a:endParaRPr>
          </a:p>
          <a:p>
            <a:pPr lvl="1">
              <a:spcBef>
                <a:spcPts val="1200"/>
              </a:spcBef>
            </a:pPr>
            <a:r>
              <a:rPr lang="zh-TW" altLang="en-US" dirty="0" smtClean="0">
                <a:solidFill>
                  <a:srgbClr val="0000FF"/>
                </a:solidFill>
                <a:ea typeface="微軟正黑體"/>
              </a:rPr>
              <a:t>金鑰使用一次就丟棄</a:t>
            </a:r>
            <a:r>
              <a:rPr lang="zh-TW" altLang="en-US" dirty="0" smtClean="0">
                <a:ea typeface="微軟正黑體"/>
              </a:rPr>
              <a:t>，因此稱為一次性密碼本。若密碼本 </a:t>
            </a:r>
            <a:r>
              <a:rPr lang="en-US" altLang="zh-TW" dirty="0" smtClean="0">
                <a:ea typeface="微軟正黑體"/>
              </a:rPr>
              <a:t>(</a:t>
            </a:r>
            <a:r>
              <a:rPr lang="zh-TW" altLang="en-US" dirty="0" smtClean="0">
                <a:ea typeface="微軟正黑體"/>
              </a:rPr>
              <a:t>就是放置金鑰的載具</a:t>
            </a:r>
            <a:r>
              <a:rPr lang="en-US" altLang="zh-TW" dirty="0" smtClean="0">
                <a:ea typeface="微軟正黑體"/>
              </a:rPr>
              <a:t>)</a:t>
            </a:r>
            <a:r>
              <a:rPr lang="zh-TW" altLang="en-US" dirty="0" smtClean="0">
                <a:ea typeface="微軟正黑體"/>
              </a:rPr>
              <a:t> 遭到攔截，不會造成長期傷害。</a:t>
            </a:r>
            <a:endParaRPr lang="en-US" altLang="zh-TW" dirty="0" smtClean="0">
              <a:ea typeface="微軟正黑體"/>
            </a:endParaRPr>
          </a:p>
          <a:p>
            <a:pPr>
              <a:spcBef>
                <a:spcPts val="1200"/>
              </a:spcBef>
            </a:pPr>
            <a:r>
              <a:rPr lang="en-US" altLang="zh-TW" sz="2000" dirty="0" smtClean="0">
                <a:ea typeface="微軟正黑體"/>
              </a:rPr>
              <a:t>Claude Shannon </a:t>
            </a:r>
            <a:r>
              <a:rPr lang="zh-TW" altLang="en-US" sz="2000" dirty="0" smtClean="0">
                <a:ea typeface="微軟正黑體"/>
              </a:rPr>
              <a:t>稱</a:t>
            </a:r>
            <a:r>
              <a:rPr lang="zh-TW" altLang="en-US" sz="2000" dirty="0" smtClean="0"/>
              <a:t>一次性密碼本</a:t>
            </a:r>
            <a:r>
              <a:rPr lang="zh-TW" altLang="en-US" sz="2000" dirty="0" smtClean="0">
                <a:ea typeface="微軟正黑體"/>
              </a:rPr>
              <a:t>為</a:t>
            </a:r>
            <a:r>
              <a:rPr lang="zh-TW" altLang="en-US" sz="2000" dirty="0" smtClean="0">
                <a:latin typeface="微軟正黑體"/>
                <a:ea typeface="微軟正黑體"/>
              </a:rPr>
              <a:t>「完美秘密 </a:t>
            </a:r>
            <a:r>
              <a:rPr lang="en-US" altLang="zh-TW" sz="2000" dirty="0" smtClean="0">
                <a:solidFill>
                  <a:srgbClr val="FF0000"/>
                </a:solidFill>
                <a:latin typeface="微軟正黑體"/>
                <a:ea typeface="微軟正黑體"/>
              </a:rPr>
              <a:t>(</a:t>
            </a:r>
            <a:r>
              <a:rPr lang="en-US" altLang="zh-TW" sz="2000" dirty="0" smtClean="0">
                <a:solidFill>
                  <a:srgbClr val="FF0000"/>
                </a:solidFill>
                <a:ea typeface="微軟正黑體"/>
              </a:rPr>
              <a:t>perfect secrecy</a:t>
            </a:r>
            <a:r>
              <a:rPr lang="en-US" altLang="zh-TW" sz="2000" dirty="0" smtClean="0">
                <a:solidFill>
                  <a:srgbClr val="FF0000"/>
                </a:solidFill>
                <a:latin typeface="微軟正黑體"/>
                <a:ea typeface="微軟正黑體"/>
              </a:rPr>
              <a:t>)</a:t>
            </a:r>
            <a:r>
              <a:rPr lang="zh-TW" altLang="en-US" sz="2000" dirty="0" smtClean="0">
                <a:latin typeface="微軟正黑體"/>
                <a:ea typeface="微軟正黑體"/>
              </a:rPr>
              <a:t>」</a:t>
            </a:r>
            <a:r>
              <a:rPr lang="zh-TW" altLang="en-US" sz="2000" dirty="0" smtClean="0">
                <a:ea typeface="微軟正黑體"/>
              </a:rPr>
              <a:t>，它</a:t>
            </a:r>
            <a:r>
              <a:rPr lang="zh-TW" altLang="en-US" sz="2000" dirty="0" smtClean="0"/>
              <a:t>是至今唯一可以用</a:t>
            </a:r>
            <a:r>
              <a:rPr lang="zh-TW" altLang="en-US" sz="2000" dirty="0" smtClean="0">
                <a:ea typeface="微軟正黑體"/>
              </a:rPr>
              <a:t>訊息</a:t>
            </a:r>
            <a:r>
              <a:rPr lang="zh-TW" altLang="en-US" sz="2000" dirty="0" smtClean="0"/>
              <a:t>理論證明「不可破解」的加密法。</a:t>
            </a:r>
            <a:endParaRPr lang="en-US" altLang="zh-TW" sz="2000" dirty="0" smtClean="0">
              <a:ea typeface="微軟正黑體"/>
            </a:endParaRPr>
          </a:p>
          <a:p>
            <a:pPr>
              <a:spcBef>
                <a:spcPts val="1200"/>
              </a:spcBef>
            </a:pPr>
            <a:r>
              <a:rPr lang="zh-TW" altLang="en-US" sz="2000" dirty="0" smtClean="0">
                <a:solidFill>
                  <a:srgbClr val="FF0000"/>
                </a:solidFill>
              </a:rPr>
              <a:t>它的缺點則是不斷地產生與傳送冗長的密碼本非常困難</a:t>
            </a:r>
            <a:r>
              <a:rPr lang="zh-TW" altLang="en-US" sz="2000" dirty="0" smtClean="0"/>
              <a:t>。</a:t>
            </a:r>
            <a:endParaRPr lang="en-US" altLang="zh-TW" sz="2000" dirty="0" smtClean="0">
              <a:ea typeface="微軟正黑體"/>
            </a:endParaRPr>
          </a:p>
        </p:txBody>
      </p:sp>
      <p:sp>
        <p:nvSpPr>
          <p:cNvPr id="3" name="標題 2"/>
          <p:cNvSpPr>
            <a:spLocks noGrp="1"/>
          </p:cNvSpPr>
          <p:nvPr>
            <p:ph type="title"/>
          </p:nvPr>
        </p:nvSpPr>
        <p:spPr/>
        <p:txBody>
          <a:bodyPr/>
          <a:lstStyle/>
          <a:p>
            <a:r>
              <a:rPr lang="zh-TW" altLang="en-US" dirty="0" smtClean="0"/>
              <a:t>一次性密碼本</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8215370" cy="2286016"/>
          </a:xfrm>
        </p:spPr>
        <p:txBody>
          <a:bodyPr>
            <a:noAutofit/>
          </a:bodyPr>
          <a:lstStyle/>
          <a:p>
            <a:r>
              <a:rPr lang="zh-TW" altLang="en-US" sz="2000" dirty="0" smtClean="0"/>
              <a:t>自動化加密機器</a:t>
            </a:r>
            <a:r>
              <a:rPr lang="zh-TW" altLang="en-US" sz="2000" dirty="0" smtClean="0">
                <a:ea typeface="微軟正黑體"/>
              </a:rPr>
              <a:t>「</a:t>
            </a:r>
            <a:r>
              <a:rPr lang="zh-TW" altLang="en-US" sz="2000" dirty="0" smtClean="0">
                <a:solidFill>
                  <a:srgbClr val="FF0000"/>
                </a:solidFill>
                <a:ea typeface="微軟正黑體"/>
              </a:rPr>
              <a:t>謎 </a:t>
            </a:r>
            <a:r>
              <a:rPr lang="en-US" altLang="zh-TW" sz="2000" dirty="0" smtClean="0">
                <a:solidFill>
                  <a:srgbClr val="FF0000"/>
                </a:solidFill>
                <a:ea typeface="微軟正黑體"/>
              </a:rPr>
              <a:t>(Enigma)</a:t>
            </a:r>
            <a:r>
              <a:rPr lang="zh-TW" altLang="en-US" sz="2000" dirty="0" smtClean="0">
                <a:ea typeface="微軟正黑體"/>
              </a:rPr>
              <a:t>」，在二次世界大戰前期獨領風騷。</a:t>
            </a:r>
            <a:r>
              <a:rPr lang="zh-TW" altLang="en-US" sz="2000" dirty="0" smtClean="0"/>
              <a:t>「謎」包括兩個部份：</a:t>
            </a:r>
            <a:endParaRPr lang="en-US" altLang="zh-TW" sz="2000" dirty="0" smtClean="0"/>
          </a:p>
          <a:p>
            <a:pPr lvl="1"/>
            <a:r>
              <a:rPr lang="zh-TW" altLang="en-US" sz="1800" dirty="0" smtClean="0">
                <a:ea typeface="微軟正黑體"/>
              </a:rPr>
              <a:t>攪亂器 </a:t>
            </a:r>
            <a:r>
              <a:rPr lang="en-US" altLang="zh-TW" sz="1800" dirty="0" smtClean="0">
                <a:ea typeface="微軟正黑體"/>
              </a:rPr>
              <a:t>(scrambler)</a:t>
            </a:r>
            <a:r>
              <a:rPr lang="zh-TW" altLang="en-US" sz="1800" dirty="0" smtClean="0">
                <a:ea typeface="微軟正黑體"/>
              </a:rPr>
              <a:t>：是一種「</a:t>
            </a:r>
            <a:r>
              <a:rPr lang="zh-TW" altLang="en-US" sz="1800" dirty="0" smtClean="0"/>
              <a:t>攪亂的</a:t>
            </a:r>
            <a:r>
              <a:rPr lang="zh-TW" altLang="en-US" sz="1800" dirty="0" smtClean="0">
                <a:ea typeface="微軟正黑體"/>
              </a:rPr>
              <a:t>」</a:t>
            </a:r>
            <a:r>
              <a:rPr lang="zh-TW" altLang="en-US" sz="1800" dirty="0" smtClean="0"/>
              <a:t>替換加密表，輸入任一字母，會對應出另一不同字母。替換表在「謎」裡面是以硬體實施，混亂度很高。</a:t>
            </a:r>
            <a:endParaRPr lang="en-US" altLang="zh-TW" sz="1800" dirty="0" smtClean="0">
              <a:ea typeface="微軟正黑體"/>
            </a:endParaRPr>
          </a:p>
          <a:p>
            <a:pPr lvl="1"/>
            <a:r>
              <a:rPr lang="zh-TW" altLang="en-US" sz="1800" dirty="0" smtClean="0">
                <a:ea typeface="微軟正黑體"/>
              </a:rPr>
              <a:t>插頭板 </a:t>
            </a:r>
            <a:r>
              <a:rPr lang="en-US" altLang="zh-TW" sz="1800" dirty="0" smtClean="0">
                <a:ea typeface="微軟正黑體"/>
              </a:rPr>
              <a:t>(plugboard)</a:t>
            </a:r>
            <a:r>
              <a:rPr lang="zh-TW" altLang="en-US" sz="1800" dirty="0" smtClean="0">
                <a:ea typeface="微軟正黑體"/>
              </a:rPr>
              <a:t>：每當進入攪亂器之前，插頭板可以將字母兩兩交換。</a:t>
            </a:r>
            <a:endParaRPr lang="en-US" altLang="zh-TW" sz="1800" dirty="0" smtClean="0">
              <a:ea typeface="微軟正黑體"/>
            </a:endParaRPr>
          </a:p>
        </p:txBody>
      </p:sp>
      <p:sp>
        <p:nvSpPr>
          <p:cNvPr id="3" name="標題 2"/>
          <p:cNvSpPr>
            <a:spLocks noGrp="1"/>
          </p:cNvSpPr>
          <p:nvPr>
            <p:ph type="title"/>
          </p:nvPr>
        </p:nvSpPr>
        <p:spPr/>
        <p:txBody>
          <a:bodyPr/>
          <a:lstStyle/>
          <a:p>
            <a:r>
              <a:rPr lang="zh-TW" altLang="en-US" dirty="0" smtClean="0"/>
              <a:t>謎 </a:t>
            </a:r>
            <a:r>
              <a:rPr lang="en-US" altLang="zh-TW" dirty="0" smtClean="0"/>
              <a:t>– </a:t>
            </a:r>
            <a:r>
              <a:rPr lang="zh-TW" altLang="en-US" dirty="0" smtClean="0"/>
              <a:t>成功的密碼機器</a:t>
            </a:r>
            <a:endParaRPr lang="zh-TW" altLang="en-US" dirty="0"/>
          </a:p>
        </p:txBody>
      </p:sp>
      <p:pic>
        <p:nvPicPr>
          <p:cNvPr id="29698" name="Picture 2" descr="Image:Scherbius-1928-patent.png">
            <a:hlinkClick r:id="rId2"/>
          </p:cNvPr>
          <p:cNvPicPr>
            <a:picLocks noChangeAspect="1" noChangeArrowheads="1"/>
          </p:cNvPicPr>
          <p:nvPr/>
        </p:nvPicPr>
        <p:blipFill>
          <a:blip r:embed="rId3" cstate="print"/>
          <a:srcRect/>
          <a:stretch>
            <a:fillRect/>
          </a:stretch>
        </p:blipFill>
        <p:spPr bwMode="auto">
          <a:xfrm>
            <a:off x="4105899" y="3717032"/>
            <a:ext cx="4389023" cy="2779942"/>
          </a:xfrm>
          <a:prstGeom prst="rect">
            <a:avLst/>
          </a:prstGeom>
          <a:noFill/>
        </p:spPr>
      </p:pic>
      <p:sp>
        <p:nvSpPr>
          <p:cNvPr id="7" name="內容版面配置區 1"/>
          <p:cNvSpPr txBox="1">
            <a:spLocks/>
          </p:cNvSpPr>
          <p:nvPr/>
        </p:nvSpPr>
        <p:spPr>
          <a:xfrm>
            <a:off x="285720" y="3573016"/>
            <a:ext cx="3638208" cy="2782662"/>
          </a:xfrm>
          <a:prstGeom prst="rect">
            <a:avLst/>
          </a:prstGeom>
        </p:spPr>
        <p:txBody>
          <a:bodyPr vert="horz">
            <a:normAutofit/>
          </a:bodyPr>
          <a:lstStyle/>
          <a:p>
            <a:pPr marL="274320" indent="-274320">
              <a:lnSpc>
                <a:spcPct val="120000"/>
              </a:lnSpc>
              <a:spcBef>
                <a:spcPts val="1000"/>
              </a:spcBef>
              <a:buClr>
                <a:schemeClr val="tx2"/>
              </a:buClr>
              <a:buSzPct val="73000"/>
              <a:buFont typeface="Wingdings 2"/>
              <a:buChar char=""/>
            </a:pPr>
            <a:r>
              <a:rPr lang="zh-TW" altLang="en-US" sz="2000" dirty="0" smtClean="0">
                <a:latin typeface="Calibri" pitchFamily="34" charset="0"/>
              </a:rPr>
              <a:t>由於使用自動化計算，「謎」的殺傷力來自於它能將字母快速的攪亂。</a:t>
            </a:r>
            <a:endParaRPr kumimoji="0" lang="en-US" altLang="zh-TW" b="0" i="0" u="none" strike="noStrike" kern="1200" cap="none" spc="0" normalizeH="0" baseline="0" noProof="0" dirty="0" smtClean="0">
              <a:ln>
                <a:noFill/>
              </a:ln>
              <a:solidFill>
                <a:schemeClr val="tx1">
                  <a:tint val="85000"/>
                </a:schemeClr>
              </a:solidFill>
              <a:effectLst/>
              <a:uLnTx/>
              <a:uFillTx/>
              <a:latin typeface="Calibri"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5582424" cy="5500702"/>
          </a:xfrm>
        </p:spPr>
        <p:txBody>
          <a:bodyPr>
            <a:normAutofit/>
          </a:bodyPr>
          <a:lstStyle/>
          <a:p>
            <a:pPr lvl="0"/>
            <a:r>
              <a:rPr lang="zh-TW" altLang="en-US" sz="2000" dirty="0" smtClean="0">
                <a:solidFill>
                  <a:srgbClr val="FF0000"/>
                </a:solidFill>
              </a:rPr>
              <a:t>圖靈</a:t>
            </a:r>
            <a:r>
              <a:rPr lang="zh-TW" altLang="en-US" sz="2000" dirty="0" smtClean="0"/>
              <a:t> </a:t>
            </a:r>
            <a:r>
              <a:rPr lang="en-US" altLang="zh-TW" sz="2000" dirty="0" smtClean="0"/>
              <a:t>(Alan Turing) </a:t>
            </a:r>
            <a:r>
              <a:rPr lang="zh-TW" altLang="en-US" sz="2000" dirty="0" smtClean="0"/>
              <a:t>是近代偉大的數學家</a:t>
            </a:r>
            <a:r>
              <a:rPr lang="zh-TW" altLang="en-US" sz="2000" dirty="0" smtClean="0">
                <a:ea typeface="微軟正黑體"/>
              </a:rPr>
              <a:t>，從劍橋教授身分受邀進入英國二戰時密碼破譯組織 </a:t>
            </a:r>
            <a:r>
              <a:rPr lang="en-US" altLang="zh-TW" sz="2000" dirty="0" smtClean="0">
                <a:ea typeface="微軟正黑體"/>
              </a:rPr>
              <a:t>Bletchley</a:t>
            </a:r>
            <a:r>
              <a:rPr lang="zh-TW" altLang="en-US" sz="2000" dirty="0" smtClean="0">
                <a:ea typeface="微軟正黑體"/>
              </a:rPr>
              <a:t>，在那裏他對破解「謎」做出重大的貢獻。</a:t>
            </a:r>
            <a:endParaRPr lang="en-US" altLang="zh-TW" sz="2000" dirty="0" smtClean="0">
              <a:ea typeface="微軟正黑體"/>
            </a:endParaRPr>
          </a:p>
          <a:p>
            <a:r>
              <a:rPr lang="zh-TW" altLang="en-US" sz="2000" dirty="0" smtClean="0">
                <a:ea typeface="微軟正黑體"/>
              </a:rPr>
              <a:t>圖靈於</a:t>
            </a:r>
            <a:r>
              <a:rPr lang="en-US" altLang="zh-TW" sz="2000" dirty="0" smtClean="0">
                <a:ea typeface="微軟正黑體"/>
              </a:rPr>
              <a:t>1941</a:t>
            </a:r>
            <a:r>
              <a:rPr lang="zh-TW" altLang="en-US" sz="2000" dirty="0" smtClean="0">
                <a:ea typeface="微軟正黑體"/>
              </a:rPr>
              <a:t>年</a:t>
            </a:r>
            <a:r>
              <a:rPr lang="zh-TW" altLang="en-US" sz="2000" dirty="0" smtClean="0">
                <a:solidFill>
                  <a:srgbClr val="FF0000"/>
                </a:solidFill>
                <a:ea typeface="微軟正黑體"/>
              </a:rPr>
              <a:t>建造</a:t>
            </a:r>
            <a:r>
              <a:rPr lang="zh-TW" altLang="en-US" sz="2000" dirty="0" smtClean="0">
                <a:solidFill>
                  <a:srgbClr val="FF0000"/>
                </a:solidFill>
              </a:rPr>
              <a:t>「謎」的破譯機器 </a:t>
            </a:r>
            <a:r>
              <a:rPr lang="en-US" altLang="zh-TW" sz="2000" dirty="0" smtClean="0">
                <a:solidFill>
                  <a:srgbClr val="FF0000"/>
                </a:solidFill>
              </a:rPr>
              <a:t>Bombe</a:t>
            </a:r>
            <a:r>
              <a:rPr lang="zh-TW" altLang="en-US" sz="2000" dirty="0" smtClean="0">
                <a:solidFill>
                  <a:srgbClr val="FF0000"/>
                </a:solidFill>
              </a:rPr>
              <a:t>，這是一部巨大的電子計算機器</a:t>
            </a:r>
            <a:r>
              <a:rPr lang="zh-TW" altLang="en-US" sz="2000" dirty="0" smtClean="0"/>
              <a:t>。</a:t>
            </a:r>
            <a:endParaRPr lang="en-US" altLang="zh-TW" sz="2000" dirty="0" smtClean="0"/>
          </a:p>
          <a:p>
            <a:r>
              <a:rPr lang="zh-TW" altLang="en-US" sz="2000" dirty="0" smtClean="0">
                <a:ea typeface="微軟正黑體"/>
              </a:rPr>
              <a:t>破譯的原理簡單說就是</a:t>
            </a:r>
            <a:r>
              <a:rPr lang="zh-TW" altLang="en-US" sz="2000" dirty="0" smtClean="0"/>
              <a:t>：「</a:t>
            </a:r>
            <a:r>
              <a:rPr lang="en-US" altLang="zh-TW" sz="2000" dirty="0" smtClean="0">
                <a:ea typeface="微軟正黑體"/>
              </a:rPr>
              <a:t>『</a:t>
            </a:r>
            <a:r>
              <a:rPr lang="zh-TW" altLang="en-US" sz="2000" dirty="0" smtClean="0"/>
              <a:t>矛盾</a:t>
            </a:r>
            <a:r>
              <a:rPr lang="en-US" altLang="zh-TW" sz="2000" dirty="0" smtClean="0">
                <a:ea typeface="微軟正黑體"/>
              </a:rPr>
              <a:t>』</a:t>
            </a:r>
            <a:r>
              <a:rPr lang="zh-TW" altLang="en-US" sz="2000" dirty="0" smtClean="0">
                <a:ea typeface="微軟正黑體"/>
              </a:rPr>
              <a:t>有助於推論。」</a:t>
            </a:r>
            <a:r>
              <a:rPr lang="en-US" altLang="zh-TW" sz="2000" dirty="0" smtClean="0">
                <a:ea typeface="微軟正黑體"/>
              </a:rPr>
              <a:t>Bombe </a:t>
            </a:r>
            <a:r>
              <a:rPr lang="zh-TW" altLang="en-US" sz="2000" dirty="0" smtClean="0">
                <a:ea typeface="微軟正黑體"/>
              </a:rPr>
              <a:t>先猜測</a:t>
            </a:r>
            <a:r>
              <a:rPr lang="zh-TW" altLang="en-US" sz="2000" dirty="0" smtClean="0"/>
              <a:t>「謎」的各種可能的設定</a:t>
            </a:r>
            <a:r>
              <a:rPr lang="zh-TW" altLang="en-US" sz="2000" dirty="0" smtClean="0">
                <a:ea typeface="微軟正黑體"/>
              </a:rPr>
              <a:t> </a:t>
            </a:r>
            <a:r>
              <a:rPr lang="en-US" altLang="zh-TW" sz="2000" dirty="0" smtClean="0">
                <a:ea typeface="微軟正黑體"/>
              </a:rPr>
              <a:t>(</a:t>
            </a:r>
            <a:r>
              <a:rPr lang="zh-TW" altLang="en-US" sz="2000" dirty="0" smtClean="0">
                <a:ea typeface="微軟正黑體"/>
              </a:rPr>
              <a:t>攪亂器與插頭板的連線與順序等</a:t>
            </a:r>
            <a:r>
              <a:rPr lang="en-US" altLang="zh-TW" sz="2000" dirty="0" smtClean="0">
                <a:ea typeface="微軟正黑體"/>
              </a:rPr>
              <a:t>)</a:t>
            </a:r>
            <a:r>
              <a:rPr lang="zh-TW" altLang="en-US" sz="2000" dirty="0" smtClean="0">
                <a:ea typeface="微軟正黑體"/>
              </a:rPr>
              <a:t>，</a:t>
            </a:r>
            <a:r>
              <a:rPr lang="zh-TW" altLang="en-US" sz="2000" dirty="0" smtClean="0">
                <a:solidFill>
                  <a:srgbClr val="0000FF"/>
                </a:solidFill>
                <a:ea typeface="微軟正黑體"/>
              </a:rPr>
              <a:t>再根據情報蒐集到或猜測到的一點</a:t>
            </a:r>
            <a:r>
              <a:rPr lang="zh-TW" altLang="en-US" sz="2000" dirty="0" smtClean="0">
                <a:solidFill>
                  <a:srgbClr val="0000FF"/>
                </a:solidFill>
                <a:latin typeface="微軟正黑體"/>
                <a:ea typeface="微軟正黑體"/>
              </a:rPr>
              <a:t>「</a:t>
            </a:r>
            <a:r>
              <a:rPr lang="zh-TW" altLang="en-US" sz="2000" dirty="0" smtClean="0">
                <a:solidFill>
                  <a:srgbClr val="0000FF"/>
                </a:solidFill>
                <a:ea typeface="微軟正黑體"/>
              </a:rPr>
              <a:t>明文</a:t>
            </a:r>
            <a:r>
              <a:rPr lang="en-US" altLang="zh-TW" sz="2000" dirty="0" smtClean="0">
                <a:solidFill>
                  <a:srgbClr val="0000FF"/>
                </a:solidFill>
                <a:ea typeface="微軟正黑體"/>
              </a:rPr>
              <a:t>/</a:t>
            </a:r>
            <a:r>
              <a:rPr lang="zh-TW" altLang="en-US" sz="2000" dirty="0" smtClean="0">
                <a:solidFill>
                  <a:srgbClr val="0000FF"/>
                </a:solidFill>
                <a:ea typeface="微軟正黑體"/>
              </a:rPr>
              <a:t>密文</a:t>
            </a:r>
            <a:r>
              <a:rPr lang="zh-TW" altLang="en-US" sz="2000" dirty="0" smtClean="0">
                <a:solidFill>
                  <a:srgbClr val="0000FF"/>
                </a:solidFill>
                <a:latin typeface="微軟正黑體"/>
                <a:ea typeface="微軟正黑體"/>
              </a:rPr>
              <a:t>」</a:t>
            </a:r>
            <a:r>
              <a:rPr lang="zh-TW" altLang="en-US" sz="2000" dirty="0" smtClean="0">
                <a:solidFill>
                  <a:srgbClr val="0000FF"/>
                </a:solidFill>
                <a:ea typeface="微軟正黑體"/>
              </a:rPr>
              <a:t>對應訊息</a:t>
            </a:r>
            <a:r>
              <a:rPr lang="zh-TW" altLang="en-US" sz="2000" dirty="0" smtClean="0">
                <a:ea typeface="微軟正黑體"/>
              </a:rPr>
              <a:t> </a:t>
            </a:r>
            <a:r>
              <a:rPr lang="en-US" altLang="zh-TW" sz="2000" dirty="0" smtClean="0">
                <a:ea typeface="微軟正黑體"/>
              </a:rPr>
              <a:t>(</a:t>
            </a:r>
            <a:r>
              <a:rPr lang="zh-TW" altLang="en-US" sz="2000" dirty="0" smtClean="0">
                <a:ea typeface="微軟正黑體"/>
              </a:rPr>
              <a:t>稱為 </a:t>
            </a:r>
            <a:r>
              <a:rPr lang="en-US" altLang="zh-TW" sz="2000" dirty="0" smtClean="0">
                <a:ea typeface="微軟正黑體"/>
              </a:rPr>
              <a:t>crib)</a:t>
            </a:r>
            <a:r>
              <a:rPr lang="zh-TW" altLang="en-US" sz="2000" dirty="0" smtClean="0">
                <a:ea typeface="微軟正黑體"/>
              </a:rPr>
              <a:t>，就可逐步的找出矛盾、刪除不可能的設定，推論出最可能的加密法。</a:t>
            </a:r>
            <a:endParaRPr lang="en-US" altLang="zh-TW" sz="2000" dirty="0" smtClean="0">
              <a:ea typeface="微軟正黑體"/>
            </a:endParaRPr>
          </a:p>
        </p:txBody>
      </p:sp>
      <p:sp>
        <p:nvSpPr>
          <p:cNvPr id="3" name="標題 2"/>
          <p:cNvSpPr>
            <a:spLocks noGrp="1"/>
          </p:cNvSpPr>
          <p:nvPr>
            <p:ph type="title"/>
          </p:nvPr>
        </p:nvSpPr>
        <p:spPr/>
        <p:txBody>
          <a:bodyPr/>
          <a:lstStyle/>
          <a:p>
            <a:r>
              <a:rPr lang="zh-TW" altLang="en-US" dirty="0" smtClean="0"/>
              <a:t>圖靈的解密</a:t>
            </a:r>
            <a:endParaRPr lang="zh-TW" altLang="en-US" dirty="0"/>
          </a:p>
        </p:txBody>
      </p:sp>
      <p:pic>
        <p:nvPicPr>
          <p:cNvPr id="4" name="Picture 6" descr="Alan Turing"/>
          <p:cNvPicPr>
            <a:picLocks noChangeAspect="1" noChangeArrowheads="1"/>
          </p:cNvPicPr>
          <p:nvPr/>
        </p:nvPicPr>
        <p:blipFill>
          <a:blip r:embed="rId2" cstate="print"/>
          <a:srcRect/>
          <a:stretch>
            <a:fillRect/>
          </a:stretch>
        </p:blipFill>
        <p:spPr bwMode="auto">
          <a:xfrm>
            <a:off x="6516216" y="1412776"/>
            <a:ext cx="1601789" cy="2176968"/>
          </a:xfrm>
          <a:prstGeom prst="rect">
            <a:avLst/>
          </a:prstGeom>
          <a:noFill/>
          <a:ln w="9525">
            <a:noFill/>
            <a:miter lim="800000"/>
            <a:headEnd/>
            <a:tailEnd/>
          </a:ln>
        </p:spPr>
      </p:pic>
      <p:sp>
        <p:nvSpPr>
          <p:cNvPr id="5" name="矩形 4"/>
          <p:cNvSpPr/>
          <p:nvPr/>
        </p:nvSpPr>
        <p:spPr>
          <a:xfrm>
            <a:off x="6730546" y="3571476"/>
            <a:ext cx="1285868" cy="584775"/>
          </a:xfrm>
          <a:prstGeom prst="rect">
            <a:avLst/>
          </a:prstGeom>
        </p:spPr>
        <p:txBody>
          <a:bodyPr wrap="square">
            <a:spAutoFit/>
          </a:bodyPr>
          <a:lstStyle/>
          <a:p>
            <a:r>
              <a:rPr lang="zh-TW" altLang="zh-TW" sz="1600" dirty="0" smtClean="0">
                <a:latin typeface="Calibri" pitchFamily="34" charset="0"/>
              </a:rPr>
              <a:t>Alan</a:t>
            </a:r>
            <a:r>
              <a:rPr lang="en-US" altLang="zh-TW" sz="1600" dirty="0" smtClean="0">
                <a:latin typeface="Calibri" pitchFamily="34" charset="0"/>
              </a:rPr>
              <a:t> Turing</a:t>
            </a:r>
          </a:p>
          <a:p>
            <a:r>
              <a:rPr lang="en-US" altLang="zh-TW" sz="1600" dirty="0" smtClean="0">
                <a:latin typeface="Calibri" pitchFamily="34" charset="0"/>
              </a:rPr>
              <a:t>1912 – 1954</a:t>
            </a:r>
            <a:endParaRPr lang="zh-TW" altLang="en-US" sz="1600" dirty="0">
              <a:latin typeface="Calibri"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8215370" cy="5286412"/>
          </a:xfrm>
        </p:spPr>
        <p:txBody>
          <a:bodyPr>
            <a:normAutofit/>
          </a:bodyPr>
          <a:lstStyle/>
          <a:p>
            <a:pPr>
              <a:spcBef>
                <a:spcPts val="1200"/>
              </a:spcBef>
            </a:pPr>
            <a:r>
              <a:rPr lang="zh-TW" altLang="en-US" sz="2000" dirty="0" smtClean="0"/>
              <a:t>二次世界大戰中尚有一種從未遭破譯的加密法，那就是 </a:t>
            </a:r>
            <a:r>
              <a:rPr lang="en-US" altLang="zh-TW" sz="2000" dirty="0" smtClean="0"/>
              <a:t>Navajo</a:t>
            </a:r>
            <a:r>
              <a:rPr lang="zh-TW" altLang="en-US" sz="2000" dirty="0" smtClean="0"/>
              <a:t> 密語 </a:t>
            </a:r>
            <a:r>
              <a:rPr lang="en-US" altLang="zh-TW" sz="2000" dirty="0" smtClean="0"/>
              <a:t>(Navajo code)</a:t>
            </a:r>
            <a:r>
              <a:rPr lang="zh-TW" altLang="en-US" sz="2000" dirty="0" smtClean="0"/>
              <a:t>。</a:t>
            </a:r>
            <a:r>
              <a:rPr lang="en-US" altLang="zh-TW" sz="2000" dirty="0" smtClean="0"/>
              <a:t>Navajo</a:t>
            </a:r>
            <a:r>
              <a:rPr lang="zh-TW" altLang="en-US" sz="2000" dirty="0" smtClean="0"/>
              <a:t> 是</a:t>
            </a:r>
            <a:r>
              <a:rPr lang="zh-TW" altLang="en-US" sz="2000" dirty="0" smtClean="0">
                <a:solidFill>
                  <a:srgbClr val="FF0000"/>
                </a:solidFill>
              </a:rPr>
              <a:t>美國亞利桑那州原住民</a:t>
            </a:r>
            <a:r>
              <a:rPr lang="zh-TW" altLang="en-US" sz="2000" dirty="0" smtClean="0"/>
              <a:t>，二次大戰以前鮮少與外界接觸。該族語言不屬於任何歐亞語言體系，極難瞭解。</a:t>
            </a:r>
            <a:endParaRPr lang="en-US" altLang="zh-TW" sz="2000" dirty="0" smtClean="0"/>
          </a:p>
          <a:p>
            <a:pPr>
              <a:spcBef>
                <a:spcPts val="1200"/>
              </a:spcBef>
            </a:pPr>
            <a:r>
              <a:rPr lang="zh-TW" altLang="en-US" sz="2000" dirty="0" smtClean="0"/>
              <a:t>任何兩位 </a:t>
            </a:r>
            <a:r>
              <a:rPr lang="en-US" altLang="zh-TW" sz="2000" dirty="0" smtClean="0"/>
              <a:t>Navajo</a:t>
            </a:r>
            <a:r>
              <a:rPr lang="zh-TW" altLang="en-US" sz="2000" dirty="0" smtClean="0"/>
              <a:t> 族人在無線電的兩端對話，就成了活動的加、解密機器，他們被稱為 </a:t>
            </a:r>
            <a:r>
              <a:rPr lang="en-US" altLang="zh-TW" sz="2000" dirty="0" smtClean="0"/>
              <a:t>code talkers</a:t>
            </a:r>
            <a:r>
              <a:rPr lang="zh-TW" altLang="en-US" sz="2000" dirty="0" smtClean="0"/>
              <a:t>。</a:t>
            </a:r>
            <a:endParaRPr lang="en-US" altLang="zh-TW" sz="2000" dirty="0" smtClean="0"/>
          </a:p>
          <a:p>
            <a:pPr>
              <a:spcBef>
                <a:spcPts val="1200"/>
              </a:spcBef>
            </a:pPr>
            <a:r>
              <a:rPr lang="zh-TW" altLang="en-US" sz="2000" dirty="0" smtClean="0"/>
              <a:t>二次大戰共有 </a:t>
            </a:r>
            <a:r>
              <a:rPr lang="en-US" altLang="zh-TW" sz="2000" dirty="0" smtClean="0">
                <a:solidFill>
                  <a:srgbClr val="0000FF"/>
                </a:solidFill>
              </a:rPr>
              <a:t>420</a:t>
            </a:r>
            <a:r>
              <a:rPr lang="zh-TW" altLang="en-US" sz="2000" dirty="0" smtClean="0">
                <a:solidFill>
                  <a:srgbClr val="0000FF"/>
                </a:solidFill>
              </a:rPr>
              <a:t> 位 </a:t>
            </a:r>
            <a:r>
              <a:rPr lang="en-US" altLang="zh-TW" sz="2000" dirty="0" smtClean="0"/>
              <a:t>Navajo code talkers</a:t>
            </a:r>
            <a:r>
              <a:rPr lang="zh-TW" altLang="en-US" sz="2000" dirty="0" smtClean="0"/>
              <a:t> 服役於美國海軍，在太平洋戰爭中發揮極大功能。曾有一群美國密碼專家花了三週測試破譯，但得到的結論是：</a:t>
            </a:r>
            <a:r>
              <a:rPr lang="zh-TW" altLang="en-US" sz="2000" dirty="0" smtClean="0">
                <a:latin typeface="微軟正黑體"/>
                <a:ea typeface="微軟正黑體"/>
              </a:rPr>
              <a:t>「</a:t>
            </a:r>
            <a:r>
              <a:rPr lang="zh-TW" altLang="en-US" sz="2000" dirty="0" smtClean="0">
                <a:solidFill>
                  <a:srgbClr val="0000FF"/>
                </a:solidFill>
                <a:latin typeface="微軟正黑體"/>
                <a:ea typeface="微軟正黑體"/>
              </a:rPr>
              <a:t>一串奇怪的喉音、鼻音、與饒舌音</a:t>
            </a:r>
            <a:r>
              <a:rPr lang="zh-TW" altLang="en-US" sz="2000" dirty="0" smtClean="0">
                <a:latin typeface="微軟正黑體"/>
                <a:ea typeface="微軟正黑體"/>
              </a:rPr>
              <a:t>，我們根本不知道該怎麼寫下我們所聽到的東西，更不可能破譯了。」</a:t>
            </a:r>
            <a:endParaRPr lang="zh-TW" altLang="en-US" sz="2000" dirty="0" smtClean="0"/>
          </a:p>
        </p:txBody>
      </p:sp>
      <p:sp>
        <p:nvSpPr>
          <p:cNvPr id="3" name="標題 2"/>
          <p:cNvSpPr>
            <a:spLocks noGrp="1"/>
          </p:cNvSpPr>
          <p:nvPr>
            <p:ph type="title"/>
          </p:nvPr>
        </p:nvSpPr>
        <p:spPr/>
        <p:txBody>
          <a:bodyPr/>
          <a:lstStyle/>
          <a:p>
            <a:r>
              <a:rPr lang="zh-TW" altLang="en-US" dirty="0" smtClean="0"/>
              <a:t>稀有語言 </a:t>
            </a:r>
            <a:r>
              <a:rPr lang="en-US" altLang="zh-TW" dirty="0" smtClean="0"/>
              <a:t>– </a:t>
            </a:r>
            <a:r>
              <a:rPr lang="zh-TW" altLang="en-US" dirty="0" smtClean="0"/>
              <a:t>另類的加密法</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8215370" cy="5143536"/>
          </a:xfrm>
        </p:spPr>
        <p:txBody>
          <a:bodyPr>
            <a:noAutofit/>
          </a:bodyPr>
          <a:lstStyle/>
          <a:p>
            <a:r>
              <a:rPr lang="zh-TW" altLang="en-US" sz="2000" dirty="0" smtClean="0"/>
              <a:t>還有一種加密法是將機密訊息隱藏在另一個訊息中，稱為隱藏訊息加密法 </a:t>
            </a:r>
            <a:r>
              <a:rPr lang="en-US" altLang="zh-TW" sz="2000" dirty="0" smtClean="0">
                <a:solidFill>
                  <a:srgbClr val="0000FF"/>
                </a:solidFill>
              </a:rPr>
              <a:t>(</a:t>
            </a:r>
            <a:r>
              <a:rPr lang="en-US" altLang="zh-TW" sz="2000" dirty="0" err="1" smtClean="0">
                <a:solidFill>
                  <a:srgbClr val="0000FF"/>
                </a:solidFill>
              </a:rPr>
              <a:t>stegnography</a:t>
            </a:r>
            <a:r>
              <a:rPr lang="en-US" altLang="zh-TW" sz="2000" dirty="0" smtClean="0">
                <a:solidFill>
                  <a:srgbClr val="0000FF"/>
                </a:solidFill>
              </a:rPr>
              <a:t>)</a:t>
            </a:r>
            <a:r>
              <a:rPr lang="zh-TW" altLang="en-US" sz="2000" dirty="0" smtClean="0"/>
              <a:t>。一般加密法是將訊息攪亂到不可讀，</a:t>
            </a:r>
            <a:r>
              <a:rPr lang="zh-TW" altLang="en-US" sz="2000" dirty="0" smtClean="0">
                <a:latin typeface="微軟正黑體"/>
                <a:ea typeface="微軟正黑體"/>
              </a:rPr>
              <a:t>因此攔截者知道訊息已被加密；但</a:t>
            </a:r>
            <a:r>
              <a:rPr lang="zh-TW" altLang="en-US" sz="2000" dirty="0" smtClean="0"/>
              <a:t>隱藏訊息加密法並未破壞其</a:t>
            </a:r>
            <a:r>
              <a:rPr lang="zh-TW" altLang="en-US" sz="2000" dirty="0" smtClean="0">
                <a:latin typeface="微軟正黑體"/>
                <a:ea typeface="微軟正黑體"/>
              </a:rPr>
              <a:t>「載具」，反而較不易引人注意。</a:t>
            </a:r>
            <a:endParaRPr lang="en-US" altLang="zh-TW" sz="2000" dirty="0" smtClean="0">
              <a:latin typeface="微軟正黑體"/>
              <a:ea typeface="微軟正黑體"/>
            </a:endParaRPr>
          </a:p>
          <a:p>
            <a:r>
              <a:rPr lang="zh-TW" altLang="en-US" sz="2000" dirty="0" smtClean="0"/>
              <a:t>中文的</a:t>
            </a:r>
            <a:r>
              <a:rPr lang="zh-TW" altLang="en-US" sz="2000" dirty="0" smtClean="0">
                <a:latin typeface="微軟正黑體"/>
                <a:ea typeface="微軟正黑體"/>
              </a:rPr>
              <a:t>「嵌字詩」也是一種隱藏訊息法，例如</a:t>
            </a:r>
            <a:r>
              <a:rPr lang="zh-TW" altLang="en-US" sz="2000" dirty="0" smtClean="0">
                <a:solidFill>
                  <a:srgbClr val="0000FF"/>
                </a:solidFill>
              </a:rPr>
              <a:t>水滸傳</a:t>
            </a:r>
            <a:r>
              <a:rPr lang="zh-TW" altLang="en-US" sz="2000" dirty="0" smtClean="0"/>
              <a:t>六十一回有詩云：「蘆花叢裡一扁舟，俊傑俄從此地遊；義士若能知此理，反躬逃難可無憂。」內嵌：「蘆（盧）俊義反」。</a:t>
            </a:r>
            <a:endParaRPr lang="en-US" altLang="zh-TW" sz="2000" dirty="0" smtClean="0"/>
          </a:p>
          <a:p>
            <a:r>
              <a:rPr lang="zh-TW" altLang="en-US" sz="2000" dirty="0" smtClean="0"/>
              <a:t>二次大戰期間諜報人員曾使用微點 </a:t>
            </a:r>
            <a:r>
              <a:rPr lang="en-US" altLang="zh-TW" sz="2000" dirty="0" smtClean="0"/>
              <a:t>(microdot)</a:t>
            </a:r>
            <a:r>
              <a:rPr lang="zh-TW" altLang="en-US" sz="2000" dirty="0" smtClean="0"/>
              <a:t> 技術，將機密訊息極度縮小後當成一篇正常文章裡的一個個句點，藉以傳遞機密訊息。</a:t>
            </a:r>
            <a:endParaRPr lang="en-US" altLang="zh-TW" sz="2000" dirty="0" smtClean="0"/>
          </a:p>
          <a:p>
            <a:r>
              <a:rPr lang="zh-TW" altLang="en-US" sz="2000" dirty="0" smtClean="0"/>
              <a:t>資訊時代的隱藏訊息加密法應用於</a:t>
            </a:r>
            <a:r>
              <a:rPr lang="en-US" altLang="zh-TW" sz="2000" dirty="0" smtClean="0">
                <a:solidFill>
                  <a:srgbClr val="FF0000"/>
                </a:solidFill>
              </a:rPr>
              <a:t>digital watermarking</a:t>
            </a:r>
            <a:r>
              <a:rPr lang="zh-TW" altLang="en-US" sz="2000" dirty="0" smtClean="0">
                <a:solidFill>
                  <a:srgbClr val="FF0000"/>
                </a:solidFill>
              </a:rPr>
              <a:t> </a:t>
            </a:r>
            <a:r>
              <a:rPr lang="zh-TW" altLang="en-US" sz="2000" dirty="0" smtClean="0"/>
              <a:t>與 </a:t>
            </a:r>
            <a:r>
              <a:rPr lang="en-US" altLang="zh-TW" sz="2000" dirty="0" smtClean="0"/>
              <a:t>digital rights management</a:t>
            </a:r>
            <a:r>
              <a:rPr lang="zh-TW" altLang="en-US" sz="2000" dirty="0" smtClean="0"/>
              <a:t>等。常見的技巧是將秘密藏在圖畫或歌曲檔案的一些最小位數 </a:t>
            </a:r>
            <a:r>
              <a:rPr lang="en-US" altLang="zh-TW" sz="2000" dirty="0" smtClean="0">
                <a:solidFill>
                  <a:srgbClr val="FF0000"/>
                </a:solidFill>
              </a:rPr>
              <a:t>(least significant bits)</a:t>
            </a:r>
            <a:r>
              <a:rPr lang="zh-TW" altLang="en-US" sz="2000" dirty="0" smtClean="0"/>
              <a:t>，可以隱藏資訊卻不影響原視聽品質。</a:t>
            </a:r>
            <a:endParaRPr lang="en-US" altLang="zh-TW" sz="2000" dirty="0" smtClean="0"/>
          </a:p>
        </p:txBody>
      </p:sp>
      <p:sp>
        <p:nvSpPr>
          <p:cNvPr id="3" name="標題 2"/>
          <p:cNvSpPr>
            <a:spLocks noGrp="1"/>
          </p:cNvSpPr>
          <p:nvPr>
            <p:ph type="title"/>
          </p:nvPr>
        </p:nvSpPr>
        <p:spPr/>
        <p:txBody>
          <a:bodyPr/>
          <a:lstStyle/>
          <a:p>
            <a:r>
              <a:rPr lang="zh-TW" altLang="en-US" dirty="0" smtClean="0"/>
              <a:t>隱藏訊息加密法</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683568" y="404664"/>
            <a:ext cx="7321624" cy="1362075"/>
          </a:xfrm>
          <a:solidFill>
            <a:srgbClr val="0000FF"/>
          </a:solidFill>
          <a:ln w="25400">
            <a:solidFill>
              <a:srgbClr val="FF0000"/>
            </a:solidFill>
          </a:ln>
        </p:spPr>
        <p:txBody>
          <a:bodyPr anchor="ctr"/>
          <a:lstStyle/>
          <a:p>
            <a:pPr algn="ctr"/>
            <a:r>
              <a:rPr lang="en-US" altLang="zh-TW" dirty="0">
                <a:solidFill>
                  <a:schemeClr val="bg1"/>
                </a:solidFill>
                <a:latin typeface="標楷體" panose="03000509000000000000" pitchFamily="65" charset="-120"/>
                <a:ea typeface="標楷體" panose="03000509000000000000" pitchFamily="65" charset="-120"/>
              </a:rPr>
              <a:t>B.</a:t>
            </a:r>
            <a:r>
              <a:rPr lang="zh-TW" altLang="en-US" dirty="0">
                <a:solidFill>
                  <a:schemeClr val="bg1"/>
                </a:solidFill>
                <a:latin typeface="標楷體" panose="03000509000000000000" pitchFamily="65" charset="-120"/>
                <a:ea typeface="標楷體" panose="03000509000000000000" pitchFamily="65" charset="-120"/>
              </a:rPr>
              <a:t>近代</a:t>
            </a:r>
            <a:r>
              <a:rPr lang="zh-TW" altLang="en-US" dirty="0">
                <a:solidFill>
                  <a:srgbClr val="FF0000"/>
                </a:solidFill>
                <a:latin typeface="標楷體" panose="03000509000000000000" pitchFamily="65" charset="-120"/>
                <a:ea typeface="標楷體" panose="03000509000000000000" pitchFamily="65" charset="-120"/>
              </a:rPr>
              <a:t>電腦</a:t>
            </a:r>
            <a:r>
              <a:rPr lang="zh-TW" altLang="en-US" dirty="0">
                <a:solidFill>
                  <a:schemeClr val="bg1"/>
                </a:solidFill>
                <a:latin typeface="標楷體" panose="03000509000000000000" pitchFamily="65" charset="-120"/>
                <a:ea typeface="標楷體" panose="03000509000000000000" pitchFamily="65" charset="-120"/>
              </a:rPr>
              <a:t>密碼學 </a:t>
            </a:r>
            <a:r>
              <a:rPr lang="en-US" altLang="zh-TW" dirty="0">
                <a:solidFill>
                  <a:schemeClr val="bg1"/>
                </a:solidFill>
                <a:latin typeface="標楷體" panose="03000509000000000000" pitchFamily="65" charset="-120"/>
                <a:ea typeface="標楷體" panose="03000509000000000000" pitchFamily="65" charset="-120"/>
              </a:rPr>
              <a:t>(modern)</a:t>
            </a:r>
            <a:endParaRPr lang="zh-TW" altLang="en-US" dirty="0">
              <a:solidFill>
                <a:schemeClr val="bg1"/>
              </a:solidFill>
              <a:latin typeface="標楷體" panose="03000509000000000000" pitchFamily="65" charset="-120"/>
              <a:ea typeface="標楷體" panose="03000509000000000000" pitchFamily="65" charset="-120"/>
            </a:endParaRPr>
          </a:p>
        </p:txBody>
      </p:sp>
      <p:sp>
        <p:nvSpPr>
          <p:cNvPr id="3" name="矩形 2"/>
          <p:cNvSpPr/>
          <p:nvPr/>
        </p:nvSpPr>
        <p:spPr>
          <a:xfrm>
            <a:off x="683568" y="2060848"/>
            <a:ext cx="7272808" cy="43924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1"/>
            <a:r>
              <a:rPr lang="en-US" altLang="zh-TW" sz="2400" dirty="0">
                <a:latin typeface="標楷體" panose="03000509000000000000" pitchFamily="65" charset="-120"/>
                <a:ea typeface="標楷體" panose="03000509000000000000" pitchFamily="65" charset="-120"/>
              </a:rPr>
              <a:t>B.1 </a:t>
            </a:r>
            <a:r>
              <a:rPr lang="zh-TW" altLang="en-US" sz="2400" dirty="0">
                <a:latin typeface="標楷體" panose="03000509000000000000" pitchFamily="65" charset="-120"/>
                <a:ea typeface="標楷體" panose="03000509000000000000" pitchFamily="65" charset="-120"/>
              </a:rPr>
              <a:t>對稱式加密</a:t>
            </a:r>
            <a:r>
              <a:rPr lang="en-US" altLang="zh-TW" sz="2400" dirty="0">
                <a:latin typeface="標楷體" panose="03000509000000000000" pitchFamily="65" charset="-120"/>
                <a:ea typeface="標楷體" panose="03000509000000000000" pitchFamily="65" charset="-120"/>
              </a:rPr>
              <a:t>/</a:t>
            </a:r>
            <a:r>
              <a:rPr lang="zh-TW" altLang="en-US" sz="2400" dirty="0">
                <a:latin typeface="標楷體" panose="03000509000000000000" pitchFamily="65" charset="-120"/>
                <a:ea typeface="標楷體" panose="03000509000000000000" pitchFamily="65" charset="-120"/>
              </a:rPr>
              <a:t>解密 </a:t>
            </a:r>
            <a:r>
              <a:rPr lang="en-US" altLang="zh-TW" sz="2400" dirty="0">
                <a:latin typeface="標楷體" panose="03000509000000000000" pitchFamily="65" charset="-120"/>
                <a:ea typeface="標楷體" panose="03000509000000000000" pitchFamily="65" charset="-120"/>
              </a:rPr>
              <a:t>(Symmetric)</a:t>
            </a:r>
          </a:p>
          <a:p>
            <a:pPr lvl="1"/>
            <a:r>
              <a:rPr lang="en-US" altLang="zh-TW" sz="2400" dirty="0">
                <a:latin typeface="標楷體" panose="03000509000000000000" pitchFamily="65" charset="-120"/>
                <a:ea typeface="標楷體" panose="03000509000000000000" pitchFamily="65" charset="-120"/>
              </a:rPr>
              <a:t>B.2 </a:t>
            </a:r>
            <a:r>
              <a:rPr lang="zh-TW" altLang="en-US" sz="2400" dirty="0">
                <a:solidFill>
                  <a:srgbClr val="0000FF"/>
                </a:solidFill>
                <a:latin typeface="標楷體" panose="03000509000000000000" pitchFamily="65" charset="-120"/>
                <a:ea typeface="標楷體" panose="03000509000000000000" pitchFamily="65" charset="-120"/>
              </a:rPr>
              <a:t>非</a:t>
            </a:r>
            <a:r>
              <a:rPr lang="zh-TW" altLang="en-US" sz="2400" dirty="0">
                <a:latin typeface="標楷體" panose="03000509000000000000" pitchFamily="65" charset="-120"/>
                <a:ea typeface="標楷體" panose="03000509000000000000" pitchFamily="65" charset="-120"/>
              </a:rPr>
              <a:t>對稱式</a:t>
            </a:r>
            <a:r>
              <a:rPr lang="zh-TW" altLang="en-US" sz="2400" dirty="0">
                <a:solidFill>
                  <a:srgbClr val="0000FF"/>
                </a:solidFill>
                <a:latin typeface="標楷體" panose="03000509000000000000" pitchFamily="65" charset="-120"/>
                <a:ea typeface="標楷體" panose="03000509000000000000" pitchFamily="65" charset="-120"/>
              </a:rPr>
              <a:t>加</a:t>
            </a:r>
            <a:r>
              <a:rPr lang="en-US" altLang="zh-TW" sz="2400" dirty="0">
                <a:solidFill>
                  <a:srgbClr val="0000FF"/>
                </a:solidFill>
                <a:latin typeface="標楷體" panose="03000509000000000000" pitchFamily="65" charset="-120"/>
                <a:ea typeface="標楷體" panose="03000509000000000000" pitchFamily="65" charset="-120"/>
              </a:rPr>
              <a:t>/</a:t>
            </a:r>
            <a:r>
              <a:rPr lang="zh-TW" altLang="en-US" sz="2400" dirty="0">
                <a:solidFill>
                  <a:srgbClr val="0000FF"/>
                </a:solidFill>
                <a:latin typeface="標楷體" panose="03000509000000000000" pitchFamily="65" charset="-120"/>
                <a:ea typeface="標楷體" panose="03000509000000000000" pitchFamily="65" charset="-120"/>
              </a:rPr>
              <a:t>解密</a:t>
            </a:r>
            <a:r>
              <a:rPr lang="zh-TW" altLang="en-US" sz="2400" dirty="0">
                <a:latin typeface="標楷體" panose="03000509000000000000" pitchFamily="65" charset="-120"/>
                <a:ea typeface="標楷體" panose="03000509000000000000" pitchFamily="65" charset="-120"/>
              </a:rPr>
              <a:t> </a:t>
            </a:r>
            <a:r>
              <a:rPr lang="en-US" altLang="zh-TW" sz="2400" dirty="0">
                <a:latin typeface="標楷體" panose="03000509000000000000" pitchFamily="65" charset="-120"/>
                <a:ea typeface="標楷體" panose="03000509000000000000" pitchFamily="65" charset="-120"/>
              </a:rPr>
              <a:t>(Asymmetric</a:t>
            </a:r>
            <a:r>
              <a:rPr lang="en-US" altLang="zh-TW" sz="2400" dirty="0" smtClean="0">
                <a:latin typeface="標楷體" panose="03000509000000000000" pitchFamily="65" charset="-120"/>
                <a:ea typeface="標楷體" panose="03000509000000000000" pitchFamily="65" charset="-120"/>
              </a:rPr>
              <a:t>)</a:t>
            </a:r>
          </a:p>
          <a:p>
            <a:pPr lvl="1"/>
            <a:r>
              <a:rPr lang="en-US" altLang="zh-TW" sz="2400" dirty="0" smtClean="0">
                <a:latin typeface="標楷體" panose="03000509000000000000" pitchFamily="65" charset="-120"/>
                <a:ea typeface="標楷體" panose="03000509000000000000" pitchFamily="65" charset="-120"/>
              </a:rPr>
              <a:t>B.3 </a:t>
            </a:r>
            <a:r>
              <a:rPr lang="zh-TW" altLang="en-US" sz="2400" dirty="0">
                <a:solidFill>
                  <a:srgbClr val="0000FF"/>
                </a:solidFill>
                <a:latin typeface="標楷體" panose="03000509000000000000" pitchFamily="65" charset="-120"/>
                <a:ea typeface="標楷體" panose="03000509000000000000" pitchFamily="65" charset="-120"/>
              </a:rPr>
              <a:t>非</a:t>
            </a:r>
            <a:r>
              <a:rPr lang="zh-TW" altLang="en-US" sz="2400" dirty="0">
                <a:latin typeface="標楷體" panose="03000509000000000000" pitchFamily="65" charset="-120"/>
                <a:ea typeface="標楷體" panose="03000509000000000000" pitchFamily="65" charset="-120"/>
              </a:rPr>
              <a:t>對稱式</a:t>
            </a:r>
            <a:r>
              <a:rPr lang="zh-TW" altLang="en-US" sz="2400" dirty="0">
                <a:solidFill>
                  <a:srgbClr val="0000FF"/>
                </a:solidFill>
                <a:latin typeface="標楷體" panose="03000509000000000000" pitchFamily="65" charset="-120"/>
                <a:ea typeface="標楷體" panose="03000509000000000000" pitchFamily="65" charset="-120"/>
              </a:rPr>
              <a:t>簽</a:t>
            </a:r>
            <a:r>
              <a:rPr lang="en-US" altLang="zh-TW" sz="2400" dirty="0">
                <a:solidFill>
                  <a:srgbClr val="0000FF"/>
                </a:solidFill>
                <a:latin typeface="標楷體" panose="03000509000000000000" pitchFamily="65" charset="-120"/>
                <a:ea typeface="標楷體" panose="03000509000000000000" pitchFamily="65" charset="-120"/>
              </a:rPr>
              <a:t>/</a:t>
            </a:r>
            <a:r>
              <a:rPr lang="zh-TW" altLang="en-US" sz="2400" dirty="0">
                <a:solidFill>
                  <a:srgbClr val="0000FF"/>
                </a:solidFill>
                <a:latin typeface="標楷體" panose="03000509000000000000" pitchFamily="65" charset="-120"/>
                <a:ea typeface="標楷體" panose="03000509000000000000" pitchFamily="65" charset="-120"/>
              </a:rPr>
              <a:t>驗章</a:t>
            </a:r>
            <a:r>
              <a:rPr lang="zh-TW" altLang="en-US" sz="2400" dirty="0">
                <a:latin typeface="標楷體" panose="03000509000000000000" pitchFamily="65" charset="-120"/>
                <a:ea typeface="標楷體" panose="03000509000000000000" pitchFamily="65" charset="-120"/>
              </a:rPr>
              <a:t> </a:t>
            </a:r>
            <a:r>
              <a:rPr lang="en-US" altLang="zh-TW" sz="2400" dirty="0">
                <a:latin typeface="標楷體" panose="03000509000000000000" pitchFamily="65" charset="-120"/>
                <a:ea typeface="標楷體" panose="03000509000000000000" pitchFamily="65" charset="-120"/>
              </a:rPr>
              <a:t>(Signature</a:t>
            </a:r>
            <a:r>
              <a:rPr lang="en-US" altLang="zh-TW" sz="2400" dirty="0" smtClean="0">
                <a:latin typeface="標楷體" panose="03000509000000000000" pitchFamily="65" charset="-120"/>
                <a:ea typeface="標楷體" panose="03000509000000000000" pitchFamily="65" charset="-120"/>
              </a:rPr>
              <a:t>)</a:t>
            </a:r>
            <a:endParaRPr lang="en-US" altLang="zh-TW" sz="2400" dirty="0">
              <a:latin typeface="標楷體" panose="03000509000000000000" pitchFamily="65" charset="-120"/>
              <a:ea typeface="標楷體" panose="03000509000000000000" pitchFamily="65" charset="-120"/>
            </a:endParaRPr>
          </a:p>
          <a:p>
            <a:pPr lvl="1"/>
            <a:r>
              <a:rPr lang="en-US" altLang="zh-TW" sz="2400" dirty="0" smtClean="0">
                <a:latin typeface="標楷體" panose="03000509000000000000" pitchFamily="65" charset="-120"/>
                <a:ea typeface="標楷體" panose="03000509000000000000" pitchFamily="65" charset="-120"/>
              </a:rPr>
              <a:t>B.4 </a:t>
            </a:r>
            <a:r>
              <a:rPr lang="zh-TW" altLang="en-US" sz="2400" dirty="0">
                <a:latin typeface="標楷體" panose="03000509000000000000" pitchFamily="65" charset="-120"/>
                <a:ea typeface="標楷體" panose="03000509000000000000" pitchFamily="65" charset="-120"/>
              </a:rPr>
              <a:t>雜湊函數 </a:t>
            </a:r>
            <a:r>
              <a:rPr lang="en-US" altLang="zh-TW" sz="2400" dirty="0">
                <a:latin typeface="標楷體" panose="03000509000000000000" pitchFamily="65" charset="-120"/>
                <a:ea typeface="標楷體" panose="03000509000000000000" pitchFamily="65" charset="-120"/>
              </a:rPr>
              <a:t>(HASH</a:t>
            </a:r>
            <a:r>
              <a:rPr lang="en-US" altLang="zh-TW" sz="2400" dirty="0">
                <a:latin typeface="標楷體" panose="03000509000000000000" pitchFamily="65" charset="-120"/>
                <a:ea typeface="標楷體" panose="03000509000000000000" pitchFamily="65" charset="-120"/>
              </a:rPr>
              <a:t>)</a:t>
            </a:r>
            <a:br>
              <a:rPr lang="en-US" altLang="zh-TW" sz="2400" dirty="0">
                <a:latin typeface="標楷體" panose="03000509000000000000" pitchFamily="65" charset="-120"/>
                <a:ea typeface="標楷體" panose="03000509000000000000" pitchFamily="65" charset="-120"/>
              </a:rPr>
            </a:br>
            <a:r>
              <a:rPr lang="en-US" altLang="zh-TW" sz="2400" dirty="0">
                <a:latin typeface="標楷體" panose="03000509000000000000" pitchFamily="65" charset="-120"/>
                <a:ea typeface="標楷體" panose="03000509000000000000" pitchFamily="65" charset="-120"/>
              </a:rPr>
              <a:t>B.5 </a:t>
            </a:r>
            <a:r>
              <a:rPr lang="zh-TW" altLang="en-US" sz="2400" dirty="0">
                <a:latin typeface="標楷體" panose="03000509000000000000" pitchFamily="65" charset="-120"/>
                <a:ea typeface="標楷體" panose="03000509000000000000" pitchFamily="65" charset="-120"/>
              </a:rPr>
              <a:t>數位信封</a:t>
            </a:r>
            <a:r>
              <a:rPr lang="en-US" altLang="zh-TW" sz="2400" dirty="0">
                <a:latin typeface="標楷體" panose="03000509000000000000" pitchFamily="65" charset="-120"/>
                <a:ea typeface="標楷體" panose="03000509000000000000" pitchFamily="65" charset="-120"/>
              </a:rPr>
              <a:t>(Digital  Envelope)</a:t>
            </a:r>
            <a:endParaRPr lang="en-US" altLang="zh-TW" sz="2400" b="1" dirty="0">
              <a:solidFill>
                <a:srgbClr val="0000FF"/>
              </a:solidFill>
              <a:latin typeface="標楷體" panose="03000509000000000000" pitchFamily="65" charset="-120"/>
              <a:ea typeface="標楷體" panose="03000509000000000000" pitchFamily="65" charset="-120"/>
            </a:endParaRPr>
          </a:p>
          <a:p>
            <a:pPr lvl="1"/>
            <a:r>
              <a:rPr lang="en-US" altLang="zh-TW" sz="2400" dirty="0" smtClean="0">
                <a:latin typeface="標楷體" panose="03000509000000000000" pitchFamily="65" charset="-120"/>
                <a:ea typeface="標楷體" panose="03000509000000000000" pitchFamily="65" charset="-120"/>
              </a:rPr>
              <a:t>B.6</a:t>
            </a:r>
            <a:r>
              <a:rPr lang="en-US" altLang="zh-TW" sz="2400" i="1" dirty="0" smtClean="0">
                <a:latin typeface="標楷體" panose="03000509000000000000" pitchFamily="65" charset="-120"/>
                <a:ea typeface="標楷體" panose="03000509000000000000" pitchFamily="65" charset="-120"/>
              </a:rPr>
              <a:t> </a:t>
            </a:r>
            <a:r>
              <a:rPr lang="zh-TW" altLang="en-US" sz="2400" i="1" dirty="0">
                <a:latin typeface="標楷體" panose="03000509000000000000" pitchFamily="65" charset="-120"/>
                <a:ea typeface="標楷體" panose="03000509000000000000" pitchFamily="65" charset="-120"/>
              </a:rPr>
              <a:t>對稱式加密的模式 </a:t>
            </a:r>
            <a:r>
              <a:rPr lang="en-US" altLang="zh-TW" sz="2400" i="1" dirty="0">
                <a:latin typeface="標楷體" panose="03000509000000000000" pitchFamily="65" charset="-120"/>
                <a:ea typeface="標楷體" panose="03000509000000000000" pitchFamily="65" charset="-120"/>
              </a:rPr>
              <a:t>(mode)</a:t>
            </a:r>
          </a:p>
          <a:p>
            <a:pPr lvl="1"/>
            <a:r>
              <a:rPr lang="en-US" altLang="zh-TW" sz="2400" dirty="0" smtClean="0">
                <a:latin typeface="標楷體" panose="03000509000000000000" pitchFamily="65" charset="-120"/>
                <a:ea typeface="標楷體" panose="03000509000000000000" pitchFamily="65" charset="-120"/>
              </a:rPr>
              <a:t>B.7 </a:t>
            </a:r>
            <a:r>
              <a:rPr lang="en-US" altLang="zh-TW" sz="2400" dirty="0">
                <a:latin typeface="標楷體" panose="03000509000000000000" pitchFamily="65" charset="-120"/>
                <a:ea typeface="標楷體" panose="03000509000000000000" pitchFamily="65" charset="-120"/>
              </a:rPr>
              <a:t>PKI</a:t>
            </a:r>
            <a:r>
              <a:rPr lang="zh-TW" altLang="en-US" sz="2400" dirty="0">
                <a:latin typeface="標楷體" panose="03000509000000000000" pitchFamily="65" charset="-120"/>
                <a:ea typeface="標楷體" panose="03000509000000000000" pitchFamily="65" charset="-120"/>
              </a:rPr>
              <a:t>的架構及其它的應用 </a:t>
            </a:r>
            <a:r>
              <a:rPr lang="en-US" altLang="zh-TW" sz="2400" dirty="0">
                <a:latin typeface="標楷體" panose="03000509000000000000" pitchFamily="65" charset="-120"/>
                <a:ea typeface="標楷體" panose="03000509000000000000" pitchFamily="65" charset="-120"/>
              </a:rPr>
              <a:t>(Architecture &amp; Application)</a:t>
            </a:r>
          </a:p>
          <a:p>
            <a:pPr lvl="1"/>
            <a:r>
              <a:rPr lang="en-US" altLang="zh-TW" sz="2400" dirty="0" smtClean="0">
                <a:latin typeface="標楷體" panose="03000509000000000000" pitchFamily="65" charset="-120"/>
                <a:ea typeface="標楷體" panose="03000509000000000000" pitchFamily="65" charset="-120"/>
              </a:rPr>
              <a:t>B.8 </a:t>
            </a:r>
            <a:r>
              <a:rPr lang="zh-TW" altLang="en-US" sz="2400" dirty="0">
                <a:latin typeface="標楷體" panose="03000509000000000000" pitchFamily="65" charset="-120"/>
                <a:ea typeface="標楷體" panose="03000509000000000000" pitchFamily="65" charset="-120"/>
              </a:rPr>
              <a:t>金鑰管理 </a:t>
            </a:r>
            <a:r>
              <a:rPr lang="en-US" altLang="zh-TW" sz="2400" dirty="0">
                <a:latin typeface="標楷體" panose="03000509000000000000" pitchFamily="65" charset="-120"/>
                <a:ea typeface="標楷體" panose="03000509000000000000" pitchFamily="65" charset="-120"/>
              </a:rPr>
              <a:t>(Key Management)</a:t>
            </a:r>
          </a:p>
          <a:p>
            <a:pPr lvl="1"/>
            <a:r>
              <a:rPr lang="en-US" altLang="zh-TW" sz="2400" dirty="0" smtClean="0">
                <a:latin typeface="標楷體" panose="03000509000000000000" pitchFamily="65" charset="-120"/>
                <a:ea typeface="標楷體" panose="03000509000000000000" pitchFamily="65" charset="-120"/>
              </a:rPr>
              <a:t>B.9 </a:t>
            </a:r>
            <a:r>
              <a:rPr lang="zh-TW" altLang="en-US" sz="2400" dirty="0">
                <a:latin typeface="標楷體" panose="03000509000000000000" pitchFamily="65" charset="-120"/>
                <a:ea typeface="標楷體" panose="03000509000000000000" pitchFamily="65" charset="-120"/>
              </a:rPr>
              <a:t>密碼系統攻擊 </a:t>
            </a:r>
            <a:r>
              <a:rPr lang="en-US" altLang="zh-TW" sz="2400" dirty="0">
                <a:latin typeface="標楷體" panose="03000509000000000000" pitchFamily="65" charset="-120"/>
                <a:ea typeface="標楷體" panose="03000509000000000000" pitchFamily="65" charset="-120"/>
              </a:rPr>
              <a:t>(Cryptosystem Attack</a:t>
            </a:r>
            <a:r>
              <a:rPr lang="en-US" altLang="zh-TW" sz="2400" dirty="0" smtClean="0">
                <a:latin typeface="標楷體" panose="03000509000000000000" pitchFamily="65" charset="-120"/>
                <a:ea typeface="標楷體" panose="03000509000000000000" pitchFamily="65" charset="-120"/>
              </a:rPr>
              <a:t>)</a:t>
            </a:r>
            <a:endParaRPr lang="zh-TW" altLang="en-US" sz="24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425551123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sz="2000" dirty="0" smtClean="0">
                <a:solidFill>
                  <a:srgbClr val="0000FF"/>
                </a:solidFill>
              </a:rPr>
              <a:t>電腦加密其實很類似前面介紹過的傳統加密法，依然使用</a:t>
            </a:r>
            <a:r>
              <a:rPr lang="zh-TW" altLang="en-US" sz="2000" dirty="0" smtClean="0">
                <a:solidFill>
                  <a:srgbClr val="0000FF"/>
                </a:solidFill>
                <a:ea typeface="微軟正黑體"/>
              </a:rPr>
              <a:t>位移、</a:t>
            </a:r>
            <a:r>
              <a:rPr lang="zh-TW" altLang="en-US" sz="2000" dirty="0" smtClean="0">
                <a:solidFill>
                  <a:srgbClr val="0000FF"/>
                </a:solidFill>
              </a:rPr>
              <a:t>替換、與金鑰的運用等</a:t>
            </a:r>
            <a:r>
              <a:rPr lang="zh-TW" altLang="en-US" sz="2000" dirty="0" smtClean="0"/>
              <a:t>。它與傳統加密法不同之處則可歸納為以下三點：</a:t>
            </a:r>
            <a:endParaRPr lang="en-US" altLang="zh-TW" sz="2000" dirty="0" smtClean="0"/>
          </a:p>
          <a:p>
            <a:pPr lvl="1"/>
            <a:r>
              <a:rPr lang="zh-TW" altLang="en-US" dirty="0" smtClean="0">
                <a:solidFill>
                  <a:srgbClr val="FF0000"/>
                </a:solidFill>
              </a:rPr>
              <a:t>電腦可以處理複雜的加密法</a:t>
            </a:r>
            <a:r>
              <a:rPr lang="zh-TW" altLang="en-US" dirty="0" smtClean="0"/>
              <a:t>，例如早期電腦就可以輕鬆的模擬二十個</a:t>
            </a:r>
            <a:r>
              <a:rPr lang="zh-TW" altLang="en-US" dirty="0" smtClean="0">
                <a:solidFill>
                  <a:schemeClr val="tx1"/>
                </a:solidFill>
                <a:ea typeface="微軟正黑體"/>
              </a:rPr>
              <a:t>「謎」裡面的攪亂器。但機械式的「謎」</a:t>
            </a:r>
            <a:r>
              <a:rPr lang="zh-TW" altLang="en-US" dirty="0" smtClean="0">
                <a:ea typeface="微軟正黑體"/>
              </a:rPr>
              <a:t>大約只能裝置四到七個。</a:t>
            </a:r>
            <a:endParaRPr lang="en-US" altLang="zh-TW" dirty="0" smtClean="0">
              <a:ea typeface="微軟正黑體"/>
            </a:endParaRPr>
          </a:p>
          <a:p>
            <a:pPr lvl="1"/>
            <a:r>
              <a:rPr lang="zh-TW" altLang="en-US" dirty="0" smtClean="0">
                <a:solidFill>
                  <a:srgbClr val="FF0000"/>
                </a:solidFill>
              </a:rPr>
              <a:t>電腦的計算速度快</a:t>
            </a:r>
            <a:r>
              <a:rPr lang="zh-TW" altLang="en-US" dirty="0" smtClean="0"/>
              <a:t>，可在合理的時間內處理較長的訊息，並且使用</a:t>
            </a:r>
            <a:r>
              <a:rPr lang="zh-TW" altLang="en-US" dirty="0" smtClean="0">
                <a:solidFill>
                  <a:schemeClr val="tx1"/>
                </a:solidFill>
              </a:rPr>
              <a:t>複雜的方法與較長的金鑰。</a:t>
            </a:r>
            <a:endParaRPr lang="en-US" altLang="zh-TW" dirty="0" smtClean="0">
              <a:solidFill>
                <a:schemeClr val="tx1"/>
              </a:solidFill>
            </a:endParaRPr>
          </a:p>
          <a:p>
            <a:pPr lvl="1"/>
            <a:r>
              <a:rPr lang="zh-TW" altLang="en-US" dirty="0" smtClean="0">
                <a:solidFill>
                  <a:srgbClr val="FF0000"/>
                </a:solidFill>
              </a:rPr>
              <a:t>傳統加密法直接加密</a:t>
            </a:r>
            <a:r>
              <a:rPr lang="zh-TW" altLang="en-US" dirty="0" smtClean="0">
                <a:solidFill>
                  <a:srgbClr val="FF0000"/>
                </a:solidFill>
                <a:ea typeface="微軟正黑體"/>
              </a:rPr>
              <a:t>「文字」</a:t>
            </a:r>
            <a:r>
              <a:rPr lang="zh-TW" altLang="en-US" dirty="0" smtClean="0">
                <a:ea typeface="微軟正黑體"/>
              </a:rPr>
              <a:t>；</a:t>
            </a:r>
            <a:r>
              <a:rPr lang="zh-TW" altLang="en-US" dirty="0" smtClean="0">
                <a:solidFill>
                  <a:srgbClr val="FF0000"/>
                </a:solidFill>
                <a:ea typeface="微軟正黑體"/>
              </a:rPr>
              <a:t>但</a:t>
            </a:r>
            <a:r>
              <a:rPr lang="zh-TW" altLang="en-US" dirty="0" smtClean="0">
                <a:solidFill>
                  <a:srgbClr val="FF0000"/>
                </a:solidFill>
              </a:rPr>
              <a:t>電腦只能處理</a:t>
            </a:r>
            <a:r>
              <a:rPr lang="zh-TW" altLang="en-US" dirty="0" smtClean="0">
                <a:solidFill>
                  <a:srgbClr val="FF0000"/>
                </a:solidFill>
                <a:ea typeface="微軟正黑體"/>
              </a:rPr>
              <a:t>「數字」</a:t>
            </a:r>
            <a:r>
              <a:rPr lang="zh-TW" altLang="en-US" dirty="0" smtClean="0">
                <a:ea typeface="微軟正黑體"/>
              </a:rPr>
              <a:t>，所以要先將</a:t>
            </a:r>
            <a:r>
              <a:rPr lang="zh-TW" altLang="en-US" dirty="0" smtClean="0">
                <a:solidFill>
                  <a:schemeClr val="tx1"/>
                </a:solidFill>
                <a:ea typeface="微軟正黑體"/>
              </a:rPr>
              <a:t>字母轉換成為數字 </a:t>
            </a:r>
            <a:r>
              <a:rPr lang="en-US" altLang="zh-TW" dirty="0" smtClean="0">
                <a:solidFill>
                  <a:schemeClr val="tx1"/>
                </a:solidFill>
                <a:ea typeface="微軟正黑體"/>
              </a:rPr>
              <a:t>(</a:t>
            </a:r>
            <a:r>
              <a:rPr lang="zh-TW" altLang="en-US" dirty="0" smtClean="0">
                <a:solidFill>
                  <a:schemeClr val="tx1"/>
                </a:solidFill>
                <a:ea typeface="微軟正黑體"/>
              </a:rPr>
              <a:t>例如</a:t>
            </a:r>
            <a:r>
              <a:rPr lang="en-US" altLang="zh-TW" dirty="0" smtClean="0">
                <a:solidFill>
                  <a:schemeClr val="tx1"/>
                </a:solidFill>
                <a:ea typeface="微軟正黑體"/>
              </a:rPr>
              <a:t>ASCII)</a:t>
            </a:r>
            <a:r>
              <a:rPr lang="zh-TW" altLang="en-US" dirty="0" smtClean="0">
                <a:solidFill>
                  <a:schemeClr val="tx1"/>
                </a:solidFill>
                <a:ea typeface="微軟正黑體"/>
              </a:rPr>
              <a:t> 後才能進行運算，因此密碼學就成了一系列的數學問題。</a:t>
            </a:r>
            <a:endParaRPr lang="zh-TW" altLang="en-US" dirty="0">
              <a:solidFill>
                <a:schemeClr val="tx1"/>
              </a:solidFill>
            </a:endParaRPr>
          </a:p>
        </p:txBody>
      </p:sp>
      <p:sp>
        <p:nvSpPr>
          <p:cNvPr id="3" name="標題 2"/>
          <p:cNvSpPr>
            <a:spLocks noGrp="1"/>
          </p:cNvSpPr>
          <p:nvPr>
            <p:ph type="title"/>
          </p:nvPr>
        </p:nvSpPr>
        <p:spPr/>
        <p:txBody>
          <a:bodyPr/>
          <a:lstStyle/>
          <a:p>
            <a:r>
              <a:rPr lang="en-US" altLang="zh-TW" dirty="0" smtClean="0">
                <a:solidFill>
                  <a:srgbClr val="FF0000"/>
                </a:solidFill>
              </a:rPr>
              <a:t>B.</a:t>
            </a:r>
            <a:r>
              <a:rPr lang="zh-TW" altLang="en-US" dirty="0" smtClean="0">
                <a:solidFill>
                  <a:srgbClr val="FF0000"/>
                </a:solidFill>
              </a:rPr>
              <a:t>近代</a:t>
            </a:r>
            <a:r>
              <a:rPr lang="zh-TW" altLang="en-US" dirty="0" smtClean="0"/>
              <a:t>電腦密碼學</a:t>
            </a:r>
            <a:endParaRPr lang="zh-TW" altLang="en-US" dirty="0"/>
          </a:p>
        </p:txBody>
      </p:sp>
      <p:sp>
        <p:nvSpPr>
          <p:cNvPr id="4" name="矩形 3"/>
          <p:cNvSpPr/>
          <p:nvPr/>
        </p:nvSpPr>
        <p:spPr>
          <a:xfrm>
            <a:off x="970160" y="5517747"/>
            <a:ext cx="6912768" cy="360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hlinkClick r:id="rId2"/>
              </a:rPr>
              <a:t>恩格瑪密碼機 </a:t>
            </a:r>
            <a:r>
              <a:rPr lang="en-US" altLang="zh-TW" dirty="0">
                <a:hlinkClick r:id="rId2"/>
              </a:rPr>
              <a:t>https://reurl.cc/K35Yr9</a:t>
            </a:r>
            <a:r>
              <a:rPr lang="zh-TW" altLang="en-US" dirty="0" smtClean="0">
                <a:hlinkClick r:id="rId2"/>
              </a:rPr>
              <a:t>      </a:t>
            </a:r>
            <a:endParaRPr lang="zh-TW" altLang="en-US" dirty="0"/>
          </a:p>
        </p:txBody>
      </p:sp>
      <p:sp>
        <p:nvSpPr>
          <p:cNvPr id="5" name="矩形 4"/>
          <p:cNvSpPr/>
          <p:nvPr/>
        </p:nvSpPr>
        <p:spPr>
          <a:xfrm>
            <a:off x="970160" y="6056382"/>
            <a:ext cx="6912768" cy="360040"/>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hlinkClick r:id="rId3"/>
              </a:rPr>
              <a:t>“恩尼格玛” 密码机是怎样加密的</a:t>
            </a:r>
            <a:r>
              <a:rPr lang="zh-CN" altLang="en-US" b="1" dirty="0" smtClean="0">
                <a:hlinkClick r:id="rId3"/>
              </a:rPr>
              <a:t>？</a:t>
            </a:r>
            <a:endParaRPr lang="zh-CN" altLang="en-US" b="1"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Autofit/>
          </a:bodyPr>
          <a:lstStyle/>
          <a:p>
            <a:pPr>
              <a:spcBef>
                <a:spcPts val="1200"/>
              </a:spcBef>
            </a:pPr>
            <a:r>
              <a:rPr lang="en-US" altLang="zh-TW" sz="2000" dirty="0" smtClean="0"/>
              <a:t>Claude Shannon</a:t>
            </a:r>
            <a:r>
              <a:rPr lang="zh-TW" altLang="en-US" sz="2000" dirty="0" smtClean="0"/>
              <a:t>指出</a:t>
            </a:r>
            <a:r>
              <a:rPr lang="zh-TW" altLang="en-US" sz="2000" dirty="0" smtClean="0">
                <a:solidFill>
                  <a:srgbClr val="FF0000"/>
                </a:solidFill>
              </a:rPr>
              <a:t>傳統加密法最大的問題</a:t>
            </a:r>
            <a:r>
              <a:rPr lang="zh-TW" altLang="en-US" sz="2000" dirty="0" smtClean="0"/>
              <a:t>在於：</a:t>
            </a:r>
            <a:endParaRPr lang="en-US" altLang="zh-TW" sz="2000" dirty="0" smtClean="0"/>
          </a:p>
          <a:p>
            <a:pPr lvl="1">
              <a:spcBef>
                <a:spcPts val="1200"/>
              </a:spcBef>
            </a:pPr>
            <a:r>
              <a:rPr lang="zh-TW" altLang="en-US" dirty="0" smtClean="0">
                <a:solidFill>
                  <a:srgbClr val="0000FF"/>
                </a:solidFill>
              </a:rPr>
              <a:t>金鑰</a:t>
            </a:r>
            <a:r>
              <a:rPr lang="zh-TW" altLang="en-US" dirty="0" smtClean="0"/>
              <a:t>比訊息</a:t>
            </a:r>
            <a:r>
              <a:rPr lang="zh-TW" altLang="en-US" dirty="0" smtClean="0">
                <a:solidFill>
                  <a:srgbClr val="0000FF"/>
                </a:solidFill>
              </a:rPr>
              <a:t>短</a:t>
            </a:r>
            <a:r>
              <a:rPr lang="zh-TW" altLang="en-US" dirty="0" smtClean="0"/>
              <a:t>，而且金鑰可以</a:t>
            </a:r>
            <a:r>
              <a:rPr lang="zh-TW" altLang="en-US" dirty="0" smtClean="0">
                <a:solidFill>
                  <a:srgbClr val="0000FF"/>
                </a:solidFill>
              </a:rPr>
              <a:t>重複使用</a:t>
            </a:r>
            <a:r>
              <a:rPr lang="zh-TW" altLang="en-US" dirty="0" smtClean="0"/>
              <a:t>。</a:t>
            </a:r>
            <a:endParaRPr lang="en-US" altLang="zh-TW" dirty="0" smtClean="0"/>
          </a:p>
          <a:p>
            <a:pPr lvl="1">
              <a:spcBef>
                <a:spcPts val="1200"/>
              </a:spcBef>
            </a:pPr>
            <a:r>
              <a:rPr lang="zh-TW" altLang="en-US" dirty="0" smtClean="0"/>
              <a:t>文字本身透露太多無法隱藏的線索，例如</a:t>
            </a:r>
            <a:r>
              <a:rPr lang="zh-TW" altLang="en-US" dirty="0" smtClean="0">
                <a:solidFill>
                  <a:srgbClr val="0000FF"/>
                </a:solidFill>
              </a:rPr>
              <a:t>字母出現的頻率</a:t>
            </a:r>
            <a:r>
              <a:rPr lang="zh-TW" altLang="en-US" dirty="0" smtClean="0"/>
              <a:t>。</a:t>
            </a:r>
            <a:endParaRPr lang="en-US" altLang="zh-TW" dirty="0" smtClean="0"/>
          </a:p>
          <a:p>
            <a:pPr lvl="1">
              <a:spcBef>
                <a:spcPts val="1200"/>
              </a:spcBef>
            </a:pPr>
            <a:r>
              <a:rPr lang="zh-TW" altLang="en-US" dirty="0" smtClean="0"/>
              <a:t>自然語言具有某種重複性質 ，例如</a:t>
            </a:r>
            <a:r>
              <a:rPr lang="en-US" altLang="zh-TW" dirty="0" smtClean="0"/>
              <a:t> </a:t>
            </a:r>
            <a:r>
              <a:rPr lang="en-US" altLang="zh-TW" dirty="0" smtClean="0">
                <a:solidFill>
                  <a:srgbClr val="0000FF"/>
                </a:solidFill>
              </a:rPr>
              <a:t>‘q’ </a:t>
            </a:r>
            <a:r>
              <a:rPr lang="zh-TW" altLang="en-US" dirty="0" smtClean="0">
                <a:solidFill>
                  <a:srgbClr val="0000FF"/>
                </a:solidFill>
              </a:rPr>
              <a:t>的後面經常跟的是 </a:t>
            </a:r>
            <a:r>
              <a:rPr lang="en-US" altLang="zh-TW" dirty="0" smtClean="0">
                <a:solidFill>
                  <a:srgbClr val="0000FF"/>
                </a:solidFill>
              </a:rPr>
              <a:t>‘u’</a:t>
            </a:r>
            <a:r>
              <a:rPr lang="zh-TW" altLang="en-US" dirty="0" smtClean="0">
                <a:solidFill>
                  <a:srgbClr val="0000FF"/>
                </a:solidFill>
              </a:rPr>
              <a:t> </a:t>
            </a:r>
            <a:r>
              <a:rPr lang="en-US" altLang="zh-TW" dirty="0" smtClean="0"/>
              <a:t>(</a:t>
            </a:r>
            <a:r>
              <a:rPr lang="zh-TW" altLang="en-US" dirty="0" smtClean="0"/>
              <a:t>如</a:t>
            </a:r>
            <a:r>
              <a:rPr lang="en-US" altLang="zh-TW" dirty="0" smtClean="0"/>
              <a:t>queen, quit</a:t>
            </a:r>
            <a:r>
              <a:rPr lang="zh-TW" altLang="en-US" dirty="0" smtClean="0"/>
              <a:t>等</a:t>
            </a:r>
            <a:r>
              <a:rPr lang="en-US" altLang="zh-TW" dirty="0" smtClean="0"/>
              <a:t>)</a:t>
            </a:r>
            <a:r>
              <a:rPr lang="zh-TW" altLang="en-US" dirty="0" smtClean="0"/>
              <a:t>。</a:t>
            </a:r>
            <a:endParaRPr lang="en-US" altLang="zh-TW" dirty="0" smtClean="0"/>
          </a:p>
          <a:p>
            <a:pPr>
              <a:spcBef>
                <a:spcPts val="1200"/>
              </a:spcBef>
            </a:pPr>
            <a:r>
              <a:rPr lang="en-US" altLang="zh-TW" sz="2000" dirty="0" smtClean="0"/>
              <a:t>Shannon </a:t>
            </a:r>
            <a:r>
              <a:rPr lang="zh-TW" altLang="en-US" sz="2000" dirty="0" smtClean="0"/>
              <a:t>指出</a:t>
            </a:r>
            <a:r>
              <a:rPr lang="zh-TW" altLang="en-US" sz="2000" dirty="0" smtClean="0">
                <a:solidFill>
                  <a:srgbClr val="FF0000"/>
                </a:solidFill>
              </a:rPr>
              <a:t>兩項安全的密碼演算法該有的特質</a:t>
            </a:r>
            <a:r>
              <a:rPr lang="zh-TW" altLang="en-US" sz="2000" dirty="0" smtClean="0"/>
              <a:t>：</a:t>
            </a:r>
            <a:endParaRPr lang="en-US" altLang="zh-TW" sz="2000" dirty="0" smtClean="0"/>
          </a:p>
          <a:p>
            <a:pPr lvl="1">
              <a:spcBef>
                <a:spcPts val="1200"/>
              </a:spcBef>
            </a:pPr>
            <a:r>
              <a:rPr lang="zh-TW" altLang="en-US" u="sng" dirty="0" smtClean="0">
                <a:solidFill>
                  <a:srgbClr val="0000FF"/>
                </a:solidFill>
              </a:rPr>
              <a:t>混淆性 </a:t>
            </a:r>
            <a:r>
              <a:rPr lang="en-US" altLang="zh-TW" u="sng" dirty="0" smtClean="0">
                <a:solidFill>
                  <a:srgbClr val="0000FF"/>
                </a:solidFill>
              </a:rPr>
              <a:t>(confusion)</a:t>
            </a:r>
            <a:r>
              <a:rPr lang="zh-TW" altLang="en-US" u="sng" dirty="0" smtClean="0">
                <a:solidFill>
                  <a:srgbClr val="0000FF"/>
                </a:solidFill>
              </a:rPr>
              <a:t> </a:t>
            </a:r>
            <a:r>
              <a:rPr lang="zh-TW" altLang="en-US" dirty="0" smtClean="0"/>
              <a:t>是指儘量讓加密後的密文看起來不像原文，前面討論的許多替換技巧都為了混淆的特質。</a:t>
            </a:r>
            <a:endParaRPr lang="en-US" altLang="zh-TW" dirty="0" smtClean="0"/>
          </a:p>
          <a:p>
            <a:pPr lvl="1">
              <a:spcBef>
                <a:spcPts val="1200"/>
              </a:spcBef>
            </a:pPr>
            <a:r>
              <a:rPr lang="zh-TW" altLang="en-US" u="sng" dirty="0" smtClean="0">
                <a:solidFill>
                  <a:srgbClr val="0000FF"/>
                </a:solidFill>
              </a:rPr>
              <a:t>擴散性 </a:t>
            </a:r>
            <a:r>
              <a:rPr lang="en-US" altLang="zh-TW" u="sng" dirty="0" smtClean="0">
                <a:solidFill>
                  <a:srgbClr val="0000FF"/>
                </a:solidFill>
              </a:rPr>
              <a:t>(diffusion)</a:t>
            </a:r>
            <a:r>
              <a:rPr lang="zh-TW" altLang="en-US" u="sng" dirty="0" smtClean="0">
                <a:solidFill>
                  <a:srgbClr val="0000FF"/>
                </a:solidFill>
              </a:rPr>
              <a:t> </a:t>
            </a:r>
            <a:r>
              <a:rPr lang="zh-TW" altLang="en-US" dirty="0" smtClean="0"/>
              <a:t>是指當原文做任何一點變更，密文都要起巨大的變化。例如在原文裡改任何一個字，整篇的密文都變了。</a:t>
            </a:r>
            <a:endParaRPr lang="zh-TW" altLang="en-US" dirty="0"/>
          </a:p>
        </p:txBody>
      </p:sp>
      <p:sp>
        <p:nvSpPr>
          <p:cNvPr id="3" name="標題 2"/>
          <p:cNvSpPr>
            <a:spLocks noGrp="1"/>
          </p:cNvSpPr>
          <p:nvPr>
            <p:ph type="title"/>
          </p:nvPr>
        </p:nvSpPr>
        <p:spPr/>
        <p:txBody>
          <a:bodyPr/>
          <a:lstStyle/>
          <a:p>
            <a:r>
              <a:rPr lang="en-US" altLang="zh-TW" dirty="0" smtClean="0">
                <a:solidFill>
                  <a:srgbClr val="FF0000"/>
                </a:solidFill>
              </a:rPr>
              <a:t>B. </a:t>
            </a:r>
            <a:r>
              <a:rPr lang="zh-TW" altLang="en-US" dirty="0" smtClean="0">
                <a:solidFill>
                  <a:srgbClr val="FF0000"/>
                </a:solidFill>
              </a:rPr>
              <a:t>安全</a:t>
            </a:r>
            <a:r>
              <a:rPr lang="zh-TW" altLang="en-US" dirty="0" smtClean="0"/>
              <a:t>的密碼演算法</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en-US" altLang="zh-TW" dirty="0"/>
              <a:t>B. </a:t>
            </a:r>
            <a:r>
              <a:rPr lang="zh-TW" altLang="en-US" dirty="0"/>
              <a:t>加密演算法</a:t>
            </a:r>
            <a:r>
              <a:rPr lang="zh-TW" altLang="en-US" dirty="0" smtClean="0"/>
              <a:t>常用轉換</a:t>
            </a:r>
            <a:r>
              <a:rPr lang="zh-TW" altLang="en-US" dirty="0" smtClean="0"/>
              <a:t>技巧</a:t>
            </a:r>
            <a:r>
              <a:rPr lang="en-US" altLang="zh-TW" dirty="0" smtClean="0"/>
              <a:t>(</a:t>
            </a:r>
            <a:r>
              <a:rPr lang="zh-TW" altLang="en-US" dirty="0" smtClean="0"/>
              <a:t>近代也是</a:t>
            </a:r>
            <a:r>
              <a:rPr lang="en-US" altLang="zh-TW" dirty="0" smtClean="0"/>
              <a:t>)</a:t>
            </a:r>
            <a:endParaRPr lang="zh-TW" altLang="en-US" dirty="0"/>
          </a:p>
        </p:txBody>
      </p:sp>
      <p:sp>
        <p:nvSpPr>
          <p:cNvPr id="4" name="內容版面配置區 3"/>
          <p:cNvSpPr>
            <a:spLocks noGrp="1"/>
          </p:cNvSpPr>
          <p:nvPr>
            <p:ph sz="half" idx="1"/>
          </p:nvPr>
        </p:nvSpPr>
        <p:spPr>
          <a:xfrm>
            <a:off x="285720" y="1285860"/>
            <a:ext cx="4000528" cy="5572140"/>
          </a:xfrm>
        </p:spPr>
        <p:txBody>
          <a:bodyPr>
            <a:normAutofit/>
          </a:bodyPr>
          <a:lstStyle/>
          <a:p>
            <a:r>
              <a:rPr lang="zh-TW" altLang="en-US" dirty="0" smtClean="0">
                <a:solidFill>
                  <a:srgbClr val="0000FF"/>
                </a:solidFill>
              </a:rPr>
              <a:t>替換</a:t>
            </a:r>
            <a:r>
              <a:rPr lang="zh-TW" altLang="en-US" dirty="0" smtClean="0"/>
              <a:t> </a:t>
            </a:r>
            <a:r>
              <a:rPr lang="en-US" altLang="zh-TW" dirty="0" smtClean="0"/>
              <a:t>(substitution)</a:t>
            </a:r>
          </a:p>
          <a:p>
            <a:pPr lvl="1"/>
            <a:r>
              <a:rPr lang="zh-TW" altLang="en-US" dirty="0" smtClean="0"/>
              <a:t>將一個值換成另一個值，是提供混淆特質的主要技巧。</a:t>
            </a:r>
            <a:endParaRPr lang="en-US" altLang="zh-TW" dirty="0" smtClean="0"/>
          </a:p>
          <a:p>
            <a:r>
              <a:rPr lang="zh-TW" altLang="en-US" dirty="0" smtClean="0"/>
              <a:t>位移或</a:t>
            </a:r>
            <a:r>
              <a:rPr lang="zh-TW" altLang="en-US" dirty="0" smtClean="0">
                <a:solidFill>
                  <a:srgbClr val="0000FF"/>
                </a:solidFill>
              </a:rPr>
              <a:t>排列</a:t>
            </a:r>
            <a:r>
              <a:rPr lang="zh-TW" altLang="en-US" dirty="0" smtClean="0"/>
              <a:t> </a:t>
            </a:r>
            <a:r>
              <a:rPr lang="en-US" altLang="zh-TW" dirty="0" smtClean="0"/>
              <a:t>(permutation)</a:t>
            </a:r>
          </a:p>
          <a:p>
            <a:pPr lvl="1"/>
            <a:r>
              <a:rPr lang="zh-TW" altLang="en-US" dirty="0" smtClean="0"/>
              <a:t>不改變值，只改變彼此相對位置。</a:t>
            </a:r>
            <a:endParaRPr lang="en-US" altLang="zh-TW" dirty="0" smtClean="0"/>
          </a:p>
          <a:p>
            <a:r>
              <a:rPr lang="zh-TW" altLang="en-US" dirty="0" smtClean="0"/>
              <a:t>擴張 </a:t>
            </a:r>
            <a:r>
              <a:rPr lang="en-US" altLang="zh-TW" dirty="0" smtClean="0"/>
              <a:t>(expansion)</a:t>
            </a:r>
          </a:p>
          <a:p>
            <a:pPr lvl="1"/>
            <a:r>
              <a:rPr lang="zh-TW" altLang="en-US" dirty="0" smtClean="0"/>
              <a:t>複製部分資料內容以擴張長度，通常是為了配合金鑰的長度。</a:t>
            </a:r>
            <a:endParaRPr lang="en-US" altLang="zh-TW" dirty="0" smtClean="0"/>
          </a:p>
          <a:p>
            <a:r>
              <a:rPr lang="zh-TW" altLang="en-US" dirty="0" smtClean="0">
                <a:solidFill>
                  <a:srgbClr val="0000FF"/>
                </a:solidFill>
              </a:rPr>
              <a:t>墊塞</a:t>
            </a:r>
            <a:r>
              <a:rPr lang="zh-TW" altLang="en-US" dirty="0" smtClean="0"/>
              <a:t> </a:t>
            </a:r>
            <a:r>
              <a:rPr lang="en-US" altLang="zh-TW" dirty="0" smtClean="0"/>
              <a:t>(padding)</a:t>
            </a:r>
          </a:p>
          <a:p>
            <a:pPr lvl="1"/>
            <a:r>
              <a:rPr lang="zh-TW" altLang="en-US" dirty="0" smtClean="0"/>
              <a:t>當密文過短時，在加密前增加一些額外的材料進資料中。</a:t>
            </a:r>
            <a:endParaRPr lang="en-US" altLang="zh-TW" dirty="0" smtClean="0"/>
          </a:p>
          <a:p>
            <a:pPr lvl="1"/>
            <a:endParaRPr lang="zh-TW" altLang="en-US" dirty="0"/>
          </a:p>
        </p:txBody>
      </p:sp>
      <p:sp>
        <p:nvSpPr>
          <p:cNvPr id="5" name="內容版面配置區 4"/>
          <p:cNvSpPr>
            <a:spLocks noGrp="1"/>
          </p:cNvSpPr>
          <p:nvPr>
            <p:ph sz="half" idx="2"/>
          </p:nvPr>
        </p:nvSpPr>
        <p:spPr/>
        <p:txBody>
          <a:bodyPr>
            <a:normAutofit/>
          </a:bodyPr>
          <a:lstStyle/>
          <a:p>
            <a:r>
              <a:rPr lang="zh-TW" altLang="en-US" dirty="0" smtClean="0"/>
              <a:t>壓縮 </a:t>
            </a:r>
            <a:r>
              <a:rPr lang="en-US" altLang="zh-TW" dirty="0" smtClean="0"/>
              <a:t>(compression)</a:t>
            </a:r>
          </a:p>
          <a:p>
            <a:pPr lvl="1"/>
            <a:r>
              <a:rPr lang="zh-TW" altLang="en-US" dirty="0" smtClean="0"/>
              <a:t>在加密前減少資料的重複性。</a:t>
            </a:r>
            <a:r>
              <a:rPr lang="en-US" altLang="zh-TW" dirty="0" smtClean="0"/>
              <a:t>【</a:t>
            </a:r>
            <a:r>
              <a:rPr lang="zh-TW" altLang="en-US" dirty="0" smtClean="0"/>
              <a:t>討論：如果要縮小一個加密檔案，應該先壓縮再加密，還是先加密再壓縮？為什麼？</a:t>
            </a:r>
            <a:r>
              <a:rPr lang="en-US" altLang="zh-TW" dirty="0" smtClean="0"/>
              <a:t>】</a:t>
            </a:r>
          </a:p>
          <a:p>
            <a:r>
              <a:rPr lang="zh-TW" altLang="en-US" dirty="0" smtClean="0"/>
              <a:t>金鑰混合 </a:t>
            </a:r>
            <a:r>
              <a:rPr lang="en-US" altLang="zh-TW" dirty="0" smtClean="0"/>
              <a:t>(key mixing)</a:t>
            </a:r>
          </a:p>
          <a:p>
            <a:pPr lvl="1"/>
            <a:r>
              <a:rPr lang="zh-TW" altLang="en-US" dirty="0" smtClean="0"/>
              <a:t>使用</a:t>
            </a:r>
            <a:r>
              <a:rPr lang="zh-TW" altLang="en-US" dirty="0" smtClean="0">
                <a:solidFill>
                  <a:srgbClr val="FF0000"/>
                </a:solidFill>
              </a:rPr>
              <a:t>由金鑰衍生出的次金鑰 </a:t>
            </a:r>
            <a:r>
              <a:rPr lang="en-US" altLang="zh-TW" dirty="0" smtClean="0"/>
              <a:t>(sub-key) </a:t>
            </a:r>
            <a:r>
              <a:rPr lang="zh-TW" altLang="en-US" dirty="0" smtClean="0">
                <a:solidFill>
                  <a:srgbClr val="FF0000"/>
                </a:solidFill>
              </a:rPr>
              <a:t>做分段加密</a:t>
            </a:r>
            <a:r>
              <a:rPr lang="zh-TW" altLang="en-US" dirty="0" smtClean="0"/>
              <a:t>，</a:t>
            </a:r>
            <a:r>
              <a:rPr lang="zh-TW" altLang="en-US" dirty="0" smtClean="0">
                <a:solidFill>
                  <a:srgbClr val="0000FF"/>
                </a:solidFill>
              </a:rPr>
              <a:t>可避免因同一金鑰重複使用</a:t>
            </a:r>
            <a:r>
              <a:rPr lang="zh-TW" altLang="en-US" dirty="0" smtClean="0"/>
              <a:t>產生之加密規律。</a:t>
            </a:r>
            <a:endParaRPr lang="en-US" altLang="zh-TW" dirty="0" smtClean="0"/>
          </a:p>
          <a:p>
            <a:r>
              <a:rPr lang="zh-TW" altLang="en-US" dirty="0" smtClean="0">
                <a:solidFill>
                  <a:srgbClr val="0000FF"/>
                </a:solidFill>
              </a:rPr>
              <a:t>初始向量 </a:t>
            </a:r>
            <a:r>
              <a:rPr lang="en-US" altLang="zh-TW" dirty="0" smtClean="0"/>
              <a:t>(initiation vectors, IV)</a:t>
            </a:r>
          </a:p>
          <a:p>
            <a:pPr lvl="1"/>
            <a:r>
              <a:rPr lang="zh-TW" altLang="en-US" dirty="0" smtClean="0"/>
              <a:t>當同一把金鑰被重複使用來產生多個密文時，</a:t>
            </a:r>
            <a:r>
              <a:rPr lang="zh-TW" altLang="en-US" dirty="0" smtClean="0">
                <a:solidFill>
                  <a:srgbClr val="0000FF"/>
                </a:solidFill>
              </a:rPr>
              <a:t>隨機取得的 </a:t>
            </a:r>
            <a:r>
              <a:rPr lang="en-US" altLang="zh-TW" dirty="0" smtClean="0">
                <a:solidFill>
                  <a:srgbClr val="0000FF"/>
                </a:solidFill>
              </a:rPr>
              <a:t>IV</a:t>
            </a:r>
            <a:r>
              <a:rPr lang="zh-TW" altLang="en-US" dirty="0" smtClean="0">
                <a:solidFill>
                  <a:srgbClr val="0000FF"/>
                </a:solidFill>
              </a:rPr>
              <a:t> </a:t>
            </a:r>
            <a:r>
              <a:rPr lang="zh-TW" altLang="en-US" dirty="0" smtClean="0"/>
              <a:t>可確保各密文的唯一性。</a:t>
            </a:r>
            <a:endParaRPr lang="en-US" altLang="zh-TW" dirty="0" smtClean="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000108"/>
            <a:ext cx="8215370" cy="5455628"/>
          </a:xfrm>
        </p:spPr>
        <p:txBody>
          <a:bodyPr>
            <a:normAutofit fontScale="92500" lnSpcReduction="20000"/>
          </a:bodyPr>
          <a:lstStyle/>
          <a:p>
            <a:r>
              <a:rPr lang="zh-TW" altLang="en-US" dirty="0" smtClean="0">
                <a:solidFill>
                  <a:srgbClr val="FF0000"/>
                </a:solidFill>
                <a:latin typeface="標楷體" panose="03000509000000000000" pitchFamily="65" charset="-120"/>
                <a:ea typeface="標楷體" panose="03000509000000000000" pitchFamily="65" charset="-120"/>
              </a:rPr>
              <a:t>以方式區分</a:t>
            </a:r>
            <a:endParaRPr lang="en-US" altLang="zh-TW" dirty="0" smtClean="0">
              <a:solidFill>
                <a:srgbClr val="FF0000"/>
              </a:solidFill>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串流密碼</a:t>
            </a:r>
            <a:r>
              <a:rPr lang="en-US" altLang="zh-TW" dirty="0" smtClean="0">
                <a:latin typeface="標楷體" panose="03000509000000000000" pitchFamily="65" charset="-120"/>
                <a:ea typeface="標楷體" panose="03000509000000000000" pitchFamily="65" charset="-120"/>
              </a:rPr>
              <a:t>Stream cipher</a:t>
            </a:r>
            <a:endParaRPr lang="en-US" altLang="zh-TW" dirty="0">
              <a:latin typeface="標楷體" panose="03000509000000000000" pitchFamily="65" charset="-120"/>
              <a:ea typeface="標楷體" panose="03000509000000000000" pitchFamily="65" charset="-120"/>
            </a:endParaRPr>
          </a:p>
          <a:p>
            <a:pPr lvl="1"/>
            <a:r>
              <a:rPr lang="zh-TW" altLang="en-US" dirty="0">
                <a:latin typeface="標楷體" panose="03000509000000000000" pitchFamily="65" charset="-120"/>
                <a:ea typeface="標楷體" panose="03000509000000000000" pitchFamily="65" charset="-120"/>
              </a:rPr>
              <a:t>區塊密碼</a:t>
            </a:r>
            <a:r>
              <a:rPr lang="en-US" altLang="zh-TW" dirty="0">
                <a:latin typeface="標楷體" panose="03000509000000000000" pitchFamily="65" charset="-120"/>
                <a:ea typeface="標楷體" panose="03000509000000000000" pitchFamily="65" charset="-120"/>
              </a:rPr>
              <a:t>Block </a:t>
            </a:r>
            <a:r>
              <a:rPr lang="en-US" altLang="zh-TW" dirty="0" smtClean="0">
                <a:latin typeface="標楷體" panose="03000509000000000000" pitchFamily="65" charset="-120"/>
                <a:ea typeface="標楷體" panose="03000509000000000000" pitchFamily="65" charset="-120"/>
              </a:rPr>
              <a:t>cipher</a:t>
            </a:r>
          </a:p>
          <a:p>
            <a:pPr lvl="2"/>
            <a:r>
              <a:rPr lang="zh-TW" altLang="en-US" dirty="0" smtClean="0">
                <a:solidFill>
                  <a:srgbClr val="0000FF"/>
                </a:solidFill>
                <a:latin typeface="標楷體" panose="03000509000000000000" pitchFamily="65" charset="-120"/>
                <a:ea typeface="標楷體" panose="03000509000000000000" pitchFamily="65" charset="-120"/>
              </a:rPr>
              <a:t>每次加密固定長度的明文</a:t>
            </a:r>
            <a:r>
              <a:rPr lang="en-US" altLang="zh-TW" dirty="0" smtClean="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不可超過金鑰的長度</a:t>
            </a:r>
            <a:r>
              <a:rPr lang="en-US" altLang="zh-TW" dirty="0" smtClean="0">
                <a:latin typeface="標楷體" panose="03000509000000000000" pitchFamily="65" charset="-120"/>
                <a:ea typeface="標楷體" panose="03000509000000000000" pitchFamily="65" charset="-120"/>
              </a:rPr>
              <a:t>)</a:t>
            </a:r>
            <a:endParaRPr lang="en-US" altLang="zh-TW" dirty="0">
              <a:latin typeface="標楷體" panose="03000509000000000000" pitchFamily="65" charset="-120"/>
              <a:ea typeface="標楷體" panose="03000509000000000000" pitchFamily="65" charset="-120"/>
            </a:endParaRPr>
          </a:p>
          <a:p>
            <a:r>
              <a:rPr lang="zh-TW" altLang="en-US" dirty="0" smtClean="0">
                <a:solidFill>
                  <a:srgbClr val="FF0000"/>
                </a:solidFill>
                <a:latin typeface="標楷體" panose="03000509000000000000" pitchFamily="65" charset="-120"/>
                <a:ea typeface="標楷體" panose="03000509000000000000" pitchFamily="65" charset="-120"/>
              </a:rPr>
              <a:t>以使用金鑰區分</a:t>
            </a:r>
            <a:endParaRPr lang="en-US" altLang="zh-TW" dirty="0" smtClean="0">
              <a:solidFill>
                <a:srgbClr val="FF0000"/>
              </a:solidFill>
              <a:latin typeface="標楷體" panose="03000509000000000000" pitchFamily="65" charset="-120"/>
              <a:ea typeface="標楷體" panose="03000509000000000000" pitchFamily="65" charset="-120"/>
            </a:endParaRPr>
          </a:p>
          <a:p>
            <a:pPr lvl="1"/>
            <a:r>
              <a:rPr lang="zh-TW" altLang="en-US" b="1" dirty="0" smtClean="0">
                <a:solidFill>
                  <a:srgbClr val="0000FF"/>
                </a:solidFill>
                <a:latin typeface="標楷體" panose="03000509000000000000" pitchFamily="65" charset="-120"/>
                <a:ea typeface="標楷體" panose="03000509000000000000" pitchFamily="65" charset="-120"/>
              </a:rPr>
              <a:t>對稱式</a:t>
            </a:r>
            <a:r>
              <a:rPr lang="zh-TW" altLang="en-US" b="1" dirty="0" smtClean="0">
                <a:latin typeface="標楷體" panose="03000509000000000000" pitchFamily="65" charset="-120"/>
                <a:ea typeface="標楷體" panose="03000509000000000000" pitchFamily="65" charset="-120"/>
              </a:rPr>
              <a:t>加解密</a:t>
            </a:r>
            <a:r>
              <a:rPr lang="en-US" altLang="zh-TW" b="1" dirty="0" smtClean="0">
                <a:latin typeface="標楷體" panose="03000509000000000000" pitchFamily="65" charset="-120"/>
                <a:ea typeface="標楷體" panose="03000509000000000000" pitchFamily="65" charset="-120"/>
              </a:rPr>
              <a:t>Symmetric cipher</a:t>
            </a:r>
          </a:p>
          <a:p>
            <a:pPr lvl="2"/>
            <a:r>
              <a:rPr lang="zh-TW" altLang="en-US" dirty="0" smtClean="0">
                <a:latin typeface="標楷體" panose="03000509000000000000" pitchFamily="65" charset="-120"/>
                <a:ea typeface="標楷體" panose="03000509000000000000" pitchFamily="65" charset="-120"/>
              </a:rPr>
              <a:t>加解密使用</a:t>
            </a:r>
            <a:r>
              <a:rPr lang="zh-TW" altLang="en-US" dirty="0" smtClean="0">
                <a:solidFill>
                  <a:srgbClr val="FF00FF"/>
                </a:solidFill>
                <a:latin typeface="標楷體" panose="03000509000000000000" pitchFamily="65" charset="-120"/>
                <a:ea typeface="標楷體" panose="03000509000000000000" pitchFamily="65" charset="-120"/>
              </a:rPr>
              <a:t>同一把金鑰</a:t>
            </a:r>
            <a:r>
              <a:rPr lang="en-US" altLang="zh-TW"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互為</a:t>
            </a:r>
            <a:r>
              <a:rPr lang="zh-TW" altLang="en-US" dirty="0" smtClean="0">
                <a:latin typeface="標楷體" panose="03000509000000000000" pitchFamily="65" charset="-120"/>
                <a:ea typeface="標楷體" panose="03000509000000000000" pitchFamily="65" charset="-120"/>
              </a:rPr>
              <a:t>逆運算</a:t>
            </a:r>
            <a:r>
              <a:rPr lang="en-US" altLang="zh-TW" dirty="0" smtClean="0">
                <a:latin typeface="標楷體" panose="03000509000000000000" pitchFamily="65" charset="-120"/>
                <a:ea typeface="標楷體" panose="03000509000000000000" pitchFamily="65" charset="-120"/>
              </a:rPr>
              <a:t>)</a:t>
            </a:r>
          </a:p>
          <a:p>
            <a:pPr lvl="2"/>
            <a:r>
              <a:rPr lang="zh-TW" altLang="en-US" dirty="0" smtClean="0">
                <a:solidFill>
                  <a:srgbClr val="FF00FF"/>
                </a:solidFill>
                <a:latin typeface="標楷體" panose="03000509000000000000" pitchFamily="65" charset="-120"/>
                <a:ea typeface="標楷體" panose="03000509000000000000" pitchFamily="65" charset="-120"/>
              </a:rPr>
              <a:t>加</a:t>
            </a:r>
            <a:r>
              <a:rPr lang="zh-TW" altLang="en-US" dirty="0">
                <a:solidFill>
                  <a:srgbClr val="FF00FF"/>
                </a:solidFill>
                <a:latin typeface="標楷體" panose="03000509000000000000" pitchFamily="65" charset="-120"/>
                <a:ea typeface="標楷體" panose="03000509000000000000" pitchFamily="65" charset="-120"/>
              </a:rPr>
              <a:t>解</a:t>
            </a:r>
            <a:r>
              <a:rPr lang="zh-TW" altLang="en-US" dirty="0" smtClean="0">
                <a:solidFill>
                  <a:srgbClr val="FF00FF"/>
                </a:solidFill>
                <a:latin typeface="標楷體" panose="03000509000000000000" pitchFamily="65" charset="-120"/>
                <a:ea typeface="標楷體" panose="03000509000000000000" pitchFamily="65" charset="-120"/>
              </a:rPr>
              <a:t>密速度快</a:t>
            </a:r>
            <a:r>
              <a:rPr lang="zh-TW" altLang="en-US"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強度很</a:t>
            </a:r>
            <a:r>
              <a:rPr lang="zh-TW" altLang="en-US" dirty="0" smtClean="0">
                <a:latin typeface="標楷體" panose="03000509000000000000" pitchFamily="65" charset="-120"/>
                <a:ea typeface="標楷體" panose="03000509000000000000" pitchFamily="65" charset="-120"/>
              </a:rPr>
              <a:t>高</a:t>
            </a:r>
            <a:endParaRPr lang="en-US" altLang="zh-TW" dirty="0" smtClean="0">
              <a:latin typeface="標楷體" panose="03000509000000000000" pitchFamily="65" charset="-120"/>
              <a:ea typeface="標楷體" panose="03000509000000000000" pitchFamily="65" charset="-120"/>
            </a:endParaRPr>
          </a:p>
          <a:p>
            <a:pPr lvl="1"/>
            <a:r>
              <a:rPr lang="zh-TW" altLang="en-US" b="1" dirty="0" smtClean="0">
                <a:solidFill>
                  <a:srgbClr val="0000FF"/>
                </a:solidFill>
                <a:latin typeface="標楷體" panose="03000509000000000000" pitchFamily="65" charset="-120"/>
                <a:ea typeface="標楷體" panose="03000509000000000000" pitchFamily="65" charset="-120"/>
              </a:rPr>
              <a:t>非對稱</a:t>
            </a:r>
            <a:r>
              <a:rPr lang="zh-TW" altLang="en-US" b="1" dirty="0">
                <a:solidFill>
                  <a:srgbClr val="0000FF"/>
                </a:solidFill>
                <a:latin typeface="標楷體" panose="03000509000000000000" pitchFamily="65" charset="-120"/>
                <a:ea typeface="標楷體" panose="03000509000000000000" pitchFamily="65" charset="-120"/>
              </a:rPr>
              <a:t>式</a:t>
            </a:r>
            <a:r>
              <a:rPr lang="zh-TW" altLang="en-US" b="1" dirty="0">
                <a:latin typeface="標楷體" panose="03000509000000000000" pitchFamily="65" charset="-120"/>
                <a:ea typeface="標楷體" panose="03000509000000000000" pitchFamily="65" charset="-120"/>
              </a:rPr>
              <a:t>加解</a:t>
            </a:r>
            <a:r>
              <a:rPr lang="zh-TW" altLang="en-US" b="1" dirty="0" smtClean="0">
                <a:latin typeface="標楷體" panose="03000509000000000000" pitchFamily="65" charset="-120"/>
                <a:ea typeface="標楷體" panose="03000509000000000000" pitchFamily="65" charset="-120"/>
              </a:rPr>
              <a:t>密</a:t>
            </a:r>
            <a:r>
              <a:rPr lang="en-US" altLang="zh-TW" b="1" dirty="0" smtClean="0">
                <a:solidFill>
                  <a:srgbClr val="0000FF"/>
                </a:solidFill>
                <a:latin typeface="標楷體" panose="03000509000000000000" pitchFamily="65" charset="-120"/>
                <a:ea typeface="標楷體" panose="03000509000000000000" pitchFamily="65" charset="-120"/>
              </a:rPr>
              <a:t>A</a:t>
            </a:r>
            <a:r>
              <a:rPr lang="en-US" altLang="zh-TW" b="1" dirty="0" smtClean="0">
                <a:latin typeface="標楷體" panose="03000509000000000000" pitchFamily="65" charset="-120"/>
                <a:ea typeface="標楷體" panose="03000509000000000000" pitchFamily="65" charset="-120"/>
              </a:rPr>
              <a:t>symmetric </a:t>
            </a:r>
            <a:r>
              <a:rPr lang="en-US" altLang="zh-TW" b="1" dirty="0">
                <a:latin typeface="標楷體" panose="03000509000000000000" pitchFamily="65" charset="-120"/>
                <a:ea typeface="標楷體" panose="03000509000000000000" pitchFamily="65" charset="-120"/>
              </a:rPr>
              <a:t>cipher</a:t>
            </a:r>
            <a:endParaRPr lang="zh-TW" altLang="en-US" b="1" dirty="0">
              <a:latin typeface="標楷體" panose="03000509000000000000" pitchFamily="65" charset="-120"/>
              <a:ea typeface="標楷體" panose="03000509000000000000" pitchFamily="65" charset="-120"/>
            </a:endParaRPr>
          </a:p>
          <a:p>
            <a:pPr lvl="2"/>
            <a:r>
              <a:rPr lang="zh-TW" altLang="en-US" dirty="0" smtClean="0">
                <a:solidFill>
                  <a:srgbClr val="FF00FF"/>
                </a:solidFill>
                <a:latin typeface="標楷體" panose="03000509000000000000" pitchFamily="65" charset="-120"/>
                <a:ea typeface="標楷體" panose="03000509000000000000" pitchFamily="65" charset="-120"/>
              </a:rPr>
              <a:t>有公、私鑰兩把</a:t>
            </a:r>
            <a:r>
              <a:rPr lang="en-US" altLang="zh-TW" dirty="0" smtClean="0">
                <a:solidFill>
                  <a:srgbClr val="FF00FF"/>
                </a:solidFill>
                <a:latin typeface="標楷體" panose="03000509000000000000" pitchFamily="65" charset="-120"/>
                <a:ea typeface="標楷體" panose="03000509000000000000" pitchFamily="65" charset="-120"/>
              </a:rPr>
              <a:t>key</a:t>
            </a:r>
            <a:r>
              <a:rPr lang="zh-TW" altLang="en-US" dirty="0" smtClean="0">
                <a:solidFill>
                  <a:srgbClr val="FF00FF"/>
                </a:solidFill>
                <a:latin typeface="標楷體" panose="03000509000000000000" pitchFamily="65" charset="-120"/>
                <a:ea typeface="標楷體" panose="03000509000000000000" pitchFamily="65" charset="-120"/>
              </a:rPr>
              <a:t>（成對）</a:t>
            </a:r>
            <a:r>
              <a:rPr lang="zh-TW" altLang="en-US" dirty="0" smtClean="0">
                <a:latin typeface="標楷體" panose="03000509000000000000" pitchFamily="65" charset="-120"/>
                <a:ea typeface="標楷體" panose="03000509000000000000" pitchFamily="65" charset="-120"/>
              </a:rPr>
              <a:t>，經特殊演算法導出公私鑰對，加解密用不同把</a:t>
            </a:r>
            <a:r>
              <a:rPr lang="en-US" altLang="zh-TW" dirty="0" smtClean="0">
                <a:latin typeface="標楷體" panose="03000509000000000000" pitchFamily="65" charset="-120"/>
                <a:ea typeface="標楷體" panose="03000509000000000000" pitchFamily="65" charset="-120"/>
              </a:rPr>
              <a:t>key</a:t>
            </a:r>
            <a:endParaRPr lang="en-US" altLang="zh-TW" dirty="0">
              <a:latin typeface="標楷體" panose="03000509000000000000" pitchFamily="65" charset="-120"/>
              <a:ea typeface="標楷體" panose="03000509000000000000" pitchFamily="65" charset="-120"/>
            </a:endParaRPr>
          </a:p>
          <a:p>
            <a:pPr lvl="2"/>
            <a:r>
              <a:rPr lang="zh-TW" altLang="en-US" dirty="0" smtClean="0">
                <a:solidFill>
                  <a:srgbClr val="FF00FF"/>
                </a:solidFill>
                <a:latin typeface="標楷體" panose="03000509000000000000" pitchFamily="65" charset="-120"/>
                <a:ea typeface="標楷體" panose="03000509000000000000" pitchFamily="65" charset="-120"/>
              </a:rPr>
              <a:t>加解密速度慢</a:t>
            </a:r>
            <a:endParaRPr lang="en-US" altLang="zh-TW" dirty="0" smtClean="0">
              <a:solidFill>
                <a:srgbClr val="FF00FF"/>
              </a:solidFill>
              <a:latin typeface="標楷體" panose="03000509000000000000" pitchFamily="65" charset="-120"/>
              <a:ea typeface="標楷體" panose="03000509000000000000" pitchFamily="65" charset="-120"/>
            </a:endParaRPr>
          </a:p>
          <a:p>
            <a:pPr lvl="2"/>
            <a:r>
              <a:rPr lang="zh-TW" altLang="en-US" dirty="0" smtClean="0">
                <a:solidFill>
                  <a:srgbClr val="FF00FF"/>
                </a:solidFill>
                <a:latin typeface="標楷體" panose="03000509000000000000" pitchFamily="65" charset="-120"/>
                <a:ea typeface="標楷體" panose="03000509000000000000" pitchFamily="65" charset="-120"/>
              </a:rPr>
              <a:t>可提供來源證明</a:t>
            </a:r>
            <a:r>
              <a:rPr lang="en-US" altLang="zh-TW" dirty="0" smtClean="0">
                <a:solidFill>
                  <a:srgbClr val="FF00FF"/>
                </a:solidFill>
                <a:latin typeface="標楷體" panose="03000509000000000000" pitchFamily="65" charset="-120"/>
                <a:ea typeface="標楷體" panose="03000509000000000000" pitchFamily="65" charset="-120"/>
              </a:rPr>
              <a:t>(proof of origin)/</a:t>
            </a:r>
            <a:r>
              <a:rPr lang="zh-TW" altLang="en-US" dirty="0" smtClean="0">
                <a:solidFill>
                  <a:srgbClr val="FF00FF"/>
                </a:solidFill>
                <a:latin typeface="標楷體" panose="03000509000000000000" pitchFamily="65" charset="-120"/>
                <a:ea typeface="標楷體" panose="03000509000000000000" pitchFamily="65" charset="-120"/>
              </a:rPr>
              <a:t>數位簽章</a:t>
            </a:r>
            <a:r>
              <a:rPr lang="en-US" altLang="zh-TW" dirty="0" smtClean="0">
                <a:solidFill>
                  <a:srgbClr val="FF00FF"/>
                </a:solidFill>
                <a:latin typeface="標楷體" panose="03000509000000000000" pitchFamily="65" charset="-120"/>
                <a:ea typeface="標楷體" panose="03000509000000000000" pitchFamily="65" charset="-120"/>
              </a:rPr>
              <a:t>(Digital signature)</a:t>
            </a:r>
          </a:p>
          <a:p>
            <a:pPr lvl="2"/>
            <a:endParaRPr lang="zh-TW" altLang="en-US" dirty="0">
              <a:latin typeface="標楷體" panose="03000509000000000000" pitchFamily="65" charset="-120"/>
              <a:ea typeface="標楷體" panose="03000509000000000000" pitchFamily="65" charset="-120"/>
            </a:endParaRPr>
          </a:p>
        </p:txBody>
      </p:sp>
      <p:sp>
        <p:nvSpPr>
          <p:cNvPr id="3" name="標題 2"/>
          <p:cNvSpPr>
            <a:spLocks noGrp="1"/>
          </p:cNvSpPr>
          <p:nvPr>
            <p:ph type="title"/>
          </p:nvPr>
        </p:nvSpPr>
        <p:spPr>
          <a:xfrm>
            <a:off x="285720" y="307504"/>
            <a:ext cx="8215370" cy="680068"/>
          </a:xfrm>
        </p:spPr>
        <p:txBody>
          <a:bodyPr/>
          <a:lstStyle/>
          <a:p>
            <a:pPr algn="ctr"/>
            <a:r>
              <a:rPr lang="en-US" altLang="zh-TW" dirty="0" smtClean="0">
                <a:solidFill>
                  <a:srgbClr val="FF0000"/>
                </a:solidFill>
                <a:latin typeface="標楷體" panose="03000509000000000000" pitchFamily="65" charset="-120"/>
                <a:ea typeface="標楷體" panose="03000509000000000000" pitchFamily="65" charset="-120"/>
              </a:rPr>
              <a:t>B.</a:t>
            </a:r>
            <a:r>
              <a:rPr lang="zh-TW" altLang="en-US" dirty="0" smtClean="0">
                <a:solidFill>
                  <a:srgbClr val="FF0000"/>
                </a:solidFill>
                <a:latin typeface="標楷體" panose="03000509000000000000" pitchFamily="65" charset="-120"/>
                <a:ea typeface="標楷體" panose="03000509000000000000" pitchFamily="65" charset="-120"/>
              </a:rPr>
              <a:t>加解密以兩個角度來區分</a:t>
            </a:r>
            <a:endParaRPr lang="zh-TW" altLang="en-US" dirty="0">
              <a:solidFill>
                <a:srgbClr val="FF0000"/>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92462977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5" name="內容版面配置區 24"/>
          <p:cNvGraphicFramePr>
            <a:graphicFrameLocks noGrp="1"/>
          </p:cNvGraphicFramePr>
          <p:nvPr>
            <p:ph idx="1"/>
          </p:nvPr>
        </p:nvGraphicFramePr>
        <p:xfrm>
          <a:off x="6643702" y="4056726"/>
          <a:ext cx="1428760" cy="1341120"/>
        </p:xfrm>
        <a:graphic>
          <a:graphicData uri="http://schemas.openxmlformats.org/drawingml/2006/table">
            <a:tbl>
              <a:tblPr firstRow="1" bandRow="1">
                <a:tableStyleId>{5940675A-B579-460E-94D1-54222C63F5DA}</a:tableStyleId>
              </a:tblPr>
              <a:tblGrid>
                <a:gridCol w="357190">
                  <a:extLst>
                    <a:ext uri="{9D8B030D-6E8A-4147-A177-3AD203B41FA5}">
                      <a16:colId xmlns:a16="http://schemas.microsoft.com/office/drawing/2014/main" val="20000"/>
                    </a:ext>
                  </a:extLst>
                </a:gridCol>
                <a:gridCol w="357190">
                  <a:extLst>
                    <a:ext uri="{9D8B030D-6E8A-4147-A177-3AD203B41FA5}">
                      <a16:colId xmlns:a16="http://schemas.microsoft.com/office/drawing/2014/main" val="20001"/>
                    </a:ext>
                  </a:extLst>
                </a:gridCol>
                <a:gridCol w="357190">
                  <a:extLst>
                    <a:ext uri="{9D8B030D-6E8A-4147-A177-3AD203B41FA5}">
                      <a16:colId xmlns:a16="http://schemas.microsoft.com/office/drawing/2014/main" val="20002"/>
                    </a:ext>
                  </a:extLst>
                </a:gridCol>
                <a:gridCol w="357190">
                  <a:extLst>
                    <a:ext uri="{9D8B030D-6E8A-4147-A177-3AD203B41FA5}">
                      <a16:colId xmlns:a16="http://schemas.microsoft.com/office/drawing/2014/main" val="20003"/>
                    </a:ext>
                  </a:extLst>
                </a:gridCol>
              </a:tblGrid>
              <a:tr h="214314">
                <a:tc>
                  <a:txBody>
                    <a:bodyPr/>
                    <a:lstStyle/>
                    <a:p>
                      <a:pPr algn="ctr"/>
                      <a:endParaRPr lang="zh-TW" altLang="en-US" sz="1600" dirty="0">
                        <a:latin typeface="Calibri" pitchFamily="34" charset="0"/>
                      </a:endParaRPr>
                    </a:p>
                  </a:txBody>
                  <a:tcPr anchor="ct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zh-TW" altLang="en-US" sz="1600" dirty="0">
                        <a:latin typeface="Calibri" pitchFamily="34" charset="0"/>
                      </a:endParaRPr>
                    </a:p>
                  </a:txBody>
                  <a:tcPr anchor="ct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tcPr>
                </a:tc>
                <a:tc gridSpan="2">
                  <a:txBody>
                    <a:bodyPr/>
                    <a:lstStyle/>
                    <a:p>
                      <a:pPr algn="ctr"/>
                      <a:r>
                        <a:rPr lang="en-US" altLang="zh-TW" sz="1600" dirty="0" smtClean="0">
                          <a:latin typeface="Calibri" pitchFamily="34" charset="0"/>
                        </a:rPr>
                        <a:t>X</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zh-TW" altLang="en-US" dirty="0"/>
                    </a:p>
                  </a:txBody>
                  <a:tcPr/>
                </a:tc>
                <a:extLst>
                  <a:ext uri="{0D108BD9-81ED-4DB2-BD59-A6C34878D82A}">
                    <a16:rowId xmlns:a16="http://schemas.microsoft.com/office/drawing/2014/main" val="10000"/>
                  </a:ext>
                </a:extLst>
              </a:tr>
              <a:tr h="0">
                <a:tc>
                  <a:txBody>
                    <a:bodyPr/>
                    <a:lstStyle/>
                    <a:p>
                      <a:pPr algn="ctr"/>
                      <a:endParaRPr lang="zh-TW" altLang="en-US" sz="1600">
                        <a:latin typeface="Calibri" pitchFamily="34" charset="0"/>
                      </a:endParaRP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600" dirty="0">
                        <a:latin typeface="Calibri" pitchFamily="34" charset="0"/>
                      </a:endParaRPr>
                    </a:p>
                  </a:txBody>
                  <a:tcPr anchor="ct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TW" sz="1600" dirty="0" smtClean="0">
                          <a:latin typeface="Calibri" pitchFamily="34" charset="0"/>
                        </a:rPr>
                        <a:t>0</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TW" sz="1600" dirty="0" smtClean="0">
                          <a:latin typeface="Calibri" pitchFamily="34" charset="0"/>
                        </a:rPr>
                        <a:t>1</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1471">
                <a:tc rowSpan="2">
                  <a:txBody>
                    <a:bodyPr/>
                    <a:lstStyle/>
                    <a:p>
                      <a:pPr algn="ctr"/>
                      <a:r>
                        <a:rPr lang="en-US" altLang="zh-TW" sz="1600" dirty="0" smtClean="0">
                          <a:latin typeface="Calibri" pitchFamily="34" charset="0"/>
                        </a:rPr>
                        <a:t>Y</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TW" sz="1600" dirty="0" smtClean="0">
                          <a:latin typeface="Calibri" pitchFamily="34" charset="0"/>
                        </a:rPr>
                        <a:t>0</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TW" sz="1600" dirty="0" smtClean="0">
                          <a:latin typeface="Calibri" pitchFamily="34" charset="0"/>
                        </a:rPr>
                        <a:t>0</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TW" sz="1600" dirty="0" smtClean="0">
                          <a:latin typeface="Calibri" pitchFamily="34" charset="0"/>
                        </a:rPr>
                        <a:t>1</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21471">
                <a:tc vMerge="1">
                  <a:txBody>
                    <a:bodyPr/>
                    <a:lstStyle/>
                    <a:p>
                      <a:endParaRPr lang="zh-TW" altLang="en-US" dirty="0"/>
                    </a:p>
                  </a:txBody>
                  <a:tcPr/>
                </a:tc>
                <a:tc>
                  <a:txBody>
                    <a:bodyPr/>
                    <a:lstStyle/>
                    <a:p>
                      <a:pPr algn="ctr"/>
                      <a:r>
                        <a:rPr lang="en-US" altLang="zh-TW" sz="1600" dirty="0" smtClean="0">
                          <a:latin typeface="Calibri" pitchFamily="34" charset="0"/>
                        </a:rPr>
                        <a:t>1</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TW" sz="1600" dirty="0" smtClean="0">
                          <a:latin typeface="Calibri" pitchFamily="34" charset="0"/>
                        </a:rPr>
                        <a:t>1</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TW" sz="1600" dirty="0" smtClean="0">
                          <a:latin typeface="Calibri" pitchFamily="34" charset="0"/>
                        </a:rPr>
                        <a:t>0</a:t>
                      </a:r>
                      <a:endParaRPr lang="zh-TW" altLang="en-US" sz="1600" dirty="0">
                        <a:latin typeface="Calibri"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bl>
          </a:graphicData>
        </a:graphic>
      </p:graphicFrame>
      <p:sp>
        <p:nvSpPr>
          <p:cNvPr id="3" name="標題 2"/>
          <p:cNvSpPr>
            <a:spLocks noGrp="1"/>
          </p:cNvSpPr>
          <p:nvPr>
            <p:ph type="title"/>
          </p:nvPr>
        </p:nvSpPr>
        <p:spPr/>
        <p:txBody>
          <a:bodyPr/>
          <a:lstStyle/>
          <a:p>
            <a:r>
              <a:rPr lang="zh-TW" altLang="en-US" dirty="0" smtClean="0"/>
              <a:t>串流式加密法 </a:t>
            </a:r>
            <a:r>
              <a:rPr lang="en-US" altLang="zh-TW" dirty="0" smtClean="0">
                <a:solidFill>
                  <a:srgbClr val="0000FF"/>
                </a:solidFill>
              </a:rPr>
              <a:t>(</a:t>
            </a:r>
            <a:r>
              <a:rPr lang="zh-TW" altLang="en-US" dirty="0">
                <a:solidFill>
                  <a:srgbClr val="0000FF"/>
                </a:solidFill>
                <a:latin typeface="標楷體" panose="03000509000000000000" pitchFamily="65" charset="-120"/>
                <a:ea typeface="標楷體" panose="03000509000000000000" pitchFamily="65" charset="-120"/>
              </a:rPr>
              <a:t>對稱</a:t>
            </a:r>
            <a:r>
              <a:rPr lang="zh-TW" altLang="en-US" dirty="0" smtClean="0">
                <a:solidFill>
                  <a:srgbClr val="0000FF"/>
                </a:solidFill>
                <a:latin typeface="標楷體" panose="03000509000000000000" pitchFamily="65" charset="-120"/>
                <a:ea typeface="標楷體" panose="03000509000000000000" pitchFamily="65" charset="-120"/>
              </a:rPr>
              <a:t>式加解密</a:t>
            </a:r>
            <a:r>
              <a:rPr lang="en-US" altLang="zh-TW" dirty="0" smtClean="0">
                <a:solidFill>
                  <a:srgbClr val="0000FF"/>
                </a:solidFill>
                <a:latin typeface="標楷體" panose="03000509000000000000" pitchFamily="65" charset="-120"/>
                <a:ea typeface="標楷體" panose="03000509000000000000" pitchFamily="65" charset="-120"/>
              </a:rPr>
              <a:t>)</a:t>
            </a:r>
            <a:endParaRPr lang="zh-TW" altLang="en-US" dirty="0"/>
          </a:p>
        </p:txBody>
      </p:sp>
      <p:sp>
        <p:nvSpPr>
          <p:cNvPr id="4" name="流程圖: 文件 3"/>
          <p:cNvSpPr/>
          <p:nvPr/>
        </p:nvSpPr>
        <p:spPr>
          <a:xfrm>
            <a:off x="785786" y="4789742"/>
            <a:ext cx="1143008" cy="100013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latin typeface="Calibri" pitchFamily="34" charset="0"/>
              </a:rPr>
              <a:t>attack enemy at nine</a:t>
            </a:r>
            <a:endParaRPr lang="zh-TW" altLang="en-US" sz="1600" dirty="0">
              <a:latin typeface="Calibri" pitchFamily="34" charset="0"/>
            </a:endParaRPr>
          </a:p>
        </p:txBody>
      </p:sp>
      <p:sp>
        <p:nvSpPr>
          <p:cNvPr id="5" name="流程圖: 或 4"/>
          <p:cNvSpPr/>
          <p:nvPr/>
        </p:nvSpPr>
        <p:spPr>
          <a:xfrm>
            <a:off x="3214678" y="5075494"/>
            <a:ext cx="428628" cy="428628"/>
          </a:xfrm>
          <a:prstGeom prst="flowChar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a:latin typeface="Calibri" pitchFamily="34" charset="0"/>
            </a:endParaRPr>
          </a:p>
        </p:txBody>
      </p:sp>
      <p:sp>
        <p:nvSpPr>
          <p:cNvPr id="6" name="矩形 5"/>
          <p:cNvSpPr/>
          <p:nvPr/>
        </p:nvSpPr>
        <p:spPr>
          <a:xfrm>
            <a:off x="5000628" y="4861180"/>
            <a:ext cx="1071570" cy="8572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err="1" smtClean="0">
                <a:latin typeface="Calibri" pitchFamily="34" charset="0"/>
              </a:rPr>
              <a:t>hjrake</a:t>
            </a:r>
            <a:r>
              <a:rPr lang="en-US" altLang="zh-TW" sz="1600" dirty="0" smtClean="0">
                <a:latin typeface="Calibri" pitchFamily="34" charset="0"/>
              </a:rPr>
              <a:t> </a:t>
            </a:r>
            <a:r>
              <a:rPr lang="en-US" altLang="zh-TW" sz="1600" dirty="0" err="1" smtClean="0">
                <a:latin typeface="Calibri" pitchFamily="34" charset="0"/>
              </a:rPr>
              <a:t>jinbk</a:t>
            </a:r>
            <a:r>
              <a:rPr lang="en-US" altLang="zh-TW" sz="1600" dirty="0" smtClean="0">
                <a:latin typeface="Calibri" pitchFamily="34" charset="0"/>
              </a:rPr>
              <a:t> </a:t>
            </a:r>
            <a:r>
              <a:rPr lang="en-US" altLang="zh-TW" sz="1600" dirty="0" err="1" smtClean="0">
                <a:latin typeface="Calibri" pitchFamily="34" charset="0"/>
              </a:rPr>
              <a:t>ew</a:t>
            </a:r>
            <a:r>
              <a:rPr lang="en-US" altLang="zh-TW" sz="1600" dirty="0" smtClean="0">
                <a:latin typeface="Calibri" pitchFamily="34" charset="0"/>
              </a:rPr>
              <a:t> </a:t>
            </a:r>
            <a:r>
              <a:rPr lang="en-US" altLang="zh-TW" sz="1600" dirty="0" err="1" smtClean="0">
                <a:latin typeface="Calibri" pitchFamily="34" charset="0"/>
              </a:rPr>
              <a:t>gplq</a:t>
            </a:r>
            <a:endParaRPr lang="zh-TW" altLang="en-US" sz="1600" dirty="0">
              <a:latin typeface="Calibri" pitchFamily="34" charset="0"/>
            </a:endParaRPr>
          </a:p>
        </p:txBody>
      </p:sp>
      <p:sp>
        <p:nvSpPr>
          <p:cNvPr id="8" name="流程圖: 人工作業 7"/>
          <p:cNvSpPr/>
          <p:nvPr/>
        </p:nvSpPr>
        <p:spPr>
          <a:xfrm>
            <a:off x="2786050" y="3861048"/>
            <a:ext cx="1285884" cy="714380"/>
          </a:xfrm>
          <a:prstGeom prst="flowChartManualOperati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latin typeface="Calibri" pitchFamily="34" charset="0"/>
              </a:rPr>
              <a:t>01000011101001</a:t>
            </a:r>
            <a:endParaRPr lang="zh-TW" altLang="en-US" sz="1600" dirty="0">
              <a:latin typeface="Calibri" pitchFamily="34" charset="0"/>
            </a:endParaRPr>
          </a:p>
        </p:txBody>
      </p:sp>
      <p:cxnSp>
        <p:nvCxnSpPr>
          <p:cNvPr id="10" name="直線單箭頭接點 9"/>
          <p:cNvCxnSpPr>
            <a:stCxn id="4" idx="3"/>
            <a:endCxn id="5" idx="2"/>
          </p:cNvCxnSpPr>
          <p:nvPr/>
        </p:nvCxnSpPr>
        <p:spPr>
          <a:xfrm>
            <a:off x="1928794" y="5289808"/>
            <a:ext cx="128588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 name="直線單箭頭接點 12"/>
          <p:cNvCxnSpPr>
            <a:stCxn id="5" idx="6"/>
            <a:endCxn id="6" idx="1"/>
          </p:cNvCxnSpPr>
          <p:nvPr/>
        </p:nvCxnSpPr>
        <p:spPr>
          <a:xfrm>
            <a:off x="3643306" y="5289808"/>
            <a:ext cx="135732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 name="直線單箭頭接點 17"/>
          <p:cNvCxnSpPr>
            <a:stCxn id="8" idx="2"/>
            <a:endCxn id="5" idx="0"/>
          </p:cNvCxnSpPr>
          <p:nvPr/>
        </p:nvCxnSpPr>
        <p:spPr>
          <a:xfrm rot="5400000">
            <a:off x="3178959" y="4825461"/>
            <a:ext cx="500066"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0" name="文字方塊 19"/>
          <p:cNvSpPr txBox="1"/>
          <p:nvPr/>
        </p:nvSpPr>
        <p:spPr>
          <a:xfrm>
            <a:off x="892236" y="4289676"/>
            <a:ext cx="1005403" cy="338554"/>
          </a:xfrm>
          <a:prstGeom prst="rect">
            <a:avLst/>
          </a:prstGeom>
          <a:noFill/>
        </p:spPr>
        <p:txBody>
          <a:bodyPr wrap="none" rtlCol="0">
            <a:spAutoFit/>
          </a:bodyPr>
          <a:lstStyle/>
          <a:p>
            <a:r>
              <a:rPr lang="zh-TW" altLang="en-US" sz="1600" dirty="0" smtClean="0">
                <a:latin typeface="Calibri" pitchFamily="34" charset="0"/>
              </a:rPr>
              <a:t>訊息原文</a:t>
            </a:r>
            <a:endParaRPr lang="zh-TW" altLang="en-US" sz="1600" dirty="0">
              <a:latin typeface="Calibri" pitchFamily="34" charset="0"/>
            </a:endParaRPr>
          </a:p>
        </p:txBody>
      </p:sp>
      <p:sp>
        <p:nvSpPr>
          <p:cNvPr id="21" name="文字方塊 20"/>
          <p:cNvSpPr txBox="1"/>
          <p:nvPr/>
        </p:nvSpPr>
        <p:spPr>
          <a:xfrm>
            <a:off x="4995357" y="4361114"/>
            <a:ext cx="1005403" cy="338554"/>
          </a:xfrm>
          <a:prstGeom prst="rect">
            <a:avLst/>
          </a:prstGeom>
          <a:noFill/>
        </p:spPr>
        <p:txBody>
          <a:bodyPr wrap="none" rtlCol="0">
            <a:spAutoFit/>
          </a:bodyPr>
          <a:lstStyle/>
          <a:p>
            <a:r>
              <a:rPr lang="zh-TW" altLang="en-US" sz="1600" dirty="0" smtClean="0">
                <a:latin typeface="Calibri" pitchFamily="34" charset="0"/>
              </a:rPr>
              <a:t>訊息密文</a:t>
            </a:r>
            <a:endParaRPr lang="zh-TW" altLang="en-US" sz="1600" dirty="0">
              <a:latin typeface="Calibri" pitchFamily="34" charset="0"/>
            </a:endParaRPr>
          </a:p>
        </p:txBody>
      </p:sp>
      <p:sp>
        <p:nvSpPr>
          <p:cNvPr id="22" name="文字方塊 21"/>
          <p:cNvSpPr txBox="1"/>
          <p:nvPr/>
        </p:nvSpPr>
        <p:spPr>
          <a:xfrm>
            <a:off x="3143240" y="5575560"/>
            <a:ext cx="533223" cy="338554"/>
          </a:xfrm>
          <a:prstGeom prst="rect">
            <a:avLst/>
          </a:prstGeom>
          <a:noFill/>
        </p:spPr>
        <p:txBody>
          <a:bodyPr wrap="none" rtlCol="0">
            <a:spAutoFit/>
          </a:bodyPr>
          <a:lstStyle/>
          <a:p>
            <a:r>
              <a:rPr lang="en-US" altLang="zh-TW" sz="1600" dirty="0" smtClean="0">
                <a:solidFill>
                  <a:srgbClr val="FF0000"/>
                </a:solidFill>
                <a:latin typeface="Calibri" pitchFamily="34" charset="0"/>
              </a:rPr>
              <a:t>XOR</a:t>
            </a:r>
            <a:endParaRPr lang="zh-TW" altLang="en-US" sz="1600" dirty="0">
              <a:solidFill>
                <a:srgbClr val="FF0000"/>
              </a:solidFill>
              <a:latin typeface="Calibri" pitchFamily="34" charset="0"/>
            </a:endParaRPr>
          </a:p>
        </p:txBody>
      </p:sp>
      <p:sp>
        <p:nvSpPr>
          <p:cNvPr id="23" name="文字方塊 22"/>
          <p:cNvSpPr txBox="1"/>
          <p:nvPr/>
        </p:nvSpPr>
        <p:spPr>
          <a:xfrm>
            <a:off x="2107379" y="5004056"/>
            <a:ext cx="1043876" cy="338554"/>
          </a:xfrm>
          <a:prstGeom prst="rect">
            <a:avLst/>
          </a:prstGeom>
          <a:noFill/>
        </p:spPr>
        <p:txBody>
          <a:bodyPr wrap="none" rtlCol="0">
            <a:spAutoFit/>
          </a:bodyPr>
          <a:lstStyle/>
          <a:p>
            <a:r>
              <a:rPr lang="en-US" altLang="zh-TW" sz="1600" dirty="0" smtClean="0"/>
              <a:t>0110</a:t>
            </a:r>
            <a:r>
              <a:rPr lang="en-US" altLang="zh-TW" sz="1600" dirty="0" smtClean="0">
                <a:solidFill>
                  <a:srgbClr val="FF00FF"/>
                </a:solidFill>
              </a:rPr>
              <a:t>0</a:t>
            </a:r>
            <a:r>
              <a:rPr lang="en-US" altLang="zh-TW" sz="1600" dirty="0" smtClean="0"/>
              <a:t>101</a:t>
            </a:r>
            <a:endParaRPr lang="zh-TW" altLang="en-US" sz="1600" dirty="0"/>
          </a:p>
        </p:txBody>
      </p:sp>
      <p:sp>
        <p:nvSpPr>
          <p:cNvPr id="24" name="文字方塊 23"/>
          <p:cNvSpPr txBox="1"/>
          <p:nvPr/>
        </p:nvSpPr>
        <p:spPr>
          <a:xfrm>
            <a:off x="3845031" y="5004056"/>
            <a:ext cx="1043876" cy="338554"/>
          </a:xfrm>
          <a:prstGeom prst="rect">
            <a:avLst/>
          </a:prstGeom>
          <a:noFill/>
        </p:spPr>
        <p:txBody>
          <a:bodyPr wrap="none" rtlCol="0">
            <a:spAutoFit/>
          </a:bodyPr>
          <a:lstStyle/>
          <a:p>
            <a:r>
              <a:rPr lang="en-US" altLang="zh-TW" sz="1600" dirty="0" smtClean="0"/>
              <a:t>0010</a:t>
            </a:r>
            <a:r>
              <a:rPr lang="en-US" altLang="zh-TW" sz="1600" dirty="0" smtClean="0">
                <a:solidFill>
                  <a:srgbClr val="FF00FF"/>
                </a:solidFill>
              </a:rPr>
              <a:t>0</a:t>
            </a:r>
            <a:r>
              <a:rPr lang="en-US" altLang="zh-TW" sz="1600" dirty="0" smtClean="0"/>
              <a:t>110</a:t>
            </a:r>
            <a:endParaRPr lang="zh-TW" altLang="en-US" sz="1600" dirty="0"/>
          </a:p>
        </p:txBody>
      </p:sp>
      <p:sp>
        <p:nvSpPr>
          <p:cNvPr id="26" name="文字方塊 25"/>
          <p:cNvSpPr txBox="1"/>
          <p:nvPr/>
        </p:nvSpPr>
        <p:spPr>
          <a:xfrm>
            <a:off x="6896297" y="5485486"/>
            <a:ext cx="990079" cy="338554"/>
          </a:xfrm>
          <a:prstGeom prst="rect">
            <a:avLst/>
          </a:prstGeom>
          <a:noFill/>
        </p:spPr>
        <p:txBody>
          <a:bodyPr wrap="none" rtlCol="0">
            <a:spAutoFit/>
          </a:bodyPr>
          <a:lstStyle/>
          <a:p>
            <a:r>
              <a:rPr lang="en-US" altLang="zh-TW" sz="1600" dirty="0" smtClean="0">
                <a:latin typeface="Calibri" pitchFamily="34" charset="0"/>
              </a:rPr>
              <a:t>XOR </a:t>
            </a:r>
            <a:r>
              <a:rPr lang="zh-TW" altLang="en-US" sz="1600" dirty="0" smtClean="0">
                <a:latin typeface="Calibri" pitchFamily="34" charset="0"/>
              </a:rPr>
              <a:t>運算</a:t>
            </a:r>
            <a:endParaRPr lang="zh-TW" altLang="en-US" sz="1600" dirty="0">
              <a:latin typeface="Calibri" pitchFamily="34" charset="0"/>
            </a:endParaRPr>
          </a:p>
        </p:txBody>
      </p:sp>
      <p:sp>
        <p:nvSpPr>
          <p:cNvPr id="27" name="內容版面配置區 3"/>
          <p:cNvSpPr txBox="1">
            <a:spLocks/>
          </p:cNvSpPr>
          <p:nvPr/>
        </p:nvSpPr>
        <p:spPr>
          <a:xfrm>
            <a:off x="285720" y="1285860"/>
            <a:ext cx="7858180" cy="2143140"/>
          </a:xfrm>
          <a:prstGeom prst="rect">
            <a:avLst/>
          </a:prstGeom>
        </p:spPr>
        <p:txBody>
          <a:bodyPr vert="horz">
            <a:normAutofit/>
          </a:bodyPr>
          <a:lstStyle/>
          <a:p>
            <a:pPr marL="274320" marR="0" lvl="0" indent="-274320" algn="l" defTabSz="914400" rtl="0" eaLnBrk="1" fontAlgn="auto" latinLnBrk="0" hangingPunct="1">
              <a:lnSpc>
                <a:spcPct val="120000"/>
              </a:lnSpc>
              <a:spcBef>
                <a:spcPts val="1000"/>
              </a:spcBef>
              <a:spcAft>
                <a:spcPts val="0"/>
              </a:spcAft>
              <a:buClr>
                <a:schemeClr val="tx2"/>
              </a:buClr>
              <a:buSzPct val="73000"/>
              <a:buFont typeface="Wingdings 2"/>
              <a:buChar char=""/>
              <a:tabLst/>
              <a:defRPr/>
            </a:pPr>
            <a:r>
              <a:rPr lang="zh-TW" altLang="en-US" sz="2000" dirty="0" smtClean="0">
                <a:latin typeface="Calibri" pitchFamily="34" charset="0"/>
                <a:ea typeface="微軟正黑體" pitchFamily="34" charset="-120"/>
              </a:rPr>
              <a:t>下圖是</a:t>
            </a:r>
            <a:r>
              <a:rPr lang="zh-TW" altLang="en-US" sz="2000" dirty="0" smtClean="0">
                <a:solidFill>
                  <a:srgbClr val="0000FF"/>
                </a:solidFill>
                <a:latin typeface="Calibri" pitchFamily="34" charset="0"/>
                <a:ea typeface="微軟正黑體" pitchFamily="34" charset="-120"/>
              </a:rPr>
              <a:t>串流式加密 </a:t>
            </a:r>
            <a:r>
              <a:rPr lang="en-US" altLang="zh-TW" sz="2000" dirty="0" smtClean="0">
                <a:solidFill>
                  <a:srgbClr val="0000FF"/>
                </a:solidFill>
                <a:latin typeface="Calibri" pitchFamily="34" charset="0"/>
                <a:ea typeface="微軟正黑體" pitchFamily="34" charset="-120"/>
              </a:rPr>
              <a:t>(stream cipher) </a:t>
            </a:r>
            <a:r>
              <a:rPr lang="zh-TW" altLang="en-US" sz="2000" dirty="0" smtClean="0">
                <a:latin typeface="Calibri" pitchFamily="34" charset="0"/>
                <a:ea typeface="微軟正黑體" pitchFamily="34" charset="-120"/>
              </a:rPr>
              <a:t>，金鑰流 </a:t>
            </a:r>
            <a:r>
              <a:rPr lang="en-US" altLang="zh-TW" sz="2000" dirty="0" smtClean="0">
                <a:latin typeface="Calibri" pitchFamily="34" charset="0"/>
                <a:ea typeface="微軟正黑體" pitchFamily="34" charset="-120"/>
              </a:rPr>
              <a:t>(key stream) </a:t>
            </a:r>
            <a:r>
              <a:rPr lang="zh-TW" altLang="en-US" sz="2000" dirty="0" smtClean="0">
                <a:latin typeface="Calibri" pitchFamily="34" charset="0"/>
                <a:ea typeface="微軟正黑體" pitchFamily="34" charset="-120"/>
              </a:rPr>
              <a:t>與訊息原文做 </a:t>
            </a:r>
            <a:r>
              <a:rPr lang="en-US" altLang="zh-TW" sz="2000" dirty="0" smtClean="0">
                <a:solidFill>
                  <a:srgbClr val="FF0000"/>
                </a:solidFill>
                <a:latin typeface="Calibri" pitchFamily="34" charset="0"/>
                <a:ea typeface="微軟正黑體" pitchFamily="34" charset="-120"/>
              </a:rPr>
              <a:t>XOR</a:t>
            </a:r>
            <a:r>
              <a:rPr lang="zh-TW" altLang="en-US" sz="2000" dirty="0" smtClean="0">
                <a:solidFill>
                  <a:srgbClr val="FF0000"/>
                </a:solidFill>
                <a:latin typeface="Calibri" pitchFamily="34" charset="0"/>
                <a:ea typeface="微軟正黑體" pitchFamily="34" charset="-120"/>
              </a:rPr>
              <a:t> 運算</a:t>
            </a:r>
            <a:r>
              <a:rPr lang="en-US" altLang="zh-TW" sz="2000" dirty="0" smtClean="0">
                <a:solidFill>
                  <a:srgbClr val="FF0000"/>
                </a:solidFill>
                <a:latin typeface="Calibri" pitchFamily="34" charset="0"/>
                <a:ea typeface="微軟正黑體" pitchFamily="34" charset="-120"/>
              </a:rPr>
              <a:t>(</a:t>
            </a:r>
            <a:r>
              <a:rPr lang="zh-TW" altLang="en-US" sz="2000" dirty="0" smtClean="0">
                <a:solidFill>
                  <a:srgbClr val="FF0000"/>
                </a:solidFill>
                <a:latin typeface="Calibri" pitchFamily="34" charset="0"/>
                <a:ea typeface="微軟正黑體" pitchFamily="34" charset="-120"/>
              </a:rPr>
              <a:t>相同為</a:t>
            </a:r>
            <a:r>
              <a:rPr lang="en-US" altLang="zh-TW" sz="2000" dirty="0" smtClean="0">
                <a:solidFill>
                  <a:srgbClr val="FF0000"/>
                </a:solidFill>
                <a:latin typeface="Calibri" pitchFamily="34" charset="0"/>
                <a:ea typeface="微軟正黑體" pitchFamily="34" charset="-120"/>
              </a:rPr>
              <a:t>0, </a:t>
            </a:r>
            <a:r>
              <a:rPr lang="zh-TW" altLang="en-US" sz="2000" dirty="0" smtClean="0">
                <a:solidFill>
                  <a:srgbClr val="FF0000"/>
                </a:solidFill>
                <a:latin typeface="Calibri" pitchFamily="34" charset="0"/>
                <a:ea typeface="微軟正黑體" pitchFamily="34" charset="-120"/>
              </a:rPr>
              <a:t>不同為</a:t>
            </a:r>
            <a:r>
              <a:rPr lang="en-US" altLang="zh-TW" sz="2000" dirty="0" smtClean="0">
                <a:solidFill>
                  <a:srgbClr val="FF0000"/>
                </a:solidFill>
                <a:latin typeface="Calibri" pitchFamily="34" charset="0"/>
                <a:ea typeface="微軟正黑體" pitchFamily="34" charset="-120"/>
              </a:rPr>
              <a:t>1)</a:t>
            </a:r>
            <a:r>
              <a:rPr lang="zh-TW" altLang="en-US" sz="2000" dirty="0" smtClean="0">
                <a:latin typeface="Calibri" pitchFamily="34" charset="0"/>
                <a:ea typeface="微軟正黑體" pitchFamily="34" charset="-120"/>
              </a:rPr>
              <a:t>，產生訊息密文。由於</a:t>
            </a:r>
            <a:r>
              <a:rPr lang="en-US" altLang="zh-TW" sz="2000" dirty="0" smtClean="0">
                <a:latin typeface="Calibri" pitchFamily="34" charset="0"/>
                <a:ea typeface="微軟正黑體" pitchFamily="34" charset="-120"/>
              </a:rPr>
              <a:t>XOR</a:t>
            </a:r>
            <a:r>
              <a:rPr lang="zh-TW" altLang="en-US" sz="2000" dirty="0" smtClean="0">
                <a:latin typeface="Calibri" pitchFamily="34" charset="0"/>
                <a:ea typeface="微軟正黑體" pitchFamily="34" charset="-120"/>
              </a:rPr>
              <a:t>運算非常簡單，所以</a:t>
            </a:r>
            <a:r>
              <a:rPr lang="zh-TW" altLang="en-US" sz="2000" dirty="0" smtClean="0">
                <a:solidFill>
                  <a:srgbClr val="0000FF"/>
                </a:solidFill>
                <a:latin typeface="Calibri" pitchFamily="34" charset="0"/>
                <a:ea typeface="微軟正黑體" pitchFamily="34" charset="-120"/>
              </a:rPr>
              <a:t>加密速度極快</a:t>
            </a:r>
            <a:r>
              <a:rPr lang="zh-TW" altLang="en-US" sz="2000" dirty="0" smtClean="0">
                <a:latin typeface="Calibri" pitchFamily="34" charset="0"/>
                <a:ea typeface="微軟正黑體" pitchFamily="34" charset="-120"/>
              </a:rPr>
              <a:t>。</a:t>
            </a:r>
            <a:endParaRPr lang="en-US" altLang="zh-TW" sz="2000" dirty="0" smtClean="0">
              <a:latin typeface="Calibri" pitchFamily="34" charset="0"/>
              <a:ea typeface="微軟正黑體" pitchFamily="34" charset="-120"/>
            </a:endParaRPr>
          </a:p>
          <a:p>
            <a:pPr marL="274320" lvl="0" indent="-274320">
              <a:lnSpc>
                <a:spcPct val="120000"/>
              </a:lnSpc>
              <a:spcBef>
                <a:spcPts val="1000"/>
              </a:spcBef>
              <a:buClr>
                <a:schemeClr val="tx2"/>
              </a:buClr>
              <a:buSzPct val="73000"/>
              <a:buFont typeface="Wingdings 2"/>
              <a:buChar char=""/>
            </a:pPr>
            <a:r>
              <a:rPr kumimoji="0" lang="zh-TW" altLang="en-US" sz="2000" b="0" i="0" u="none" strike="noStrike" kern="1200" cap="none" spc="0" normalizeH="0" baseline="0" noProof="0" dirty="0" smtClean="0">
                <a:ln>
                  <a:noFill/>
                </a:ln>
                <a:solidFill>
                  <a:schemeClr val="tx1"/>
                </a:solidFill>
                <a:effectLst/>
                <a:uLnTx/>
                <a:uFillTx/>
                <a:latin typeface="Calibri" pitchFamily="34" charset="0"/>
                <a:ea typeface="微軟正黑體" pitchFamily="34" charset="-120"/>
                <a:cs typeface="+mn-cs"/>
              </a:rPr>
              <a:t>由於串流式加密的一些優點，</a:t>
            </a:r>
            <a:r>
              <a:rPr kumimoji="0" lang="en-US" altLang="zh-TW" sz="2000" b="0" i="0" u="none" strike="noStrike" kern="1200" cap="none" spc="0" normalizeH="0" baseline="0" noProof="0" dirty="0" smtClean="0">
                <a:ln>
                  <a:noFill/>
                </a:ln>
                <a:solidFill>
                  <a:schemeClr val="tx1"/>
                </a:solidFill>
                <a:effectLst/>
                <a:uLnTx/>
                <a:uFillTx/>
                <a:latin typeface="Calibri" pitchFamily="34" charset="0"/>
                <a:ea typeface="微軟正黑體" pitchFamily="34" charset="-120"/>
                <a:cs typeface="+mn-cs"/>
              </a:rPr>
              <a:t>DES</a:t>
            </a:r>
            <a:r>
              <a:rPr lang="zh-TW" altLang="en-US" sz="2000" dirty="0" smtClean="0">
                <a:latin typeface="Calibri" pitchFamily="34" charset="0"/>
                <a:ea typeface="微軟正黑體" pitchFamily="34" charset="-120"/>
              </a:rPr>
              <a:t>這種區塊式加密法，也有模擬串流式加密法的模式。</a:t>
            </a:r>
            <a:endParaRPr kumimoji="0" lang="zh-TW" altLang="en-US" sz="2000" b="0" i="0" u="none" strike="noStrike" kern="1200" cap="none" spc="0" normalizeH="0" baseline="0" noProof="0" dirty="0">
              <a:ln>
                <a:noFill/>
              </a:ln>
              <a:solidFill>
                <a:schemeClr val="tx1"/>
              </a:solidFill>
              <a:effectLst/>
              <a:uLnTx/>
              <a:uFillTx/>
              <a:latin typeface="Calibri" pitchFamily="34" charset="0"/>
              <a:ea typeface="微軟正黑體" pitchFamily="34" charset="-120"/>
              <a:cs typeface="+mn-cs"/>
            </a:endParaRPr>
          </a:p>
        </p:txBody>
      </p:sp>
      <p:sp>
        <p:nvSpPr>
          <p:cNvPr id="28" name="文字方塊 27"/>
          <p:cNvSpPr txBox="1"/>
          <p:nvPr/>
        </p:nvSpPr>
        <p:spPr>
          <a:xfrm>
            <a:off x="3428992" y="4575428"/>
            <a:ext cx="800219" cy="338554"/>
          </a:xfrm>
          <a:prstGeom prst="rect">
            <a:avLst/>
          </a:prstGeom>
          <a:noFill/>
        </p:spPr>
        <p:txBody>
          <a:bodyPr wrap="none" rtlCol="0">
            <a:spAutoFit/>
          </a:bodyPr>
          <a:lstStyle/>
          <a:p>
            <a:r>
              <a:rPr lang="zh-TW" altLang="en-US" sz="1600" dirty="0" smtClean="0">
                <a:latin typeface="Calibri" pitchFamily="34" charset="0"/>
              </a:rPr>
              <a:t>金鑰流</a:t>
            </a:r>
            <a:endParaRPr lang="zh-TW" altLang="en-US" sz="1600" dirty="0">
              <a:latin typeface="Calibri" pitchFamily="34" charset="0"/>
            </a:endParaRPr>
          </a:p>
        </p:txBody>
      </p:sp>
      <p:sp>
        <p:nvSpPr>
          <p:cNvPr id="2" name="矩形 1"/>
          <p:cNvSpPr/>
          <p:nvPr/>
        </p:nvSpPr>
        <p:spPr>
          <a:xfrm>
            <a:off x="1331640" y="6093296"/>
            <a:ext cx="6554736" cy="2880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t>重點</a:t>
            </a:r>
            <a:r>
              <a:rPr lang="en-US" altLang="zh-TW" dirty="0" smtClean="0"/>
              <a:t>: </a:t>
            </a:r>
            <a:r>
              <a:rPr lang="zh-TW" altLang="en-US" dirty="0" smtClean="0"/>
              <a:t>收到密文</a:t>
            </a:r>
            <a:r>
              <a:rPr lang="en-US" altLang="zh-TW" dirty="0" smtClean="0"/>
              <a:t>, </a:t>
            </a:r>
            <a:r>
              <a:rPr lang="zh-TW" altLang="en-US" dirty="0" smtClean="0"/>
              <a:t>如果你有金</a:t>
            </a:r>
            <a:r>
              <a:rPr lang="zh-TW" altLang="en-US" dirty="0"/>
              <a:t>鑰</a:t>
            </a:r>
            <a:r>
              <a:rPr lang="zh-TW" altLang="en-US" dirty="0" smtClean="0"/>
              <a:t>流</a:t>
            </a:r>
            <a:r>
              <a:rPr lang="en-US" altLang="zh-TW" dirty="0" smtClean="0"/>
              <a:t>, </a:t>
            </a:r>
            <a:r>
              <a:rPr lang="zh-TW" altLang="en-US" dirty="0" smtClean="0"/>
              <a:t>你就可</a:t>
            </a:r>
            <a:r>
              <a:rPr lang="zh-TW" altLang="en-US" dirty="0"/>
              <a:t>以</a:t>
            </a:r>
            <a:r>
              <a:rPr lang="zh-TW" altLang="en-US" dirty="0" smtClean="0"/>
              <a:t>還原明文</a:t>
            </a:r>
            <a:endParaRPr lang="zh-TW" altLang="en-US" dirty="0"/>
          </a:p>
        </p:txBody>
      </p:sp>
    </p:spTree>
    <p:extLst>
      <p:ext uri="{BB962C8B-B14F-4D97-AF65-F5344CB8AC3E}">
        <p14:creationId xmlns:p14="http://schemas.microsoft.com/office/powerpoint/2010/main" val="242490230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pPr algn="r"/>
            <a:r>
              <a:rPr lang="zh-TW" altLang="en-US" dirty="0" smtClean="0"/>
              <a:t>真值表</a:t>
            </a:r>
            <a:r>
              <a:rPr lang="en-US" altLang="zh-TW" dirty="0" smtClean="0"/>
              <a:t>	True-Table		1/2</a:t>
            </a:r>
            <a:endParaRPr lang="zh-TW" altLang="en-US" dirty="0"/>
          </a:p>
        </p:txBody>
      </p:sp>
      <p:sp>
        <p:nvSpPr>
          <p:cNvPr id="4" name="Line 9"/>
          <p:cNvSpPr>
            <a:spLocks noChangeShapeType="1"/>
          </p:cNvSpPr>
          <p:nvPr/>
        </p:nvSpPr>
        <p:spPr bwMode="gray">
          <a:xfrm flipV="1">
            <a:off x="827584" y="3463014"/>
            <a:ext cx="7200799" cy="0"/>
          </a:xfrm>
          <a:prstGeom prst="line">
            <a:avLst/>
          </a:prstGeom>
          <a:noFill/>
          <a:ln w="9525">
            <a:solidFill>
              <a:srgbClr val="1C1C1C"/>
            </a:solidFill>
            <a:prstDash val="lgDash"/>
            <a:round/>
            <a:headEnd/>
            <a:tailEnd type="stealth" w="med" len="med"/>
          </a:ln>
          <a:extLst>
            <a:ext uri="{909E8E84-426E-40DD-AFC4-6F175D3DCCD1}">
              <a14:hiddenFill xmlns:a14="http://schemas.microsoft.com/office/drawing/2010/main">
                <a:noFill/>
              </a14:hiddenFill>
            </a:ext>
          </a:extLst>
        </p:spPr>
        <p:txBody>
          <a:bodyPr wrap="none" anchor="ctr"/>
          <a:lstStyle/>
          <a:p>
            <a:pPr eaLnBrk="1" hangingPunct="1">
              <a:defRPr/>
            </a:pPr>
            <a:endParaRPr lang="zh-TW" altLang="en-US">
              <a:solidFill>
                <a:srgbClr val="080808"/>
              </a:solidFill>
              <a:cs typeface="+mn-cs"/>
            </a:endParaRPr>
          </a:p>
        </p:txBody>
      </p:sp>
      <p:sp>
        <p:nvSpPr>
          <p:cNvPr id="5" name="Line 5"/>
          <p:cNvSpPr>
            <a:spLocks noChangeShapeType="1"/>
          </p:cNvSpPr>
          <p:nvPr/>
        </p:nvSpPr>
        <p:spPr bwMode="gray">
          <a:xfrm>
            <a:off x="4386263" y="1219200"/>
            <a:ext cx="0" cy="4586288"/>
          </a:xfrm>
          <a:prstGeom prst="line">
            <a:avLst/>
          </a:prstGeom>
          <a:noFill/>
          <a:ln w="9525">
            <a:solidFill>
              <a:srgbClr val="1C1C1C"/>
            </a:solidFill>
            <a:prstDash val="lgDash"/>
            <a:round/>
            <a:headEnd type="stealth" w="med" len="med"/>
            <a:tailEnd/>
          </a:ln>
          <a:extLst>
            <a:ext uri="{909E8E84-426E-40DD-AFC4-6F175D3DCCD1}">
              <a14:hiddenFill xmlns:a14="http://schemas.microsoft.com/office/drawing/2010/main">
                <a:noFill/>
              </a14:hiddenFill>
            </a:ext>
          </a:extLst>
        </p:spPr>
        <p:txBody>
          <a:bodyPr wrap="none" anchor="ctr"/>
          <a:lstStyle/>
          <a:p>
            <a:pPr eaLnBrk="1" hangingPunct="1">
              <a:defRPr/>
            </a:pPr>
            <a:endParaRPr lang="zh-TW" altLang="en-US">
              <a:solidFill>
                <a:srgbClr val="080808"/>
              </a:solidFill>
              <a:cs typeface="+mn-cs"/>
            </a:endParaRPr>
          </a:p>
        </p:txBody>
      </p:sp>
      <p:cxnSp>
        <p:nvCxnSpPr>
          <p:cNvPr id="7" name="直線接點 6"/>
          <p:cNvCxnSpPr/>
          <p:nvPr/>
        </p:nvCxnSpPr>
        <p:spPr>
          <a:xfrm>
            <a:off x="1043608" y="1700808"/>
            <a:ext cx="3240360" cy="135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線接點 8"/>
          <p:cNvCxnSpPr/>
          <p:nvPr/>
        </p:nvCxnSpPr>
        <p:spPr>
          <a:xfrm>
            <a:off x="2771800" y="1332829"/>
            <a:ext cx="0" cy="1944216"/>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1" name="表格 10"/>
          <p:cNvGraphicFramePr>
            <a:graphicFrameLocks noGrp="1"/>
          </p:cNvGraphicFramePr>
          <p:nvPr>
            <p:extLst/>
          </p:nvPr>
        </p:nvGraphicFramePr>
        <p:xfrm>
          <a:off x="1187624" y="1803330"/>
          <a:ext cx="2952328" cy="1463040"/>
        </p:xfrm>
        <a:graphic>
          <a:graphicData uri="http://schemas.openxmlformats.org/drawingml/2006/table">
            <a:tbl>
              <a:tblPr firstRow="1" bandRow="1">
                <a:tableStyleId>{5C22544A-7EE6-4342-B048-85BDC9FD1C3A}</a:tableStyleId>
              </a:tblPr>
              <a:tblGrid>
                <a:gridCol w="792088">
                  <a:extLst>
                    <a:ext uri="{9D8B030D-6E8A-4147-A177-3AD203B41FA5}">
                      <a16:colId xmlns:a16="http://schemas.microsoft.com/office/drawing/2014/main" val="2263631268"/>
                    </a:ext>
                  </a:extLst>
                </a:gridCol>
                <a:gridCol w="792088">
                  <a:extLst>
                    <a:ext uri="{9D8B030D-6E8A-4147-A177-3AD203B41FA5}">
                      <a16:colId xmlns:a16="http://schemas.microsoft.com/office/drawing/2014/main" val="1451678052"/>
                    </a:ext>
                  </a:extLst>
                </a:gridCol>
                <a:gridCol w="1368152">
                  <a:extLst>
                    <a:ext uri="{9D8B030D-6E8A-4147-A177-3AD203B41FA5}">
                      <a16:colId xmlns:a16="http://schemas.microsoft.com/office/drawing/2014/main" val="185565560"/>
                    </a:ext>
                  </a:extLst>
                </a:gridCol>
              </a:tblGrid>
              <a:tr h="191721">
                <a:tc>
                  <a:txBody>
                    <a:bodyPr/>
                    <a:lstStyle/>
                    <a:p>
                      <a:pPr algn="ctr"/>
                      <a:r>
                        <a:rPr lang="en-US" altLang="zh-TW" dirty="0" smtClean="0"/>
                        <a:t>0</a:t>
                      </a:r>
                      <a:endParaRPr lang="zh-TW" altLang="en-US" dirty="0"/>
                    </a:p>
                  </a:txBody>
                  <a:tcPr/>
                </a:tc>
                <a:tc>
                  <a:txBody>
                    <a:bodyPr/>
                    <a:lstStyle/>
                    <a:p>
                      <a:pPr algn="ctr"/>
                      <a:r>
                        <a:rPr lang="en-US" altLang="zh-TW" dirty="0" smtClean="0"/>
                        <a:t>0</a:t>
                      </a:r>
                      <a:endParaRPr lang="zh-TW" altLang="en-US" dirty="0"/>
                    </a:p>
                  </a:txBody>
                  <a:tcPr/>
                </a:tc>
                <a:tc>
                  <a:txBody>
                    <a:bodyPr/>
                    <a:lstStyle/>
                    <a:p>
                      <a:pPr algn="ctr"/>
                      <a:r>
                        <a:rPr lang="en-US" altLang="zh-TW" dirty="0" smtClean="0"/>
                        <a:t>0</a:t>
                      </a:r>
                      <a:endParaRPr lang="zh-TW" altLang="en-US" dirty="0"/>
                    </a:p>
                  </a:txBody>
                  <a:tcPr/>
                </a:tc>
                <a:extLst>
                  <a:ext uri="{0D108BD9-81ED-4DB2-BD59-A6C34878D82A}">
                    <a16:rowId xmlns:a16="http://schemas.microsoft.com/office/drawing/2014/main" val="2746928590"/>
                  </a:ext>
                </a:extLst>
              </a:tr>
              <a:tr h="191721">
                <a:tc>
                  <a:txBody>
                    <a:bodyPr/>
                    <a:lstStyle/>
                    <a:p>
                      <a:pPr algn="ctr"/>
                      <a:r>
                        <a:rPr lang="en-US" altLang="zh-TW" dirty="0" smtClean="0"/>
                        <a:t>0</a:t>
                      </a:r>
                      <a:endParaRPr lang="zh-TW" altLang="en-US" dirty="0"/>
                    </a:p>
                  </a:txBody>
                  <a:tcPr/>
                </a:tc>
                <a:tc>
                  <a:txBody>
                    <a:bodyPr/>
                    <a:lstStyle/>
                    <a:p>
                      <a:pPr algn="ctr"/>
                      <a:r>
                        <a:rPr lang="en-US" altLang="zh-TW" dirty="0" smtClean="0"/>
                        <a:t>1</a:t>
                      </a:r>
                      <a:endParaRPr lang="zh-TW" altLang="en-US" dirty="0"/>
                    </a:p>
                  </a:txBody>
                  <a:tcPr/>
                </a:tc>
                <a:tc>
                  <a:txBody>
                    <a:bodyPr/>
                    <a:lstStyle/>
                    <a:p>
                      <a:pPr algn="ctr"/>
                      <a:r>
                        <a:rPr lang="en-US" altLang="zh-TW" dirty="0" smtClean="0"/>
                        <a:t>0</a:t>
                      </a:r>
                      <a:endParaRPr lang="zh-TW" altLang="en-US" dirty="0"/>
                    </a:p>
                  </a:txBody>
                  <a:tcPr/>
                </a:tc>
                <a:extLst>
                  <a:ext uri="{0D108BD9-81ED-4DB2-BD59-A6C34878D82A}">
                    <a16:rowId xmlns:a16="http://schemas.microsoft.com/office/drawing/2014/main" val="810773759"/>
                  </a:ext>
                </a:extLst>
              </a:tr>
              <a:tr h="191721">
                <a:tc>
                  <a:txBody>
                    <a:bodyPr/>
                    <a:lstStyle/>
                    <a:p>
                      <a:pPr algn="ctr"/>
                      <a:r>
                        <a:rPr lang="en-US" altLang="zh-TW" dirty="0" smtClean="0"/>
                        <a:t>1</a:t>
                      </a:r>
                      <a:endParaRPr lang="zh-TW" altLang="en-US" dirty="0"/>
                    </a:p>
                  </a:txBody>
                  <a:tcPr/>
                </a:tc>
                <a:tc>
                  <a:txBody>
                    <a:bodyPr/>
                    <a:lstStyle/>
                    <a:p>
                      <a:pPr algn="ctr"/>
                      <a:r>
                        <a:rPr lang="en-US" altLang="zh-TW" dirty="0" smtClean="0"/>
                        <a:t>0</a:t>
                      </a:r>
                      <a:endParaRPr lang="zh-TW" altLang="en-US" dirty="0"/>
                    </a:p>
                  </a:txBody>
                  <a:tcPr/>
                </a:tc>
                <a:tc>
                  <a:txBody>
                    <a:bodyPr/>
                    <a:lstStyle/>
                    <a:p>
                      <a:pPr algn="ctr"/>
                      <a:r>
                        <a:rPr lang="en-US" altLang="zh-TW" dirty="0" smtClean="0"/>
                        <a:t>0</a:t>
                      </a:r>
                      <a:endParaRPr lang="zh-TW" altLang="en-US" dirty="0"/>
                    </a:p>
                  </a:txBody>
                  <a:tcPr/>
                </a:tc>
                <a:extLst>
                  <a:ext uri="{0D108BD9-81ED-4DB2-BD59-A6C34878D82A}">
                    <a16:rowId xmlns:a16="http://schemas.microsoft.com/office/drawing/2014/main" val="874797256"/>
                  </a:ext>
                </a:extLst>
              </a:tr>
              <a:tr h="191721">
                <a:tc>
                  <a:txBody>
                    <a:bodyPr/>
                    <a:lstStyle/>
                    <a:p>
                      <a:pPr algn="ctr"/>
                      <a:r>
                        <a:rPr lang="en-US" altLang="zh-TW" dirty="0" smtClean="0"/>
                        <a:t>1</a:t>
                      </a:r>
                      <a:endParaRPr lang="zh-TW" altLang="en-US" dirty="0"/>
                    </a:p>
                  </a:txBody>
                  <a:tcPr/>
                </a:tc>
                <a:tc>
                  <a:txBody>
                    <a:bodyPr/>
                    <a:lstStyle/>
                    <a:p>
                      <a:pPr algn="ctr"/>
                      <a:r>
                        <a:rPr lang="en-US" altLang="zh-TW" dirty="0" smtClean="0"/>
                        <a:t>1</a:t>
                      </a:r>
                      <a:endParaRPr lang="zh-TW" altLang="en-US" dirty="0"/>
                    </a:p>
                  </a:txBody>
                  <a:tcPr/>
                </a:tc>
                <a:tc>
                  <a:txBody>
                    <a:bodyPr/>
                    <a:lstStyle/>
                    <a:p>
                      <a:pPr algn="ctr"/>
                      <a:r>
                        <a:rPr lang="en-US" altLang="zh-TW" dirty="0" smtClean="0">
                          <a:solidFill>
                            <a:srgbClr val="0000FF"/>
                          </a:solidFill>
                        </a:rPr>
                        <a:t>1</a:t>
                      </a:r>
                      <a:endParaRPr lang="zh-TW" altLang="en-US" dirty="0">
                        <a:solidFill>
                          <a:srgbClr val="0000FF"/>
                        </a:solidFill>
                      </a:endParaRPr>
                    </a:p>
                  </a:txBody>
                  <a:tcPr/>
                </a:tc>
                <a:extLst>
                  <a:ext uri="{0D108BD9-81ED-4DB2-BD59-A6C34878D82A}">
                    <a16:rowId xmlns:a16="http://schemas.microsoft.com/office/drawing/2014/main" val="930742885"/>
                  </a:ext>
                </a:extLst>
              </a:tr>
            </a:tbl>
          </a:graphicData>
        </a:graphic>
      </p:graphicFrame>
      <p:sp>
        <p:nvSpPr>
          <p:cNvPr id="12" name="文字方塊 11"/>
          <p:cNvSpPr txBox="1"/>
          <p:nvPr/>
        </p:nvSpPr>
        <p:spPr>
          <a:xfrm>
            <a:off x="1043608" y="1304325"/>
            <a:ext cx="1728192" cy="369332"/>
          </a:xfrm>
          <a:prstGeom prst="rect">
            <a:avLst/>
          </a:prstGeom>
          <a:noFill/>
        </p:spPr>
        <p:txBody>
          <a:bodyPr wrap="square" rtlCol="0">
            <a:spAutoFit/>
          </a:bodyPr>
          <a:lstStyle/>
          <a:p>
            <a:r>
              <a:rPr lang="zh-TW" altLang="en-US" dirty="0" smtClean="0"/>
              <a:t> 輸入</a:t>
            </a:r>
            <a:r>
              <a:rPr lang="en-US" altLang="zh-TW" dirty="0" smtClean="0"/>
              <a:t>a    </a:t>
            </a:r>
            <a:r>
              <a:rPr lang="zh-TW" altLang="en-US" dirty="0" smtClean="0"/>
              <a:t>輸入</a:t>
            </a:r>
            <a:r>
              <a:rPr lang="en-US" altLang="zh-TW" dirty="0" smtClean="0"/>
              <a:t>b</a:t>
            </a:r>
            <a:endParaRPr lang="zh-TW" altLang="en-US" dirty="0"/>
          </a:p>
        </p:txBody>
      </p:sp>
      <p:sp>
        <p:nvSpPr>
          <p:cNvPr id="13" name="文字方塊 12"/>
          <p:cNvSpPr txBox="1"/>
          <p:nvPr/>
        </p:nvSpPr>
        <p:spPr>
          <a:xfrm>
            <a:off x="2771800" y="1332829"/>
            <a:ext cx="1512168" cy="369332"/>
          </a:xfrm>
          <a:prstGeom prst="rect">
            <a:avLst/>
          </a:prstGeom>
          <a:noFill/>
        </p:spPr>
        <p:txBody>
          <a:bodyPr wrap="square" rtlCol="0">
            <a:spAutoFit/>
          </a:bodyPr>
          <a:lstStyle/>
          <a:p>
            <a:r>
              <a:rPr lang="zh-TW" altLang="en-US" dirty="0" smtClean="0"/>
              <a:t>輸出 </a:t>
            </a:r>
            <a:r>
              <a:rPr lang="en-US" altLang="zh-TW" dirty="0" smtClean="0"/>
              <a:t>a </a:t>
            </a:r>
            <a:r>
              <a:rPr lang="en-US" altLang="zh-TW" dirty="0" smtClean="0">
                <a:solidFill>
                  <a:srgbClr val="FF0000"/>
                </a:solidFill>
              </a:rPr>
              <a:t>AND</a:t>
            </a:r>
            <a:r>
              <a:rPr lang="en-US" altLang="zh-TW" dirty="0" smtClean="0"/>
              <a:t> b</a:t>
            </a:r>
            <a:endParaRPr lang="zh-TW" altLang="en-US" dirty="0"/>
          </a:p>
        </p:txBody>
      </p:sp>
      <p:cxnSp>
        <p:nvCxnSpPr>
          <p:cNvPr id="15" name="直線接點 14"/>
          <p:cNvCxnSpPr/>
          <p:nvPr/>
        </p:nvCxnSpPr>
        <p:spPr>
          <a:xfrm>
            <a:off x="4355976" y="1678360"/>
            <a:ext cx="3240360" cy="1353"/>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直線接點 15"/>
          <p:cNvCxnSpPr/>
          <p:nvPr/>
        </p:nvCxnSpPr>
        <p:spPr>
          <a:xfrm>
            <a:off x="6084168" y="1310381"/>
            <a:ext cx="0" cy="1944216"/>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7" name="表格 16"/>
          <p:cNvGraphicFramePr>
            <a:graphicFrameLocks noGrp="1"/>
          </p:cNvGraphicFramePr>
          <p:nvPr>
            <p:extLst/>
          </p:nvPr>
        </p:nvGraphicFramePr>
        <p:xfrm>
          <a:off x="4499992" y="1780882"/>
          <a:ext cx="2952328" cy="1463040"/>
        </p:xfrm>
        <a:graphic>
          <a:graphicData uri="http://schemas.openxmlformats.org/drawingml/2006/table">
            <a:tbl>
              <a:tblPr firstRow="1" bandRow="1">
                <a:tableStyleId>{5C22544A-7EE6-4342-B048-85BDC9FD1C3A}</a:tableStyleId>
              </a:tblPr>
              <a:tblGrid>
                <a:gridCol w="792088">
                  <a:extLst>
                    <a:ext uri="{9D8B030D-6E8A-4147-A177-3AD203B41FA5}">
                      <a16:colId xmlns:a16="http://schemas.microsoft.com/office/drawing/2014/main" val="2263631268"/>
                    </a:ext>
                  </a:extLst>
                </a:gridCol>
                <a:gridCol w="792088">
                  <a:extLst>
                    <a:ext uri="{9D8B030D-6E8A-4147-A177-3AD203B41FA5}">
                      <a16:colId xmlns:a16="http://schemas.microsoft.com/office/drawing/2014/main" val="1451678052"/>
                    </a:ext>
                  </a:extLst>
                </a:gridCol>
                <a:gridCol w="1368152">
                  <a:extLst>
                    <a:ext uri="{9D8B030D-6E8A-4147-A177-3AD203B41FA5}">
                      <a16:colId xmlns:a16="http://schemas.microsoft.com/office/drawing/2014/main" val="185565560"/>
                    </a:ext>
                  </a:extLst>
                </a:gridCol>
              </a:tblGrid>
              <a:tr h="191721">
                <a:tc>
                  <a:txBody>
                    <a:bodyPr/>
                    <a:lstStyle/>
                    <a:p>
                      <a:pPr algn="ctr"/>
                      <a:r>
                        <a:rPr lang="en-US" altLang="zh-TW" dirty="0" smtClean="0"/>
                        <a:t>0</a:t>
                      </a:r>
                      <a:endParaRPr lang="zh-TW" altLang="en-US" dirty="0"/>
                    </a:p>
                  </a:txBody>
                  <a:tcPr/>
                </a:tc>
                <a:tc>
                  <a:txBody>
                    <a:bodyPr/>
                    <a:lstStyle/>
                    <a:p>
                      <a:pPr algn="ctr"/>
                      <a:r>
                        <a:rPr lang="en-US" altLang="zh-TW" dirty="0" smtClean="0"/>
                        <a:t>0</a:t>
                      </a:r>
                      <a:endParaRPr lang="zh-TW" altLang="en-US" dirty="0"/>
                    </a:p>
                  </a:txBody>
                  <a:tcPr/>
                </a:tc>
                <a:tc>
                  <a:txBody>
                    <a:bodyPr/>
                    <a:lstStyle/>
                    <a:p>
                      <a:pPr algn="ctr"/>
                      <a:r>
                        <a:rPr lang="en-US" altLang="zh-TW" dirty="0" smtClean="0"/>
                        <a:t>0</a:t>
                      </a:r>
                      <a:endParaRPr lang="zh-TW" altLang="en-US" dirty="0"/>
                    </a:p>
                  </a:txBody>
                  <a:tcPr/>
                </a:tc>
                <a:extLst>
                  <a:ext uri="{0D108BD9-81ED-4DB2-BD59-A6C34878D82A}">
                    <a16:rowId xmlns:a16="http://schemas.microsoft.com/office/drawing/2014/main" val="2746928590"/>
                  </a:ext>
                </a:extLst>
              </a:tr>
              <a:tr h="191721">
                <a:tc>
                  <a:txBody>
                    <a:bodyPr/>
                    <a:lstStyle/>
                    <a:p>
                      <a:pPr algn="ctr"/>
                      <a:r>
                        <a:rPr lang="en-US" altLang="zh-TW" dirty="0" smtClean="0"/>
                        <a:t>0</a:t>
                      </a:r>
                      <a:endParaRPr lang="zh-TW" altLang="en-US" dirty="0"/>
                    </a:p>
                  </a:txBody>
                  <a:tcPr/>
                </a:tc>
                <a:tc>
                  <a:txBody>
                    <a:bodyPr/>
                    <a:lstStyle/>
                    <a:p>
                      <a:pPr algn="ctr"/>
                      <a:r>
                        <a:rPr lang="en-US" altLang="zh-TW" dirty="0" smtClean="0"/>
                        <a:t>1</a:t>
                      </a:r>
                      <a:endParaRPr lang="zh-TW" altLang="en-US" dirty="0"/>
                    </a:p>
                  </a:txBody>
                  <a:tcPr/>
                </a:tc>
                <a:tc>
                  <a:txBody>
                    <a:bodyPr/>
                    <a:lstStyle/>
                    <a:p>
                      <a:pPr algn="ctr"/>
                      <a:r>
                        <a:rPr lang="en-US" altLang="zh-TW" dirty="0" smtClean="0">
                          <a:solidFill>
                            <a:srgbClr val="0000FF"/>
                          </a:solidFill>
                        </a:rPr>
                        <a:t>1</a:t>
                      </a:r>
                      <a:endParaRPr lang="zh-TW" altLang="en-US" dirty="0">
                        <a:solidFill>
                          <a:srgbClr val="0000FF"/>
                        </a:solidFill>
                      </a:endParaRPr>
                    </a:p>
                  </a:txBody>
                  <a:tcPr/>
                </a:tc>
                <a:extLst>
                  <a:ext uri="{0D108BD9-81ED-4DB2-BD59-A6C34878D82A}">
                    <a16:rowId xmlns:a16="http://schemas.microsoft.com/office/drawing/2014/main" val="810773759"/>
                  </a:ext>
                </a:extLst>
              </a:tr>
              <a:tr h="191721">
                <a:tc>
                  <a:txBody>
                    <a:bodyPr/>
                    <a:lstStyle/>
                    <a:p>
                      <a:pPr algn="ctr"/>
                      <a:r>
                        <a:rPr lang="en-US" altLang="zh-TW" dirty="0" smtClean="0"/>
                        <a:t>1</a:t>
                      </a:r>
                      <a:endParaRPr lang="zh-TW" altLang="en-US" dirty="0"/>
                    </a:p>
                  </a:txBody>
                  <a:tcPr/>
                </a:tc>
                <a:tc>
                  <a:txBody>
                    <a:bodyPr/>
                    <a:lstStyle/>
                    <a:p>
                      <a:pPr algn="ctr"/>
                      <a:r>
                        <a:rPr lang="en-US" altLang="zh-TW" dirty="0" smtClean="0"/>
                        <a:t>0</a:t>
                      </a:r>
                      <a:endParaRPr lang="zh-TW" altLang="en-US" dirty="0"/>
                    </a:p>
                  </a:txBody>
                  <a:tcPr/>
                </a:tc>
                <a:tc>
                  <a:txBody>
                    <a:bodyPr/>
                    <a:lstStyle/>
                    <a:p>
                      <a:pPr algn="ctr"/>
                      <a:r>
                        <a:rPr lang="en-US" altLang="zh-TW" dirty="0" smtClean="0">
                          <a:solidFill>
                            <a:srgbClr val="0000FF"/>
                          </a:solidFill>
                        </a:rPr>
                        <a:t>1</a:t>
                      </a:r>
                      <a:endParaRPr lang="zh-TW" altLang="en-US" dirty="0">
                        <a:solidFill>
                          <a:srgbClr val="0000FF"/>
                        </a:solidFill>
                      </a:endParaRPr>
                    </a:p>
                  </a:txBody>
                  <a:tcPr/>
                </a:tc>
                <a:extLst>
                  <a:ext uri="{0D108BD9-81ED-4DB2-BD59-A6C34878D82A}">
                    <a16:rowId xmlns:a16="http://schemas.microsoft.com/office/drawing/2014/main" val="874797256"/>
                  </a:ext>
                </a:extLst>
              </a:tr>
              <a:tr h="191721">
                <a:tc>
                  <a:txBody>
                    <a:bodyPr/>
                    <a:lstStyle/>
                    <a:p>
                      <a:pPr algn="ctr"/>
                      <a:r>
                        <a:rPr lang="en-US" altLang="zh-TW" dirty="0" smtClean="0"/>
                        <a:t>1</a:t>
                      </a:r>
                      <a:endParaRPr lang="zh-TW" altLang="en-US" dirty="0"/>
                    </a:p>
                  </a:txBody>
                  <a:tcPr/>
                </a:tc>
                <a:tc>
                  <a:txBody>
                    <a:bodyPr/>
                    <a:lstStyle/>
                    <a:p>
                      <a:pPr algn="ctr"/>
                      <a:r>
                        <a:rPr lang="en-US" altLang="zh-TW" dirty="0" smtClean="0"/>
                        <a:t>1</a:t>
                      </a:r>
                      <a:endParaRPr lang="zh-TW" altLang="en-US" dirty="0"/>
                    </a:p>
                  </a:txBody>
                  <a:tcPr/>
                </a:tc>
                <a:tc>
                  <a:txBody>
                    <a:bodyPr/>
                    <a:lstStyle/>
                    <a:p>
                      <a:pPr algn="ctr"/>
                      <a:r>
                        <a:rPr lang="en-US" altLang="zh-TW" dirty="0" smtClean="0">
                          <a:solidFill>
                            <a:srgbClr val="0000FF"/>
                          </a:solidFill>
                        </a:rPr>
                        <a:t>1</a:t>
                      </a:r>
                      <a:endParaRPr lang="zh-TW" altLang="en-US" dirty="0">
                        <a:solidFill>
                          <a:srgbClr val="0000FF"/>
                        </a:solidFill>
                      </a:endParaRPr>
                    </a:p>
                  </a:txBody>
                  <a:tcPr/>
                </a:tc>
                <a:extLst>
                  <a:ext uri="{0D108BD9-81ED-4DB2-BD59-A6C34878D82A}">
                    <a16:rowId xmlns:a16="http://schemas.microsoft.com/office/drawing/2014/main" val="930742885"/>
                  </a:ext>
                </a:extLst>
              </a:tr>
            </a:tbl>
          </a:graphicData>
        </a:graphic>
      </p:graphicFrame>
      <p:sp>
        <p:nvSpPr>
          <p:cNvPr id="18" name="文字方塊 17"/>
          <p:cNvSpPr txBox="1"/>
          <p:nvPr/>
        </p:nvSpPr>
        <p:spPr>
          <a:xfrm>
            <a:off x="4373468" y="1303478"/>
            <a:ext cx="1728192" cy="369332"/>
          </a:xfrm>
          <a:prstGeom prst="rect">
            <a:avLst/>
          </a:prstGeom>
          <a:noFill/>
        </p:spPr>
        <p:txBody>
          <a:bodyPr wrap="square" rtlCol="0">
            <a:spAutoFit/>
          </a:bodyPr>
          <a:lstStyle/>
          <a:p>
            <a:r>
              <a:rPr lang="zh-TW" altLang="en-US" dirty="0" smtClean="0"/>
              <a:t> 輸入</a:t>
            </a:r>
            <a:r>
              <a:rPr lang="en-US" altLang="zh-TW" dirty="0" smtClean="0"/>
              <a:t>a    </a:t>
            </a:r>
            <a:r>
              <a:rPr lang="zh-TW" altLang="en-US" dirty="0" smtClean="0"/>
              <a:t>輸入</a:t>
            </a:r>
            <a:r>
              <a:rPr lang="en-US" altLang="zh-TW" dirty="0" smtClean="0"/>
              <a:t>b</a:t>
            </a:r>
            <a:endParaRPr lang="zh-TW" altLang="en-US" dirty="0"/>
          </a:p>
        </p:txBody>
      </p:sp>
      <p:sp>
        <p:nvSpPr>
          <p:cNvPr id="19" name="文字方塊 18"/>
          <p:cNvSpPr txBox="1"/>
          <p:nvPr/>
        </p:nvSpPr>
        <p:spPr>
          <a:xfrm>
            <a:off x="6084168" y="1310381"/>
            <a:ext cx="1512168" cy="369332"/>
          </a:xfrm>
          <a:prstGeom prst="rect">
            <a:avLst/>
          </a:prstGeom>
          <a:noFill/>
        </p:spPr>
        <p:txBody>
          <a:bodyPr wrap="square" rtlCol="0">
            <a:spAutoFit/>
          </a:bodyPr>
          <a:lstStyle/>
          <a:p>
            <a:r>
              <a:rPr lang="zh-TW" altLang="en-US" dirty="0" smtClean="0"/>
              <a:t>輸出 </a:t>
            </a:r>
            <a:r>
              <a:rPr lang="en-US" altLang="zh-TW" dirty="0" smtClean="0"/>
              <a:t>a </a:t>
            </a:r>
            <a:r>
              <a:rPr lang="en-US" altLang="zh-TW" dirty="0" smtClean="0">
                <a:solidFill>
                  <a:srgbClr val="FF0000"/>
                </a:solidFill>
              </a:rPr>
              <a:t>OR</a:t>
            </a:r>
            <a:r>
              <a:rPr lang="en-US" altLang="zh-TW" dirty="0" smtClean="0"/>
              <a:t> b</a:t>
            </a:r>
            <a:endParaRPr lang="zh-TW" altLang="en-US" dirty="0"/>
          </a:p>
        </p:txBody>
      </p:sp>
      <p:cxnSp>
        <p:nvCxnSpPr>
          <p:cNvPr id="20" name="直線接點 19"/>
          <p:cNvCxnSpPr/>
          <p:nvPr/>
        </p:nvCxnSpPr>
        <p:spPr>
          <a:xfrm>
            <a:off x="1043608" y="3969499"/>
            <a:ext cx="3240360" cy="1353"/>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直線接點 20"/>
          <p:cNvCxnSpPr/>
          <p:nvPr/>
        </p:nvCxnSpPr>
        <p:spPr>
          <a:xfrm>
            <a:off x="2771800" y="3601520"/>
            <a:ext cx="0" cy="1944216"/>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22" name="表格 21"/>
          <p:cNvGraphicFramePr>
            <a:graphicFrameLocks noGrp="1"/>
          </p:cNvGraphicFramePr>
          <p:nvPr>
            <p:extLst/>
          </p:nvPr>
        </p:nvGraphicFramePr>
        <p:xfrm>
          <a:off x="1187624" y="4072021"/>
          <a:ext cx="2952328" cy="1463040"/>
        </p:xfrm>
        <a:graphic>
          <a:graphicData uri="http://schemas.openxmlformats.org/drawingml/2006/table">
            <a:tbl>
              <a:tblPr firstRow="1" bandRow="1">
                <a:tableStyleId>{5C22544A-7EE6-4342-B048-85BDC9FD1C3A}</a:tableStyleId>
              </a:tblPr>
              <a:tblGrid>
                <a:gridCol w="792088">
                  <a:extLst>
                    <a:ext uri="{9D8B030D-6E8A-4147-A177-3AD203B41FA5}">
                      <a16:colId xmlns:a16="http://schemas.microsoft.com/office/drawing/2014/main" val="2263631268"/>
                    </a:ext>
                  </a:extLst>
                </a:gridCol>
                <a:gridCol w="792088">
                  <a:extLst>
                    <a:ext uri="{9D8B030D-6E8A-4147-A177-3AD203B41FA5}">
                      <a16:colId xmlns:a16="http://schemas.microsoft.com/office/drawing/2014/main" val="1451678052"/>
                    </a:ext>
                  </a:extLst>
                </a:gridCol>
                <a:gridCol w="1368152">
                  <a:extLst>
                    <a:ext uri="{9D8B030D-6E8A-4147-A177-3AD203B41FA5}">
                      <a16:colId xmlns:a16="http://schemas.microsoft.com/office/drawing/2014/main" val="185565560"/>
                    </a:ext>
                  </a:extLst>
                </a:gridCol>
              </a:tblGrid>
              <a:tr h="191721">
                <a:tc>
                  <a:txBody>
                    <a:bodyPr/>
                    <a:lstStyle/>
                    <a:p>
                      <a:pPr algn="ctr"/>
                      <a:r>
                        <a:rPr lang="en-US" altLang="zh-TW" dirty="0" smtClean="0"/>
                        <a:t>0</a:t>
                      </a:r>
                      <a:endParaRPr lang="zh-TW" altLang="en-US" dirty="0"/>
                    </a:p>
                  </a:txBody>
                  <a:tcPr/>
                </a:tc>
                <a:tc>
                  <a:txBody>
                    <a:bodyPr/>
                    <a:lstStyle/>
                    <a:p>
                      <a:pPr algn="ctr"/>
                      <a:r>
                        <a:rPr lang="en-US" altLang="zh-TW" dirty="0" smtClean="0"/>
                        <a:t>0</a:t>
                      </a:r>
                      <a:endParaRPr lang="zh-TW" altLang="en-US" dirty="0"/>
                    </a:p>
                  </a:txBody>
                  <a:tcPr/>
                </a:tc>
                <a:tc>
                  <a:txBody>
                    <a:bodyPr/>
                    <a:lstStyle/>
                    <a:p>
                      <a:pPr algn="ctr"/>
                      <a:r>
                        <a:rPr lang="en-US" altLang="zh-TW" dirty="0" smtClean="0"/>
                        <a:t>0</a:t>
                      </a:r>
                      <a:endParaRPr lang="zh-TW" altLang="en-US" dirty="0"/>
                    </a:p>
                  </a:txBody>
                  <a:tcPr/>
                </a:tc>
                <a:extLst>
                  <a:ext uri="{0D108BD9-81ED-4DB2-BD59-A6C34878D82A}">
                    <a16:rowId xmlns:a16="http://schemas.microsoft.com/office/drawing/2014/main" val="2746928590"/>
                  </a:ext>
                </a:extLst>
              </a:tr>
              <a:tr h="191721">
                <a:tc>
                  <a:txBody>
                    <a:bodyPr/>
                    <a:lstStyle/>
                    <a:p>
                      <a:pPr algn="ctr"/>
                      <a:r>
                        <a:rPr lang="en-US" altLang="zh-TW" dirty="0" smtClean="0"/>
                        <a:t>0</a:t>
                      </a:r>
                      <a:endParaRPr lang="zh-TW" altLang="en-US" dirty="0"/>
                    </a:p>
                  </a:txBody>
                  <a:tcPr/>
                </a:tc>
                <a:tc>
                  <a:txBody>
                    <a:bodyPr/>
                    <a:lstStyle/>
                    <a:p>
                      <a:pPr algn="ctr"/>
                      <a:r>
                        <a:rPr lang="en-US" altLang="zh-TW" dirty="0" smtClean="0"/>
                        <a:t>1</a:t>
                      </a:r>
                      <a:endParaRPr lang="zh-TW" altLang="en-US" dirty="0"/>
                    </a:p>
                  </a:txBody>
                  <a:tcPr/>
                </a:tc>
                <a:tc>
                  <a:txBody>
                    <a:bodyPr/>
                    <a:lstStyle/>
                    <a:p>
                      <a:pPr algn="ctr"/>
                      <a:r>
                        <a:rPr lang="en-US" altLang="zh-TW" dirty="0" smtClean="0">
                          <a:solidFill>
                            <a:srgbClr val="0000FF"/>
                          </a:solidFill>
                        </a:rPr>
                        <a:t>1</a:t>
                      </a:r>
                      <a:endParaRPr lang="zh-TW" altLang="en-US" dirty="0">
                        <a:solidFill>
                          <a:srgbClr val="0000FF"/>
                        </a:solidFill>
                      </a:endParaRPr>
                    </a:p>
                  </a:txBody>
                  <a:tcPr/>
                </a:tc>
                <a:extLst>
                  <a:ext uri="{0D108BD9-81ED-4DB2-BD59-A6C34878D82A}">
                    <a16:rowId xmlns:a16="http://schemas.microsoft.com/office/drawing/2014/main" val="810773759"/>
                  </a:ext>
                </a:extLst>
              </a:tr>
              <a:tr h="191721">
                <a:tc>
                  <a:txBody>
                    <a:bodyPr/>
                    <a:lstStyle/>
                    <a:p>
                      <a:pPr algn="ctr"/>
                      <a:r>
                        <a:rPr lang="en-US" altLang="zh-TW" dirty="0" smtClean="0"/>
                        <a:t>1</a:t>
                      </a:r>
                      <a:endParaRPr lang="zh-TW" altLang="en-US" dirty="0"/>
                    </a:p>
                  </a:txBody>
                  <a:tcPr/>
                </a:tc>
                <a:tc>
                  <a:txBody>
                    <a:bodyPr/>
                    <a:lstStyle/>
                    <a:p>
                      <a:pPr algn="ctr"/>
                      <a:r>
                        <a:rPr lang="en-US" altLang="zh-TW" dirty="0" smtClean="0"/>
                        <a:t>0</a:t>
                      </a:r>
                      <a:endParaRPr lang="zh-TW" altLang="en-US" dirty="0"/>
                    </a:p>
                  </a:txBody>
                  <a:tcPr/>
                </a:tc>
                <a:tc>
                  <a:txBody>
                    <a:bodyPr/>
                    <a:lstStyle/>
                    <a:p>
                      <a:pPr algn="ctr"/>
                      <a:r>
                        <a:rPr lang="en-US" altLang="zh-TW" dirty="0" smtClean="0">
                          <a:solidFill>
                            <a:srgbClr val="0000FF"/>
                          </a:solidFill>
                        </a:rPr>
                        <a:t>1</a:t>
                      </a:r>
                      <a:endParaRPr lang="zh-TW" altLang="en-US" dirty="0">
                        <a:solidFill>
                          <a:srgbClr val="0000FF"/>
                        </a:solidFill>
                      </a:endParaRPr>
                    </a:p>
                  </a:txBody>
                  <a:tcPr/>
                </a:tc>
                <a:extLst>
                  <a:ext uri="{0D108BD9-81ED-4DB2-BD59-A6C34878D82A}">
                    <a16:rowId xmlns:a16="http://schemas.microsoft.com/office/drawing/2014/main" val="874797256"/>
                  </a:ext>
                </a:extLst>
              </a:tr>
              <a:tr h="191721">
                <a:tc>
                  <a:txBody>
                    <a:bodyPr/>
                    <a:lstStyle/>
                    <a:p>
                      <a:pPr algn="ctr"/>
                      <a:r>
                        <a:rPr lang="en-US" altLang="zh-TW" dirty="0" smtClean="0"/>
                        <a:t>1</a:t>
                      </a:r>
                      <a:endParaRPr lang="zh-TW" altLang="en-US" dirty="0"/>
                    </a:p>
                  </a:txBody>
                  <a:tcPr/>
                </a:tc>
                <a:tc>
                  <a:txBody>
                    <a:bodyPr/>
                    <a:lstStyle/>
                    <a:p>
                      <a:pPr algn="ctr"/>
                      <a:r>
                        <a:rPr lang="en-US" altLang="zh-TW" dirty="0" smtClean="0"/>
                        <a:t>1</a:t>
                      </a:r>
                      <a:endParaRPr lang="zh-TW" altLang="en-US" dirty="0"/>
                    </a:p>
                  </a:txBody>
                  <a:tcPr/>
                </a:tc>
                <a:tc>
                  <a:txBody>
                    <a:bodyPr/>
                    <a:lstStyle/>
                    <a:p>
                      <a:pPr algn="ctr"/>
                      <a:r>
                        <a:rPr lang="en-US" altLang="zh-TW" dirty="0" smtClean="0">
                          <a:solidFill>
                            <a:schemeClr val="bg1"/>
                          </a:solidFill>
                        </a:rPr>
                        <a:t>0</a:t>
                      </a:r>
                      <a:endParaRPr lang="zh-TW" altLang="en-US" dirty="0">
                        <a:solidFill>
                          <a:schemeClr val="bg1"/>
                        </a:solidFill>
                      </a:endParaRPr>
                    </a:p>
                  </a:txBody>
                  <a:tcPr/>
                </a:tc>
                <a:extLst>
                  <a:ext uri="{0D108BD9-81ED-4DB2-BD59-A6C34878D82A}">
                    <a16:rowId xmlns:a16="http://schemas.microsoft.com/office/drawing/2014/main" val="930742885"/>
                  </a:ext>
                </a:extLst>
              </a:tr>
            </a:tbl>
          </a:graphicData>
        </a:graphic>
      </p:graphicFrame>
      <p:sp>
        <p:nvSpPr>
          <p:cNvPr id="23" name="文字方塊 22"/>
          <p:cNvSpPr txBox="1"/>
          <p:nvPr/>
        </p:nvSpPr>
        <p:spPr>
          <a:xfrm>
            <a:off x="1043608" y="3573016"/>
            <a:ext cx="1728192" cy="369332"/>
          </a:xfrm>
          <a:prstGeom prst="rect">
            <a:avLst/>
          </a:prstGeom>
          <a:noFill/>
        </p:spPr>
        <p:txBody>
          <a:bodyPr wrap="square" rtlCol="0">
            <a:spAutoFit/>
          </a:bodyPr>
          <a:lstStyle/>
          <a:p>
            <a:r>
              <a:rPr lang="zh-TW" altLang="en-US" dirty="0" smtClean="0"/>
              <a:t> 輸入</a:t>
            </a:r>
            <a:r>
              <a:rPr lang="en-US" altLang="zh-TW" dirty="0" smtClean="0"/>
              <a:t>a    </a:t>
            </a:r>
            <a:r>
              <a:rPr lang="zh-TW" altLang="en-US" dirty="0" smtClean="0"/>
              <a:t>輸入</a:t>
            </a:r>
            <a:r>
              <a:rPr lang="en-US" altLang="zh-TW" dirty="0" smtClean="0"/>
              <a:t>b</a:t>
            </a:r>
            <a:endParaRPr lang="zh-TW" altLang="en-US" dirty="0"/>
          </a:p>
        </p:txBody>
      </p:sp>
      <p:sp>
        <p:nvSpPr>
          <p:cNvPr id="24" name="文字方塊 23"/>
          <p:cNvSpPr txBox="1"/>
          <p:nvPr/>
        </p:nvSpPr>
        <p:spPr>
          <a:xfrm>
            <a:off x="2771800" y="3601520"/>
            <a:ext cx="1512168" cy="369332"/>
          </a:xfrm>
          <a:prstGeom prst="rect">
            <a:avLst/>
          </a:prstGeom>
          <a:noFill/>
        </p:spPr>
        <p:txBody>
          <a:bodyPr wrap="square" rtlCol="0">
            <a:spAutoFit/>
          </a:bodyPr>
          <a:lstStyle/>
          <a:p>
            <a:r>
              <a:rPr lang="zh-TW" altLang="en-US" dirty="0" smtClean="0"/>
              <a:t>輸出 </a:t>
            </a:r>
            <a:r>
              <a:rPr lang="en-US" altLang="zh-TW" dirty="0" smtClean="0"/>
              <a:t>a </a:t>
            </a:r>
            <a:r>
              <a:rPr lang="en-US" altLang="zh-TW" dirty="0" smtClean="0">
                <a:solidFill>
                  <a:srgbClr val="FF0000"/>
                </a:solidFill>
              </a:rPr>
              <a:t>XOR</a:t>
            </a:r>
            <a:r>
              <a:rPr lang="en-US" altLang="zh-TW" dirty="0" smtClean="0"/>
              <a:t> b</a:t>
            </a:r>
            <a:endParaRPr lang="zh-TW" altLang="en-US" dirty="0"/>
          </a:p>
        </p:txBody>
      </p:sp>
      <p:cxnSp>
        <p:nvCxnSpPr>
          <p:cNvPr id="25" name="直線接點 24"/>
          <p:cNvCxnSpPr/>
          <p:nvPr/>
        </p:nvCxnSpPr>
        <p:spPr>
          <a:xfrm>
            <a:off x="4355976" y="3969499"/>
            <a:ext cx="3240360" cy="1353"/>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直線接點 25"/>
          <p:cNvCxnSpPr/>
          <p:nvPr/>
        </p:nvCxnSpPr>
        <p:spPr>
          <a:xfrm>
            <a:off x="6084168" y="3601520"/>
            <a:ext cx="0" cy="1944216"/>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27" name="表格 26"/>
          <p:cNvGraphicFramePr>
            <a:graphicFrameLocks noGrp="1"/>
          </p:cNvGraphicFramePr>
          <p:nvPr>
            <p:extLst/>
          </p:nvPr>
        </p:nvGraphicFramePr>
        <p:xfrm>
          <a:off x="4499992" y="4072021"/>
          <a:ext cx="2952328" cy="731520"/>
        </p:xfrm>
        <a:graphic>
          <a:graphicData uri="http://schemas.openxmlformats.org/drawingml/2006/table">
            <a:tbl>
              <a:tblPr firstRow="1" bandRow="1">
                <a:tableStyleId>{5C22544A-7EE6-4342-B048-85BDC9FD1C3A}</a:tableStyleId>
              </a:tblPr>
              <a:tblGrid>
                <a:gridCol w="1584176">
                  <a:extLst>
                    <a:ext uri="{9D8B030D-6E8A-4147-A177-3AD203B41FA5}">
                      <a16:colId xmlns:a16="http://schemas.microsoft.com/office/drawing/2014/main" val="1451678052"/>
                    </a:ext>
                  </a:extLst>
                </a:gridCol>
                <a:gridCol w="1368152">
                  <a:extLst>
                    <a:ext uri="{9D8B030D-6E8A-4147-A177-3AD203B41FA5}">
                      <a16:colId xmlns:a16="http://schemas.microsoft.com/office/drawing/2014/main" val="185565560"/>
                    </a:ext>
                  </a:extLst>
                </a:gridCol>
              </a:tblGrid>
              <a:tr h="191721">
                <a:tc>
                  <a:txBody>
                    <a:bodyPr/>
                    <a:lstStyle/>
                    <a:p>
                      <a:pPr algn="ctr"/>
                      <a:r>
                        <a:rPr lang="en-US" altLang="zh-TW" dirty="0" smtClean="0"/>
                        <a:t>0</a:t>
                      </a:r>
                      <a:endParaRPr lang="zh-TW" altLang="en-US" dirty="0" smtClean="0"/>
                    </a:p>
                  </a:txBody>
                  <a:tcPr/>
                </a:tc>
                <a:tc>
                  <a:txBody>
                    <a:bodyPr/>
                    <a:lstStyle/>
                    <a:p>
                      <a:pPr algn="ctr"/>
                      <a:r>
                        <a:rPr lang="en-US" altLang="zh-TW" dirty="0" smtClean="0">
                          <a:solidFill>
                            <a:srgbClr val="0000FF"/>
                          </a:solidFill>
                        </a:rPr>
                        <a:t>1</a:t>
                      </a:r>
                      <a:endParaRPr lang="zh-TW" altLang="en-US" dirty="0">
                        <a:solidFill>
                          <a:srgbClr val="0000FF"/>
                        </a:solidFill>
                      </a:endParaRPr>
                    </a:p>
                  </a:txBody>
                  <a:tcPr/>
                </a:tc>
                <a:extLst>
                  <a:ext uri="{0D108BD9-81ED-4DB2-BD59-A6C34878D82A}">
                    <a16:rowId xmlns:a16="http://schemas.microsoft.com/office/drawing/2014/main" val="2746928590"/>
                  </a:ext>
                </a:extLst>
              </a:tr>
              <a:tr h="191721">
                <a:tc>
                  <a:txBody>
                    <a:bodyPr/>
                    <a:lstStyle/>
                    <a:p>
                      <a:pPr algn="ctr"/>
                      <a:r>
                        <a:rPr lang="en-US" altLang="zh-TW" dirty="0" smtClean="0"/>
                        <a:t>1</a:t>
                      </a:r>
                      <a:endParaRPr lang="zh-TW" altLang="en-US" dirty="0" smtClean="0"/>
                    </a:p>
                  </a:txBody>
                  <a:tcPr/>
                </a:tc>
                <a:tc>
                  <a:txBody>
                    <a:bodyPr/>
                    <a:lstStyle/>
                    <a:p>
                      <a:pPr algn="ctr"/>
                      <a:r>
                        <a:rPr lang="en-US" altLang="zh-TW" dirty="0" smtClean="0"/>
                        <a:t>0</a:t>
                      </a:r>
                      <a:endParaRPr lang="zh-TW" altLang="en-US" dirty="0"/>
                    </a:p>
                  </a:txBody>
                  <a:tcPr/>
                </a:tc>
                <a:extLst>
                  <a:ext uri="{0D108BD9-81ED-4DB2-BD59-A6C34878D82A}">
                    <a16:rowId xmlns:a16="http://schemas.microsoft.com/office/drawing/2014/main" val="810773759"/>
                  </a:ext>
                </a:extLst>
              </a:tr>
            </a:tbl>
          </a:graphicData>
        </a:graphic>
      </p:graphicFrame>
      <p:sp>
        <p:nvSpPr>
          <p:cNvPr id="28" name="文字方塊 27"/>
          <p:cNvSpPr txBox="1"/>
          <p:nvPr/>
        </p:nvSpPr>
        <p:spPr>
          <a:xfrm>
            <a:off x="4788024" y="3573016"/>
            <a:ext cx="1296144" cy="369332"/>
          </a:xfrm>
          <a:prstGeom prst="rect">
            <a:avLst/>
          </a:prstGeom>
          <a:noFill/>
        </p:spPr>
        <p:txBody>
          <a:bodyPr wrap="square" rtlCol="0">
            <a:spAutoFit/>
          </a:bodyPr>
          <a:lstStyle/>
          <a:p>
            <a:r>
              <a:rPr lang="zh-TW" altLang="en-US" dirty="0" smtClean="0"/>
              <a:t> 輸入</a:t>
            </a:r>
            <a:r>
              <a:rPr lang="en-US" altLang="zh-TW" dirty="0" smtClean="0"/>
              <a:t>a</a:t>
            </a:r>
            <a:endParaRPr lang="zh-TW" altLang="en-US" dirty="0"/>
          </a:p>
        </p:txBody>
      </p:sp>
      <p:sp>
        <p:nvSpPr>
          <p:cNvPr id="29" name="文字方塊 28"/>
          <p:cNvSpPr txBox="1"/>
          <p:nvPr/>
        </p:nvSpPr>
        <p:spPr>
          <a:xfrm>
            <a:off x="6084168" y="3601520"/>
            <a:ext cx="1512168" cy="369332"/>
          </a:xfrm>
          <a:prstGeom prst="rect">
            <a:avLst/>
          </a:prstGeom>
          <a:noFill/>
        </p:spPr>
        <p:txBody>
          <a:bodyPr wrap="square" rtlCol="0">
            <a:spAutoFit/>
          </a:bodyPr>
          <a:lstStyle/>
          <a:p>
            <a:r>
              <a:rPr lang="zh-TW" altLang="en-US" dirty="0" smtClean="0"/>
              <a:t>輸出 </a:t>
            </a:r>
            <a:r>
              <a:rPr lang="en-US" altLang="zh-TW" dirty="0" smtClean="0">
                <a:solidFill>
                  <a:srgbClr val="FF0000"/>
                </a:solidFill>
              </a:rPr>
              <a:t>NOT</a:t>
            </a:r>
            <a:r>
              <a:rPr lang="en-US" altLang="zh-TW" dirty="0" smtClean="0"/>
              <a:t> a </a:t>
            </a:r>
            <a:endParaRPr lang="zh-TW" altLang="en-US" dirty="0"/>
          </a:p>
        </p:txBody>
      </p:sp>
    </p:spTree>
    <p:extLst>
      <p:ext uri="{BB962C8B-B14F-4D97-AF65-F5344CB8AC3E}">
        <p14:creationId xmlns:p14="http://schemas.microsoft.com/office/powerpoint/2010/main" val="135839421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2"/>
          <p:cNvSpPr>
            <a:spLocks noGrp="1"/>
          </p:cNvSpPr>
          <p:nvPr>
            <p:ph type="title"/>
          </p:nvPr>
        </p:nvSpPr>
        <p:spPr>
          <a:xfrm>
            <a:off x="285720" y="320040"/>
            <a:ext cx="8215370" cy="680068"/>
          </a:xfrm>
        </p:spPr>
        <p:txBody>
          <a:bodyPr/>
          <a:lstStyle/>
          <a:p>
            <a:pPr algn="r"/>
            <a:r>
              <a:rPr lang="zh-TW" altLang="en-US" dirty="0" smtClean="0"/>
              <a:t>真值表</a:t>
            </a:r>
            <a:r>
              <a:rPr lang="en-US" altLang="zh-TW" dirty="0" smtClean="0"/>
              <a:t>				2/2</a:t>
            </a:r>
            <a:endParaRPr lang="zh-TW" altLang="en-US" dirty="0"/>
          </a:p>
        </p:txBody>
      </p:sp>
      <p:pic>
        <p:nvPicPr>
          <p:cNvPr id="5" name="圖片 4"/>
          <p:cNvPicPr>
            <a:picLocks noChangeAspect="1"/>
          </p:cNvPicPr>
          <p:nvPr/>
        </p:nvPicPr>
        <p:blipFill>
          <a:blip r:embed="rId2"/>
          <a:stretch>
            <a:fillRect/>
          </a:stretch>
        </p:blipFill>
        <p:spPr>
          <a:xfrm>
            <a:off x="1115616" y="1700808"/>
            <a:ext cx="6179759" cy="3240360"/>
          </a:xfrm>
          <a:prstGeom prst="rect">
            <a:avLst/>
          </a:prstGeom>
        </p:spPr>
      </p:pic>
      <p:sp>
        <p:nvSpPr>
          <p:cNvPr id="6" name="矩形 5">
            <a:hlinkClick r:id="rId3"/>
          </p:cNvPr>
          <p:cNvSpPr/>
          <p:nvPr/>
        </p:nvSpPr>
        <p:spPr>
          <a:xfrm>
            <a:off x="1115616" y="5733256"/>
            <a:ext cx="6179759" cy="360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a:t>八個基本邏輯閘</a:t>
            </a:r>
            <a:r>
              <a:rPr lang="zh-TW" altLang="en-US" dirty="0" smtClean="0"/>
              <a:t>符號      </a:t>
            </a:r>
            <a:r>
              <a:rPr lang="en-US" altLang="zh-TW" dirty="0" smtClean="0"/>
              <a:t>https</a:t>
            </a:r>
            <a:r>
              <a:rPr lang="en-US" altLang="zh-TW" dirty="0"/>
              <a:t>://</a:t>
            </a:r>
            <a:r>
              <a:rPr lang="en-US" altLang="zh-TW" dirty="0">
                <a:hlinkClick r:id="rId3"/>
              </a:rPr>
              <a:t>reurl.cc/KrWrVq</a:t>
            </a:r>
            <a:endParaRPr lang="zh-TW" altLang="en-US" dirty="0"/>
          </a:p>
        </p:txBody>
      </p:sp>
    </p:spTree>
    <p:extLst>
      <p:ext uri="{BB962C8B-B14F-4D97-AF65-F5344CB8AC3E}">
        <p14:creationId xmlns:p14="http://schemas.microsoft.com/office/powerpoint/2010/main" val="319405020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4" name="標題 1"/>
          <p:cNvSpPr txBox="1">
            <a:spLocks/>
          </p:cNvSpPr>
          <p:nvPr/>
        </p:nvSpPr>
        <p:spPr>
          <a:xfrm>
            <a:off x="618768" y="1988840"/>
            <a:ext cx="7321624" cy="1362075"/>
          </a:xfrm>
          <a:prstGeom prst="rect">
            <a:avLst/>
          </a:prstGeom>
          <a:solidFill>
            <a:srgbClr val="0000FF"/>
          </a:solidFill>
          <a:ln w="25400">
            <a:solidFill>
              <a:srgbClr val="FF0000"/>
            </a:solidFill>
          </a:ln>
        </p:spPr>
        <p:txBody>
          <a:bodyPr vert="horz" lIns="45720" tIns="0" rIns="45720" bIns="0" anchor="ctr" anchorCtr="0">
            <a:normAutofit/>
          </a:bodyPr>
          <a:lstStyle>
            <a:lvl1pPr algn="r" rtl="0" eaLnBrk="1" latinLnBrk="0" hangingPunct="1">
              <a:spcBef>
                <a:spcPct val="0"/>
              </a:spcBef>
              <a:buNone/>
              <a:defRPr kumimoji="0" sz="4200" b="1" kern="1200" cap="all" baseline="0">
                <a:ln w="500">
                  <a:solidFill>
                    <a:schemeClr val="tx2">
                      <a:shade val="20000"/>
                      <a:satMod val="120000"/>
                    </a:schemeClr>
                  </a:solidFill>
                </a:ln>
                <a:gradFill>
                  <a:gsLst>
                    <a:gs pos="0">
                      <a:schemeClr val="accent4">
                        <a:tint val="13000"/>
                      </a:schemeClr>
                    </a:gs>
                    <a:gs pos="10000">
                      <a:schemeClr val="accent4">
                        <a:tint val="20000"/>
                      </a:schemeClr>
                    </a:gs>
                    <a:gs pos="49000">
                      <a:schemeClr val="accent4">
                        <a:tint val="70000"/>
                      </a:schemeClr>
                    </a:gs>
                    <a:gs pos="50000">
                      <a:schemeClr val="accent4">
                        <a:tint val="97000"/>
                      </a:schemeClr>
                    </a:gs>
                    <a:gs pos="100000">
                      <a:schemeClr val="accent4">
                        <a:tint val="20000"/>
                      </a:schemeClr>
                    </a:gs>
                  </a:gsLst>
                  <a:lin ang="5400000" scaled="1"/>
                </a:gradFill>
                <a:effectLst/>
                <a:latin typeface="Calibri" pitchFamily="34" charset="0"/>
                <a:ea typeface="微軟正黑體" pitchFamily="34" charset="-120"/>
                <a:cs typeface="+mj-cs"/>
              </a:defRPr>
            </a:lvl1pPr>
            <a:extLst/>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zh-TW" sz="4200" b="1" i="0" u="none" strike="noStrike" kern="1200" cap="all" spc="0" normalizeH="0" baseline="0" noProof="0" dirty="0" smtClean="0">
                <a:ln w="500">
                  <a:solidFill>
                    <a:srgbClr val="B13F9A">
                      <a:shade val="20000"/>
                      <a:satMod val="120000"/>
                    </a:srgbClr>
                  </a:solidFill>
                </a:ln>
                <a:solidFill>
                  <a:prstClr val="white"/>
                </a:solidFill>
                <a:effectLst/>
                <a:uLnTx/>
                <a:uFillTx/>
                <a:latin typeface="標楷體" panose="03000509000000000000" pitchFamily="65" charset="-120"/>
                <a:ea typeface="標楷體" panose="03000509000000000000" pitchFamily="65" charset="-120"/>
                <a:cs typeface="+mj-cs"/>
              </a:rPr>
              <a:t>B.1 </a:t>
            </a:r>
            <a:r>
              <a:rPr kumimoji="0" lang="zh-TW" altLang="en-US" sz="4200" b="1" i="0" u="none" strike="noStrike" kern="1200" cap="all" spc="0" normalizeH="0" baseline="0" noProof="0" dirty="0" smtClean="0">
                <a:ln w="500">
                  <a:solidFill>
                    <a:srgbClr val="B13F9A">
                      <a:shade val="20000"/>
                      <a:satMod val="120000"/>
                    </a:srgbClr>
                  </a:solidFill>
                </a:ln>
                <a:solidFill>
                  <a:prstClr val="white"/>
                </a:solidFill>
                <a:effectLst/>
                <a:uLnTx/>
                <a:uFillTx/>
                <a:latin typeface="標楷體" panose="03000509000000000000" pitchFamily="65" charset="-120"/>
                <a:ea typeface="標楷體" panose="03000509000000000000" pitchFamily="65" charset="-120"/>
                <a:cs typeface="+mj-cs"/>
              </a:rPr>
              <a:t>對稱式加密</a:t>
            </a:r>
            <a:r>
              <a:rPr kumimoji="0" lang="en-US" altLang="zh-TW" sz="4200" b="1" i="0" u="none" strike="noStrike" kern="1200" cap="all" spc="0" normalizeH="0" baseline="0" noProof="0" dirty="0" smtClean="0">
                <a:ln w="500">
                  <a:solidFill>
                    <a:srgbClr val="B13F9A">
                      <a:shade val="20000"/>
                      <a:satMod val="120000"/>
                    </a:srgbClr>
                  </a:solidFill>
                </a:ln>
                <a:solidFill>
                  <a:prstClr val="white"/>
                </a:solidFill>
                <a:effectLst/>
                <a:uLnTx/>
                <a:uFillTx/>
                <a:latin typeface="標楷體" panose="03000509000000000000" pitchFamily="65" charset="-120"/>
                <a:ea typeface="標楷體" panose="03000509000000000000" pitchFamily="65" charset="-120"/>
                <a:cs typeface="+mj-cs"/>
              </a:rPr>
              <a:t>/</a:t>
            </a:r>
            <a:r>
              <a:rPr kumimoji="0" lang="zh-TW" altLang="en-US" sz="4200" b="1" i="0" u="none" strike="noStrike" kern="1200" cap="all" spc="0" normalizeH="0" baseline="0" noProof="0" dirty="0" smtClean="0">
                <a:ln w="500">
                  <a:solidFill>
                    <a:srgbClr val="B13F9A">
                      <a:shade val="20000"/>
                      <a:satMod val="120000"/>
                    </a:srgbClr>
                  </a:solidFill>
                </a:ln>
                <a:solidFill>
                  <a:prstClr val="white"/>
                </a:solidFill>
                <a:effectLst/>
                <a:uLnTx/>
                <a:uFillTx/>
                <a:latin typeface="標楷體" panose="03000509000000000000" pitchFamily="65" charset="-120"/>
                <a:ea typeface="標楷體" panose="03000509000000000000" pitchFamily="65" charset="-120"/>
                <a:cs typeface="+mj-cs"/>
              </a:rPr>
              <a:t>解密 </a:t>
            </a:r>
            <a:r>
              <a:rPr kumimoji="0" lang="en-US" altLang="zh-TW" sz="4200" b="1" i="0" u="none" strike="noStrike" kern="1200" cap="all" spc="0" normalizeH="0" baseline="0" noProof="0" dirty="0" smtClean="0">
                <a:ln w="500">
                  <a:solidFill>
                    <a:srgbClr val="B13F9A">
                      <a:shade val="20000"/>
                      <a:satMod val="120000"/>
                    </a:srgbClr>
                  </a:solidFill>
                </a:ln>
                <a:solidFill>
                  <a:prstClr val="white"/>
                </a:solidFill>
                <a:effectLst/>
                <a:uLnTx/>
                <a:uFillTx/>
                <a:latin typeface="標楷體" panose="03000509000000000000" pitchFamily="65" charset="-120"/>
                <a:ea typeface="標楷體" panose="03000509000000000000" pitchFamily="65" charset="-120"/>
                <a:cs typeface="+mj-cs"/>
              </a:rPr>
              <a:t>(Symmetric)</a:t>
            </a:r>
            <a:endParaRPr kumimoji="0" lang="zh-TW" altLang="en-US" sz="4200" b="1" i="0" u="none" strike="noStrike" kern="1200" cap="all" spc="0" normalizeH="0" baseline="0" noProof="0" dirty="0">
              <a:ln w="500">
                <a:solidFill>
                  <a:srgbClr val="B13F9A">
                    <a:shade val="20000"/>
                    <a:satMod val="120000"/>
                  </a:srgbClr>
                </a:solidFill>
              </a:ln>
              <a:solidFill>
                <a:prstClr val="white"/>
              </a:solidFill>
              <a:effectLst/>
              <a:uLnTx/>
              <a:uFillTx/>
              <a:latin typeface="標楷體" panose="03000509000000000000" pitchFamily="65" charset="-120"/>
              <a:ea typeface="標楷體" panose="03000509000000000000" pitchFamily="65" charset="-120"/>
              <a:cs typeface="+mj-cs"/>
            </a:endParaRPr>
          </a:p>
        </p:txBody>
      </p:sp>
      <p:sp>
        <p:nvSpPr>
          <p:cNvPr id="5" name="矩形 4"/>
          <p:cNvSpPr/>
          <p:nvPr/>
        </p:nvSpPr>
        <p:spPr>
          <a:xfrm>
            <a:off x="683568" y="4149080"/>
            <a:ext cx="7272808" cy="1440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1"/>
            <a:r>
              <a:rPr lang="fr-FR" altLang="zh-TW" sz="2400" dirty="0" smtClean="0">
                <a:latin typeface="標楷體" panose="03000509000000000000" pitchFamily="65" charset="-120"/>
                <a:ea typeface="標楷體" panose="03000509000000000000" pitchFamily="65" charset="-120"/>
              </a:rPr>
              <a:t>AES </a:t>
            </a:r>
            <a:r>
              <a:rPr lang="fr-FR" altLang="zh-TW" sz="2400" dirty="0">
                <a:latin typeface="標楷體" panose="03000509000000000000" pitchFamily="65" charset="-120"/>
                <a:ea typeface="標楷體" panose="03000509000000000000" pitchFamily="65" charset="-120"/>
              </a:rPr>
              <a:t>256 </a:t>
            </a:r>
            <a:r>
              <a:rPr lang="fr-FR" altLang="zh-TW" sz="2400" dirty="0" smtClean="0">
                <a:latin typeface="標楷體" panose="03000509000000000000" pitchFamily="65" charset="-120"/>
                <a:ea typeface="標楷體" panose="03000509000000000000" pitchFamily="65" charset="-120"/>
              </a:rPr>
              <a:t>     (</a:t>
            </a:r>
            <a:r>
              <a:rPr lang="fr-FR" altLang="zh-TW" sz="2400" dirty="0">
                <a:latin typeface="標楷體" panose="03000509000000000000" pitchFamily="65" charset="-120"/>
                <a:ea typeface="標楷體" panose="03000509000000000000" pitchFamily="65" charset="-120"/>
              </a:rPr>
              <a:t>Advanced Encryption Standard)</a:t>
            </a:r>
          </a:p>
          <a:p>
            <a:pPr lvl="1"/>
            <a:r>
              <a:rPr lang="fr-FR" altLang="zh-TW" sz="2400" dirty="0" smtClean="0">
                <a:latin typeface="標楷體" panose="03000509000000000000" pitchFamily="65" charset="-120"/>
                <a:ea typeface="標楷體" panose="03000509000000000000" pitchFamily="65" charset="-120"/>
              </a:rPr>
              <a:t>DES </a:t>
            </a:r>
            <a:r>
              <a:rPr lang="zh-TW" altLang="en-US" sz="2400" dirty="0" smtClean="0">
                <a:latin typeface="標楷體" panose="03000509000000000000" pitchFamily="65" charset="-120"/>
                <a:ea typeface="標楷體" panose="03000509000000000000" pitchFamily="65" charset="-120"/>
              </a:rPr>
              <a:t>密</a:t>
            </a:r>
            <a:r>
              <a:rPr lang="zh-TW" altLang="en-US" sz="2400" dirty="0">
                <a:latin typeface="標楷體" panose="03000509000000000000" pitchFamily="65" charset="-120"/>
                <a:ea typeface="標楷體" panose="03000509000000000000" pitchFamily="65" charset="-120"/>
              </a:rPr>
              <a:t>鑰</a:t>
            </a:r>
            <a:r>
              <a:rPr lang="fr-FR" altLang="zh-TW" sz="2400" dirty="0">
                <a:latin typeface="標楷體" panose="03000509000000000000" pitchFamily="65" charset="-120"/>
                <a:ea typeface="標楷體" panose="03000509000000000000" pitchFamily="65" charset="-120"/>
              </a:rPr>
              <a:t>56+8 </a:t>
            </a:r>
            <a:r>
              <a:rPr lang="fr-FR" altLang="zh-TW" sz="2400" dirty="0" smtClean="0">
                <a:latin typeface="標楷體" panose="03000509000000000000" pitchFamily="65" charset="-120"/>
                <a:ea typeface="標楷體" panose="03000509000000000000" pitchFamily="65" charset="-120"/>
              </a:rPr>
              <a:t>(Data </a:t>
            </a:r>
            <a:r>
              <a:rPr lang="fr-FR" altLang="zh-TW" sz="2400" dirty="0">
                <a:latin typeface="標楷體" panose="03000509000000000000" pitchFamily="65" charset="-120"/>
                <a:ea typeface="標楷體" panose="03000509000000000000" pitchFamily="65" charset="-120"/>
              </a:rPr>
              <a:t>Encryption Standard)</a:t>
            </a:r>
          </a:p>
          <a:p>
            <a:pPr lvl="1"/>
            <a:r>
              <a:rPr lang="fr-FR" altLang="zh-TW" sz="2400" dirty="0">
                <a:latin typeface="標楷體" panose="03000509000000000000" pitchFamily="65" charset="-120"/>
                <a:ea typeface="標楷體" panose="03000509000000000000" pitchFamily="65" charset="-120"/>
              </a:rPr>
              <a:t>3DES </a:t>
            </a:r>
            <a:r>
              <a:rPr lang="fr-FR" altLang="zh-TW" sz="2400" dirty="0" smtClean="0">
                <a:latin typeface="標楷體" panose="03000509000000000000" pitchFamily="65" charset="-120"/>
                <a:ea typeface="標楷體" panose="03000509000000000000" pitchFamily="65" charset="-120"/>
              </a:rPr>
              <a:t>        (</a:t>
            </a:r>
            <a:r>
              <a:rPr lang="fr-FR" altLang="zh-TW" sz="2400" dirty="0">
                <a:latin typeface="標楷體" panose="03000509000000000000" pitchFamily="65" charset="-120"/>
                <a:ea typeface="標楷體" panose="03000509000000000000" pitchFamily="65" charset="-120"/>
              </a:rPr>
              <a:t>Triple DES</a:t>
            </a:r>
            <a:r>
              <a:rPr lang="fr-FR" altLang="zh-TW" sz="2400" dirty="0" smtClean="0">
                <a:latin typeface="標楷體" panose="03000509000000000000" pitchFamily="65" charset="-120"/>
                <a:ea typeface="標楷體" panose="03000509000000000000" pitchFamily="65" charset="-120"/>
              </a:rPr>
              <a:t>)</a:t>
            </a:r>
            <a:endParaRPr lang="zh-TW" altLang="en-US" sz="24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19846856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smtClean="0">
                <a:solidFill>
                  <a:srgbClr val="FF0000"/>
                </a:solidFill>
              </a:rPr>
              <a:t>B.1 </a:t>
            </a:r>
            <a:r>
              <a:rPr lang="zh-TW" altLang="en-US" dirty="0" smtClean="0">
                <a:solidFill>
                  <a:srgbClr val="FF0000"/>
                </a:solidFill>
              </a:rPr>
              <a:t>對稱式</a:t>
            </a:r>
            <a:r>
              <a:rPr lang="zh-TW" altLang="en-US" dirty="0" smtClean="0"/>
              <a:t>加密</a:t>
            </a:r>
            <a:r>
              <a:rPr lang="en-US" altLang="zh-TW" dirty="0" smtClean="0"/>
              <a:t>/</a:t>
            </a:r>
            <a:r>
              <a:rPr lang="zh-TW" altLang="en-US" dirty="0" smtClean="0"/>
              <a:t>解密的基本運作</a:t>
            </a:r>
            <a:endParaRPr lang="zh-TW" altLang="en-US" dirty="0"/>
          </a:p>
        </p:txBody>
      </p:sp>
      <p:grpSp>
        <p:nvGrpSpPr>
          <p:cNvPr id="48" name="群組 47"/>
          <p:cNvGrpSpPr/>
          <p:nvPr/>
        </p:nvGrpSpPr>
        <p:grpSpPr>
          <a:xfrm>
            <a:off x="500034" y="1928802"/>
            <a:ext cx="7715304" cy="3927502"/>
            <a:chOff x="500034" y="1787514"/>
            <a:chExt cx="7715304" cy="3927502"/>
          </a:xfrm>
        </p:grpSpPr>
        <p:sp>
          <p:nvSpPr>
            <p:cNvPr id="4" name="流程圖: 文件 3"/>
            <p:cNvSpPr/>
            <p:nvPr/>
          </p:nvSpPr>
          <p:spPr>
            <a:xfrm>
              <a:off x="500034" y="2500306"/>
              <a:ext cx="1071570" cy="100013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訊息</a:t>
              </a:r>
              <a:endParaRPr lang="en-US" altLang="zh-TW" dirty="0" smtClean="0">
                <a:latin typeface="Calibri" pitchFamily="34" charset="0"/>
              </a:endParaRPr>
            </a:p>
            <a:p>
              <a:pPr algn="ctr"/>
              <a:r>
                <a:rPr lang="zh-TW" altLang="en-US" dirty="0" smtClean="0">
                  <a:latin typeface="Calibri" pitchFamily="34" charset="0"/>
                </a:rPr>
                <a:t>原文</a:t>
              </a:r>
              <a:endParaRPr lang="zh-TW" altLang="en-US" dirty="0">
                <a:latin typeface="Calibri" pitchFamily="34" charset="0"/>
              </a:endParaRPr>
            </a:p>
          </p:txBody>
        </p:sp>
        <p:sp>
          <p:nvSpPr>
            <p:cNvPr id="6" name="流程圖: 文件 5"/>
            <p:cNvSpPr/>
            <p:nvPr/>
          </p:nvSpPr>
          <p:spPr>
            <a:xfrm>
              <a:off x="7143768" y="2500306"/>
              <a:ext cx="1071570" cy="100013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訊息</a:t>
              </a:r>
              <a:endParaRPr lang="en-US" altLang="zh-TW" dirty="0" smtClean="0">
                <a:latin typeface="Calibri" pitchFamily="34" charset="0"/>
              </a:endParaRPr>
            </a:p>
            <a:p>
              <a:pPr algn="ctr"/>
              <a:r>
                <a:rPr lang="zh-TW" altLang="en-US" dirty="0" smtClean="0">
                  <a:latin typeface="Calibri" pitchFamily="34" charset="0"/>
                </a:rPr>
                <a:t>原文</a:t>
              </a:r>
              <a:endParaRPr lang="zh-TW" altLang="en-US" dirty="0">
                <a:latin typeface="Calibri" pitchFamily="34" charset="0"/>
              </a:endParaRPr>
            </a:p>
          </p:txBody>
        </p:sp>
        <p:sp>
          <p:nvSpPr>
            <p:cNvPr id="7" name="橢圓 6"/>
            <p:cNvSpPr/>
            <p:nvPr/>
          </p:nvSpPr>
          <p:spPr>
            <a:xfrm>
              <a:off x="1928794" y="2571744"/>
              <a:ext cx="857256" cy="8572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加密</a:t>
              </a:r>
              <a:endParaRPr lang="zh-TW" altLang="en-US" dirty="0">
                <a:latin typeface="Calibri" pitchFamily="34" charset="0"/>
              </a:endParaRPr>
            </a:p>
          </p:txBody>
        </p:sp>
        <p:sp>
          <p:nvSpPr>
            <p:cNvPr id="8" name="橢圓 7"/>
            <p:cNvSpPr/>
            <p:nvPr/>
          </p:nvSpPr>
          <p:spPr>
            <a:xfrm>
              <a:off x="5929322" y="2571744"/>
              <a:ext cx="857256" cy="8572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解密</a:t>
              </a:r>
              <a:endParaRPr lang="zh-TW" altLang="en-US" dirty="0">
                <a:latin typeface="Calibri" pitchFamily="34" charset="0"/>
              </a:endParaRPr>
            </a:p>
          </p:txBody>
        </p:sp>
        <p:sp>
          <p:nvSpPr>
            <p:cNvPr id="9" name="矩形 8"/>
            <p:cNvSpPr/>
            <p:nvPr/>
          </p:nvSpPr>
          <p:spPr>
            <a:xfrm>
              <a:off x="3214678" y="2643182"/>
              <a:ext cx="714380" cy="7143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密文</a:t>
              </a:r>
              <a:endParaRPr lang="zh-TW" altLang="en-US" dirty="0">
                <a:latin typeface="Calibri" pitchFamily="34" charset="0"/>
              </a:endParaRPr>
            </a:p>
          </p:txBody>
        </p:sp>
        <p:sp>
          <p:nvSpPr>
            <p:cNvPr id="11" name="矩形 10"/>
            <p:cNvSpPr/>
            <p:nvPr/>
          </p:nvSpPr>
          <p:spPr>
            <a:xfrm>
              <a:off x="4857752" y="2643182"/>
              <a:ext cx="714380" cy="7143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密文</a:t>
              </a:r>
              <a:endParaRPr lang="zh-TW" altLang="en-US" dirty="0">
                <a:latin typeface="Calibri" pitchFamily="34" charset="0"/>
              </a:endParaRPr>
            </a:p>
          </p:txBody>
        </p:sp>
        <p:cxnSp>
          <p:nvCxnSpPr>
            <p:cNvPr id="13" name="直線單箭頭接點 12"/>
            <p:cNvCxnSpPr>
              <a:stCxn id="4" idx="3"/>
              <a:endCxn id="7" idx="2"/>
            </p:cNvCxnSpPr>
            <p:nvPr/>
          </p:nvCxnSpPr>
          <p:spPr>
            <a:xfrm>
              <a:off x="1571604" y="3000372"/>
              <a:ext cx="35719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線單箭頭接點 14"/>
            <p:cNvCxnSpPr>
              <a:stCxn id="7" idx="6"/>
              <a:endCxn id="9" idx="1"/>
            </p:cNvCxnSpPr>
            <p:nvPr/>
          </p:nvCxnSpPr>
          <p:spPr>
            <a:xfrm>
              <a:off x="2786050" y="3000372"/>
              <a:ext cx="42862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 name="直線單箭頭接點 16"/>
            <p:cNvCxnSpPr>
              <a:stCxn id="9" idx="3"/>
              <a:endCxn id="11" idx="1"/>
            </p:cNvCxnSpPr>
            <p:nvPr/>
          </p:nvCxnSpPr>
          <p:spPr>
            <a:xfrm>
              <a:off x="3929058" y="3000372"/>
              <a:ext cx="92869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直線單箭頭接點 18"/>
            <p:cNvCxnSpPr>
              <a:stCxn id="11" idx="3"/>
              <a:endCxn id="8" idx="2"/>
            </p:cNvCxnSpPr>
            <p:nvPr/>
          </p:nvCxnSpPr>
          <p:spPr>
            <a:xfrm>
              <a:off x="5572132" y="3000372"/>
              <a:ext cx="35719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1" name="直線單箭頭接點 20"/>
            <p:cNvCxnSpPr>
              <a:stCxn id="8" idx="6"/>
              <a:endCxn id="6" idx="1"/>
            </p:cNvCxnSpPr>
            <p:nvPr/>
          </p:nvCxnSpPr>
          <p:spPr>
            <a:xfrm>
              <a:off x="6786578" y="3000372"/>
              <a:ext cx="35719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2" name="圓角矩形 21"/>
            <p:cNvSpPr/>
            <p:nvPr/>
          </p:nvSpPr>
          <p:spPr>
            <a:xfrm>
              <a:off x="1928794" y="3857628"/>
              <a:ext cx="857256"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金鑰</a:t>
              </a:r>
              <a:endParaRPr lang="zh-TW" altLang="en-US" dirty="0">
                <a:latin typeface="Calibri" pitchFamily="34" charset="0"/>
              </a:endParaRPr>
            </a:p>
          </p:txBody>
        </p:sp>
        <p:sp>
          <p:nvSpPr>
            <p:cNvPr id="23" name="圓角矩形 22"/>
            <p:cNvSpPr/>
            <p:nvPr/>
          </p:nvSpPr>
          <p:spPr>
            <a:xfrm>
              <a:off x="5929322" y="3857628"/>
              <a:ext cx="857256"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金鑰</a:t>
              </a:r>
              <a:endParaRPr lang="zh-TW" altLang="en-US" dirty="0">
                <a:latin typeface="Calibri" pitchFamily="34" charset="0"/>
              </a:endParaRPr>
            </a:p>
          </p:txBody>
        </p:sp>
        <p:cxnSp>
          <p:nvCxnSpPr>
            <p:cNvPr id="25" name="直線單箭頭接點 24"/>
            <p:cNvCxnSpPr>
              <a:stCxn id="22" idx="0"/>
              <a:endCxn id="7" idx="4"/>
            </p:cNvCxnSpPr>
            <p:nvPr/>
          </p:nvCxnSpPr>
          <p:spPr>
            <a:xfrm rot="5400000" flipH="1" flipV="1">
              <a:off x="2143108" y="3643314"/>
              <a:ext cx="42862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7" name="直線單箭頭接點 26"/>
            <p:cNvCxnSpPr>
              <a:stCxn id="23" idx="0"/>
              <a:endCxn id="8" idx="4"/>
            </p:cNvCxnSpPr>
            <p:nvPr/>
          </p:nvCxnSpPr>
          <p:spPr>
            <a:xfrm rot="5400000" flipH="1" flipV="1">
              <a:off x="6143636" y="3643314"/>
              <a:ext cx="42862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9" name="直線接點 28"/>
            <p:cNvCxnSpPr/>
            <p:nvPr/>
          </p:nvCxnSpPr>
          <p:spPr>
            <a:xfrm rot="5400000">
              <a:off x="2394332" y="3750868"/>
              <a:ext cx="3927502" cy="79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9" name="弧形接點 38"/>
            <p:cNvCxnSpPr>
              <a:stCxn id="22" idx="2"/>
              <a:endCxn id="23" idx="2"/>
            </p:cNvCxnSpPr>
            <p:nvPr/>
          </p:nvCxnSpPr>
          <p:spPr>
            <a:xfrm rot="16200000" flipH="1">
              <a:off x="4357686" y="2214554"/>
              <a:ext cx="1588" cy="4000528"/>
            </a:xfrm>
            <a:prstGeom prst="curvedConnector3">
              <a:avLst>
                <a:gd name="adj1" fmla="val 46941765"/>
              </a:avLst>
            </a:prstGeom>
            <a:ln>
              <a:prstDash val="lgDashDotDot"/>
              <a:tailEnd type="arrow"/>
            </a:ln>
          </p:spPr>
          <p:style>
            <a:lnRef idx="1">
              <a:schemeClr val="accent1"/>
            </a:lnRef>
            <a:fillRef idx="0">
              <a:schemeClr val="accent1"/>
            </a:fillRef>
            <a:effectRef idx="0">
              <a:schemeClr val="accent1"/>
            </a:effectRef>
            <a:fontRef idx="minor">
              <a:schemeClr val="tx1"/>
            </a:fontRef>
          </p:style>
        </p:cxnSp>
        <p:sp>
          <p:nvSpPr>
            <p:cNvPr id="42" name="文字方塊 41"/>
            <p:cNvSpPr txBox="1"/>
            <p:nvPr/>
          </p:nvSpPr>
          <p:spPr>
            <a:xfrm>
              <a:off x="3143240" y="5000636"/>
              <a:ext cx="1107996" cy="369332"/>
            </a:xfrm>
            <a:prstGeom prst="rect">
              <a:avLst/>
            </a:prstGeom>
            <a:noFill/>
          </p:spPr>
          <p:txBody>
            <a:bodyPr wrap="none" rtlCol="0">
              <a:spAutoFit/>
            </a:bodyPr>
            <a:lstStyle/>
            <a:p>
              <a:r>
                <a:rPr lang="zh-TW" altLang="en-US" dirty="0" smtClean="0">
                  <a:latin typeface="Calibri" pitchFamily="34" charset="0"/>
                </a:rPr>
                <a:t>金鑰傳送</a:t>
              </a:r>
              <a:endParaRPr lang="zh-TW" altLang="en-US" dirty="0">
                <a:latin typeface="Calibri" pitchFamily="34" charset="0"/>
              </a:endParaRPr>
            </a:p>
          </p:txBody>
        </p:sp>
        <p:sp>
          <p:nvSpPr>
            <p:cNvPr id="43" name="文字方塊 42"/>
            <p:cNvSpPr txBox="1"/>
            <p:nvPr/>
          </p:nvSpPr>
          <p:spPr>
            <a:xfrm>
              <a:off x="3821194" y="2143116"/>
              <a:ext cx="1107996" cy="369332"/>
            </a:xfrm>
            <a:prstGeom prst="rect">
              <a:avLst/>
            </a:prstGeom>
            <a:noFill/>
          </p:spPr>
          <p:txBody>
            <a:bodyPr wrap="none" rtlCol="0">
              <a:spAutoFit/>
            </a:bodyPr>
            <a:lstStyle/>
            <a:p>
              <a:r>
                <a:rPr lang="zh-TW" altLang="en-US" dirty="0" smtClean="0">
                  <a:latin typeface="Calibri" pitchFamily="34" charset="0"/>
                </a:rPr>
                <a:t>密文傳送</a:t>
              </a:r>
              <a:endParaRPr lang="zh-TW" altLang="en-US" dirty="0">
                <a:latin typeface="Calibri" pitchFamily="34" charset="0"/>
              </a:endParaRPr>
            </a:p>
          </p:txBody>
        </p:sp>
        <p:sp>
          <p:nvSpPr>
            <p:cNvPr id="44" name="文字方塊 43"/>
            <p:cNvSpPr txBox="1"/>
            <p:nvPr/>
          </p:nvSpPr>
          <p:spPr>
            <a:xfrm>
              <a:off x="642910" y="1857364"/>
              <a:ext cx="1338828" cy="369332"/>
            </a:xfrm>
            <a:prstGeom prst="rect">
              <a:avLst/>
            </a:prstGeom>
            <a:noFill/>
          </p:spPr>
          <p:txBody>
            <a:bodyPr wrap="none" rtlCol="0">
              <a:spAutoFit/>
            </a:bodyPr>
            <a:lstStyle/>
            <a:p>
              <a:r>
                <a:rPr lang="zh-TW" altLang="en-US" dirty="0" smtClean="0">
                  <a:latin typeface="Calibri" pitchFamily="34" charset="0"/>
                </a:rPr>
                <a:t>訊息傳送方</a:t>
              </a:r>
              <a:endParaRPr lang="zh-TW" altLang="en-US" dirty="0">
                <a:latin typeface="Calibri" pitchFamily="34" charset="0"/>
              </a:endParaRPr>
            </a:p>
          </p:txBody>
        </p:sp>
        <p:sp>
          <p:nvSpPr>
            <p:cNvPr id="46" name="文字方塊 45"/>
            <p:cNvSpPr txBox="1"/>
            <p:nvPr/>
          </p:nvSpPr>
          <p:spPr>
            <a:xfrm>
              <a:off x="6733634" y="1857364"/>
              <a:ext cx="1338828" cy="369332"/>
            </a:xfrm>
            <a:prstGeom prst="rect">
              <a:avLst/>
            </a:prstGeom>
            <a:noFill/>
          </p:spPr>
          <p:txBody>
            <a:bodyPr wrap="none" rtlCol="0">
              <a:spAutoFit/>
            </a:bodyPr>
            <a:lstStyle/>
            <a:p>
              <a:r>
                <a:rPr lang="zh-TW" altLang="en-US" dirty="0" smtClean="0">
                  <a:latin typeface="Calibri" pitchFamily="34" charset="0"/>
                </a:rPr>
                <a:t>訊息接收方</a:t>
              </a:r>
              <a:endParaRPr lang="zh-TW" altLang="en-US" dirty="0">
                <a:latin typeface="Calibri" pitchFamily="34" charset="0"/>
              </a:endParaRPr>
            </a:p>
          </p:txBody>
        </p:sp>
      </p:grpSp>
      <p:sp>
        <p:nvSpPr>
          <p:cNvPr id="26" name="文字方塊 25"/>
          <p:cNvSpPr txBox="1"/>
          <p:nvPr/>
        </p:nvSpPr>
        <p:spPr>
          <a:xfrm>
            <a:off x="5286380" y="5214950"/>
            <a:ext cx="3214710" cy="1200329"/>
          </a:xfrm>
          <a:prstGeom prst="rect">
            <a:avLst/>
          </a:prstGeom>
          <a:noFill/>
          <a:ln>
            <a:solidFill>
              <a:schemeClr val="accent1"/>
            </a:solidFill>
          </a:ln>
        </p:spPr>
        <p:txBody>
          <a:bodyPr wrap="square" rtlCol="0">
            <a:spAutoFit/>
          </a:bodyPr>
          <a:lstStyle/>
          <a:p>
            <a:r>
              <a:rPr lang="zh-TW" altLang="en-US" dirty="0" smtClean="0">
                <a:solidFill>
                  <a:srgbClr val="660033"/>
                </a:solidFill>
                <a:latin typeface="Calibri" pitchFamily="34" charset="0"/>
                <a:ea typeface="微軟正黑體"/>
              </a:rPr>
              <a:t>說明：「對稱式</a:t>
            </a:r>
            <a:r>
              <a:rPr lang="en-US" altLang="zh-TW" dirty="0" smtClean="0">
                <a:solidFill>
                  <a:srgbClr val="FF0000"/>
                </a:solidFill>
                <a:latin typeface="Calibri" pitchFamily="34" charset="0"/>
                <a:ea typeface="微軟正黑體"/>
              </a:rPr>
              <a:t>(symmetric)</a:t>
            </a:r>
            <a:r>
              <a:rPr lang="zh-TW" altLang="en-US" dirty="0" smtClean="0">
                <a:solidFill>
                  <a:srgbClr val="660033"/>
                </a:solidFill>
                <a:latin typeface="Calibri" pitchFamily="34" charset="0"/>
                <a:ea typeface="微軟正黑體"/>
              </a:rPr>
              <a:t>」加密法是指</a:t>
            </a:r>
            <a:r>
              <a:rPr lang="zh-TW" altLang="en-US" dirty="0" smtClean="0">
                <a:solidFill>
                  <a:srgbClr val="660033"/>
                </a:solidFill>
                <a:latin typeface="Calibri" pitchFamily="34" charset="0"/>
              </a:rPr>
              <a:t>加密與解密使用相同但</a:t>
            </a:r>
            <a:r>
              <a:rPr lang="zh-TW" altLang="en-US" dirty="0" smtClean="0">
                <a:solidFill>
                  <a:srgbClr val="0000FF"/>
                </a:solidFill>
                <a:latin typeface="Calibri" pitchFamily="34" charset="0"/>
              </a:rPr>
              <a:t>逆向</a:t>
            </a:r>
            <a:r>
              <a:rPr lang="zh-TW" altLang="en-US" dirty="0" smtClean="0">
                <a:solidFill>
                  <a:srgbClr val="660033"/>
                </a:solidFill>
                <a:latin typeface="Calibri" pitchFamily="34" charset="0"/>
              </a:rPr>
              <a:t>的運算法；且</a:t>
            </a:r>
            <a:r>
              <a:rPr lang="zh-TW" altLang="en-US" dirty="0" smtClean="0">
                <a:solidFill>
                  <a:srgbClr val="660033"/>
                </a:solidFill>
                <a:latin typeface="Calibri" pitchFamily="34" charset="0"/>
                <a:ea typeface="微軟正黑體"/>
              </a:rPr>
              <a:t>加、解密</a:t>
            </a:r>
            <a:r>
              <a:rPr lang="zh-TW" altLang="en-US" dirty="0" smtClean="0">
                <a:solidFill>
                  <a:srgbClr val="0000FF"/>
                </a:solidFill>
                <a:latin typeface="Calibri" pitchFamily="34" charset="0"/>
                <a:ea typeface="微軟正黑體"/>
              </a:rPr>
              <a:t>使用相同的金鑰</a:t>
            </a:r>
            <a:r>
              <a:rPr lang="zh-TW" altLang="en-US" dirty="0" smtClean="0">
                <a:solidFill>
                  <a:srgbClr val="660033"/>
                </a:solidFill>
                <a:latin typeface="Calibri" pitchFamily="34" charset="0"/>
                <a:ea typeface="微軟正黑體"/>
              </a:rPr>
              <a:t>。</a:t>
            </a:r>
            <a:endParaRPr lang="zh-TW" altLang="en-US" dirty="0">
              <a:solidFill>
                <a:srgbClr val="660033"/>
              </a:solidFill>
              <a:latin typeface="Calibri"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內容版面配置區 4"/>
          <p:cNvSpPr>
            <a:spLocks noGrp="1"/>
          </p:cNvSpPr>
          <p:nvPr>
            <p:ph idx="1"/>
          </p:nvPr>
        </p:nvSpPr>
        <p:spPr>
          <a:xfrm>
            <a:off x="285720" y="1357298"/>
            <a:ext cx="4934352" cy="5357850"/>
          </a:xfrm>
        </p:spPr>
        <p:txBody>
          <a:bodyPr>
            <a:normAutofit/>
          </a:bodyPr>
          <a:lstStyle/>
          <a:p>
            <a:pPr>
              <a:spcBef>
                <a:spcPts val="1200"/>
              </a:spcBef>
            </a:pPr>
            <a:r>
              <a:rPr lang="en-US" altLang="zh-TW" sz="2000" dirty="0" smtClean="0"/>
              <a:t>1973</a:t>
            </a:r>
            <a:r>
              <a:rPr lang="zh-TW" altLang="en-US" sz="2000" dirty="0" smtClean="0"/>
              <a:t>年美國國家標準局公開徵求標準加密系統，</a:t>
            </a:r>
            <a:r>
              <a:rPr lang="en-US" altLang="zh-TW" sz="2000" dirty="0" smtClean="0"/>
              <a:t>IBM</a:t>
            </a:r>
            <a:r>
              <a:rPr lang="zh-TW" altLang="en-US" sz="2000" dirty="0" smtClean="0"/>
              <a:t>的 </a:t>
            </a:r>
            <a:r>
              <a:rPr lang="en-US" altLang="zh-TW" sz="2000" dirty="0" smtClean="0"/>
              <a:t>Lucifer</a:t>
            </a:r>
            <a:r>
              <a:rPr lang="zh-TW" altLang="en-US" sz="2000" dirty="0" smtClean="0"/>
              <a:t> 被選中，經修改後命名為資料加密標準 </a:t>
            </a:r>
            <a:r>
              <a:rPr lang="en-US" altLang="zh-TW" sz="2000" dirty="0" smtClean="0"/>
              <a:t>(Data Encryption Standard) </a:t>
            </a:r>
            <a:r>
              <a:rPr lang="zh-TW" altLang="en-US" sz="2000" dirty="0" smtClean="0"/>
              <a:t>簡稱 </a:t>
            </a:r>
            <a:r>
              <a:rPr lang="en-US" altLang="zh-TW" sz="2000" dirty="0" smtClean="0"/>
              <a:t>DES</a:t>
            </a:r>
            <a:r>
              <a:rPr lang="zh-TW" altLang="en-US" sz="2000" dirty="0" smtClean="0"/>
              <a:t>。</a:t>
            </a:r>
            <a:endParaRPr lang="en-US" altLang="zh-TW" sz="2000" dirty="0" smtClean="0"/>
          </a:p>
          <a:p>
            <a:pPr>
              <a:spcBef>
                <a:spcPts val="1200"/>
              </a:spcBef>
            </a:pPr>
            <a:r>
              <a:rPr lang="en-US" altLang="zh-TW" sz="2000" dirty="0" smtClean="0"/>
              <a:t>DES</a:t>
            </a:r>
            <a:r>
              <a:rPr lang="zh-TW" altLang="en-US" sz="2000" dirty="0" smtClean="0"/>
              <a:t>是一種對稱式加密法，</a:t>
            </a:r>
            <a:r>
              <a:rPr lang="zh-TW" altLang="en-US" sz="2000" dirty="0" smtClean="0">
                <a:solidFill>
                  <a:srgbClr val="0000FF"/>
                </a:solidFill>
              </a:rPr>
              <a:t>每次加密</a:t>
            </a:r>
            <a:r>
              <a:rPr lang="en-US" altLang="zh-TW" sz="2000" dirty="0" smtClean="0">
                <a:solidFill>
                  <a:srgbClr val="0000FF"/>
                </a:solidFill>
              </a:rPr>
              <a:t>64</a:t>
            </a:r>
            <a:r>
              <a:rPr lang="zh-TW" altLang="en-US" sz="2000" dirty="0" smtClean="0">
                <a:solidFill>
                  <a:srgbClr val="0000FF"/>
                </a:solidFill>
              </a:rPr>
              <a:t>位元的原文</a:t>
            </a:r>
            <a:r>
              <a:rPr lang="zh-TW" altLang="en-US" sz="2000" dirty="0" smtClean="0"/>
              <a:t>，</a:t>
            </a:r>
            <a:r>
              <a:rPr lang="zh-TW" altLang="en-US" sz="2000" u="sng" dirty="0" smtClean="0"/>
              <a:t>經初始排列後</a:t>
            </a:r>
            <a:r>
              <a:rPr lang="zh-TW" altLang="en-US" sz="2000" dirty="0" smtClean="0"/>
              <a:t>，一半的原文 </a:t>
            </a:r>
            <a:r>
              <a:rPr lang="en-US" altLang="zh-TW" sz="2000" dirty="0" smtClean="0"/>
              <a:t>(32</a:t>
            </a:r>
            <a:r>
              <a:rPr lang="zh-TW" altLang="en-US" sz="2000" dirty="0" smtClean="0"/>
              <a:t>位元</a:t>
            </a:r>
            <a:r>
              <a:rPr lang="en-US" altLang="zh-TW" sz="2000" dirty="0" smtClean="0"/>
              <a:t>)</a:t>
            </a:r>
            <a:r>
              <a:rPr lang="zh-TW" altLang="en-US" sz="2000" dirty="0" smtClean="0"/>
              <a:t> 進 </a:t>
            </a:r>
            <a:r>
              <a:rPr lang="en-US" altLang="zh-TW" sz="2000" dirty="0" smtClean="0"/>
              <a:t>F-function</a:t>
            </a:r>
            <a:r>
              <a:rPr lang="zh-TW" altLang="en-US" sz="2000" dirty="0" smtClean="0"/>
              <a:t> 運算，結果再與另一半做互斥或 </a:t>
            </a:r>
            <a:r>
              <a:rPr lang="en-US" altLang="zh-TW" sz="2000" dirty="0" smtClean="0"/>
              <a:t>(XOR)</a:t>
            </a:r>
            <a:r>
              <a:rPr lang="zh-TW" altLang="en-US" sz="2000" dirty="0" smtClean="0"/>
              <a:t>。經過</a:t>
            </a:r>
            <a:r>
              <a:rPr lang="en-US" altLang="zh-TW" sz="2000" dirty="0" smtClean="0"/>
              <a:t>16</a:t>
            </a:r>
            <a:r>
              <a:rPr lang="zh-TW" altLang="en-US" sz="2000" dirty="0" smtClean="0"/>
              <a:t>圈類似的運算與最終排列，就得到</a:t>
            </a:r>
            <a:r>
              <a:rPr lang="en-US" altLang="zh-TW" sz="2000" dirty="0" smtClean="0"/>
              <a:t>64</a:t>
            </a:r>
            <a:r>
              <a:rPr lang="zh-TW" altLang="en-US" sz="2000" dirty="0" smtClean="0"/>
              <a:t>位元的密文。</a:t>
            </a:r>
            <a:endParaRPr lang="en-US" altLang="zh-TW" sz="2000" dirty="0" smtClean="0"/>
          </a:p>
          <a:p>
            <a:pPr>
              <a:spcBef>
                <a:spcPts val="1200"/>
              </a:spcBef>
            </a:pPr>
            <a:r>
              <a:rPr lang="en-US" altLang="zh-TW" sz="2000" dirty="0" smtClean="0"/>
              <a:t>DES</a:t>
            </a:r>
            <a:r>
              <a:rPr lang="zh-TW" altLang="en-US" sz="2000" dirty="0" smtClean="0"/>
              <a:t> 使用</a:t>
            </a:r>
            <a:r>
              <a:rPr lang="en-US" altLang="zh-TW" sz="2000" dirty="0" smtClean="0">
                <a:solidFill>
                  <a:srgbClr val="FF0000"/>
                </a:solidFill>
              </a:rPr>
              <a:t>56</a:t>
            </a:r>
            <a:r>
              <a:rPr lang="zh-TW" altLang="en-US" sz="2000" dirty="0" smtClean="0">
                <a:solidFill>
                  <a:srgbClr val="FF0000"/>
                </a:solidFill>
              </a:rPr>
              <a:t>位元的金鑰</a:t>
            </a:r>
            <a:r>
              <a:rPr lang="zh-TW" altLang="en-US" sz="2000" dirty="0" smtClean="0"/>
              <a:t>，以衍生的</a:t>
            </a:r>
            <a:r>
              <a:rPr lang="en-US" altLang="zh-TW" sz="2000" dirty="0" smtClean="0"/>
              <a:t>48</a:t>
            </a:r>
            <a:r>
              <a:rPr lang="zh-TW" altLang="en-US" sz="2000" dirty="0" smtClean="0"/>
              <a:t>位元次金鑰進入每個 </a:t>
            </a:r>
            <a:r>
              <a:rPr lang="en-US" altLang="zh-TW" sz="2000" dirty="0" smtClean="0"/>
              <a:t>F-function</a:t>
            </a:r>
            <a:r>
              <a:rPr lang="zh-TW" altLang="en-US" sz="2000" dirty="0" smtClean="0"/>
              <a:t>，</a:t>
            </a:r>
            <a:r>
              <a:rPr lang="zh-TW" altLang="en-US" sz="2000" dirty="0" smtClean="0">
                <a:solidFill>
                  <a:srgbClr val="FF0000"/>
                </a:solidFill>
              </a:rPr>
              <a:t>金鑰另有</a:t>
            </a:r>
            <a:r>
              <a:rPr lang="en-US" altLang="zh-TW" sz="2000" dirty="0" smtClean="0">
                <a:solidFill>
                  <a:srgbClr val="FF0000"/>
                </a:solidFill>
              </a:rPr>
              <a:t>8</a:t>
            </a:r>
            <a:r>
              <a:rPr lang="zh-TW" altLang="en-US" sz="2000" dirty="0" smtClean="0">
                <a:solidFill>
                  <a:srgbClr val="FF0000"/>
                </a:solidFill>
              </a:rPr>
              <a:t>位元的 </a:t>
            </a:r>
            <a:r>
              <a:rPr lang="en-US" altLang="zh-TW" sz="2000" dirty="0" smtClean="0">
                <a:solidFill>
                  <a:srgbClr val="FF0000"/>
                </a:solidFill>
              </a:rPr>
              <a:t>parity bits</a:t>
            </a:r>
            <a:r>
              <a:rPr lang="zh-TW" altLang="en-US" sz="2000" dirty="0" smtClean="0">
                <a:solidFill>
                  <a:srgbClr val="FF0000"/>
                </a:solidFill>
              </a:rPr>
              <a:t>，總共也是</a:t>
            </a:r>
            <a:r>
              <a:rPr lang="en-US" altLang="zh-TW" sz="2000" dirty="0" smtClean="0">
                <a:solidFill>
                  <a:srgbClr val="FF0000"/>
                </a:solidFill>
              </a:rPr>
              <a:t>64</a:t>
            </a:r>
            <a:r>
              <a:rPr lang="zh-TW" altLang="en-US" sz="2000" dirty="0" smtClean="0">
                <a:solidFill>
                  <a:srgbClr val="FF0000"/>
                </a:solidFill>
              </a:rPr>
              <a:t>位元</a:t>
            </a:r>
            <a:r>
              <a:rPr lang="zh-TW" altLang="en-US" sz="2000" dirty="0" smtClean="0"/>
              <a:t>。</a:t>
            </a:r>
            <a:endParaRPr lang="en-US" altLang="zh-TW" sz="2000" dirty="0" smtClean="0"/>
          </a:p>
          <a:p>
            <a:pPr>
              <a:spcBef>
                <a:spcPts val="1200"/>
              </a:spcBef>
            </a:pPr>
            <a:endParaRPr lang="zh-TW" altLang="en-US" sz="2000" dirty="0"/>
          </a:p>
        </p:txBody>
      </p:sp>
      <p:sp>
        <p:nvSpPr>
          <p:cNvPr id="2" name="標題 1"/>
          <p:cNvSpPr>
            <a:spLocks noGrp="1"/>
          </p:cNvSpPr>
          <p:nvPr>
            <p:ph type="title"/>
          </p:nvPr>
        </p:nvSpPr>
        <p:spPr/>
        <p:txBody>
          <a:bodyPr/>
          <a:lstStyle/>
          <a:p>
            <a:r>
              <a:rPr lang="en-US" altLang="zh-TW" dirty="0" smtClean="0">
                <a:solidFill>
                  <a:srgbClr val="FF0000"/>
                </a:solidFill>
              </a:rPr>
              <a:t>DES</a:t>
            </a:r>
            <a:r>
              <a:rPr lang="zh-TW" altLang="en-US" dirty="0" smtClean="0"/>
              <a:t>加密法</a:t>
            </a:r>
            <a:endParaRPr lang="zh-TW" altLang="en-US" dirty="0"/>
          </a:p>
        </p:txBody>
      </p:sp>
      <p:grpSp>
        <p:nvGrpSpPr>
          <p:cNvPr id="56" name="群組 55"/>
          <p:cNvGrpSpPr/>
          <p:nvPr/>
        </p:nvGrpSpPr>
        <p:grpSpPr>
          <a:xfrm>
            <a:off x="6000760" y="357166"/>
            <a:ext cx="1928826" cy="6215106"/>
            <a:chOff x="6000760" y="357166"/>
            <a:chExt cx="1928826" cy="6215106"/>
          </a:xfrm>
        </p:grpSpPr>
        <p:sp>
          <p:nvSpPr>
            <p:cNvPr id="139" name="矩形 138"/>
            <p:cNvSpPr/>
            <p:nvPr/>
          </p:nvSpPr>
          <p:spPr>
            <a:xfrm>
              <a:off x="6000760" y="785794"/>
              <a:ext cx="1928826" cy="3571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初始排列 </a:t>
              </a:r>
              <a:r>
                <a:rPr lang="en-US" altLang="zh-TW" dirty="0" smtClean="0">
                  <a:latin typeface="Calibri" pitchFamily="34" charset="0"/>
                </a:rPr>
                <a:t>(IP)</a:t>
              </a:r>
              <a:endParaRPr lang="zh-TW" altLang="en-US" dirty="0">
                <a:latin typeface="Calibri" pitchFamily="34" charset="0"/>
              </a:endParaRPr>
            </a:p>
          </p:txBody>
        </p:sp>
        <p:sp>
          <p:nvSpPr>
            <p:cNvPr id="142" name="矩形 141"/>
            <p:cNvSpPr/>
            <p:nvPr/>
          </p:nvSpPr>
          <p:spPr>
            <a:xfrm>
              <a:off x="6500826" y="1357298"/>
              <a:ext cx="857256" cy="42862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dirty="0" smtClean="0">
                  <a:latin typeface="Calibri" pitchFamily="34" charset="0"/>
                </a:rPr>
                <a:t>F</a:t>
              </a:r>
              <a:endParaRPr lang="zh-TW" altLang="en-US" dirty="0">
                <a:latin typeface="Calibri" pitchFamily="34" charset="0"/>
              </a:endParaRPr>
            </a:p>
          </p:txBody>
        </p:sp>
        <p:sp>
          <p:nvSpPr>
            <p:cNvPr id="144" name="矩形 143"/>
            <p:cNvSpPr/>
            <p:nvPr/>
          </p:nvSpPr>
          <p:spPr>
            <a:xfrm>
              <a:off x="6500826" y="2285992"/>
              <a:ext cx="857256" cy="42862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dirty="0" smtClean="0">
                  <a:latin typeface="Calibri" pitchFamily="34" charset="0"/>
                </a:rPr>
                <a:t>F</a:t>
              </a:r>
              <a:endParaRPr lang="zh-TW" altLang="en-US" dirty="0">
                <a:latin typeface="Calibri" pitchFamily="34" charset="0"/>
              </a:endParaRPr>
            </a:p>
          </p:txBody>
        </p:sp>
        <p:sp>
          <p:nvSpPr>
            <p:cNvPr id="154" name="流程圖: 或 153"/>
            <p:cNvSpPr/>
            <p:nvPr/>
          </p:nvSpPr>
          <p:spPr>
            <a:xfrm>
              <a:off x="6000760" y="1428736"/>
              <a:ext cx="285752" cy="285752"/>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155" name="流程圖: 或 154"/>
            <p:cNvSpPr/>
            <p:nvPr/>
          </p:nvSpPr>
          <p:spPr>
            <a:xfrm>
              <a:off x="6000760" y="2357430"/>
              <a:ext cx="285752" cy="285752"/>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cxnSp>
          <p:nvCxnSpPr>
            <p:cNvPr id="160" name="直線單箭頭接點 159"/>
            <p:cNvCxnSpPr>
              <a:endCxn id="154" idx="0"/>
            </p:cNvCxnSpPr>
            <p:nvPr/>
          </p:nvCxnSpPr>
          <p:spPr>
            <a:xfrm rot="5400000">
              <a:off x="6000760" y="1285860"/>
              <a:ext cx="28575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3" name="直線接點 172"/>
            <p:cNvCxnSpPr/>
            <p:nvPr/>
          </p:nvCxnSpPr>
          <p:spPr>
            <a:xfrm rot="5400000">
              <a:off x="7428726" y="1500174"/>
              <a:ext cx="71438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5" name="直線接點 174"/>
            <p:cNvCxnSpPr/>
            <p:nvPr/>
          </p:nvCxnSpPr>
          <p:spPr>
            <a:xfrm rot="10800000" flipV="1">
              <a:off x="6143636" y="1857364"/>
              <a:ext cx="1643074" cy="2857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77" name="直線單箭頭接點 176"/>
            <p:cNvCxnSpPr>
              <a:endCxn id="155" idx="0"/>
            </p:cNvCxnSpPr>
            <p:nvPr/>
          </p:nvCxnSpPr>
          <p:spPr>
            <a:xfrm rot="5400000">
              <a:off x="6036479" y="2250273"/>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0" name="直線單箭頭接點 179"/>
            <p:cNvCxnSpPr>
              <a:endCxn id="142" idx="3"/>
            </p:cNvCxnSpPr>
            <p:nvPr/>
          </p:nvCxnSpPr>
          <p:spPr>
            <a:xfrm rot="10800000">
              <a:off x="7358082" y="1571612"/>
              <a:ext cx="42862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8" name="直線單箭頭接點 187"/>
            <p:cNvCxnSpPr>
              <a:stCxn id="142" idx="1"/>
              <a:endCxn id="154" idx="6"/>
            </p:cNvCxnSpPr>
            <p:nvPr/>
          </p:nvCxnSpPr>
          <p:spPr>
            <a:xfrm rot="10800000">
              <a:off x="6286512" y="1571612"/>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0" name="直線接點 189"/>
            <p:cNvCxnSpPr>
              <a:stCxn id="154" idx="4"/>
            </p:cNvCxnSpPr>
            <p:nvPr/>
          </p:nvCxnSpPr>
          <p:spPr>
            <a:xfrm rot="5400000">
              <a:off x="6072198" y="1785926"/>
              <a:ext cx="142876"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2" name="直線接點 191"/>
            <p:cNvCxnSpPr/>
            <p:nvPr/>
          </p:nvCxnSpPr>
          <p:spPr>
            <a:xfrm>
              <a:off x="6143636" y="2786058"/>
              <a:ext cx="1571636" cy="2857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4" name="直線接點 193"/>
            <p:cNvCxnSpPr/>
            <p:nvPr/>
          </p:nvCxnSpPr>
          <p:spPr>
            <a:xfrm rot="5400000">
              <a:off x="7394595" y="2464587"/>
              <a:ext cx="642148" cy="794"/>
            </a:xfrm>
            <a:prstGeom prst="line">
              <a:avLst/>
            </a:prstGeom>
          </p:spPr>
          <p:style>
            <a:lnRef idx="1">
              <a:schemeClr val="accent1"/>
            </a:lnRef>
            <a:fillRef idx="0">
              <a:schemeClr val="accent1"/>
            </a:fillRef>
            <a:effectRef idx="0">
              <a:schemeClr val="accent1"/>
            </a:effectRef>
            <a:fontRef idx="minor">
              <a:schemeClr val="tx1"/>
            </a:fontRef>
          </p:style>
        </p:cxnSp>
        <p:cxnSp>
          <p:nvCxnSpPr>
            <p:cNvPr id="195" name="直線接點 194"/>
            <p:cNvCxnSpPr/>
            <p:nvPr/>
          </p:nvCxnSpPr>
          <p:spPr>
            <a:xfrm rot="10800000" flipV="1">
              <a:off x="6143636" y="2786058"/>
              <a:ext cx="1571636" cy="2857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6" name="直線接點 195"/>
            <p:cNvCxnSpPr/>
            <p:nvPr/>
          </p:nvCxnSpPr>
          <p:spPr>
            <a:xfrm rot="5400000">
              <a:off x="6072992" y="2713826"/>
              <a:ext cx="142876"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7" name="直線接點 196"/>
            <p:cNvCxnSpPr/>
            <p:nvPr/>
          </p:nvCxnSpPr>
          <p:spPr>
            <a:xfrm>
              <a:off x="6143636" y="1857364"/>
              <a:ext cx="1571636" cy="2857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3" name="直線單箭頭接點 202"/>
            <p:cNvCxnSpPr>
              <a:endCxn id="144" idx="3"/>
            </p:cNvCxnSpPr>
            <p:nvPr/>
          </p:nvCxnSpPr>
          <p:spPr>
            <a:xfrm rot="10800000">
              <a:off x="7358082" y="2500306"/>
              <a:ext cx="35719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5" name="直線單箭頭接點 204"/>
            <p:cNvCxnSpPr>
              <a:stCxn id="144" idx="1"/>
              <a:endCxn id="155" idx="6"/>
            </p:cNvCxnSpPr>
            <p:nvPr/>
          </p:nvCxnSpPr>
          <p:spPr>
            <a:xfrm rot="10800000">
              <a:off x="6286512" y="2500306"/>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7" name="直線接點 206"/>
            <p:cNvCxnSpPr/>
            <p:nvPr/>
          </p:nvCxnSpPr>
          <p:spPr>
            <a:xfrm rot="5400000">
              <a:off x="7643834" y="3143248"/>
              <a:ext cx="142876"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8" name="直線接點 207"/>
            <p:cNvCxnSpPr/>
            <p:nvPr/>
          </p:nvCxnSpPr>
          <p:spPr>
            <a:xfrm rot="5400000">
              <a:off x="6072992" y="3142454"/>
              <a:ext cx="142876" cy="1588"/>
            </a:xfrm>
            <a:prstGeom prst="line">
              <a:avLst/>
            </a:prstGeom>
          </p:spPr>
          <p:style>
            <a:lnRef idx="1">
              <a:schemeClr val="accent1"/>
            </a:lnRef>
            <a:fillRef idx="0">
              <a:schemeClr val="accent1"/>
            </a:fillRef>
            <a:effectRef idx="0">
              <a:schemeClr val="accent1"/>
            </a:effectRef>
            <a:fontRef idx="minor">
              <a:schemeClr val="tx1"/>
            </a:fontRef>
          </p:style>
        </p:cxnSp>
        <p:sp>
          <p:nvSpPr>
            <p:cNvPr id="232" name="矩形 231"/>
            <p:cNvSpPr/>
            <p:nvPr/>
          </p:nvSpPr>
          <p:spPr>
            <a:xfrm>
              <a:off x="6000760" y="5786454"/>
              <a:ext cx="1928826" cy="3571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latin typeface="Calibri" pitchFamily="34" charset="0"/>
                </a:rPr>
                <a:t>最終排列 </a:t>
              </a:r>
              <a:r>
                <a:rPr lang="en-US" altLang="zh-TW" dirty="0" smtClean="0">
                  <a:latin typeface="Calibri" pitchFamily="34" charset="0"/>
                </a:rPr>
                <a:t>(FP)</a:t>
              </a:r>
              <a:endParaRPr lang="zh-TW" altLang="en-US" dirty="0">
                <a:latin typeface="Calibri" pitchFamily="34" charset="0"/>
              </a:endParaRPr>
            </a:p>
          </p:txBody>
        </p:sp>
        <p:sp>
          <p:nvSpPr>
            <p:cNvPr id="233" name="矩形 232"/>
            <p:cNvSpPr/>
            <p:nvPr/>
          </p:nvSpPr>
          <p:spPr>
            <a:xfrm>
              <a:off x="6500826" y="5143512"/>
              <a:ext cx="857256" cy="42862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dirty="0" smtClean="0">
                  <a:latin typeface="Calibri" pitchFamily="34" charset="0"/>
                </a:rPr>
                <a:t>F</a:t>
              </a:r>
              <a:endParaRPr lang="zh-TW" altLang="en-US" dirty="0">
                <a:latin typeface="Calibri" pitchFamily="34" charset="0"/>
              </a:endParaRPr>
            </a:p>
          </p:txBody>
        </p:sp>
        <p:sp>
          <p:nvSpPr>
            <p:cNvPr id="234" name="矩形 233"/>
            <p:cNvSpPr/>
            <p:nvPr/>
          </p:nvSpPr>
          <p:spPr>
            <a:xfrm>
              <a:off x="6500826" y="4214818"/>
              <a:ext cx="857256" cy="42862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dirty="0" smtClean="0">
                  <a:latin typeface="Calibri" pitchFamily="34" charset="0"/>
                </a:rPr>
                <a:t>F</a:t>
              </a:r>
              <a:endParaRPr lang="zh-TW" altLang="en-US" dirty="0">
                <a:latin typeface="Calibri" pitchFamily="34" charset="0"/>
              </a:endParaRPr>
            </a:p>
          </p:txBody>
        </p:sp>
        <p:sp>
          <p:nvSpPr>
            <p:cNvPr id="235" name="流程圖: 或 234"/>
            <p:cNvSpPr/>
            <p:nvPr/>
          </p:nvSpPr>
          <p:spPr>
            <a:xfrm flipV="1">
              <a:off x="6000760" y="5214950"/>
              <a:ext cx="285752" cy="285752"/>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236" name="流程圖: 或 235"/>
            <p:cNvSpPr/>
            <p:nvPr/>
          </p:nvSpPr>
          <p:spPr>
            <a:xfrm flipV="1">
              <a:off x="6000760" y="4286256"/>
              <a:ext cx="285752" cy="285752"/>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cxnSp>
          <p:nvCxnSpPr>
            <p:cNvPr id="237" name="直線單箭頭接點 236"/>
            <p:cNvCxnSpPr/>
            <p:nvPr/>
          </p:nvCxnSpPr>
          <p:spPr>
            <a:xfrm rot="5400000">
              <a:off x="6000760" y="5641990"/>
              <a:ext cx="28575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9" name="直線接點 238"/>
            <p:cNvCxnSpPr/>
            <p:nvPr/>
          </p:nvCxnSpPr>
          <p:spPr>
            <a:xfrm rot="10800000">
              <a:off x="6143636" y="4786322"/>
              <a:ext cx="1643074" cy="2857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1" name="直線單箭頭接點 240"/>
            <p:cNvCxnSpPr>
              <a:endCxn id="233" idx="3"/>
            </p:cNvCxnSpPr>
            <p:nvPr/>
          </p:nvCxnSpPr>
          <p:spPr>
            <a:xfrm rot="10800000" flipV="1">
              <a:off x="7358082" y="5356238"/>
              <a:ext cx="42862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2" name="直線單箭頭接點 241"/>
            <p:cNvCxnSpPr>
              <a:stCxn id="233" idx="1"/>
              <a:endCxn id="235" idx="6"/>
            </p:cNvCxnSpPr>
            <p:nvPr/>
          </p:nvCxnSpPr>
          <p:spPr>
            <a:xfrm rot="10800000">
              <a:off x="6286512" y="5357826"/>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4" name="直線接點 243"/>
            <p:cNvCxnSpPr/>
            <p:nvPr/>
          </p:nvCxnSpPr>
          <p:spPr>
            <a:xfrm flipV="1">
              <a:off x="6143636" y="3857628"/>
              <a:ext cx="1571636" cy="2857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5" name="直線接點 244"/>
            <p:cNvCxnSpPr/>
            <p:nvPr/>
          </p:nvCxnSpPr>
          <p:spPr>
            <a:xfrm rot="16200000" flipV="1">
              <a:off x="7394595" y="4464057"/>
              <a:ext cx="642148" cy="794"/>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直線接點 245"/>
            <p:cNvCxnSpPr/>
            <p:nvPr/>
          </p:nvCxnSpPr>
          <p:spPr>
            <a:xfrm rot="10800000">
              <a:off x="6143636" y="3857628"/>
              <a:ext cx="1571636" cy="2857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8" name="直線接點 247"/>
            <p:cNvCxnSpPr/>
            <p:nvPr/>
          </p:nvCxnSpPr>
          <p:spPr>
            <a:xfrm flipV="1">
              <a:off x="6143636" y="4786322"/>
              <a:ext cx="1571636" cy="2857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9" name="直線單箭頭接點 248"/>
            <p:cNvCxnSpPr>
              <a:endCxn id="234" idx="3"/>
            </p:cNvCxnSpPr>
            <p:nvPr/>
          </p:nvCxnSpPr>
          <p:spPr>
            <a:xfrm rot="10800000" flipV="1">
              <a:off x="7358082" y="4427544"/>
              <a:ext cx="35719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0" name="直線單箭頭接點 249"/>
            <p:cNvCxnSpPr>
              <a:stCxn id="234" idx="1"/>
              <a:endCxn id="236" idx="6"/>
            </p:cNvCxnSpPr>
            <p:nvPr/>
          </p:nvCxnSpPr>
          <p:spPr>
            <a:xfrm rot="10800000">
              <a:off x="6286512" y="4429132"/>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1" name="直線接點 250"/>
            <p:cNvCxnSpPr/>
            <p:nvPr/>
          </p:nvCxnSpPr>
          <p:spPr>
            <a:xfrm rot="16200000" flipV="1">
              <a:off x="7643834" y="3784602"/>
              <a:ext cx="142876"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52" name="直線接點 251"/>
            <p:cNvCxnSpPr/>
            <p:nvPr/>
          </p:nvCxnSpPr>
          <p:spPr>
            <a:xfrm rot="16200000" flipV="1">
              <a:off x="6072992" y="3785396"/>
              <a:ext cx="142876"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54" name="直線接點 253"/>
            <p:cNvCxnSpPr/>
            <p:nvPr/>
          </p:nvCxnSpPr>
          <p:spPr>
            <a:xfrm rot="5400000">
              <a:off x="5893603" y="3464719"/>
              <a:ext cx="500066" cy="1588"/>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6" name="直線接點 255"/>
            <p:cNvCxnSpPr/>
            <p:nvPr/>
          </p:nvCxnSpPr>
          <p:spPr>
            <a:xfrm rot="5400000">
              <a:off x="7464445" y="3463925"/>
              <a:ext cx="500066" cy="158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57" name="文字方塊 256"/>
            <p:cNvSpPr txBox="1"/>
            <p:nvPr/>
          </p:nvSpPr>
          <p:spPr>
            <a:xfrm>
              <a:off x="6292182" y="357166"/>
              <a:ext cx="1351652" cy="369332"/>
            </a:xfrm>
            <a:prstGeom prst="rect">
              <a:avLst/>
            </a:prstGeom>
            <a:noFill/>
          </p:spPr>
          <p:txBody>
            <a:bodyPr wrap="none" rtlCol="0">
              <a:spAutoFit/>
            </a:bodyPr>
            <a:lstStyle/>
            <a:p>
              <a:r>
                <a:rPr lang="en-US" altLang="zh-TW" dirty="0" smtClean="0">
                  <a:latin typeface="Calibri" pitchFamily="34" charset="0"/>
                </a:rPr>
                <a:t>64</a:t>
              </a:r>
              <a:r>
                <a:rPr lang="zh-TW" altLang="en-US" dirty="0" smtClean="0">
                  <a:latin typeface="Calibri" pitchFamily="34" charset="0"/>
                </a:rPr>
                <a:t>位元原文</a:t>
              </a:r>
              <a:endParaRPr lang="zh-TW" altLang="en-US" dirty="0">
                <a:latin typeface="Calibri" pitchFamily="34" charset="0"/>
              </a:endParaRPr>
            </a:p>
          </p:txBody>
        </p:sp>
        <p:sp>
          <p:nvSpPr>
            <p:cNvPr id="258" name="文字方塊 257"/>
            <p:cNvSpPr txBox="1"/>
            <p:nvPr/>
          </p:nvSpPr>
          <p:spPr>
            <a:xfrm>
              <a:off x="6292182" y="6202940"/>
              <a:ext cx="1351652" cy="369332"/>
            </a:xfrm>
            <a:prstGeom prst="rect">
              <a:avLst/>
            </a:prstGeom>
            <a:noFill/>
          </p:spPr>
          <p:txBody>
            <a:bodyPr wrap="none" rtlCol="0">
              <a:spAutoFit/>
            </a:bodyPr>
            <a:lstStyle/>
            <a:p>
              <a:r>
                <a:rPr lang="en-US" altLang="zh-TW" dirty="0" smtClean="0">
                  <a:latin typeface="Calibri" pitchFamily="34" charset="0"/>
                </a:rPr>
                <a:t>64</a:t>
              </a:r>
              <a:r>
                <a:rPr lang="zh-TW" altLang="en-US" dirty="0" smtClean="0">
                  <a:latin typeface="Calibri" pitchFamily="34" charset="0"/>
                </a:rPr>
                <a:t>位元密文</a:t>
              </a:r>
              <a:endParaRPr lang="zh-TW" altLang="en-US" dirty="0">
                <a:latin typeface="Calibri" pitchFamily="34" charset="0"/>
              </a:endParaRPr>
            </a:p>
          </p:txBody>
        </p:sp>
        <p:cxnSp>
          <p:nvCxnSpPr>
            <p:cNvPr id="260" name="直線單箭頭接點 259"/>
            <p:cNvCxnSpPr/>
            <p:nvPr/>
          </p:nvCxnSpPr>
          <p:spPr>
            <a:xfrm rot="5400000">
              <a:off x="6036479" y="678637"/>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1" name="直線單箭頭接點 260"/>
            <p:cNvCxnSpPr/>
            <p:nvPr/>
          </p:nvCxnSpPr>
          <p:spPr>
            <a:xfrm rot="5400000">
              <a:off x="7678759" y="677843"/>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2" name="直線單箭頭接點 261"/>
            <p:cNvCxnSpPr/>
            <p:nvPr/>
          </p:nvCxnSpPr>
          <p:spPr>
            <a:xfrm rot="5400000">
              <a:off x="6037273" y="6250007"/>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3" name="直線單箭頭接點 262"/>
            <p:cNvCxnSpPr/>
            <p:nvPr/>
          </p:nvCxnSpPr>
          <p:spPr>
            <a:xfrm rot="5400000">
              <a:off x="7680347" y="6250007"/>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5" name="直線單箭頭接點 264"/>
            <p:cNvCxnSpPr/>
            <p:nvPr/>
          </p:nvCxnSpPr>
          <p:spPr>
            <a:xfrm rot="5400000">
              <a:off x="6071404" y="4214818"/>
              <a:ext cx="142876"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7" name="直線單箭頭接點 266"/>
            <p:cNvCxnSpPr>
              <a:endCxn id="235" idx="4"/>
            </p:cNvCxnSpPr>
            <p:nvPr/>
          </p:nvCxnSpPr>
          <p:spPr>
            <a:xfrm rot="5400000">
              <a:off x="6072198" y="5143512"/>
              <a:ext cx="142876"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9" name="直線單箭頭接點 268"/>
            <p:cNvCxnSpPr/>
            <p:nvPr/>
          </p:nvCxnSpPr>
          <p:spPr>
            <a:xfrm rot="5400000">
              <a:off x="7429520" y="5429264"/>
              <a:ext cx="71438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71" name="直線接點 270"/>
            <p:cNvCxnSpPr>
              <a:stCxn id="236" idx="0"/>
            </p:cNvCxnSpPr>
            <p:nvPr/>
          </p:nvCxnSpPr>
          <p:spPr>
            <a:xfrm rot="5400000">
              <a:off x="6036479" y="4679165"/>
              <a:ext cx="214314" cy="1588"/>
            </a:xfrm>
            <a:prstGeom prst="line">
              <a:avLst/>
            </a:prstGeom>
          </p:spPr>
          <p:style>
            <a:lnRef idx="1">
              <a:schemeClr val="accent1"/>
            </a:lnRef>
            <a:fillRef idx="0">
              <a:schemeClr val="accent1"/>
            </a:fillRef>
            <a:effectRef idx="0">
              <a:schemeClr val="accent1"/>
            </a:effectRef>
            <a:fontRef idx="minor">
              <a:schemeClr val="tx1"/>
            </a:fontRef>
          </p:style>
        </p:cxnSp>
        <p:sp>
          <p:nvSpPr>
            <p:cNvPr id="272" name="文字方塊 271"/>
            <p:cNvSpPr txBox="1"/>
            <p:nvPr/>
          </p:nvSpPr>
          <p:spPr>
            <a:xfrm>
              <a:off x="6357950" y="3286124"/>
              <a:ext cx="1120820" cy="369332"/>
            </a:xfrm>
            <a:prstGeom prst="rect">
              <a:avLst/>
            </a:prstGeom>
            <a:noFill/>
          </p:spPr>
          <p:txBody>
            <a:bodyPr wrap="none" rtlCol="0">
              <a:spAutoFit/>
            </a:bodyPr>
            <a:lstStyle/>
            <a:p>
              <a:r>
                <a:rPr lang="zh-TW" altLang="en-US" dirty="0" smtClean="0">
                  <a:latin typeface="Calibri" pitchFamily="34" charset="0"/>
                </a:rPr>
                <a:t>重複</a:t>
              </a:r>
              <a:r>
                <a:rPr lang="en-US" altLang="zh-TW" dirty="0" smtClean="0">
                  <a:latin typeface="Calibri" pitchFamily="34" charset="0"/>
                </a:rPr>
                <a:t>16</a:t>
              </a:r>
              <a:r>
                <a:rPr lang="zh-TW" altLang="en-US" dirty="0" smtClean="0">
                  <a:latin typeface="Calibri" pitchFamily="34" charset="0"/>
                </a:rPr>
                <a:t>圈</a:t>
              </a:r>
              <a:endParaRPr lang="zh-TW" altLang="en-US" dirty="0">
                <a:latin typeface="Calibri" pitchFamily="34" charset="0"/>
              </a:endParaRPr>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smtClean="0"/>
              <a:t>DES</a:t>
            </a:r>
            <a:r>
              <a:rPr lang="zh-TW" altLang="en-US" dirty="0" smtClean="0"/>
              <a:t> </a:t>
            </a:r>
            <a:r>
              <a:rPr lang="en-US" altLang="zh-TW" dirty="0" smtClean="0">
                <a:solidFill>
                  <a:srgbClr val="0000FF"/>
                </a:solidFill>
              </a:rPr>
              <a:t>F-Function</a:t>
            </a:r>
            <a:r>
              <a:rPr lang="zh-TW" altLang="en-US" dirty="0" smtClean="0"/>
              <a:t>功能圖</a:t>
            </a:r>
            <a:endParaRPr lang="zh-TW" altLang="en-US" dirty="0"/>
          </a:p>
        </p:txBody>
      </p:sp>
      <p:grpSp>
        <p:nvGrpSpPr>
          <p:cNvPr id="152" name="群組 151"/>
          <p:cNvGrpSpPr/>
          <p:nvPr/>
        </p:nvGrpSpPr>
        <p:grpSpPr>
          <a:xfrm>
            <a:off x="642910" y="1844824"/>
            <a:ext cx="7713299" cy="3643338"/>
            <a:chOff x="642910" y="1142984"/>
            <a:chExt cx="7713299" cy="3643338"/>
          </a:xfrm>
        </p:grpSpPr>
        <p:sp>
          <p:nvSpPr>
            <p:cNvPr id="4" name="矩形 3"/>
            <p:cNvSpPr/>
            <p:nvPr/>
          </p:nvSpPr>
          <p:spPr>
            <a:xfrm>
              <a:off x="643704" y="2928934"/>
              <a:ext cx="714380"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S1</a:t>
              </a:r>
              <a:endParaRPr lang="zh-TW" altLang="en-US" dirty="0">
                <a:latin typeface="Calibri" pitchFamily="34" charset="0"/>
              </a:endParaRPr>
            </a:p>
          </p:txBody>
        </p:sp>
        <p:cxnSp>
          <p:nvCxnSpPr>
            <p:cNvPr id="10" name="直線單箭頭接點 9"/>
            <p:cNvCxnSpPr/>
            <p:nvPr/>
          </p:nvCxnSpPr>
          <p:spPr>
            <a:xfrm rot="5400000">
              <a:off x="465109"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 name="直線單箭頭接點 12"/>
            <p:cNvCxnSpPr/>
            <p:nvPr/>
          </p:nvCxnSpPr>
          <p:spPr>
            <a:xfrm rot="5400000">
              <a:off x="750067"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 name="直線單箭頭接點 13"/>
            <p:cNvCxnSpPr/>
            <p:nvPr/>
          </p:nvCxnSpPr>
          <p:spPr>
            <a:xfrm rot="5400000">
              <a:off x="607191"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線單箭頭接點 14"/>
            <p:cNvCxnSpPr/>
            <p:nvPr/>
          </p:nvCxnSpPr>
          <p:spPr>
            <a:xfrm rot="5400000">
              <a:off x="892943"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線單箭頭接點 15"/>
            <p:cNvCxnSpPr/>
            <p:nvPr/>
          </p:nvCxnSpPr>
          <p:spPr>
            <a:xfrm rot="5400000">
              <a:off x="1035819"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 name="直線單箭頭接點 16"/>
            <p:cNvCxnSpPr/>
            <p:nvPr/>
          </p:nvCxnSpPr>
          <p:spPr>
            <a:xfrm rot="5400000">
              <a:off x="1178695"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矩形 17"/>
            <p:cNvSpPr/>
            <p:nvPr/>
          </p:nvSpPr>
          <p:spPr>
            <a:xfrm>
              <a:off x="1500960" y="2928934"/>
              <a:ext cx="714380"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S2</a:t>
              </a:r>
              <a:endParaRPr lang="zh-TW" altLang="en-US" dirty="0">
                <a:latin typeface="Calibri" pitchFamily="34" charset="0"/>
              </a:endParaRPr>
            </a:p>
          </p:txBody>
        </p:sp>
        <p:cxnSp>
          <p:nvCxnSpPr>
            <p:cNvPr id="19" name="直線單箭頭接點 18"/>
            <p:cNvCxnSpPr/>
            <p:nvPr/>
          </p:nvCxnSpPr>
          <p:spPr>
            <a:xfrm rot="5400000">
              <a:off x="1322365"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 name="直線單箭頭接點 19"/>
            <p:cNvCxnSpPr/>
            <p:nvPr/>
          </p:nvCxnSpPr>
          <p:spPr>
            <a:xfrm rot="5400000">
              <a:off x="1607323"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1" name="直線單箭頭接點 20"/>
            <p:cNvCxnSpPr/>
            <p:nvPr/>
          </p:nvCxnSpPr>
          <p:spPr>
            <a:xfrm rot="5400000">
              <a:off x="1464447"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直線單箭頭接點 21"/>
            <p:cNvCxnSpPr/>
            <p:nvPr/>
          </p:nvCxnSpPr>
          <p:spPr>
            <a:xfrm rot="5400000">
              <a:off x="1750199"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線單箭頭接點 22"/>
            <p:cNvCxnSpPr/>
            <p:nvPr/>
          </p:nvCxnSpPr>
          <p:spPr>
            <a:xfrm rot="5400000">
              <a:off x="1893075"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線單箭頭接點 23"/>
            <p:cNvCxnSpPr/>
            <p:nvPr/>
          </p:nvCxnSpPr>
          <p:spPr>
            <a:xfrm rot="5400000">
              <a:off x="2035951"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a:off x="2358216" y="2928934"/>
              <a:ext cx="714380"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S3</a:t>
              </a:r>
              <a:endParaRPr lang="zh-TW" altLang="en-US" dirty="0">
                <a:latin typeface="Calibri" pitchFamily="34" charset="0"/>
              </a:endParaRPr>
            </a:p>
          </p:txBody>
        </p:sp>
        <p:cxnSp>
          <p:nvCxnSpPr>
            <p:cNvPr id="26" name="直線單箭頭接點 25"/>
            <p:cNvCxnSpPr/>
            <p:nvPr/>
          </p:nvCxnSpPr>
          <p:spPr>
            <a:xfrm rot="5400000">
              <a:off x="2179621"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7" name="直線單箭頭接點 26"/>
            <p:cNvCxnSpPr/>
            <p:nvPr/>
          </p:nvCxnSpPr>
          <p:spPr>
            <a:xfrm rot="5400000">
              <a:off x="2464579"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直線單箭頭接點 27"/>
            <p:cNvCxnSpPr/>
            <p:nvPr/>
          </p:nvCxnSpPr>
          <p:spPr>
            <a:xfrm rot="5400000">
              <a:off x="2321703"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9" name="直線單箭頭接點 28"/>
            <p:cNvCxnSpPr/>
            <p:nvPr/>
          </p:nvCxnSpPr>
          <p:spPr>
            <a:xfrm rot="5400000">
              <a:off x="2607455"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0" name="直線單箭頭接點 29"/>
            <p:cNvCxnSpPr/>
            <p:nvPr/>
          </p:nvCxnSpPr>
          <p:spPr>
            <a:xfrm rot="5400000">
              <a:off x="2750331"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1" name="直線單箭頭接點 30"/>
            <p:cNvCxnSpPr/>
            <p:nvPr/>
          </p:nvCxnSpPr>
          <p:spPr>
            <a:xfrm rot="5400000">
              <a:off x="2893207"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2" name="矩形 31"/>
            <p:cNvSpPr/>
            <p:nvPr/>
          </p:nvSpPr>
          <p:spPr>
            <a:xfrm>
              <a:off x="3215471" y="2928934"/>
              <a:ext cx="714380"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S4</a:t>
              </a:r>
              <a:endParaRPr lang="zh-TW" altLang="en-US" dirty="0">
                <a:latin typeface="Calibri" pitchFamily="34" charset="0"/>
              </a:endParaRPr>
            </a:p>
          </p:txBody>
        </p:sp>
        <p:cxnSp>
          <p:nvCxnSpPr>
            <p:cNvPr id="33" name="直線單箭頭接點 32"/>
            <p:cNvCxnSpPr/>
            <p:nvPr/>
          </p:nvCxnSpPr>
          <p:spPr>
            <a:xfrm rot="5400000">
              <a:off x="3036876"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4" name="直線單箭頭接點 33"/>
            <p:cNvCxnSpPr/>
            <p:nvPr/>
          </p:nvCxnSpPr>
          <p:spPr>
            <a:xfrm rot="5400000">
              <a:off x="3321834"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直線單箭頭接點 34"/>
            <p:cNvCxnSpPr/>
            <p:nvPr/>
          </p:nvCxnSpPr>
          <p:spPr>
            <a:xfrm rot="5400000">
              <a:off x="3178958"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直線單箭頭接點 35"/>
            <p:cNvCxnSpPr/>
            <p:nvPr/>
          </p:nvCxnSpPr>
          <p:spPr>
            <a:xfrm rot="5400000">
              <a:off x="3464710"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7" name="直線單箭頭接點 36"/>
            <p:cNvCxnSpPr/>
            <p:nvPr/>
          </p:nvCxnSpPr>
          <p:spPr>
            <a:xfrm rot="5400000">
              <a:off x="3607586"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8" name="直線單箭頭接點 37"/>
            <p:cNvCxnSpPr/>
            <p:nvPr/>
          </p:nvCxnSpPr>
          <p:spPr>
            <a:xfrm rot="5400000">
              <a:off x="3750462"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9" name="矩形 38"/>
            <p:cNvSpPr/>
            <p:nvPr/>
          </p:nvSpPr>
          <p:spPr>
            <a:xfrm>
              <a:off x="4072728" y="2928934"/>
              <a:ext cx="714380"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S5</a:t>
              </a:r>
              <a:endParaRPr lang="zh-TW" altLang="en-US" dirty="0">
                <a:latin typeface="Calibri" pitchFamily="34" charset="0"/>
              </a:endParaRPr>
            </a:p>
          </p:txBody>
        </p:sp>
        <p:cxnSp>
          <p:nvCxnSpPr>
            <p:cNvPr id="40" name="直線單箭頭接點 39"/>
            <p:cNvCxnSpPr/>
            <p:nvPr/>
          </p:nvCxnSpPr>
          <p:spPr>
            <a:xfrm rot="5400000">
              <a:off x="3894133"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1" name="直線單箭頭接點 40"/>
            <p:cNvCxnSpPr/>
            <p:nvPr/>
          </p:nvCxnSpPr>
          <p:spPr>
            <a:xfrm rot="5400000">
              <a:off x="4179091"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2" name="直線單箭頭接點 41"/>
            <p:cNvCxnSpPr/>
            <p:nvPr/>
          </p:nvCxnSpPr>
          <p:spPr>
            <a:xfrm rot="5400000">
              <a:off x="4036215"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3" name="直線單箭頭接點 42"/>
            <p:cNvCxnSpPr/>
            <p:nvPr/>
          </p:nvCxnSpPr>
          <p:spPr>
            <a:xfrm rot="5400000">
              <a:off x="4321967"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4" name="直線單箭頭接點 43"/>
            <p:cNvCxnSpPr/>
            <p:nvPr/>
          </p:nvCxnSpPr>
          <p:spPr>
            <a:xfrm rot="5400000">
              <a:off x="4464843"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5" name="直線單箭頭接點 44"/>
            <p:cNvCxnSpPr/>
            <p:nvPr/>
          </p:nvCxnSpPr>
          <p:spPr>
            <a:xfrm rot="5400000">
              <a:off x="4607719"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4929984" y="2928934"/>
              <a:ext cx="714380"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S6</a:t>
              </a:r>
              <a:endParaRPr lang="zh-TW" altLang="en-US" dirty="0">
                <a:latin typeface="Calibri" pitchFamily="34" charset="0"/>
              </a:endParaRPr>
            </a:p>
          </p:txBody>
        </p:sp>
        <p:cxnSp>
          <p:nvCxnSpPr>
            <p:cNvPr id="47" name="直線單箭頭接點 46"/>
            <p:cNvCxnSpPr/>
            <p:nvPr/>
          </p:nvCxnSpPr>
          <p:spPr>
            <a:xfrm rot="5400000">
              <a:off x="4751389"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8" name="直線單箭頭接點 47"/>
            <p:cNvCxnSpPr/>
            <p:nvPr/>
          </p:nvCxnSpPr>
          <p:spPr>
            <a:xfrm rot="5400000">
              <a:off x="5036347"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9" name="直線單箭頭接點 48"/>
            <p:cNvCxnSpPr/>
            <p:nvPr/>
          </p:nvCxnSpPr>
          <p:spPr>
            <a:xfrm rot="5400000">
              <a:off x="4893471"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0" name="直線單箭頭接點 49"/>
            <p:cNvCxnSpPr/>
            <p:nvPr/>
          </p:nvCxnSpPr>
          <p:spPr>
            <a:xfrm rot="5400000">
              <a:off x="5179223"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1" name="直線單箭頭接點 50"/>
            <p:cNvCxnSpPr/>
            <p:nvPr/>
          </p:nvCxnSpPr>
          <p:spPr>
            <a:xfrm rot="5400000">
              <a:off x="5322099"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2" name="直線單箭頭接點 51"/>
            <p:cNvCxnSpPr/>
            <p:nvPr/>
          </p:nvCxnSpPr>
          <p:spPr>
            <a:xfrm rot="5400000">
              <a:off x="5464975"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3" name="矩形 52"/>
            <p:cNvSpPr/>
            <p:nvPr/>
          </p:nvSpPr>
          <p:spPr>
            <a:xfrm>
              <a:off x="5787240" y="2928934"/>
              <a:ext cx="714380"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S7</a:t>
              </a:r>
              <a:endParaRPr lang="zh-TW" altLang="en-US" dirty="0">
                <a:latin typeface="Calibri" pitchFamily="34" charset="0"/>
              </a:endParaRPr>
            </a:p>
          </p:txBody>
        </p:sp>
        <p:cxnSp>
          <p:nvCxnSpPr>
            <p:cNvPr id="54" name="直線單箭頭接點 53"/>
            <p:cNvCxnSpPr/>
            <p:nvPr/>
          </p:nvCxnSpPr>
          <p:spPr>
            <a:xfrm rot="5400000">
              <a:off x="5608645"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5" name="直線單箭頭接點 54"/>
            <p:cNvCxnSpPr/>
            <p:nvPr/>
          </p:nvCxnSpPr>
          <p:spPr>
            <a:xfrm rot="5400000">
              <a:off x="5893603"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6" name="直線單箭頭接點 55"/>
            <p:cNvCxnSpPr/>
            <p:nvPr/>
          </p:nvCxnSpPr>
          <p:spPr>
            <a:xfrm rot="5400000">
              <a:off x="5750727"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7" name="直線單箭頭接點 56"/>
            <p:cNvCxnSpPr/>
            <p:nvPr/>
          </p:nvCxnSpPr>
          <p:spPr>
            <a:xfrm rot="5400000">
              <a:off x="6036479"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8" name="直線單箭頭接點 57"/>
            <p:cNvCxnSpPr/>
            <p:nvPr/>
          </p:nvCxnSpPr>
          <p:spPr>
            <a:xfrm rot="5400000">
              <a:off x="6179355"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9" name="直線單箭頭接點 58"/>
            <p:cNvCxnSpPr/>
            <p:nvPr/>
          </p:nvCxnSpPr>
          <p:spPr>
            <a:xfrm rot="5400000">
              <a:off x="6322231"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0" name="矩形 59"/>
            <p:cNvSpPr/>
            <p:nvPr/>
          </p:nvSpPr>
          <p:spPr>
            <a:xfrm>
              <a:off x="6644495" y="2928934"/>
              <a:ext cx="714380"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S8</a:t>
              </a:r>
              <a:endParaRPr lang="zh-TW" altLang="en-US" dirty="0">
                <a:latin typeface="Calibri" pitchFamily="34" charset="0"/>
              </a:endParaRPr>
            </a:p>
          </p:txBody>
        </p:sp>
        <p:cxnSp>
          <p:nvCxnSpPr>
            <p:cNvPr id="61" name="直線單箭頭接點 60"/>
            <p:cNvCxnSpPr/>
            <p:nvPr/>
          </p:nvCxnSpPr>
          <p:spPr>
            <a:xfrm rot="5400000">
              <a:off x="6465900"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2" name="直線單箭頭接點 61"/>
            <p:cNvCxnSpPr/>
            <p:nvPr/>
          </p:nvCxnSpPr>
          <p:spPr>
            <a:xfrm rot="5400000">
              <a:off x="6750858"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3" name="直線單箭頭接點 62"/>
            <p:cNvCxnSpPr/>
            <p:nvPr/>
          </p:nvCxnSpPr>
          <p:spPr>
            <a:xfrm rot="5400000">
              <a:off x="6607982"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4" name="直線單箭頭接點 63"/>
            <p:cNvCxnSpPr/>
            <p:nvPr/>
          </p:nvCxnSpPr>
          <p:spPr>
            <a:xfrm rot="5400000">
              <a:off x="6893734"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5" name="直線單箭頭接點 64"/>
            <p:cNvCxnSpPr/>
            <p:nvPr/>
          </p:nvCxnSpPr>
          <p:spPr>
            <a:xfrm rot="5400000">
              <a:off x="7036610"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6" name="直線單箭頭接點 65"/>
            <p:cNvCxnSpPr/>
            <p:nvPr/>
          </p:nvCxnSpPr>
          <p:spPr>
            <a:xfrm rot="5400000">
              <a:off x="7179486" y="2750339"/>
              <a:ext cx="357984"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03" name="直線接點 102"/>
            <p:cNvCxnSpPr/>
            <p:nvPr/>
          </p:nvCxnSpPr>
          <p:spPr>
            <a:xfrm rot="5400000">
              <a:off x="500828" y="3571876"/>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直線接點 107"/>
            <p:cNvCxnSpPr/>
            <p:nvPr/>
          </p:nvCxnSpPr>
          <p:spPr>
            <a:xfrm rot="5400000">
              <a:off x="714348"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直線接點 108"/>
            <p:cNvCxnSpPr/>
            <p:nvPr/>
          </p:nvCxnSpPr>
          <p:spPr>
            <a:xfrm rot="5400000">
              <a:off x="930250"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直線接點 109"/>
            <p:cNvCxnSpPr/>
            <p:nvPr/>
          </p:nvCxnSpPr>
          <p:spPr>
            <a:xfrm rot="5400000">
              <a:off x="1142976"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1" name="直線接點 110"/>
            <p:cNvCxnSpPr/>
            <p:nvPr/>
          </p:nvCxnSpPr>
          <p:spPr>
            <a:xfrm rot="5400000">
              <a:off x="1358084" y="3571876"/>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直線接點 111"/>
            <p:cNvCxnSpPr/>
            <p:nvPr/>
          </p:nvCxnSpPr>
          <p:spPr>
            <a:xfrm rot="5400000">
              <a:off x="1571604"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3" name="直線接點 112"/>
            <p:cNvCxnSpPr/>
            <p:nvPr/>
          </p:nvCxnSpPr>
          <p:spPr>
            <a:xfrm rot="5400000">
              <a:off x="1787506"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直線接點 113"/>
            <p:cNvCxnSpPr/>
            <p:nvPr/>
          </p:nvCxnSpPr>
          <p:spPr>
            <a:xfrm rot="5400000">
              <a:off x="2000232"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5" name="直線接點 114"/>
            <p:cNvCxnSpPr/>
            <p:nvPr/>
          </p:nvCxnSpPr>
          <p:spPr>
            <a:xfrm rot="5400000">
              <a:off x="2216134" y="3571876"/>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直線接點 115"/>
            <p:cNvCxnSpPr/>
            <p:nvPr/>
          </p:nvCxnSpPr>
          <p:spPr>
            <a:xfrm rot="5400000">
              <a:off x="2429654"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直線接點 116"/>
            <p:cNvCxnSpPr/>
            <p:nvPr/>
          </p:nvCxnSpPr>
          <p:spPr>
            <a:xfrm rot="5400000">
              <a:off x="2645556"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直線接點 117"/>
            <p:cNvCxnSpPr/>
            <p:nvPr/>
          </p:nvCxnSpPr>
          <p:spPr>
            <a:xfrm rot="5400000">
              <a:off x="2858282"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9" name="直線接點 118"/>
            <p:cNvCxnSpPr/>
            <p:nvPr/>
          </p:nvCxnSpPr>
          <p:spPr>
            <a:xfrm rot="5400000">
              <a:off x="3073390" y="3571876"/>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0" name="直線接點 119"/>
            <p:cNvCxnSpPr/>
            <p:nvPr/>
          </p:nvCxnSpPr>
          <p:spPr>
            <a:xfrm rot="5400000">
              <a:off x="3286910"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1" name="直線接點 120"/>
            <p:cNvCxnSpPr/>
            <p:nvPr/>
          </p:nvCxnSpPr>
          <p:spPr>
            <a:xfrm rot="5400000">
              <a:off x="3502812"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直線接點 121"/>
            <p:cNvCxnSpPr/>
            <p:nvPr/>
          </p:nvCxnSpPr>
          <p:spPr>
            <a:xfrm rot="5400000">
              <a:off x="3715538"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直線接點 122"/>
            <p:cNvCxnSpPr/>
            <p:nvPr/>
          </p:nvCxnSpPr>
          <p:spPr>
            <a:xfrm rot="5400000">
              <a:off x="4000496" y="3571876"/>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4" name="直線接點 123"/>
            <p:cNvCxnSpPr/>
            <p:nvPr/>
          </p:nvCxnSpPr>
          <p:spPr>
            <a:xfrm rot="5400000">
              <a:off x="4214016"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5" name="直線接點 124"/>
            <p:cNvCxnSpPr/>
            <p:nvPr/>
          </p:nvCxnSpPr>
          <p:spPr>
            <a:xfrm rot="5400000">
              <a:off x="4429918"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6" name="直線接點 125"/>
            <p:cNvCxnSpPr/>
            <p:nvPr/>
          </p:nvCxnSpPr>
          <p:spPr>
            <a:xfrm rot="5400000">
              <a:off x="4642644"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7" name="直線接點 126"/>
            <p:cNvCxnSpPr/>
            <p:nvPr/>
          </p:nvCxnSpPr>
          <p:spPr>
            <a:xfrm rot="5400000">
              <a:off x="4857752" y="3571876"/>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8" name="直線接點 127"/>
            <p:cNvCxnSpPr/>
            <p:nvPr/>
          </p:nvCxnSpPr>
          <p:spPr>
            <a:xfrm rot="5400000">
              <a:off x="5071272"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9" name="直線接點 128"/>
            <p:cNvCxnSpPr/>
            <p:nvPr/>
          </p:nvCxnSpPr>
          <p:spPr>
            <a:xfrm rot="5400000">
              <a:off x="5287174"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0" name="直線接點 129"/>
            <p:cNvCxnSpPr/>
            <p:nvPr/>
          </p:nvCxnSpPr>
          <p:spPr>
            <a:xfrm rot="5400000">
              <a:off x="5499900"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1" name="直線接點 130"/>
            <p:cNvCxnSpPr/>
            <p:nvPr/>
          </p:nvCxnSpPr>
          <p:spPr>
            <a:xfrm rot="5400000">
              <a:off x="5715802" y="3571876"/>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2" name="直線接點 131"/>
            <p:cNvCxnSpPr/>
            <p:nvPr/>
          </p:nvCxnSpPr>
          <p:spPr>
            <a:xfrm rot="5400000">
              <a:off x="5929322"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直線接點 132"/>
            <p:cNvCxnSpPr/>
            <p:nvPr/>
          </p:nvCxnSpPr>
          <p:spPr>
            <a:xfrm rot="5400000">
              <a:off x="6145224"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直線接點 133"/>
            <p:cNvCxnSpPr/>
            <p:nvPr/>
          </p:nvCxnSpPr>
          <p:spPr>
            <a:xfrm rot="5400000">
              <a:off x="6357950"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5" name="直線接點 134"/>
            <p:cNvCxnSpPr/>
            <p:nvPr/>
          </p:nvCxnSpPr>
          <p:spPr>
            <a:xfrm rot="5400000">
              <a:off x="6573058" y="3571876"/>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直線接點 135"/>
            <p:cNvCxnSpPr/>
            <p:nvPr/>
          </p:nvCxnSpPr>
          <p:spPr>
            <a:xfrm rot="5400000">
              <a:off x="6786578"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7" name="直線接點 136"/>
            <p:cNvCxnSpPr/>
            <p:nvPr/>
          </p:nvCxnSpPr>
          <p:spPr>
            <a:xfrm rot="5400000">
              <a:off x="7002480"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8" name="直線接點 137"/>
            <p:cNvCxnSpPr/>
            <p:nvPr/>
          </p:nvCxnSpPr>
          <p:spPr>
            <a:xfrm rot="5400000">
              <a:off x="7215206" y="3571082"/>
              <a:ext cx="28575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0" name="直線接點 139"/>
            <p:cNvCxnSpPr/>
            <p:nvPr/>
          </p:nvCxnSpPr>
          <p:spPr>
            <a:xfrm>
              <a:off x="643704" y="3714752"/>
              <a:ext cx="6715172" cy="1588"/>
            </a:xfrm>
            <a:prstGeom prst="line">
              <a:avLst/>
            </a:prstGeom>
          </p:spPr>
          <p:style>
            <a:lnRef idx="1">
              <a:schemeClr val="accent1"/>
            </a:lnRef>
            <a:fillRef idx="0">
              <a:schemeClr val="accent1"/>
            </a:fillRef>
            <a:effectRef idx="0">
              <a:schemeClr val="accent1"/>
            </a:effectRef>
            <a:fontRef idx="minor">
              <a:schemeClr val="tx1"/>
            </a:fontRef>
          </p:style>
        </p:cxnSp>
        <p:sp>
          <p:nvSpPr>
            <p:cNvPr id="141" name="矩形 140"/>
            <p:cNvSpPr/>
            <p:nvPr/>
          </p:nvSpPr>
          <p:spPr>
            <a:xfrm>
              <a:off x="643704" y="4000504"/>
              <a:ext cx="6715172" cy="3571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P</a:t>
              </a:r>
              <a:endParaRPr lang="zh-TW" altLang="en-US" dirty="0">
                <a:latin typeface="Calibri" pitchFamily="34" charset="0"/>
              </a:endParaRPr>
            </a:p>
          </p:txBody>
        </p:sp>
        <p:cxnSp>
          <p:nvCxnSpPr>
            <p:cNvPr id="143" name="直線單箭頭接點 142"/>
            <p:cNvCxnSpPr>
              <a:endCxn id="141" idx="0"/>
            </p:cNvCxnSpPr>
            <p:nvPr/>
          </p:nvCxnSpPr>
          <p:spPr>
            <a:xfrm rot="5400000">
              <a:off x="3858414" y="3857628"/>
              <a:ext cx="28575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6" name="直線單箭頭接點 145"/>
            <p:cNvCxnSpPr/>
            <p:nvPr/>
          </p:nvCxnSpPr>
          <p:spPr>
            <a:xfrm rot="5400000">
              <a:off x="3859208" y="4499776"/>
              <a:ext cx="28575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7" name="文字方塊 146"/>
            <p:cNvSpPr txBox="1"/>
            <p:nvPr/>
          </p:nvSpPr>
          <p:spPr>
            <a:xfrm>
              <a:off x="4072728" y="4416990"/>
              <a:ext cx="1351652" cy="369332"/>
            </a:xfrm>
            <a:prstGeom prst="rect">
              <a:avLst/>
            </a:prstGeom>
            <a:noFill/>
          </p:spPr>
          <p:txBody>
            <a:bodyPr wrap="none" rtlCol="0">
              <a:spAutoFit/>
            </a:bodyPr>
            <a:lstStyle/>
            <a:p>
              <a:r>
                <a:rPr lang="en-US" altLang="zh-TW" dirty="0" smtClean="0">
                  <a:latin typeface="Calibri" pitchFamily="34" charset="0"/>
                </a:rPr>
                <a:t>32</a:t>
              </a:r>
              <a:r>
                <a:rPr lang="zh-TW" altLang="en-US" dirty="0" smtClean="0">
                  <a:latin typeface="Calibri" pitchFamily="34" charset="0"/>
                </a:rPr>
                <a:t>位元密文</a:t>
              </a:r>
              <a:endParaRPr lang="zh-TW" altLang="en-US" dirty="0">
                <a:latin typeface="Calibri" pitchFamily="34" charset="0"/>
              </a:endParaRPr>
            </a:p>
          </p:txBody>
        </p:sp>
        <p:sp>
          <p:nvSpPr>
            <p:cNvPr id="148" name="矩形 147"/>
            <p:cNvSpPr/>
            <p:nvPr/>
          </p:nvSpPr>
          <p:spPr>
            <a:xfrm>
              <a:off x="643704" y="1571612"/>
              <a:ext cx="2143140" cy="3571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32</a:t>
              </a:r>
              <a:r>
                <a:rPr lang="zh-TW" altLang="en-US" dirty="0" smtClean="0">
                  <a:latin typeface="Calibri" pitchFamily="34" charset="0"/>
                </a:rPr>
                <a:t>位元擴張到</a:t>
              </a:r>
              <a:r>
                <a:rPr lang="en-US" altLang="zh-TW" dirty="0" smtClean="0">
                  <a:latin typeface="Calibri" pitchFamily="34" charset="0"/>
                </a:rPr>
                <a:t>48</a:t>
              </a:r>
              <a:endParaRPr lang="zh-TW" altLang="en-US" dirty="0">
                <a:latin typeface="Calibri" pitchFamily="34" charset="0"/>
              </a:endParaRPr>
            </a:p>
          </p:txBody>
        </p:sp>
        <p:cxnSp>
          <p:nvCxnSpPr>
            <p:cNvPr id="150" name="直線接點 149"/>
            <p:cNvCxnSpPr/>
            <p:nvPr/>
          </p:nvCxnSpPr>
          <p:spPr>
            <a:xfrm>
              <a:off x="643704" y="2571744"/>
              <a:ext cx="671517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53" name="直線單箭頭接點 152"/>
            <p:cNvCxnSpPr>
              <a:stCxn id="142" idx="4"/>
            </p:cNvCxnSpPr>
            <p:nvPr/>
          </p:nvCxnSpPr>
          <p:spPr>
            <a:xfrm rot="5400000">
              <a:off x="3857222" y="2429266"/>
              <a:ext cx="28654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9" name="圖案 158"/>
            <p:cNvCxnSpPr>
              <a:stCxn id="148" idx="2"/>
              <a:endCxn id="142" idx="2"/>
            </p:cNvCxnSpPr>
            <p:nvPr/>
          </p:nvCxnSpPr>
          <p:spPr>
            <a:xfrm rot="16200000" flipH="1">
              <a:off x="2679290" y="964786"/>
              <a:ext cx="142876" cy="2070908"/>
            </a:xfrm>
            <a:prstGeom prst="bentConnector2">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5" name="直線單箭頭接點 164"/>
            <p:cNvCxnSpPr/>
            <p:nvPr/>
          </p:nvCxnSpPr>
          <p:spPr>
            <a:xfrm rot="5400000">
              <a:off x="1571604" y="1427942"/>
              <a:ext cx="28575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7" name="文字方塊 166"/>
            <p:cNvSpPr txBox="1"/>
            <p:nvPr/>
          </p:nvSpPr>
          <p:spPr>
            <a:xfrm>
              <a:off x="1715274" y="1142984"/>
              <a:ext cx="1351652" cy="369332"/>
            </a:xfrm>
            <a:prstGeom prst="rect">
              <a:avLst/>
            </a:prstGeom>
            <a:noFill/>
          </p:spPr>
          <p:txBody>
            <a:bodyPr wrap="none" rtlCol="0">
              <a:spAutoFit/>
            </a:bodyPr>
            <a:lstStyle/>
            <a:p>
              <a:r>
                <a:rPr lang="en-US" altLang="zh-TW" dirty="0" smtClean="0">
                  <a:latin typeface="Calibri" pitchFamily="34" charset="0"/>
                </a:rPr>
                <a:t>32</a:t>
              </a:r>
              <a:r>
                <a:rPr lang="zh-TW" altLang="en-US" dirty="0" smtClean="0">
                  <a:latin typeface="Calibri" pitchFamily="34" charset="0"/>
                </a:rPr>
                <a:t>位元原文</a:t>
              </a:r>
              <a:endParaRPr lang="zh-TW" altLang="en-US" dirty="0">
                <a:latin typeface="Calibri" pitchFamily="34" charset="0"/>
              </a:endParaRPr>
            </a:p>
          </p:txBody>
        </p:sp>
        <p:sp>
          <p:nvSpPr>
            <p:cNvPr id="179" name="文字方塊 178"/>
            <p:cNvSpPr txBox="1"/>
            <p:nvPr/>
          </p:nvSpPr>
          <p:spPr>
            <a:xfrm>
              <a:off x="5276326" y="1214422"/>
              <a:ext cx="1582484" cy="369332"/>
            </a:xfrm>
            <a:prstGeom prst="rect">
              <a:avLst/>
            </a:prstGeom>
            <a:noFill/>
          </p:spPr>
          <p:txBody>
            <a:bodyPr wrap="none" rtlCol="0">
              <a:spAutoFit/>
            </a:bodyPr>
            <a:lstStyle/>
            <a:p>
              <a:r>
                <a:rPr lang="en-US" altLang="zh-TW" dirty="0" smtClean="0">
                  <a:latin typeface="Calibri" pitchFamily="34" charset="0"/>
                </a:rPr>
                <a:t>48</a:t>
              </a:r>
              <a:r>
                <a:rPr lang="zh-TW" altLang="en-US" dirty="0" smtClean="0">
                  <a:latin typeface="Calibri" pitchFamily="34" charset="0"/>
                </a:rPr>
                <a:t>位元次金鑰</a:t>
              </a:r>
              <a:endParaRPr lang="zh-TW" altLang="en-US" dirty="0">
                <a:latin typeface="Calibri" pitchFamily="34" charset="0"/>
              </a:endParaRPr>
            </a:p>
          </p:txBody>
        </p:sp>
        <p:cxnSp>
          <p:nvCxnSpPr>
            <p:cNvPr id="181" name="圖案 180"/>
            <p:cNvCxnSpPr>
              <a:stCxn id="179" idx="2"/>
              <a:endCxn id="142" idx="6"/>
            </p:cNvCxnSpPr>
            <p:nvPr/>
          </p:nvCxnSpPr>
          <p:spPr>
            <a:xfrm rot="5400000">
              <a:off x="4897227" y="901337"/>
              <a:ext cx="487924" cy="1852758"/>
            </a:xfrm>
            <a:prstGeom prst="bentConnector2">
              <a:avLst/>
            </a:prstGeom>
            <a:ln>
              <a:tailEnd type="arrow"/>
            </a:ln>
          </p:spPr>
          <p:style>
            <a:lnRef idx="1">
              <a:schemeClr val="accent1"/>
            </a:lnRef>
            <a:fillRef idx="0">
              <a:schemeClr val="accent1"/>
            </a:fillRef>
            <a:effectRef idx="0">
              <a:schemeClr val="accent1"/>
            </a:effectRef>
            <a:fontRef idx="minor">
              <a:schemeClr val="tx1"/>
            </a:fontRef>
          </p:style>
        </p:cxnSp>
        <p:sp>
          <p:nvSpPr>
            <p:cNvPr id="182" name="文字方塊 181"/>
            <p:cNvSpPr txBox="1"/>
            <p:nvPr/>
          </p:nvSpPr>
          <p:spPr>
            <a:xfrm>
              <a:off x="3305404" y="1500174"/>
              <a:ext cx="1338828" cy="369332"/>
            </a:xfrm>
            <a:prstGeom prst="rect">
              <a:avLst/>
            </a:prstGeom>
            <a:noFill/>
          </p:spPr>
          <p:txBody>
            <a:bodyPr wrap="none" rtlCol="0">
              <a:spAutoFit/>
            </a:bodyPr>
            <a:lstStyle/>
            <a:p>
              <a:r>
                <a:rPr lang="zh-TW" altLang="en-US" dirty="0" smtClean="0">
                  <a:latin typeface="Calibri" pitchFamily="34" charset="0"/>
                </a:rPr>
                <a:t>互斥或運算</a:t>
              </a:r>
              <a:endParaRPr lang="zh-TW" altLang="en-US" dirty="0">
                <a:latin typeface="Calibri" pitchFamily="34" charset="0"/>
              </a:endParaRPr>
            </a:p>
          </p:txBody>
        </p:sp>
        <p:sp>
          <p:nvSpPr>
            <p:cNvPr id="184" name="文字方塊 183"/>
            <p:cNvSpPr txBox="1"/>
            <p:nvPr/>
          </p:nvSpPr>
          <p:spPr>
            <a:xfrm>
              <a:off x="7643834" y="2928934"/>
              <a:ext cx="699550" cy="369332"/>
            </a:xfrm>
            <a:prstGeom prst="rect">
              <a:avLst/>
            </a:prstGeom>
            <a:noFill/>
          </p:spPr>
          <p:txBody>
            <a:bodyPr wrap="none" rtlCol="0">
              <a:spAutoFit/>
            </a:bodyPr>
            <a:lstStyle/>
            <a:p>
              <a:r>
                <a:rPr lang="en-US" altLang="zh-TW" dirty="0" smtClean="0">
                  <a:latin typeface="Calibri" pitchFamily="34" charset="0"/>
                </a:rPr>
                <a:t>S-box</a:t>
              </a:r>
              <a:endParaRPr lang="zh-TW" altLang="en-US" dirty="0">
                <a:latin typeface="Calibri" pitchFamily="34" charset="0"/>
              </a:endParaRPr>
            </a:p>
          </p:txBody>
        </p:sp>
        <p:sp>
          <p:nvSpPr>
            <p:cNvPr id="185" name="文字方塊 184"/>
            <p:cNvSpPr txBox="1"/>
            <p:nvPr/>
          </p:nvSpPr>
          <p:spPr>
            <a:xfrm>
              <a:off x="7643834" y="3929066"/>
              <a:ext cx="712375" cy="369332"/>
            </a:xfrm>
            <a:prstGeom prst="rect">
              <a:avLst/>
            </a:prstGeom>
            <a:noFill/>
          </p:spPr>
          <p:txBody>
            <a:bodyPr wrap="none" rtlCol="0">
              <a:spAutoFit/>
            </a:bodyPr>
            <a:lstStyle/>
            <a:p>
              <a:r>
                <a:rPr lang="en-US" altLang="zh-TW" dirty="0" smtClean="0">
                  <a:latin typeface="Calibri" pitchFamily="34" charset="0"/>
                </a:rPr>
                <a:t>P-box</a:t>
              </a:r>
              <a:endParaRPr lang="zh-TW" altLang="en-US" dirty="0">
                <a:latin typeface="Calibri" pitchFamily="34" charset="0"/>
              </a:endParaRPr>
            </a:p>
          </p:txBody>
        </p:sp>
        <p:sp>
          <p:nvSpPr>
            <p:cNvPr id="142" name="流程圖: 或 141"/>
            <p:cNvSpPr/>
            <p:nvPr/>
          </p:nvSpPr>
          <p:spPr>
            <a:xfrm>
              <a:off x="3786182" y="1857364"/>
              <a:ext cx="428628" cy="428628"/>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grpSp>
      <p:sp>
        <p:nvSpPr>
          <p:cNvPr id="144" name="文字方塊 143"/>
          <p:cNvSpPr txBox="1"/>
          <p:nvPr/>
        </p:nvSpPr>
        <p:spPr>
          <a:xfrm>
            <a:off x="3058599" y="5733256"/>
            <a:ext cx="3241593" cy="369332"/>
          </a:xfrm>
          <a:prstGeom prst="rect">
            <a:avLst/>
          </a:prstGeom>
          <a:noFill/>
        </p:spPr>
        <p:txBody>
          <a:bodyPr wrap="none" rtlCol="0">
            <a:spAutoFit/>
          </a:bodyPr>
          <a:lstStyle/>
          <a:p>
            <a:r>
              <a:rPr lang="en-US" altLang="zh-TW" dirty="0" smtClean="0"/>
              <a:t>F-function</a:t>
            </a:r>
            <a:r>
              <a:rPr lang="zh-TW" altLang="en-US" dirty="0" smtClean="0"/>
              <a:t>為</a:t>
            </a:r>
            <a:r>
              <a:rPr lang="en-US" altLang="zh-TW" dirty="0" smtClean="0"/>
              <a:t>DES</a:t>
            </a:r>
            <a:r>
              <a:rPr lang="zh-TW" altLang="en-US" dirty="0" smtClean="0"/>
              <a:t>加密法的精華</a:t>
            </a:r>
            <a:endParaRPr lang="en-US" altLang="zh-TW" sz="1400" dirty="0" smtClean="0"/>
          </a:p>
        </p:txBody>
      </p:sp>
      <p:sp>
        <p:nvSpPr>
          <p:cNvPr id="3" name="矩形 2"/>
          <p:cNvSpPr/>
          <p:nvPr/>
        </p:nvSpPr>
        <p:spPr>
          <a:xfrm>
            <a:off x="1187624" y="6161884"/>
            <a:ext cx="5980083" cy="27874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bg1"/>
                </a:solidFill>
              </a:rPr>
              <a:t>DES</a:t>
            </a:r>
            <a:r>
              <a:rPr lang="zh-TW" altLang="en-US" dirty="0">
                <a:solidFill>
                  <a:schemeClr val="bg1"/>
                </a:solidFill>
              </a:rPr>
              <a:t>的</a:t>
            </a:r>
            <a:r>
              <a:rPr lang="en-US" altLang="zh-TW" dirty="0">
                <a:solidFill>
                  <a:schemeClr val="bg1"/>
                </a:solidFill>
              </a:rPr>
              <a:t>6×4</a:t>
            </a:r>
            <a:r>
              <a:rPr lang="zh-TW" altLang="en-US" dirty="0">
                <a:solidFill>
                  <a:schemeClr val="bg1"/>
                </a:solidFill>
              </a:rPr>
              <a:t>位元</a:t>
            </a:r>
            <a:r>
              <a:rPr lang="en-US" altLang="zh-TW" dirty="0">
                <a:solidFill>
                  <a:schemeClr val="bg1"/>
                </a:solidFill>
              </a:rPr>
              <a:t>S</a:t>
            </a:r>
            <a:r>
              <a:rPr lang="zh-TW" altLang="en-US" dirty="0">
                <a:solidFill>
                  <a:schemeClr val="bg1"/>
                </a:solidFill>
              </a:rPr>
              <a:t>盒（</a:t>
            </a:r>
            <a:r>
              <a:rPr lang="en-US" altLang="zh-TW" dirty="0">
                <a:solidFill>
                  <a:schemeClr val="bg1"/>
                </a:solidFill>
              </a:rPr>
              <a:t>S</a:t>
            </a:r>
            <a:r>
              <a:rPr lang="en-US" altLang="zh-TW" baseline="-25000" dirty="0">
                <a:solidFill>
                  <a:schemeClr val="bg1"/>
                </a:solidFill>
              </a:rPr>
              <a:t>5</a:t>
            </a:r>
            <a:r>
              <a:rPr lang="zh-TW" altLang="en-US" dirty="0" smtClean="0">
                <a:solidFill>
                  <a:schemeClr val="bg1"/>
                </a:solidFill>
              </a:rPr>
              <a:t>）   </a:t>
            </a:r>
            <a:r>
              <a:rPr lang="en-US" altLang="zh-TW" dirty="0" smtClean="0">
                <a:solidFill>
                  <a:schemeClr val="bg1"/>
                </a:solidFill>
              </a:rPr>
              <a:t>https</a:t>
            </a:r>
            <a:r>
              <a:rPr lang="en-US" altLang="zh-TW" dirty="0">
                <a:solidFill>
                  <a:schemeClr val="bg1"/>
                </a:solidFill>
              </a:rPr>
              <a:t>://</a:t>
            </a:r>
            <a:r>
              <a:rPr lang="en-US" altLang="zh-TW" dirty="0" smtClean="0">
                <a:solidFill>
                  <a:schemeClr val="bg1"/>
                </a:solidFill>
                <a:hlinkClick r:id="rId2"/>
              </a:rPr>
              <a:t>reurl.cc/L7rkax</a:t>
            </a:r>
            <a:endParaRPr lang="zh-TW" altLang="en-US" dirty="0">
              <a:solidFill>
                <a:schemeClr val="bg1"/>
              </a:solidFill>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7742664" cy="5286412"/>
          </a:xfrm>
        </p:spPr>
        <p:txBody>
          <a:bodyPr>
            <a:normAutofit/>
          </a:bodyPr>
          <a:lstStyle/>
          <a:p>
            <a:pPr>
              <a:spcBef>
                <a:spcPts val="1200"/>
              </a:spcBef>
            </a:pPr>
            <a:r>
              <a:rPr lang="en-US" altLang="zh-TW" sz="2000" dirty="0" smtClean="0"/>
              <a:t>32</a:t>
            </a:r>
            <a:r>
              <a:rPr lang="zh-TW" altLang="en-US" sz="2000" dirty="0" smtClean="0"/>
              <a:t>位元的原文，經複製部分內容及重新排列，擴張到</a:t>
            </a:r>
            <a:r>
              <a:rPr lang="en-US" altLang="zh-TW" sz="2000" dirty="0" smtClean="0"/>
              <a:t>48</a:t>
            </a:r>
            <a:r>
              <a:rPr lang="zh-TW" altLang="en-US" sz="2000" dirty="0" smtClean="0"/>
              <a:t>位元。</a:t>
            </a:r>
            <a:endParaRPr lang="en-US" altLang="zh-TW" sz="2000" dirty="0" smtClean="0"/>
          </a:p>
          <a:p>
            <a:pPr>
              <a:spcBef>
                <a:spcPts val="1200"/>
              </a:spcBef>
            </a:pPr>
            <a:r>
              <a:rPr lang="en-US" altLang="zh-TW" sz="2000" dirty="0" smtClean="0"/>
              <a:t>56</a:t>
            </a:r>
            <a:r>
              <a:rPr lang="zh-TW" altLang="en-US" sz="2000" dirty="0" smtClean="0"/>
              <a:t>位元的金鑰衍生為</a:t>
            </a:r>
            <a:r>
              <a:rPr lang="en-US" altLang="zh-TW" sz="2000" dirty="0" smtClean="0"/>
              <a:t>16</a:t>
            </a:r>
            <a:r>
              <a:rPr lang="zh-TW" altLang="en-US" sz="2000" dirty="0" smtClean="0"/>
              <a:t>把</a:t>
            </a:r>
            <a:r>
              <a:rPr lang="en-US" altLang="zh-TW" sz="2000" dirty="0" smtClean="0"/>
              <a:t>48</a:t>
            </a:r>
            <a:r>
              <a:rPr lang="zh-TW" altLang="en-US" sz="2000" dirty="0" smtClean="0"/>
              <a:t>位元的次金鑰，每圈</a:t>
            </a:r>
            <a:r>
              <a:rPr lang="en-US" altLang="zh-TW" sz="2000" dirty="0" smtClean="0"/>
              <a:t>F-function</a:t>
            </a:r>
            <a:r>
              <a:rPr lang="zh-TW" altLang="en-US" sz="2000" dirty="0" smtClean="0"/>
              <a:t>運算使用一把。</a:t>
            </a:r>
            <a:endParaRPr lang="en-US" altLang="zh-TW" sz="2000" dirty="0" smtClean="0"/>
          </a:p>
          <a:p>
            <a:pPr>
              <a:spcBef>
                <a:spcPts val="1200"/>
              </a:spcBef>
            </a:pPr>
            <a:r>
              <a:rPr lang="zh-TW" altLang="en-US" sz="2000" dirty="0" smtClean="0"/>
              <a:t>擴張後的原文與次金鑰作</a:t>
            </a:r>
            <a:r>
              <a:rPr lang="en-US" altLang="zh-TW" sz="2000" dirty="0" smtClean="0"/>
              <a:t>XOR</a:t>
            </a:r>
            <a:r>
              <a:rPr lang="zh-TW" altLang="en-US" sz="2000" dirty="0" smtClean="0"/>
              <a:t>運算，結果分八組進入</a:t>
            </a:r>
            <a:r>
              <a:rPr lang="en-US" altLang="zh-TW" sz="2000" dirty="0" smtClean="0"/>
              <a:t>S-box</a:t>
            </a:r>
            <a:r>
              <a:rPr lang="zh-TW" altLang="en-US" sz="2000" dirty="0" smtClean="0"/>
              <a:t>。</a:t>
            </a:r>
            <a:endParaRPr lang="en-US" altLang="zh-TW" sz="2000" dirty="0" smtClean="0"/>
          </a:p>
          <a:p>
            <a:pPr>
              <a:spcBef>
                <a:spcPts val="1200"/>
              </a:spcBef>
            </a:pPr>
            <a:r>
              <a:rPr lang="en-US" altLang="zh-TW" sz="2000" dirty="0" smtClean="0">
                <a:solidFill>
                  <a:srgbClr val="FF0000"/>
                </a:solidFill>
              </a:rPr>
              <a:t>S-box</a:t>
            </a:r>
            <a:r>
              <a:rPr lang="zh-TW" altLang="en-US" sz="2000" dirty="0" smtClean="0">
                <a:solidFill>
                  <a:srgbClr val="FF0000"/>
                </a:solidFill>
              </a:rPr>
              <a:t>的功能在提供替換 </a:t>
            </a:r>
            <a:r>
              <a:rPr lang="en-US" altLang="zh-TW" sz="2000" dirty="0" smtClean="0">
                <a:solidFill>
                  <a:srgbClr val="FF0000"/>
                </a:solidFill>
              </a:rPr>
              <a:t>(substitution)</a:t>
            </a:r>
            <a:r>
              <a:rPr lang="zh-TW" altLang="en-US" sz="2000" dirty="0" smtClean="0">
                <a:solidFill>
                  <a:srgbClr val="FF0000"/>
                </a:solidFill>
              </a:rPr>
              <a:t>，且將</a:t>
            </a:r>
            <a:r>
              <a:rPr lang="en-US" altLang="zh-TW" sz="2000" dirty="0" smtClean="0">
                <a:solidFill>
                  <a:srgbClr val="FF0000"/>
                </a:solidFill>
              </a:rPr>
              <a:t>6</a:t>
            </a:r>
            <a:r>
              <a:rPr lang="zh-TW" altLang="en-US" sz="2000" dirty="0" smtClean="0">
                <a:solidFill>
                  <a:srgbClr val="FF0000"/>
                </a:solidFill>
              </a:rPr>
              <a:t>位元的輸入轉為</a:t>
            </a:r>
            <a:r>
              <a:rPr lang="en-US" altLang="zh-TW" sz="2000" dirty="0" smtClean="0">
                <a:solidFill>
                  <a:srgbClr val="FF0000"/>
                </a:solidFill>
              </a:rPr>
              <a:t>4</a:t>
            </a:r>
            <a:r>
              <a:rPr lang="zh-TW" altLang="en-US" sz="2000" dirty="0" smtClean="0">
                <a:solidFill>
                  <a:srgbClr val="FF0000"/>
                </a:solidFill>
              </a:rPr>
              <a:t>位元的輸出。</a:t>
            </a:r>
            <a:r>
              <a:rPr lang="en-US" altLang="zh-TW" sz="2000" dirty="0" smtClean="0"/>
              <a:t>S-box</a:t>
            </a:r>
            <a:r>
              <a:rPr lang="zh-TW" altLang="en-US" sz="2000" dirty="0" smtClean="0"/>
              <a:t> 是依據非線性轉換所設計的一個查閱表</a:t>
            </a:r>
            <a:r>
              <a:rPr lang="en-US" altLang="zh-TW" sz="2000" dirty="0" smtClean="0"/>
              <a:t>(lookup table)</a:t>
            </a:r>
            <a:r>
              <a:rPr lang="zh-TW" altLang="en-US" sz="2000" dirty="0" smtClean="0"/>
              <a:t>，</a:t>
            </a:r>
            <a:r>
              <a:rPr lang="zh-TW" altLang="en-US" sz="2000" dirty="0" smtClean="0">
                <a:solidFill>
                  <a:srgbClr val="0000FF"/>
                </a:solidFill>
              </a:rPr>
              <a:t>它是</a:t>
            </a:r>
            <a:r>
              <a:rPr lang="en-US" altLang="zh-TW" sz="2000" dirty="0" smtClean="0">
                <a:solidFill>
                  <a:srgbClr val="0000FF"/>
                </a:solidFill>
              </a:rPr>
              <a:t>DES</a:t>
            </a:r>
            <a:r>
              <a:rPr lang="zh-TW" altLang="en-US" sz="2000" dirty="0" smtClean="0">
                <a:solidFill>
                  <a:srgbClr val="0000FF"/>
                </a:solidFill>
              </a:rPr>
              <a:t>的安全核心</a:t>
            </a:r>
            <a:r>
              <a:rPr lang="zh-TW" altLang="en-US" sz="2000" dirty="0" smtClean="0"/>
              <a:t>，為加密法提供主要的</a:t>
            </a:r>
            <a:r>
              <a:rPr lang="zh-TW" altLang="en-US" sz="2000" dirty="0" smtClean="0">
                <a:solidFill>
                  <a:srgbClr val="0000FF"/>
                </a:solidFill>
                <a:ea typeface="微軟正黑體"/>
              </a:rPr>
              <a:t>「</a:t>
            </a:r>
            <a:r>
              <a:rPr lang="zh-TW" altLang="en-US" sz="2000" dirty="0" smtClean="0">
                <a:solidFill>
                  <a:srgbClr val="0000FF"/>
                </a:solidFill>
              </a:rPr>
              <a:t>混淆性</a:t>
            </a:r>
            <a:r>
              <a:rPr lang="en-US" altLang="zh-TW" sz="2000" dirty="0" smtClean="0">
                <a:solidFill>
                  <a:srgbClr val="0000FF"/>
                </a:solidFill>
              </a:rPr>
              <a:t>(confusion)</a:t>
            </a:r>
            <a:r>
              <a:rPr lang="zh-TW" altLang="en-US" sz="2000" dirty="0" smtClean="0">
                <a:solidFill>
                  <a:srgbClr val="0000FF"/>
                </a:solidFill>
                <a:ea typeface="微軟正黑體"/>
              </a:rPr>
              <a:t>」</a:t>
            </a:r>
            <a:r>
              <a:rPr lang="zh-TW" altLang="en-US" sz="2000" dirty="0" smtClean="0">
                <a:solidFill>
                  <a:srgbClr val="0000FF"/>
                </a:solidFill>
              </a:rPr>
              <a:t>特質</a:t>
            </a:r>
            <a:r>
              <a:rPr lang="zh-TW" altLang="en-US" sz="2000" dirty="0" smtClean="0"/>
              <a:t>。</a:t>
            </a:r>
            <a:endParaRPr lang="en-US" altLang="zh-TW" sz="2000" dirty="0" smtClean="0"/>
          </a:p>
          <a:p>
            <a:pPr>
              <a:spcBef>
                <a:spcPts val="1200"/>
              </a:spcBef>
            </a:pPr>
            <a:r>
              <a:rPr lang="zh-TW" altLang="en-US" sz="2000" dirty="0" smtClean="0"/>
              <a:t>八個</a:t>
            </a:r>
            <a:r>
              <a:rPr lang="en-US" altLang="zh-TW" sz="2000" dirty="0" smtClean="0"/>
              <a:t>S-box</a:t>
            </a:r>
            <a:r>
              <a:rPr lang="zh-TW" altLang="en-US" sz="2000" dirty="0" smtClean="0"/>
              <a:t>的輸出進入</a:t>
            </a:r>
            <a:r>
              <a:rPr lang="en-US" altLang="zh-TW" sz="2000" dirty="0" smtClean="0"/>
              <a:t>P-box</a:t>
            </a:r>
            <a:r>
              <a:rPr lang="zh-TW" altLang="en-US" sz="2000" dirty="0" smtClean="0"/>
              <a:t>進行再一次的排列 </a:t>
            </a:r>
            <a:r>
              <a:rPr lang="en-US" altLang="zh-TW" sz="2000" dirty="0" smtClean="0"/>
              <a:t>(permutation)</a:t>
            </a:r>
            <a:r>
              <a:rPr lang="zh-TW" altLang="en-US" sz="2000" dirty="0" smtClean="0"/>
              <a:t>；</a:t>
            </a:r>
            <a:r>
              <a:rPr lang="en-US" altLang="zh-TW" sz="2000" dirty="0" smtClean="0">
                <a:solidFill>
                  <a:srgbClr val="0000FF"/>
                </a:solidFill>
              </a:rPr>
              <a:t>DES</a:t>
            </a:r>
            <a:r>
              <a:rPr lang="zh-TW" altLang="en-US" sz="2000" dirty="0" smtClean="0">
                <a:solidFill>
                  <a:srgbClr val="0000FF"/>
                </a:solidFill>
              </a:rPr>
              <a:t>主要靠一次次的排列來提供</a:t>
            </a:r>
            <a:r>
              <a:rPr lang="zh-TW" altLang="en-US" sz="2000" dirty="0" smtClean="0">
                <a:solidFill>
                  <a:srgbClr val="0000FF"/>
                </a:solidFill>
                <a:ea typeface="微軟正黑體"/>
              </a:rPr>
              <a:t>「</a:t>
            </a:r>
            <a:r>
              <a:rPr lang="zh-TW" altLang="en-US" sz="2000" dirty="0" smtClean="0">
                <a:solidFill>
                  <a:srgbClr val="0000FF"/>
                </a:solidFill>
              </a:rPr>
              <a:t>擴散性</a:t>
            </a:r>
            <a:r>
              <a:rPr lang="en-US" altLang="zh-TW" sz="2000" dirty="0" smtClean="0">
                <a:solidFill>
                  <a:srgbClr val="0000FF"/>
                </a:solidFill>
              </a:rPr>
              <a:t>(diffusion)</a:t>
            </a:r>
            <a:r>
              <a:rPr lang="zh-TW" altLang="en-US" sz="2000" dirty="0" smtClean="0">
                <a:solidFill>
                  <a:srgbClr val="0000FF"/>
                </a:solidFill>
                <a:ea typeface="微軟正黑體"/>
              </a:rPr>
              <a:t>」的</a:t>
            </a:r>
            <a:r>
              <a:rPr lang="zh-TW" altLang="en-US" sz="2000" dirty="0" smtClean="0">
                <a:solidFill>
                  <a:srgbClr val="0000FF"/>
                </a:solidFill>
              </a:rPr>
              <a:t>特質</a:t>
            </a:r>
            <a:r>
              <a:rPr lang="zh-TW" altLang="en-US" sz="2000" dirty="0" smtClean="0"/>
              <a:t>。</a:t>
            </a:r>
            <a:endParaRPr lang="en-US" altLang="zh-TW" sz="2000" dirty="0" smtClean="0"/>
          </a:p>
        </p:txBody>
      </p:sp>
      <p:sp>
        <p:nvSpPr>
          <p:cNvPr id="3" name="標題 2"/>
          <p:cNvSpPr>
            <a:spLocks noGrp="1"/>
          </p:cNvSpPr>
          <p:nvPr>
            <p:ph type="title"/>
          </p:nvPr>
        </p:nvSpPr>
        <p:spPr/>
        <p:txBody>
          <a:bodyPr/>
          <a:lstStyle/>
          <a:p>
            <a:r>
              <a:rPr lang="en-US" altLang="zh-TW" dirty="0" smtClean="0"/>
              <a:t>DES</a:t>
            </a:r>
            <a:r>
              <a:rPr lang="zh-TW" altLang="en-US" dirty="0" smtClean="0"/>
              <a:t> </a:t>
            </a:r>
            <a:r>
              <a:rPr lang="en-US" altLang="zh-TW" dirty="0" smtClean="0">
                <a:solidFill>
                  <a:srgbClr val="FF0000"/>
                </a:solidFill>
              </a:rPr>
              <a:t>F-Function</a:t>
            </a:r>
            <a:r>
              <a:rPr lang="zh-TW" altLang="en-US" dirty="0" smtClean="0"/>
              <a:t>功能描述</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dirty="0" smtClean="0"/>
              <a:t>對稱式加密的</a:t>
            </a:r>
            <a:r>
              <a:rPr lang="zh-TW" altLang="en-US" dirty="0" smtClean="0">
                <a:solidFill>
                  <a:srgbClr val="FF0000"/>
                </a:solidFill>
              </a:rPr>
              <a:t>優缺點</a:t>
            </a:r>
            <a:endParaRPr lang="zh-TW" altLang="en-US" dirty="0">
              <a:solidFill>
                <a:srgbClr val="FF0000"/>
              </a:solidFill>
            </a:endParaRPr>
          </a:p>
        </p:txBody>
      </p:sp>
      <p:sp>
        <p:nvSpPr>
          <p:cNvPr id="4" name="內容版面配置區 3"/>
          <p:cNvSpPr>
            <a:spLocks noGrp="1"/>
          </p:cNvSpPr>
          <p:nvPr>
            <p:ph sz="half" idx="1"/>
          </p:nvPr>
        </p:nvSpPr>
        <p:spPr>
          <a:xfrm>
            <a:off x="285720" y="1916832"/>
            <a:ext cx="4000528" cy="4941168"/>
          </a:xfrm>
        </p:spPr>
        <p:txBody>
          <a:bodyPr>
            <a:normAutofit/>
          </a:bodyPr>
          <a:lstStyle/>
          <a:p>
            <a:r>
              <a:rPr lang="zh-TW" altLang="en-US" dirty="0" smtClean="0"/>
              <a:t>相較於後面將討論的非對稱式</a:t>
            </a:r>
            <a:r>
              <a:rPr lang="en-US" altLang="zh-TW" dirty="0" smtClean="0"/>
              <a:t>(asymmetric) </a:t>
            </a:r>
            <a:r>
              <a:rPr lang="zh-TW" altLang="en-US" dirty="0" smtClean="0"/>
              <a:t>加密，對稱式加密的運算速度較</a:t>
            </a:r>
            <a:r>
              <a:rPr lang="zh-TW" altLang="en-US" dirty="0" smtClean="0">
                <a:solidFill>
                  <a:srgbClr val="FF0000"/>
                </a:solidFill>
              </a:rPr>
              <a:t>快</a:t>
            </a:r>
            <a:r>
              <a:rPr lang="zh-TW" altLang="en-US" dirty="0" smtClean="0"/>
              <a:t>。</a:t>
            </a:r>
            <a:endParaRPr lang="en-US" altLang="zh-TW" dirty="0" smtClean="0"/>
          </a:p>
          <a:p>
            <a:r>
              <a:rPr lang="zh-TW" altLang="en-US" dirty="0" smtClean="0"/>
              <a:t>除了用曠日廢時的</a:t>
            </a:r>
            <a:r>
              <a:rPr lang="zh-TW" altLang="en-US" dirty="0" smtClean="0">
                <a:solidFill>
                  <a:srgbClr val="0000FF"/>
                </a:solidFill>
              </a:rPr>
              <a:t>窮舉法</a:t>
            </a:r>
            <a:r>
              <a:rPr lang="en-US" altLang="zh-TW" dirty="0" smtClean="0">
                <a:solidFill>
                  <a:srgbClr val="0000FF"/>
                </a:solidFill>
              </a:rPr>
              <a:t>(brute-force)</a:t>
            </a:r>
            <a:r>
              <a:rPr lang="zh-TW" altLang="en-US" dirty="0" smtClean="0"/>
              <a:t>，否則很難攻破密文。</a:t>
            </a:r>
            <a:endParaRPr lang="en-US" altLang="zh-TW" dirty="0" smtClean="0"/>
          </a:p>
          <a:p>
            <a:r>
              <a:rPr lang="zh-TW" altLang="en-US" dirty="0" smtClean="0"/>
              <a:t>運算法及相關工具容易取得，且大多不收費。</a:t>
            </a:r>
            <a:endParaRPr lang="en-US" altLang="zh-TW" dirty="0" smtClean="0"/>
          </a:p>
          <a:p>
            <a:r>
              <a:rPr lang="en-US" altLang="zh-TW" dirty="0" smtClean="0"/>
              <a:t>DES</a:t>
            </a:r>
            <a:r>
              <a:rPr lang="zh-TW" altLang="en-US" dirty="0" smtClean="0"/>
              <a:t>等加密法可以衍生多種應用模式，對較長的原文加密。</a:t>
            </a:r>
            <a:endParaRPr lang="en-US" altLang="zh-TW" dirty="0" smtClean="0"/>
          </a:p>
        </p:txBody>
      </p:sp>
      <p:sp>
        <p:nvSpPr>
          <p:cNvPr id="6" name="內容版面配置區 5"/>
          <p:cNvSpPr>
            <a:spLocks noGrp="1"/>
          </p:cNvSpPr>
          <p:nvPr>
            <p:ph sz="half" idx="2"/>
          </p:nvPr>
        </p:nvSpPr>
        <p:spPr>
          <a:xfrm>
            <a:off x="4500562" y="1916832"/>
            <a:ext cx="4007360" cy="4941168"/>
          </a:xfrm>
        </p:spPr>
        <p:txBody>
          <a:bodyPr>
            <a:normAutofit/>
          </a:bodyPr>
          <a:lstStyle/>
          <a:p>
            <a:r>
              <a:rPr lang="zh-TW" altLang="en-US" dirty="0" smtClean="0"/>
              <a:t>由於加、解密使用同一把金鑰，</a:t>
            </a:r>
            <a:r>
              <a:rPr lang="zh-TW" altLang="en-US" dirty="0" smtClean="0">
                <a:solidFill>
                  <a:srgbClr val="0000FF"/>
                </a:solidFill>
              </a:rPr>
              <a:t>如何讓訊息接收方取得金鑰是個難題</a:t>
            </a:r>
            <a:r>
              <a:rPr lang="zh-TW" altLang="en-US" dirty="0" smtClean="0"/>
              <a:t>。金鑰與密文的傳送勢必不能通過同一個管道</a:t>
            </a:r>
            <a:r>
              <a:rPr lang="zh-TW" altLang="en-US" dirty="0" smtClean="0">
                <a:ea typeface="微軟正黑體"/>
              </a:rPr>
              <a:t>。</a:t>
            </a:r>
            <a:endParaRPr lang="en-US" altLang="zh-TW" dirty="0" smtClean="0">
              <a:ea typeface="微軟正黑體"/>
            </a:endParaRPr>
          </a:p>
          <a:p>
            <a:r>
              <a:rPr lang="zh-TW" altLang="en-US" dirty="0" smtClean="0">
                <a:solidFill>
                  <a:srgbClr val="0000FF"/>
                </a:solidFill>
                <a:ea typeface="微軟正黑體"/>
              </a:rPr>
              <a:t>每兩者之間</a:t>
            </a:r>
            <a:r>
              <a:rPr lang="zh-TW" altLang="en-US" dirty="0" smtClean="0">
                <a:ea typeface="微軟正黑體"/>
              </a:rPr>
              <a:t>都要使用不同的金鑰來通訊，因此</a:t>
            </a:r>
            <a:r>
              <a:rPr lang="en-US" altLang="zh-TW" dirty="0" smtClean="0">
                <a:ea typeface="微軟正黑體"/>
              </a:rPr>
              <a:t>n</a:t>
            </a:r>
            <a:r>
              <a:rPr lang="zh-TW" altLang="en-US" dirty="0" smtClean="0">
                <a:ea typeface="微軟正黑體"/>
              </a:rPr>
              <a:t>個人之間的通訊就需要</a:t>
            </a:r>
            <a:r>
              <a:rPr lang="en-US" altLang="zh-TW" dirty="0" smtClean="0">
                <a:solidFill>
                  <a:srgbClr val="FF0000"/>
                </a:solidFill>
                <a:ea typeface="微軟正黑體"/>
              </a:rPr>
              <a:t>n(n-1)/2</a:t>
            </a:r>
            <a:r>
              <a:rPr lang="zh-TW" altLang="en-US" dirty="0" smtClean="0">
                <a:ea typeface="微軟正黑體"/>
              </a:rPr>
              <a:t>把金鑰。</a:t>
            </a:r>
            <a:r>
              <a:rPr lang="zh-TW" altLang="en-US" dirty="0" smtClean="0">
                <a:solidFill>
                  <a:srgbClr val="0000FF"/>
                </a:solidFill>
                <a:ea typeface="微軟正黑體"/>
              </a:rPr>
              <a:t>當</a:t>
            </a:r>
            <a:r>
              <a:rPr lang="en-US" altLang="zh-TW" dirty="0" smtClean="0">
                <a:solidFill>
                  <a:srgbClr val="0000FF"/>
                </a:solidFill>
                <a:ea typeface="微軟正黑體"/>
              </a:rPr>
              <a:t>n</a:t>
            </a:r>
            <a:r>
              <a:rPr lang="zh-TW" altLang="en-US" dirty="0" smtClean="0">
                <a:solidFill>
                  <a:srgbClr val="0000FF"/>
                </a:solidFill>
                <a:ea typeface="微軟正黑體"/>
              </a:rPr>
              <a:t>越大時，金鑰管理就更複雜</a:t>
            </a:r>
            <a:r>
              <a:rPr lang="zh-TW" altLang="en-US" dirty="0" smtClean="0">
                <a:ea typeface="微軟正黑體"/>
              </a:rPr>
              <a:t>。</a:t>
            </a:r>
            <a:endParaRPr lang="en-US" altLang="zh-TW" dirty="0" smtClean="0">
              <a:ea typeface="微軟正黑體"/>
            </a:endParaRPr>
          </a:p>
          <a:p>
            <a:r>
              <a:rPr lang="zh-TW" altLang="en-US" dirty="0" smtClean="0"/>
              <a:t>對稱式加密法可做到</a:t>
            </a:r>
            <a:r>
              <a:rPr lang="zh-TW" altLang="en-US" dirty="0" smtClean="0">
                <a:ea typeface="微軟正黑體"/>
              </a:rPr>
              <a:t>文件保密；</a:t>
            </a:r>
            <a:r>
              <a:rPr lang="zh-TW" altLang="en-US" dirty="0" smtClean="0">
                <a:solidFill>
                  <a:srgbClr val="C00000"/>
                </a:solidFill>
                <a:ea typeface="微軟正黑體"/>
              </a:rPr>
              <a:t>但身分證明（如</a:t>
            </a:r>
            <a:r>
              <a:rPr lang="en-US" altLang="zh-TW" dirty="0" smtClean="0">
                <a:solidFill>
                  <a:srgbClr val="C00000"/>
                </a:solidFill>
                <a:ea typeface="微軟正黑體"/>
              </a:rPr>
              <a:t>proof of origin</a:t>
            </a:r>
            <a:r>
              <a:rPr lang="zh-TW" altLang="en-US" dirty="0" smtClean="0">
                <a:solidFill>
                  <a:srgbClr val="C00000"/>
                </a:solidFill>
                <a:ea typeface="微軟正黑體"/>
              </a:rPr>
              <a:t>）得靠</a:t>
            </a:r>
            <a:r>
              <a:rPr lang="zh-TW" altLang="en-US" dirty="0" smtClean="0">
                <a:solidFill>
                  <a:srgbClr val="C00000"/>
                </a:solidFill>
              </a:rPr>
              <a:t>非對稱式加密法</a:t>
            </a:r>
            <a:r>
              <a:rPr lang="zh-TW" altLang="en-US" dirty="0" smtClean="0"/>
              <a:t>。</a:t>
            </a:r>
            <a:endParaRPr lang="en-US" altLang="zh-TW" dirty="0" smtClean="0"/>
          </a:p>
        </p:txBody>
      </p:sp>
      <p:sp>
        <p:nvSpPr>
          <p:cNvPr id="5" name="文字方塊 4"/>
          <p:cNvSpPr txBox="1"/>
          <p:nvPr/>
        </p:nvSpPr>
        <p:spPr>
          <a:xfrm>
            <a:off x="1907704" y="1340768"/>
            <a:ext cx="697627" cy="400110"/>
          </a:xfrm>
          <a:prstGeom prst="rect">
            <a:avLst/>
          </a:prstGeom>
          <a:noFill/>
        </p:spPr>
        <p:txBody>
          <a:bodyPr wrap="none" rtlCol="0">
            <a:spAutoFit/>
          </a:bodyPr>
          <a:lstStyle/>
          <a:p>
            <a:r>
              <a:rPr lang="zh-TW" altLang="en-US" sz="2000" b="1" dirty="0" smtClean="0"/>
              <a:t>優點</a:t>
            </a:r>
            <a:endParaRPr lang="en-US" altLang="zh-TW" sz="2000" b="1" dirty="0" smtClean="0"/>
          </a:p>
        </p:txBody>
      </p:sp>
      <p:sp>
        <p:nvSpPr>
          <p:cNvPr id="7" name="文字方塊 6"/>
          <p:cNvSpPr txBox="1"/>
          <p:nvPr/>
        </p:nvSpPr>
        <p:spPr>
          <a:xfrm>
            <a:off x="6178629" y="1340768"/>
            <a:ext cx="697627" cy="400110"/>
          </a:xfrm>
          <a:prstGeom prst="rect">
            <a:avLst/>
          </a:prstGeom>
          <a:noFill/>
        </p:spPr>
        <p:txBody>
          <a:bodyPr wrap="none" rtlCol="0">
            <a:spAutoFit/>
          </a:bodyPr>
          <a:lstStyle/>
          <a:p>
            <a:r>
              <a:rPr lang="zh-TW" altLang="en-US" sz="2000" b="1" dirty="0" smtClean="0"/>
              <a:t>缺點</a:t>
            </a:r>
            <a:endParaRPr lang="en-US" altLang="zh-TW" sz="2000" b="1" dirty="0" smtClean="0"/>
          </a:p>
        </p:txBody>
      </p:sp>
      <p:sp>
        <p:nvSpPr>
          <p:cNvPr id="2" name="矩形 1"/>
          <p:cNvSpPr/>
          <p:nvPr/>
        </p:nvSpPr>
        <p:spPr>
          <a:xfrm>
            <a:off x="179512" y="5661248"/>
            <a:ext cx="4608512" cy="720080"/>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DES </a:t>
            </a:r>
            <a:r>
              <a:rPr lang="zh-TW" altLang="en-US" dirty="0"/>
              <a:t>已不是安全的演算法，容易被暴力破</a:t>
            </a:r>
            <a:r>
              <a:rPr lang="zh-TW" altLang="en-US" dirty="0" smtClean="0"/>
              <a:t>解建議改用</a:t>
            </a:r>
            <a:r>
              <a:rPr lang="en-US" altLang="zh-TW" dirty="0" smtClean="0"/>
              <a:t>: 3DES</a:t>
            </a:r>
            <a:r>
              <a:rPr lang="zh-TW" altLang="en-US" dirty="0" smtClean="0">
                <a:latin typeface="標楷體" panose="03000509000000000000" pitchFamily="65" charset="-120"/>
                <a:ea typeface="標楷體" panose="03000509000000000000" pitchFamily="65" charset="-120"/>
              </a:rPr>
              <a:t>、</a:t>
            </a:r>
            <a:r>
              <a:rPr lang="en-US" altLang="zh-TW" dirty="0" smtClean="0"/>
              <a:t>AES(256)</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1043608" y="2060848"/>
            <a:ext cx="6696744" cy="1872208"/>
          </a:xfrm>
          <a:solidFill>
            <a:srgbClr val="0000FF"/>
          </a:solidFill>
          <a:ln w="25400">
            <a:solidFill>
              <a:srgbClr val="FF0000"/>
            </a:solidFill>
          </a:ln>
        </p:spPr>
        <p:txBody>
          <a:bodyPr anchor="ctr">
            <a:normAutofit/>
          </a:bodyPr>
          <a:lstStyle/>
          <a:p>
            <a:pPr algn="ctr"/>
            <a:r>
              <a:rPr lang="en-US" altLang="zh-TW" sz="4000" dirty="0" err="1" smtClean="0">
                <a:solidFill>
                  <a:schemeClr val="bg1"/>
                </a:solidFill>
              </a:rPr>
              <a:t>Diffie</a:t>
            </a:r>
            <a:r>
              <a:rPr lang="en-US" altLang="zh-TW" sz="4000" dirty="0" smtClean="0">
                <a:solidFill>
                  <a:schemeClr val="bg1"/>
                </a:solidFill>
              </a:rPr>
              <a:t> </a:t>
            </a:r>
            <a:r>
              <a:rPr lang="en-US" altLang="zh-TW" sz="4000" dirty="0">
                <a:solidFill>
                  <a:schemeClr val="bg1"/>
                </a:solidFill>
              </a:rPr>
              <a:t>-</a:t>
            </a:r>
            <a:r>
              <a:rPr lang="zh-TW" altLang="en-US" sz="4000" dirty="0">
                <a:solidFill>
                  <a:schemeClr val="bg1"/>
                </a:solidFill>
              </a:rPr>
              <a:t> </a:t>
            </a:r>
            <a:r>
              <a:rPr lang="en-US" altLang="zh-TW" sz="4000" dirty="0">
                <a:solidFill>
                  <a:schemeClr val="bg1"/>
                </a:solidFill>
              </a:rPr>
              <a:t>Hellman </a:t>
            </a:r>
            <a:r>
              <a:rPr lang="zh-TW" altLang="en-US" sz="4000" dirty="0">
                <a:solidFill>
                  <a:schemeClr val="bg1"/>
                </a:solidFill>
              </a:rPr>
              <a:t>鑰匙交換</a:t>
            </a:r>
            <a:r>
              <a:rPr lang="zh-TW" altLang="en-US" sz="4000" dirty="0" smtClean="0">
                <a:solidFill>
                  <a:schemeClr val="bg1"/>
                </a:solidFill>
              </a:rPr>
              <a:t>法</a:t>
            </a:r>
            <a:endParaRPr lang="zh-TW" altLang="en-US" sz="4000" dirty="0">
              <a:solidFill>
                <a:schemeClr val="bg1"/>
              </a:solidFill>
              <a:latin typeface="標楷體" panose="03000509000000000000" pitchFamily="65" charset="-120"/>
              <a:ea typeface="標楷體" panose="03000509000000000000" pitchFamily="65" charset="-120"/>
            </a:endParaRPr>
          </a:p>
        </p:txBody>
      </p:sp>
      <p:sp>
        <p:nvSpPr>
          <p:cNvPr id="3" name="矩形 2"/>
          <p:cNvSpPr/>
          <p:nvPr/>
        </p:nvSpPr>
        <p:spPr>
          <a:xfrm>
            <a:off x="683568" y="4437112"/>
            <a:ext cx="7272808" cy="20162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1"/>
            <a:r>
              <a:rPr lang="en-US" altLang="zh-TW" sz="2400" dirty="0" smtClean="0">
                <a:latin typeface="標楷體" panose="03000509000000000000" pitchFamily="65" charset="-120"/>
                <a:ea typeface="標楷體" panose="03000509000000000000" pitchFamily="65" charset="-120"/>
              </a:rPr>
              <a:t>1.</a:t>
            </a:r>
            <a:r>
              <a:rPr lang="zh-TW" altLang="en-US" sz="2400" dirty="0" smtClean="0">
                <a:latin typeface="標楷體" panose="03000509000000000000" pitchFamily="65" charset="-120"/>
                <a:ea typeface="標楷體" panose="03000509000000000000" pitchFamily="65" charset="-120"/>
              </a:rPr>
              <a:t>讓</a:t>
            </a:r>
            <a:r>
              <a:rPr lang="zh-TW" altLang="en-US" sz="2400" dirty="0">
                <a:latin typeface="標楷體" panose="03000509000000000000" pitchFamily="65" charset="-120"/>
                <a:ea typeface="標楷體" panose="03000509000000000000" pitchFamily="65" charset="-120"/>
              </a:rPr>
              <a:t>雙方</a:t>
            </a:r>
            <a:r>
              <a:rPr lang="zh-TW" altLang="en-US" sz="2400" dirty="0" smtClean="0">
                <a:latin typeface="標楷體" panose="03000509000000000000" pitchFamily="65" charset="-120"/>
                <a:ea typeface="標楷體" panose="03000509000000000000" pitchFamily="65" charset="-120"/>
              </a:rPr>
              <a:t>能在</a:t>
            </a:r>
            <a:r>
              <a:rPr lang="zh-TW" altLang="en-US" sz="2400" dirty="0">
                <a:latin typeface="標楷體" panose="03000509000000000000" pitchFamily="65" charset="-120"/>
                <a:ea typeface="標楷體" panose="03000509000000000000" pitchFamily="65" charset="-120"/>
              </a:rPr>
              <a:t>不安全的通訊環境中安全地產生一把共享的對稱式金</a:t>
            </a:r>
            <a:r>
              <a:rPr lang="zh-TW" altLang="en-US" sz="2400" dirty="0" smtClean="0">
                <a:latin typeface="標楷體" panose="03000509000000000000" pitchFamily="65" charset="-120"/>
                <a:ea typeface="標楷體" panose="03000509000000000000" pitchFamily="65" charset="-120"/>
              </a:rPr>
              <a:t>鑰</a:t>
            </a:r>
            <a:r>
              <a:rPr lang="zh-TW" altLang="en-US" sz="2400" dirty="0">
                <a:latin typeface="標楷體" panose="03000509000000000000" pitchFamily="65" charset="-120"/>
                <a:ea typeface="標楷體" panose="03000509000000000000" pitchFamily="65" charset="-120"/>
              </a:rPr>
              <a:t>。</a:t>
            </a:r>
            <a:endParaRPr lang="en-US" altLang="zh-TW" sz="2400" dirty="0" smtClean="0">
              <a:latin typeface="標楷體" panose="03000509000000000000" pitchFamily="65" charset="-120"/>
              <a:ea typeface="標楷體" panose="03000509000000000000" pitchFamily="65" charset="-120"/>
            </a:endParaRPr>
          </a:p>
          <a:p>
            <a:pPr lvl="1"/>
            <a:r>
              <a:rPr lang="en-US" altLang="zh-TW" sz="2400" dirty="0" smtClean="0">
                <a:latin typeface="標楷體" panose="03000509000000000000" pitchFamily="65" charset="-120"/>
                <a:ea typeface="標楷體" panose="03000509000000000000" pitchFamily="65" charset="-120"/>
              </a:rPr>
              <a:t>2.</a:t>
            </a:r>
            <a:r>
              <a:rPr lang="zh-TW" altLang="en-US" sz="2400" dirty="0" smtClean="0">
                <a:latin typeface="標楷體" panose="03000509000000000000" pitchFamily="65" charset="-120"/>
                <a:ea typeface="標楷體" panose="03000509000000000000" pitchFamily="65" charset="-120"/>
              </a:rPr>
              <a:t>以</a:t>
            </a:r>
            <a:r>
              <a:rPr lang="zh-TW" altLang="en-US" sz="2400" dirty="0">
                <a:latin typeface="標楷體" panose="03000509000000000000" pitchFamily="65" charset="-120"/>
                <a:ea typeface="標楷體" panose="03000509000000000000" pitchFamily="65" charset="-120"/>
              </a:rPr>
              <a:t>解決傳統對稱式加密「金鑰交換困難」的問題</a:t>
            </a:r>
            <a:r>
              <a:rPr lang="zh-TW" altLang="en-US" sz="2400" dirty="0">
                <a:latin typeface="標楷體" panose="03000509000000000000" pitchFamily="65" charset="-120"/>
                <a:ea typeface="標楷體" panose="03000509000000000000" pitchFamily="65" charset="-120"/>
              </a:rPr>
              <a:t>。</a:t>
            </a:r>
            <a:r>
              <a:rPr lang="en-US" altLang="zh-TW" sz="2400" dirty="0">
                <a:latin typeface="標楷體" panose="03000509000000000000" pitchFamily="65" charset="-120"/>
                <a:ea typeface="標楷體" panose="03000509000000000000" pitchFamily="65" charset="-120"/>
              </a:rPr>
              <a:t/>
            </a:r>
            <a:br>
              <a:rPr lang="en-US" altLang="zh-TW" sz="2400" dirty="0">
                <a:latin typeface="標楷體" panose="03000509000000000000" pitchFamily="65" charset="-120"/>
                <a:ea typeface="標楷體" panose="03000509000000000000" pitchFamily="65" charset="-120"/>
              </a:rPr>
            </a:br>
            <a:r>
              <a:rPr lang="en-US" altLang="zh-TW" sz="2400" dirty="0" smtClean="0">
                <a:latin typeface="標楷體" panose="03000509000000000000" pitchFamily="65" charset="-120"/>
                <a:ea typeface="標楷體" panose="03000509000000000000" pitchFamily="65" charset="-120"/>
              </a:rPr>
              <a:t>3.</a:t>
            </a:r>
            <a:r>
              <a:rPr lang="zh-TW" altLang="en-US" sz="2400" dirty="0" smtClean="0">
                <a:latin typeface="標楷體" panose="03000509000000000000" pitchFamily="65" charset="-120"/>
                <a:ea typeface="標楷體" panose="03000509000000000000" pitchFamily="65" charset="-120"/>
              </a:rPr>
              <a:t>它</a:t>
            </a:r>
            <a:r>
              <a:rPr lang="zh-TW" altLang="en-US" sz="2400" dirty="0">
                <a:latin typeface="標楷體" panose="03000509000000000000" pitchFamily="65" charset="-120"/>
                <a:ea typeface="標楷體" panose="03000509000000000000" pitchFamily="65" charset="-120"/>
              </a:rPr>
              <a:t>本身並不用來加密資料。</a:t>
            </a:r>
          </a:p>
        </p:txBody>
      </p:sp>
    </p:spTree>
    <p:extLst>
      <p:ext uri="{BB962C8B-B14F-4D97-AF65-F5344CB8AC3E}">
        <p14:creationId xmlns:p14="http://schemas.microsoft.com/office/powerpoint/2010/main" val="113204822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674906"/>
            <a:ext cx="8215370" cy="5098438"/>
          </a:xfrm>
        </p:spPr>
        <p:txBody>
          <a:bodyPr/>
          <a:lstStyle/>
          <a:p>
            <a:r>
              <a:rPr lang="en-US" altLang="zh-TW" dirty="0" err="1">
                <a:solidFill>
                  <a:srgbClr val="FF0000"/>
                </a:solidFill>
              </a:rPr>
              <a:t>Diffie</a:t>
            </a:r>
            <a:r>
              <a:rPr lang="en-US" altLang="zh-TW" dirty="0">
                <a:solidFill>
                  <a:srgbClr val="FF0000"/>
                </a:solidFill>
              </a:rPr>
              <a:t> </a:t>
            </a:r>
            <a:r>
              <a:rPr lang="zh-TW" altLang="en-US" dirty="0">
                <a:solidFill>
                  <a:srgbClr val="FF0000"/>
                </a:solidFill>
              </a:rPr>
              <a:t>與 </a:t>
            </a:r>
            <a:r>
              <a:rPr lang="en-US" altLang="zh-TW" dirty="0">
                <a:solidFill>
                  <a:srgbClr val="FF0000"/>
                </a:solidFill>
              </a:rPr>
              <a:t>Hellman</a:t>
            </a:r>
            <a:r>
              <a:rPr lang="zh-TW" altLang="en-US" dirty="0">
                <a:solidFill>
                  <a:srgbClr val="FF0000"/>
                </a:solidFill>
              </a:rPr>
              <a:t> </a:t>
            </a:r>
            <a:r>
              <a:rPr lang="zh-TW" altLang="en-US" dirty="0"/>
              <a:t>於</a:t>
            </a:r>
            <a:r>
              <a:rPr lang="en-US" altLang="zh-TW" dirty="0"/>
              <a:t>1976</a:t>
            </a:r>
            <a:r>
              <a:rPr lang="zh-TW" altLang="en-US" dirty="0"/>
              <a:t>年提出，主要目的在解決前述對稱式加密中金鑰</a:t>
            </a:r>
            <a:r>
              <a:rPr lang="zh-TW" altLang="en-US" b="1" dirty="0">
                <a:solidFill>
                  <a:srgbClr val="0000FF"/>
                </a:solidFill>
              </a:rPr>
              <a:t>交換</a:t>
            </a:r>
            <a:r>
              <a:rPr lang="zh-TW" altLang="en-US" dirty="0"/>
              <a:t> </a:t>
            </a:r>
            <a:r>
              <a:rPr lang="en-US" altLang="zh-TW" dirty="0"/>
              <a:t>(key exchange) </a:t>
            </a:r>
            <a:r>
              <a:rPr lang="zh-TW" altLang="en-US" dirty="0"/>
              <a:t>的困難。</a:t>
            </a:r>
            <a:endParaRPr lang="en-US" altLang="zh-TW" dirty="0"/>
          </a:p>
          <a:p>
            <a:endParaRPr lang="zh-TW" altLang="en-US" dirty="0"/>
          </a:p>
        </p:txBody>
      </p:sp>
      <p:sp>
        <p:nvSpPr>
          <p:cNvPr id="3" name="標題 2"/>
          <p:cNvSpPr>
            <a:spLocks noGrp="1"/>
          </p:cNvSpPr>
          <p:nvPr>
            <p:ph type="title"/>
          </p:nvPr>
        </p:nvSpPr>
        <p:spPr>
          <a:xfrm>
            <a:off x="285720" y="73427"/>
            <a:ext cx="8215370" cy="571269"/>
          </a:xfrm>
        </p:spPr>
        <p:txBody>
          <a:bodyPr>
            <a:normAutofit fontScale="90000"/>
          </a:bodyPr>
          <a:lstStyle/>
          <a:p>
            <a:pPr algn="ctr"/>
            <a:r>
              <a:rPr lang="en-US" altLang="zh-TW" dirty="0" err="1">
                <a:solidFill>
                  <a:srgbClr val="FF0000"/>
                </a:solidFill>
              </a:rPr>
              <a:t>Diffie</a:t>
            </a:r>
            <a:r>
              <a:rPr lang="en-US" altLang="zh-TW" dirty="0">
                <a:solidFill>
                  <a:srgbClr val="FF0000"/>
                </a:solidFill>
              </a:rPr>
              <a:t> </a:t>
            </a:r>
            <a:r>
              <a:rPr lang="en-US" altLang="zh-TW" dirty="0" smtClean="0">
                <a:solidFill>
                  <a:srgbClr val="FF0000"/>
                </a:solidFill>
              </a:rPr>
              <a:t>-</a:t>
            </a:r>
            <a:r>
              <a:rPr lang="zh-TW" altLang="en-US" dirty="0" smtClean="0">
                <a:solidFill>
                  <a:srgbClr val="FF0000"/>
                </a:solidFill>
              </a:rPr>
              <a:t> </a:t>
            </a:r>
            <a:r>
              <a:rPr lang="en-US" altLang="zh-TW" dirty="0" smtClean="0">
                <a:solidFill>
                  <a:srgbClr val="FF0000"/>
                </a:solidFill>
              </a:rPr>
              <a:t>Hellman </a:t>
            </a:r>
            <a:r>
              <a:rPr lang="zh-TW" altLang="en-US" dirty="0" smtClean="0">
                <a:solidFill>
                  <a:srgbClr val="FF0000"/>
                </a:solidFill>
              </a:rPr>
              <a:t>鑰匙</a:t>
            </a:r>
            <a:r>
              <a:rPr lang="zh-TW" altLang="en-US" dirty="0">
                <a:solidFill>
                  <a:srgbClr val="FF0000"/>
                </a:solidFill>
              </a:rPr>
              <a:t>交換</a:t>
            </a:r>
            <a:r>
              <a:rPr lang="zh-TW" altLang="en-US" dirty="0" smtClean="0">
                <a:solidFill>
                  <a:srgbClr val="FF0000"/>
                </a:solidFill>
              </a:rPr>
              <a:t>法</a:t>
            </a:r>
            <a:endParaRPr lang="zh-TW" altLang="en-US" dirty="0">
              <a:solidFill>
                <a:srgbClr val="0000FF"/>
              </a:solidFill>
            </a:endParaRPr>
          </a:p>
        </p:txBody>
      </p:sp>
      <p:grpSp>
        <p:nvGrpSpPr>
          <p:cNvPr id="4" name="群組 3"/>
          <p:cNvGrpSpPr/>
          <p:nvPr/>
        </p:nvGrpSpPr>
        <p:grpSpPr>
          <a:xfrm>
            <a:off x="2226516" y="1628800"/>
            <a:ext cx="3857652" cy="5000660"/>
            <a:chOff x="4714876" y="1500174"/>
            <a:chExt cx="3857652" cy="5000660"/>
          </a:xfrm>
        </p:grpSpPr>
        <p:sp>
          <p:nvSpPr>
            <p:cNvPr id="5" name="文字方塊 4"/>
            <p:cNvSpPr txBox="1"/>
            <p:nvPr/>
          </p:nvSpPr>
          <p:spPr>
            <a:xfrm>
              <a:off x="4714876" y="1500174"/>
              <a:ext cx="1928826" cy="3970318"/>
            </a:xfrm>
            <a:prstGeom prst="rect">
              <a:avLst/>
            </a:prstGeom>
            <a:noFill/>
          </p:spPr>
          <p:txBody>
            <a:bodyPr wrap="square" rtlCol="0">
              <a:spAutoFit/>
            </a:bodyPr>
            <a:lstStyle/>
            <a:p>
              <a:r>
                <a:rPr lang="en-US" altLang="zh-TW" sz="1400" dirty="0" smtClean="0">
                  <a:latin typeface="Calibri" pitchFamily="34" charset="0"/>
                </a:rPr>
                <a:t>Alice </a:t>
              </a:r>
              <a:r>
                <a:rPr lang="zh-TW" altLang="en-US" sz="1400" dirty="0" smtClean="0">
                  <a:latin typeface="Calibri" pitchFamily="34" charset="0"/>
                </a:rPr>
                <a:t>選一個秘密數字 </a:t>
              </a:r>
              <a:r>
                <a:rPr lang="en-US" altLang="zh-TW" sz="1400" dirty="0" smtClean="0">
                  <a:latin typeface="Calibri" pitchFamily="34" charset="0"/>
                </a:rPr>
                <a:t>3</a:t>
              </a:r>
              <a:r>
                <a:rPr lang="zh-TW" altLang="en-US" sz="1400" dirty="0" smtClean="0">
                  <a:latin typeface="Calibri" pitchFamily="34" charset="0"/>
                </a:rPr>
                <a:t>，將之命名為 </a:t>
              </a:r>
              <a:r>
                <a:rPr lang="en-US" altLang="zh-TW" sz="1400" dirty="0" smtClean="0">
                  <a:latin typeface="Calibri" pitchFamily="34" charset="0"/>
                </a:rPr>
                <a:t>A</a:t>
              </a:r>
              <a:r>
                <a:rPr lang="zh-TW" altLang="en-US" sz="1400" dirty="0" smtClean="0">
                  <a:latin typeface="Calibri" pitchFamily="34" charset="0"/>
                </a:rPr>
                <a:t>。</a:t>
              </a:r>
              <a:endParaRPr lang="en-US" altLang="zh-TW" sz="1400" dirty="0" smtClean="0">
                <a:latin typeface="Calibri" pitchFamily="34" charset="0"/>
              </a:endParaRPr>
            </a:p>
            <a:p>
              <a:endParaRPr lang="en-US" altLang="zh-TW" sz="1400" dirty="0" smtClean="0">
                <a:latin typeface="Calibri" pitchFamily="34" charset="0"/>
              </a:endParaRPr>
            </a:p>
            <a:p>
              <a:r>
                <a:rPr lang="en-US" altLang="zh-TW" sz="1400" dirty="0" smtClean="0">
                  <a:latin typeface="Calibri" pitchFamily="34" charset="0"/>
                </a:rPr>
                <a:t>Alice</a:t>
              </a:r>
              <a:r>
                <a:rPr lang="zh-TW" altLang="en-US" sz="1400" dirty="0" smtClean="0">
                  <a:latin typeface="Calibri" pitchFamily="34" charset="0"/>
                </a:rPr>
                <a:t> 將 </a:t>
              </a:r>
              <a:r>
                <a:rPr lang="en-US" altLang="zh-TW" sz="1400" dirty="0" smtClean="0">
                  <a:latin typeface="Calibri" pitchFamily="34" charset="0"/>
                </a:rPr>
                <a:t>A</a:t>
              </a:r>
              <a:r>
                <a:rPr lang="zh-TW" altLang="en-US" sz="1400" dirty="0" smtClean="0">
                  <a:latin typeface="Calibri" pitchFamily="34" charset="0"/>
                </a:rPr>
                <a:t> 做運算</a:t>
              </a:r>
              <a:r>
                <a:rPr lang="en-US" altLang="zh-TW" sz="1400" dirty="0" smtClean="0">
                  <a:latin typeface="Calibri" pitchFamily="34" charset="0"/>
                </a:rPr>
                <a:t>7</a:t>
              </a:r>
              <a:r>
                <a:rPr lang="en-US" altLang="zh-TW" sz="1400" baseline="30000" dirty="0" smtClean="0">
                  <a:latin typeface="Calibri" pitchFamily="34" charset="0"/>
                </a:rPr>
                <a:t>A</a:t>
              </a:r>
              <a:r>
                <a:rPr lang="en-US" altLang="zh-TW" sz="1400" dirty="0" smtClean="0">
                  <a:latin typeface="Calibri" pitchFamily="34" charset="0"/>
                </a:rPr>
                <a:t>(mod 11):</a:t>
              </a:r>
            </a:p>
            <a:p>
              <a:r>
                <a:rPr lang="en-US" altLang="zh-TW" sz="1400" dirty="0" smtClean="0">
                  <a:latin typeface="Calibri" pitchFamily="34" charset="0"/>
                </a:rPr>
                <a:t>7</a:t>
              </a:r>
              <a:r>
                <a:rPr lang="en-US" altLang="zh-TW" sz="1400" baseline="30000" dirty="0" smtClean="0">
                  <a:latin typeface="Calibri" pitchFamily="34" charset="0"/>
                </a:rPr>
                <a:t>3</a:t>
              </a:r>
              <a:r>
                <a:rPr lang="en-US" altLang="zh-TW" sz="1400" dirty="0" smtClean="0">
                  <a:latin typeface="Calibri" pitchFamily="34" charset="0"/>
                </a:rPr>
                <a:t>(mod 11) =</a:t>
              </a:r>
            </a:p>
            <a:p>
              <a:r>
                <a:rPr lang="en-US" altLang="zh-TW" sz="1400" dirty="0" smtClean="0">
                  <a:latin typeface="Calibri" pitchFamily="34" charset="0"/>
                </a:rPr>
                <a:t>343(mod 11) = 2</a:t>
              </a:r>
            </a:p>
            <a:p>
              <a:endParaRPr lang="en-US" altLang="zh-TW" sz="1400" dirty="0" smtClean="0">
                <a:latin typeface="Calibri" pitchFamily="34" charset="0"/>
              </a:endParaRPr>
            </a:p>
            <a:p>
              <a:r>
                <a:rPr lang="en-US" altLang="zh-TW" sz="1400" dirty="0" smtClean="0">
                  <a:latin typeface="Calibri" pitchFamily="34" charset="0"/>
                </a:rPr>
                <a:t>Alice </a:t>
              </a:r>
              <a:r>
                <a:rPr lang="zh-TW" altLang="en-US" sz="1400" dirty="0" smtClean="0">
                  <a:latin typeface="Calibri" pitchFamily="34" charset="0"/>
                </a:rPr>
                <a:t>將結果 </a:t>
              </a:r>
              <a:r>
                <a:rPr lang="en-US" altLang="zh-TW" sz="1400" dirty="0" smtClean="0">
                  <a:latin typeface="Calibri" pitchFamily="34" charset="0"/>
                </a:rPr>
                <a:t>2 </a:t>
              </a:r>
              <a:r>
                <a:rPr lang="zh-TW" altLang="en-US" sz="1400" dirty="0" smtClean="0">
                  <a:latin typeface="Calibri" pitchFamily="34" charset="0"/>
                </a:rPr>
                <a:t>命名為</a:t>
              </a:r>
              <a:r>
                <a:rPr lang="en-US" altLang="zh-TW" sz="1400" dirty="0" smtClean="0">
                  <a:latin typeface="Calibri" pitchFamily="34" charset="0"/>
                </a:rPr>
                <a:t>X </a:t>
              </a:r>
              <a:r>
                <a:rPr lang="zh-TW" altLang="en-US" sz="1400" dirty="0" smtClean="0">
                  <a:latin typeface="Calibri" pitchFamily="34" charset="0"/>
                </a:rPr>
                <a:t>並傳給 </a:t>
              </a:r>
              <a:r>
                <a:rPr lang="en-US" altLang="zh-TW" sz="1400" dirty="0" smtClean="0">
                  <a:latin typeface="Calibri" pitchFamily="34" charset="0"/>
                </a:rPr>
                <a:t>Bob</a:t>
              </a:r>
              <a:r>
                <a:rPr lang="zh-TW" altLang="en-US" sz="1400" dirty="0" smtClean="0">
                  <a:latin typeface="Calibri" pitchFamily="34" charset="0"/>
                </a:rPr>
                <a:t>。</a:t>
              </a:r>
              <a:endParaRPr lang="en-US" altLang="zh-TW" sz="1400" dirty="0" smtClean="0">
                <a:latin typeface="Calibri" pitchFamily="34" charset="0"/>
              </a:endParaRPr>
            </a:p>
            <a:p>
              <a:endParaRPr lang="en-US" altLang="zh-TW" sz="1400" dirty="0" smtClean="0">
                <a:latin typeface="Calibri" pitchFamily="34" charset="0"/>
              </a:endParaRPr>
            </a:p>
            <a:p>
              <a:r>
                <a:rPr lang="en-US" altLang="zh-TW" sz="1400" dirty="0" smtClean="0">
                  <a:latin typeface="Calibri" pitchFamily="34" charset="0"/>
                </a:rPr>
                <a:t>【</a:t>
              </a:r>
              <a:r>
                <a:rPr lang="zh-TW" altLang="en-US" sz="1400" dirty="0" smtClean="0">
                  <a:latin typeface="Calibri" pitchFamily="34" charset="0"/>
                </a:rPr>
                <a:t>資訊交換</a:t>
              </a:r>
              <a:r>
                <a:rPr lang="en-US" altLang="zh-TW" sz="1400" dirty="0" smtClean="0">
                  <a:latin typeface="Calibri" pitchFamily="34" charset="0"/>
                </a:rPr>
                <a:t>】</a:t>
              </a:r>
            </a:p>
            <a:p>
              <a:endParaRPr lang="en-US" altLang="zh-TW" sz="1400" dirty="0" smtClean="0">
                <a:latin typeface="Calibri" pitchFamily="34" charset="0"/>
              </a:endParaRPr>
            </a:p>
            <a:p>
              <a:r>
                <a:rPr lang="en-US" altLang="zh-TW" sz="1400" dirty="0" smtClean="0">
                  <a:latin typeface="Calibri" pitchFamily="34" charset="0"/>
                </a:rPr>
                <a:t>Alice </a:t>
              </a:r>
              <a:r>
                <a:rPr lang="zh-TW" altLang="en-US" sz="1400" dirty="0" smtClean="0">
                  <a:latin typeface="Calibri" pitchFamily="34" charset="0"/>
                </a:rPr>
                <a:t>以 </a:t>
              </a:r>
              <a:r>
                <a:rPr lang="en-US" altLang="zh-TW" sz="1400" dirty="0" smtClean="0">
                  <a:latin typeface="Calibri" pitchFamily="34" charset="0"/>
                </a:rPr>
                <a:t>Bob </a:t>
              </a:r>
              <a:r>
                <a:rPr lang="zh-TW" altLang="en-US" sz="1400" dirty="0" smtClean="0">
                  <a:latin typeface="Calibri" pitchFamily="34" charset="0"/>
                </a:rPr>
                <a:t>傳過來的結果做運算</a:t>
              </a:r>
              <a:endParaRPr lang="en-US" altLang="zh-TW" sz="1400" dirty="0" smtClean="0">
                <a:latin typeface="Calibri" pitchFamily="34" charset="0"/>
              </a:endParaRPr>
            </a:p>
            <a:p>
              <a:r>
                <a:rPr lang="en-US" altLang="zh-TW" sz="1400" dirty="0" smtClean="0">
                  <a:latin typeface="Calibri" pitchFamily="34" charset="0"/>
                </a:rPr>
                <a:t>Y</a:t>
              </a:r>
              <a:r>
                <a:rPr lang="en-US" altLang="zh-TW" sz="1400" baseline="30000" dirty="0" smtClean="0">
                  <a:latin typeface="Calibri" pitchFamily="34" charset="0"/>
                </a:rPr>
                <a:t>A</a:t>
              </a:r>
              <a:r>
                <a:rPr lang="en-US" altLang="zh-TW" sz="1400" dirty="0" smtClean="0">
                  <a:latin typeface="Calibri" pitchFamily="34" charset="0"/>
                </a:rPr>
                <a:t>(mod 11):</a:t>
              </a:r>
            </a:p>
            <a:p>
              <a:r>
                <a:rPr lang="en-US" altLang="zh-TW" sz="1400" dirty="0" smtClean="0">
                  <a:latin typeface="Calibri" pitchFamily="34" charset="0"/>
                </a:rPr>
                <a:t>4</a:t>
              </a:r>
              <a:r>
                <a:rPr lang="en-US" altLang="zh-TW" sz="1400" baseline="30000" dirty="0" smtClean="0">
                  <a:latin typeface="Calibri" pitchFamily="34" charset="0"/>
                </a:rPr>
                <a:t>3</a:t>
              </a:r>
              <a:r>
                <a:rPr lang="en-US" altLang="zh-TW" sz="1400" dirty="0" smtClean="0">
                  <a:latin typeface="Calibri" pitchFamily="34" charset="0"/>
                </a:rPr>
                <a:t>(mod 11) = </a:t>
              </a:r>
            </a:p>
            <a:p>
              <a:r>
                <a:rPr lang="en-US" altLang="zh-TW" sz="1400" dirty="0" smtClean="0">
                  <a:latin typeface="Calibri" pitchFamily="34" charset="0"/>
                </a:rPr>
                <a:t>64(mod 11) = 9</a:t>
              </a:r>
            </a:p>
          </p:txBody>
        </p:sp>
        <p:sp>
          <p:nvSpPr>
            <p:cNvPr id="6" name="文字方塊 5"/>
            <p:cNvSpPr txBox="1"/>
            <p:nvPr/>
          </p:nvSpPr>
          <p:spPr>
            <a:xfrm>
              <a:off x="6786578" y="1500174"/>
              <a:ext cx="1785950" cy="3970318"/>
            </a:xfrm>
            <a:prstGeom prst="rect">
              <a:avLst/>
            </a:prstGeom>
            <a:noFill/>
          </p:spPr>
          <p:txBody>
            <a:bodyPr wrap="square" rtlCol="0">
              <a:spAutoFit/>
            </a:bodyPr>
            <a:lstStyle/>
            <a:p>
              <a:r>
                <a:rPr lang="en-US" altLang="zh-TW" sz="1400" dirty="0" smtClean="0">
                  <a:latin typeface="Calibri" pitchFamily="34" charset="0"/>
                </a:rPr>
                <a:t>Bob </a:t>
              </a:r>
              <a:r>
                <a:rPr lang="zh-TW" altLang="en-US" sz="1400" dirty="0" smtClean="0">
                  <a:latin typeface="Calibri" pitchFamily="34" charset="0"/>
                </a:rPr>
                <a:t>選一個秘密數字 </a:t>
              </a:r>
              <a:r>
                <a:rPr lang="en-US" altLang="zh-TW" sz="1400" dirty="0" smtClean="0">
                  <a:latin typeface="Calibri" pitchFamily="34" charset="0"/>
                </a:rPr>
                <a:t>6</a:t>
              </a:r>
              <a:r>
                <a:rPr lang="zh-TW" altLang="en-US" sz="1400" dirty="0" smtClean="0">
                  <a:latin typeface="Calibri" pitchFamily="34" charset="0"/>
                </a:rPr>
                <a:t>，將之命名為 </a:t>
              </a:r>
              <a:r>
                <a:rPr lang="en-US" altLang="zh-TW" sz="1400" dirty="0" smtClean="0">
                  <a:latin typeface="Calibri" pitchFamily="34" charset="0"/>
                </a:rPr>
                <a:t>B</a:t>
              </a:r>
              <a:r>
                <a:rPr lang="zh-TW" altLang="en-US" sz="1400" dirty="0" smtClean="0">
                  <a:latin typeface="Calibri" pitchFamily="34" charset="0"/>
                </a:rPr>
                <a:t>。</a:t>
              </a:r>
              <a:endParaRPr lang="en-US" altLang="zh-TW" sz="1400" dirty="0" smtClean="0">
                <a:latin typeface="Calibri" pitchFamily="34" charset="0"/>
              </a:endParaRPr>
            </a:p>
            <a:p>
              <a:endParaRPr lang="en-US" altLang="zh-TW" sz="1400" dirty="0" smtClean="0">
                <a:latin typeface="Calibri" pitchFamily="34" charset="0"/>
              </a:endParaRPr>
            </a:p>
            <a:p>
              <a:r>
                <a:rPr lang="en-US" altLang="zh-TW" sz="1400" dirty="0" smtClean="0">
                  <a:latin typeface="Calibri" pitchFamily="34" charset="0"/>
                </a:rPr>
                <a:t>Bob </a:t>
              </a:r>
              <a:r>
                <a:rPr lang="zh-TW" altLang="en-US" sz="1400" dirty="0" smtClean="0">
                  <a:latin typeface="Calibri" pitchFamily="34" charset="0"/>
                </a:rPr>
                <a:t>將 </a:t>
              </a:r>
              <a:r>
                <a:rPr lang="en-US" altLang="zh-TW" sz="1400" dirty="0" smtClean="0">
                  <a:latin typeface="Calibri" pitchFamily="34" charset="0"/>
                </a:rPr>
                <a:t>B</a:t>
              </a:r>
              <a:r>
                <a:rPr lang="zh-TW" altLang="en-US" sz="1400" dirty="0" smtClean="0">
                  <a:latin typeface="Calibri" pitchFamily="34" charset="0"/>
                </a:rPr>
                <a:t> 做運算</a:t>
              </a:r>
              <a:r>
                <a:rPr lang="en-US" altLang="zh-TW" sz="1400" dirty="0" smtClean="0">
                  <a:latin typeface="Calibri" pitchFamily="34" charset="0"/>
                </a:rPr>
                <a:t>7</a:t>
              </a:r>
              <a:r>
                <a:rPr lang="en-US" altLang="zh-TW" sz="1400" baseline="30000" dirty="0" smtClean="0">
                  <a:latin typeface="Calibri" pitchFamily="34" charset="0"/>
                </a:rPr>
                <a:t>B</a:t>
              </a:r>
              <a:r>
                <a:rPr lang="en-US" altLang="zh-TW" sz="1400" dirty="0" smtClean="0">
                  <a:latin typeface="Calibri" pitchFamily="34" charset="0"/>
                </a:rPr>
                <a:t>(mod 11):</a:t>
              </a:r>
            </a:p>
            <a:p>
              <a:r>
                <a:rPr lang="en-US" altLang="zh-TW" sz="1400" dirty="0" smtClean="0">
                  <a:latin typeface="Calibri" pitchFamily="34" charset="0"/>
                </a:rPr>
                <a:t>7</a:t>
              </a:r>
              <a:r>
                <a:rPr lang="en-US" altLang="zh-TW" sz="1400" baseline="30000" dirty="0" smtClean="0">
                  <a:latin typeface="Calibri" pitchFamily="34" charset="0"/>
                </a:rPr>
                <a:t>6</a:t>
              </a:r>
              <a:r>
                <a:rPr lang="en-US" altLang="zh-TW" sz="1400" dirty="0" smtClean="0">
                  <a:latin typeface="Calibri" pitchFamily="34" charset="0"/>
                </a:rPr>
                <a:t>(mod 11) =</a:t>
              </a:r>
            </a:p>
            <a:p>
              <a:r>
                <a:rPr lang="en-US" altLang="zh-TW" sz="1400" dirty="0" smtClean="0">
                  <a:latin typeface="Calibri" pitchFamily="34" charset="0"/>
                </a:rPr>
                <a:t>117649(mod 11) = 4</a:t>
              </a:r>
            </a:p>
            <a:p>
              <a:endParaRPr lang="en-US" altLang="zh-TW" sz="1400" dirty="0" smtClean="0">
                <a:latin typeface="Calibri" pitchFamily="34" charset="0"/>
              </a:endParaRPr>
            </a:p>
            <a:p>
              <a:r>
                <a:rPr lang="en-US" altLang="zh-TW" sz="1400" dirty="0" smtClean="0">
                  <a:latin typeface="Calibri" pitchFamily="34" charset="0"/>
                </a:rPr>
                <a:t>Bob </a:t>
              </a:r>
              <a:r>
                <a:rPr lang="zh-TW" altLang="en-US" sz="1400" dirty="0" smtClean="0">
                  <a:latin typeface="Calibri" pitchFamily="34" charset="0"/>
                </a:rPr>
                <a:t>將結果 </a:t>
              </a:r>
              <a:r>
                <a:rPr lang="en-US" altLang="zh-TW" sz="1400" dirty="0" smtClean="0">
                  <a:latin typeface="Calibri" pitchFamily="34" charset="0"/>
                </a:rPr>
                <a:t>4 </a:t>
              </a:r>
              <a:r>
                <a:rPr lang="zh-TW" altLang="en-US" sz="1400" dirty="0" smtClean="0">
                  <a:latin typeface="Calibri" pitchFamily="34" charset="0"/>
                </a:rPr>
                <a:t>命名為</a:t>
              </a:r>
              <a:r>
                <a:rPr lang="en-US" altLang="zh-TW" sz="1400" dirty="0" smtClean="0">
                  <a:latin typeface="Calibri" pitchFamily="34" charset="0"/>
                </a:rPr>
                <a:t> Y </a:t>
              </a:r>
              <a:r>
                <a:rPr lang="zh-TW" altLang="en-US" sz="1400" dirty="0" smtClean="0">
                  <a:latin typeface="Calibri" pitchFamily="34" charset="0"/>
                </a:rPr>
                <a:t>並傳給 </a:t>
              </a:r>
              <a:r>
                <a:rPr lang="en-US" altLang="zh-TW" sz="1400" dirty="0" smtClean="0">
                  <a:latin typeface="Calibri" pitchFamily="34" charset="0"/>
                </a:rPr>
                <a:t>Alice</a:t>
              </a:r>
              <a:r>
                <a:rPr lang="zh-TW" altLang="en-US" sz="1400" dirty="0" smtClean="0">
                  <a:latin typeface="Calibri" pitchFamily="34" charset="0"/>
                </a:rPr>
                <a:t>。</a:t>
              </a:r>
              <a:endParaRPr lang="en-US" altLang="zh-TW" sz="1400" dirty="0" smtClean="0">
                <a:latin typeface="Calibri" pitchFamily="34" charset="0"/>
              </a:endParaRPr>
            </a:p>
            <a:p>
              <a:endParaRPr lang="en-US" altLang="zh-TW" sz="1400" dirty="0" smtClean="0">
                <a:latin typeface="Calibri" pitchFamily="34" charset="0"/>
              </a:endParaRPr>
            </a:p>
            <a:p>
              <a:r>
                <a:rPr lang="en-US" altLang="zh-TW" sz="1400" dirty="0" smtClean="0">
                  <a:latin typeface="Calibri" pitchFamily="34" charset="0"/>
                </a:rPr>
                <a:t>【</a:t>
              </a:r>
              <a:r>
                <a:rPr lang="zh-TW" altLang="en-US" sz="1400" dirty="0" smtClean="0">
                  <a:latin typeface="Calibri" pitchFamily="34" charset="0"/>
                </a:rPr>
                <a:t>資訊交換</a:t>
              </a:r>
              <a:r>
                <a:rPr lang="en-US" altLang="zh-TW" sz="1400" dirty="0" smtClean="0">
                  <a:latin typeface="Calibri" pitchFamily="34" charset="0"/>
                </a:rPr>
                <a:t>】</a:t>
              </a:r>
            </a:p>
            <a:p>
              <a:endParaRPr lang="en-US" altLang="zh-TW" sz="1400" dirty="0" smtClean="0">
                <a:latin typeface="Calibri" pitchFamily="34" charset="0"/>
              </a:endParaRPr>
            </a:p>
            <a:p>
              <a:r>
                <a:rPr lang="en-US" altLang="zh-TW" sz="1400" dirty="0" smtClean="0">
                  <a:latin typeface="Calibri" pitchFamily="34" charset="0"/>
                </a:rPr>
                <a:t>Bob </a:t>
              </a:r>
              <a:r>
                <a:rPr lang="zh-TW" altLang="en-US" sz="1400" dirty="0" smtClean="0">
                  <a:latin typeface="Calibri" pitchFamily="34" charset="0"/>
                </a:rPr>
                <a:t>以</a:t>
              </a:r>
              <a:r>
                <a:rPr lang="en-US" altLang="zh-TW" sz="1400" dirty="0" smtClean="0">
                  <a:latin typeface="Calibri" pitchFamily="34" charset="0"/>
                </a:rPr>
                <a:t> Alice </a:t>
              </a:r>
              <a:r>
                <a:rPr lang="zh-TW" altLang="en-US" sz="1400" dirty="0" smtClean="0">
                  <a:latin typeface="Calibri" pitchFamily="34" charset="0"/>
                </a:rPr>
                <a:t>傳過來的結果做運算</a:t>
              </a:r>
              <a:endParaRPr lang="en-US" altLang="zh-TW" sz="1400" dirty="0" smtClean="0">
                <a:latin typeface="Calibri" pitchFamily="34" charset="0"/>
              </a:endParaRPr>
            </a:p>
            <a:p>
              <a:r>
                <a:rPr lang="en-US" altLang="zh-TW" sz="1400" dirty="0" smtClean="0">
                  <a:latin typeface="Calibri" pitchFamily="34" charset="0"/>
                </a:rPr>
                <a:t>X</a:t>
              </a:r>
              <a:r>
                <a:rPr lang="en-US" altLang="zh-TW" sz="1400" baseline="30000" dirty="0" smtClean="0">
                  <a:latin typeface="Calibri" pitchFamily="34" charset="0"/>
                </a:rPr>
                <a:t>B</a:t>
              </a:r>
              <a:r>
                <a:rPr lang="en-US" altLang="zh-TW" sz="1400" dirty="0" smtClean="0">
                  <a:latin typeface="Calibri" pitchFamily="34" charset="0"/>
                </a:rPr>
                <a:t>(mod 11):</a:t>
              </a:r>
            </a:p>
            <a:p>
              <a:r>
                <a:rPr lang="en-US" altLang="zh-TW" sz="1400" dirty="0" smtClean="0">
                  <a:latin typeface="Calibri" pitchFamily="34" charset="0"/>
                </a:rPr>
                <a:t>2</a:t>
              </a:r>
              <a:r>
                <a:rPr lang="en-US" altLang="zh-TW" sz="1400" baseline="30000" dirty="0" smtClean="0">
                  <a:latin typeface="Calibri" pitchFamily="34" charset="0"/>
                </a:rPr>
                <a:t>6</a:t>
              </a:r>
              <a:r>
                <a:rPr lang="en-US" altLang="zh-TW" sz="1400" dirty="0" smtClean="0">
                  <a:latin typeface="Calibri" pitchFamily="34" charset="0"/>
                </a:rPr>
                <a:t>(mod 11) =</a:t>
              </a:r>
            </a:p>
            <a:p>
              <a:r>
                <a:rPr lang="en-US" altLang="zh-TW" sz="1400" dirty="0" smtClean="0">
                  <a:latin typeface="Calibri" pitchFamily="34" charset="0"/>
                </a:rPr>
                <a:t>64(mod 11) = 9</a:t>
              </a:r>
            </a:p>
          </p:txBody>
        </p:sp>
        <p:sp>
          <p:nvSpPr>
            <p:cNvPr id="7" name="文字方塊 6"/>
            <p:cNvSpPr txBox="1"/>
            <p:nvPr/>
          </p:nvSpPr>
          <p:spPr>
            <a:xfrm>
              <a:off x="4714876" y="5500702"/>
              <a:ext cx="3786214" cy="954107"/>
            </a:xfrm>
            <a:prstGeom prst="rect">
              <a:avLst/>
            </a:prstGeom>
            <a:noFill/>
          </p:spPr>
          <p:txBody>
            <a:bodyPr wrap="square" rtlCol="0">
              <a:spAutoFit/>
            </a:bodyPr>
            <a:lstStyle/>
            <a:p>
              <a:r>
                <a:rPr lang="zh-TW" altLang="en-US" sz="1400" dirty="0" smtClean="0">
                  <a:solidFill>
                    <a:srgbClr val="FF0000"/>
                  </a:solidFill>
                  <a:latin typeface="Calibri" pitchFamily="34" charset="0"/>
                </a:rPr>
                <a:t>兩者在先前之祕密數字未交換的情況下，卻能分享一個新的秘密數字 </a:t>
              </a:r>
              <a:r>
                <a:rPr lang="en-US" altLang="zh-TW" sz="1400" dirty="0" smtClean="0">
                  <a:solidFill>
                    <a:srgbClr val="FF0000"/>
                  </a:solidFill>
                  <a:latin typeface="Calibri" pitchFamily="34" charset="0"/>
                </a:rPr>
                <a:t>9</a:t>
              </a:r>
              <a:r>
                <a:rPr lang="zh-TW" altLang="en-US" sz="1400" dirty="0" smtClean="0">
                  <a:solidFill>
                    <a:srgbClr val="FF0000"/>
                  </a:solidFill>
                  <a:latin typeface="Calibri" pitchFamily="34" charset="0"/>
                </a:rPr>
                <a:t>；這個秘密數字就可做為兩者未來通訊的金鑰。</a:t>
              </a:r>
              <a:r>
                <a:rPr lang="en-US" altLang="zh-TW" sz="1400" dirty="0" err="1" smtClean="0">
                  <a:solidFill>
                    <a:srgbClr val="FF0000"/>
                  </a:solidFill>
                  <a:latin typeface="Calibri" pitchFamily="34" charset="0"/>
                </a:rPr>
                <a:t>Diffie</a:t>
              </a:r>
              <a:r>
                <a:rPr lang="en-US" altLang="zh-TW" sz="1400" dirty="0" smtClean="0">
                  <a:solidFill>
                    <a:srgbClr val="FF0000"/>
                  </a:solidFill>
                  <a:latin typeface="Calibri" pitchFamily="34" charset="0"/>
                </a:rPr>
                <a:t>/Hellman</a:t>
              </a:r>
              <a:r>
                <a:rPr lang="zh-TW" altLang="en-US" sz="1400" dirty="0" smtClean="0">
                  <a:solidFill>
                    <a:srgbClr val="FF0000"/>
                  </a:solidFill>
                  <a:latin typeface="Calibri" pitchFamily="34" charset="0"/>
                </a:rPr>
                <a:t>的方法解決的金鑰交換的困難。</a:t>
              </a:r>
              <a:endParaRPr lang="zh-TW" altLang="en-US" sz="1400" dirty="0">
                <a:solidFill>
                  <a:srgbClr val="FF0000"/>
                </a:solidFill>
                <a:latin typeface="Calibri" pitchFamily="34" charset="0"/>
              </a:endParaRPr>
            </a:p>
          </p:txBody>
        </p:sp>
        <p:sp>
          <p:nvSpPr>
            <p:cNvPr id="8" name="矩形 7"/>
            <p:cNvSpPr/>
            <p:nvPr/>
          </p:nvSpPr>
          <p:spPr>
            <a:xfrm>
              <a:off x="4714876" y="1500174"/>
              <a:ext cx="3786214" cy="500066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grpSp>
    </p:spTree>
    <p:extLst>
      <p:ext uri="{BB962C8B-B14F-4D97-AF65-F5344CB8AC3E}">
        <p14:creationId xmlns:p14="http://schemas.microsoft.com/office/powerpoint/2010/main" val="241235458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1187624" y="2420888"/>
            <a:ext cx="6696744" cy="1362075"/>
          </a:xfrm>
          <a:solidFill>
            <a:srgbClr val="0000FF"/>
          </a:solidFill>
          <a:ln w="25400">
            <a:solidFill>
              <a:srgbClr val="FF0000"/>
            </a:solidFill>
          </a:ln>
        </p:spPr>
        <p:txBody>
          <a:bodyPr anchor="ctr"/>
          <a:lstStyle/>
          <a:p>
            <a:pPr algn="ctr"/>
            <a:r>
              <a:rPr lang="en-US" altLang="zh-TW" dirty="0" smtClean="0">
                <a:solidFill>
                  <a:schemeClr val="bg1"/>
                </a:solidFill>
                <a:latin typeface="標楷體" panose="03000509000000000000" pitchFamily="65" charset="-120"/>
                <a:ea typeface="標楷體" panose="03000509000000000000" pitchFamily="65" charset="-120"/>
              </a:rPr>
              <a:t>B.2 </a:t>
            </a:r>
            <a:r>
              <a:rPr lang="zh-TW" altLang="en-US" dirty="0">
                <a:solidFill>
                  <a:schemeClr val="bg1"/>
                </a:solidFill>
                <a:latin typeface="標楷體" panose="03000509000000000000" pitchFamily="65" charset="-120"/>
                <a:ea typeface="標楷體" panose="03000509000000000000" pitchFamily="65" charset="-120"/>
              </a:rPr>
              <a:t>非對稱式加</a:t>
            </a:r>
            <a:r>
              <a:rPr lang="en-US" altLang="zh-TW" dirty="0">
                <a:solidFill>
                  <a:schemeClr val="bg1"/>
                </a:solidFill>
                <a:latin typeface="標楷體" panose="03000509000000000000" pitchFamily="65" charset="-120"/>
                <a:ea typeface="標楷體" panose="03000509000000000000" pitchFamily="65" charset="-120"/>
              </a:rPr>
              <a:t>/</a:t>
            </a:r>
            <a:r>
              <a:rPr lang="zh-TW" altLang="en-US" dirty="0">
                <a:solidFill>
                  <a:schemeClr val="bg1"/>
                </a:solidFill>
                <a:latin typeface="標楷體" panose="03000509000000000000" pitchFamily="65" charset="-120"/>
                <a:ea typeface="標楷體" panose="03000509000000000000" pitchFamily="65" charset="-120"/>
              </a:rPr>
              <a:t>解密 </a:t>
            </a:r>
            <a:r>
              <a:rPr lang="en-US" altLang="zh-TW" dirty="0">
                <a:solidFill>
                  <a:schemeClr val="bg1"/>
                </a:solidFill>
                <a:latin typeface="標楷體" panose="03000509000000000000" pitchFamily="65" charset="-120"/>
                <a:ea typeface="標楷體" panose="03000509000000000000" pitchFamily="65" charset="-120"/>
              </a:rPr>
              <a:t>(Asymmetric)</a:t>
            </a:r>
            <a:endParaRPr lang="zh-TW" altLang="en-US" dirty="0">
              <a:solidFill>
                <a:schemeClr val="bg1"/>
              </a:solidFill>
              <a:latin typeface="標楷體" panose="03000509000000000000" pitchFamily="65" charset="-120"/>
              <a:ea typeface="標楷體" panose="03000509000000000000" pitchFamily="65" charset="-120"/>
            </a:endParaRPr>
          </a:p>
        </p:txBody>
      </p:sp>
      <p:sp>
        <p:nvSpPr>
          <p:cNvPr id="3" name="矩形 2"/>
          <p:cNvSpPr/>
          <p:nvPr/>
        </p:nvSpPr>
        <p:spPr>
          <a:xfrm>
            <a:off x="1187624" y="4653136"/>
            <a:ext cx="6696744" cy="122413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1" algn="ctr"/>
            <a:r>
              <a:rPr lang="zh-TW" altLang="en-US" sz="2400" dirty="0" smtClean="0">
                <a:latin typeface="標楷體" panose="03000509000000000000" pitchFamily="65" charset="-120"/>
                <a:ea typeface="標楷體" panose="03000509000000000000" pitchFamily="65" charset="-120"/>
              </a:rPr>
              <a:t>使用對方的公鑰加密</a:t>
            </a:r>
            <a:endParaRPr lang="zh-TW" altLang="en-US" sz="24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63136309"/>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7526640" cy="5500702"/>
          </a:xfrm>
        </p:spPr>
        <p:txBody>
          <a:bodyPr>
            <a:normAutofit/>
          </a:bodyPr>
          <a:lstStyle/>
          <a:p>
            <a:pPr>
              <a:spcBef>
                <a:spcPts val="1200"/>
              </a:spcBef>
            </a:pPr>
            <a:r>
              <a:rPr lang="zh-TW" altLang="en-US" sz="2000" dirty="0" smtClean="0"/>
              <a:t>非對稱式加密 </a:t>
            </a:r>
            <a:r>
              <a:rPr lang="en-US" altLang="zh-TW" sz="2000" dirty="0" smtClean="0"/>
              <a:t>(</a:t>
            </a:r>
            <a:r>
              <a:rPr lang="en-US" altLang="zh-TW" sz="2000" dirty="0" smtClean="0">
                <a:solidFill>
                  <a:srgbClr val="FF0000"/>
                </a:solidFill>
              </a:rPr>
              <a:t>a</a:t>
            </a:r>
            <a:r>
              <a:rPr lang="en-US" altLang="zh-TW" sz="2000" dirty="0" smtClean="0"/>
              <a:t>symmetric key cryptography)</a:t>
            </a:r>
            <a:r>
              <a:rPr lang="zh-TW" altLang="en-US" sz="2000" dirty="0" smtClean="0"/>
              <a:t> 又稱為</a:t>
            </a:r>
            <a:r>
              <a:rPr lang="zh-TW" altLang="en-US" sz="2000" dirty="0" smtClean="0">
                <a:solidFill>
                  <a:srgbClr val="FF0000"/>
                </a:solidFill>
              </a:rPr>
              <a:t>公開</a:t>
            </a:r>
            <a:r>
              <a:rPr lang="zh-TW" altLang="en-US" sz="2000" dirty="0" smtClean="0"/>
              <a:t>金鑰加密 </a:t>
            </a:r>
            <a:r>
              <a:rPr lang="en-US" altLang="zh-TW" sz="2000" dirty="0" smtClean="0"/>
              <a:t>(</a:t>
            </a:r>
            <a:r>
              <a:rPr lang="en-US" altLang="zh-TW" sz="2000" dirty="0" smtClean="0">
                <a:solidFill>
                  <a:srgbClr val="FF0000"/>
                </a:solidFill>
              </a:rPr>
              <a:t>public</a:t>
            </a:r>
            <a:r>
              <a:rPr lang="en-US" altLang="zh-TW" sz="2000" dirty="0" smtClean="0"/>
              <a:t> key cryptography)</a:t>
            </a:r>
            <a:r>
              <a:rPr lang="zh-TW" altLang="en-US" sz="2000" dirty="0" smtClean="0"/>
              <a:t>。</a:t>
            </a:r>
            <a:endParaRPr lang="en-US" altLang="zh-TW" sz="2000" dirty="0" smtClean="0"/>
          </a:p>
          <a:p>
            <a:pPr>
              <a:spcBef>
                <a:spcPts val="1200"/>
              </a:spcBef>
            </a:pPr>
            <a:r>
              <a:rPr lang="zh-TW" altLang="en-US" sz="2000" dirty="0" smtClean="0"/>
              <a:t>它使用</a:t>
            </a:r>
            <a:r>
              <a:rPr lang="zh-TW" altLang="en-US" sz="2000" dirty="0" smtClean="0">
                <a:solidFill>
                  <a:srgbClr val="FF0000"/>
                </a:solidFill>
              </a:rPr>
              <a:t>一對</a:t>
            </a:r>
            <a:r>
              <a:rPr lang="zh-TW" altLang="en-US" sz="2000" dirty="0" smtClean="0">
                <a:solidFill>
                  <a:srgbClr val="0000FF"/>
                </a:solidFill>
              </a:rPr>
              <a:t>數學上相關的金鑰</a:t>
            </a:r>
            <a:r>
              <a:rPr lang="zh-TW" altLang="en-US" sz="2000" dirty="0" smtClean="0"/>
              <a:t>：</a:t>
            </a:r>
            <a:endParaRPr lang="en-US" altLang="zh-TW" sz="2000" dirty="0" smtClean="0"/>
          </a:p>
          <a:p>
            <a:pPr lvl="1">
              <a:spcBef>
                <a:spcPts val="1200"/>
              </a:spcBef>
            </a:pPr>
            <a:r>
              <a:rPr lang="zh-TW" altLang="en-US" sz="1800" dirty="0" smtClean="0">
                <a:solidFill>
                  <a:srgbClr val="FF0000"/>
                </a:solidFill>
              </a:rPr>
              <a:t>私密</a:t>
            </a:r>
            <a:r>
              <a:rPr lang="zh-TW" altLang="en-US" sz="1800" dirty="0" smtClean="0"/>
              <a:t>金鑰 </a:t>
            </a:r>
            <a:r>
              <a:rPr lang="en-US" altLang="zh-TW" sz="1800" dirty="0" smtClean="0"/>
              <a:t>(secret key)</a:t>
            </a:r>
            <a:r>
              <a:rPr lang="zh-TW" altLang="en-US" sz="1800" dirty="0" smtClean="0"/>
              <a:t>：</a:t>
            </a:r>
            <a:r>
              <a:rPr lang="zh-TW" altLang="en-US" sz="1800" dirty="0" smtClean="0">
                <a:solidFill>
                  <a:srgbClr val="FF0000"/>
                </a:solidFill>
              </a:rPr>
              <a:t>自己擁有保存 </a:t>
            </a:r>
            <a:r>
              <a:rPr lang="en-US" altLang="zh-TW" sz="1800" dirty="0" smtClean="0"/>
              <a:t>(</a:t>
            </a:r>
            <a:r>
              <a:rPr lang="zh-TW" altLang="en-US" sz="1800" dirty="0" smtClean="0"/>
              <a:t>保持機密</a:t>
            </a:r>
            <a:r>
              <a:rPr lang="en-US" altLang="zh-TW" sz="1800" dirty="0" smtClean="0"/>
              <a:t>)</a:t>
            </a:r>
          </a:p>
          <a:p>
            <a:pPr lvl="1">
              <a:spcBef>
                <a:spcPts val="1200"/>
              </a:spcBef>
            </a:pPr>
            <a:r>
              <a:rPr lang="zh-TW" altLang="en-US" sz="1800" dirty="0" smtClean="0">
                <a:solidFill>
                  <a:srgbClr val="FF0000"/>
                </a:solidFill>
              </a:rPr>
              <a:t>公開</a:t>
            </a:r>
            <a:r>
              <a:rPr lang="zh-TW" altLang="en-US" sz="1800" dirty="0" smtClean="0"/>
              <a:t>金鑰 </a:t>
            </a:r>
            <a:r>
              <a:rPr lang="en-US" altLang="zh-TW" sz="1800" dirty="0" smtClean="0"/>
              <a:t>(public key)</a:t>
            </a:r>
            <a:r>
              <a:rPr lang="zh-TW" altLang="en-US" sz="1800" dirty="0" smtClean="0"/>
              <a:t>：可公布在網站</a:t>
            </a:r>
            <a:r>
              <a:rPr lang="en-US" altLang="zh-TW" sz="1800" dirty="0" smtClean="0"/>
              <a:t>, </a:t>
            </a:r>
            <a:r>
              <a:rPr lang="zh-TW" altLang="en-US" sz="1800" dirty="0" smtClean="0"/>
              <a:t>供任何人自由取得</a:t>
            </a:r>
            <a:r>
              <a:rPr lang="zh-TW" altLang="en-US" sz="1800" dirty="0" smtClean="0">
                <a:latin typeface="標楷體" panose="03000509000000000000" pitchFamily="65" charset="-120"/>
                <a:ea typeface="標楷體" panose="03000509000000000000" pitchFamily="65" charset="-120"/>
              </a:rPr>
              <a:t>、</a:t>
            </a:r>
            <a:r>
              <a:rPr lang="zh-TW" altLang="en-US" sz="1800" dirty="0" smtClean="0"/>
              <a:t>傳遞</a:t>
            </a:r>
            <a:endParaRPr lang="en-US" altLang="zh-TW" sz="1800" dirty="0" smtClean="0"/>
          </a:p>
          <a:p>
            <a:pPr lvl="1">
              <a:spcBef>
                <a:spcPts val="1200"/>
              </a:spcBef>
            </a:pPr>
            <a:r>
              <a:rPr lang="zh-TW" altLang="en-US" sz="1800" dirty="0" smtClean="0">
                <a:solidFill>
                  <a:srgbClr val="0000FF"/>
                </a:solidFill>
              </a:rPr>
              <a:t>若以其中一把金鑰加密</a:t>
            </a:r>
            <a:r>
              <a:rPr lang="zh-TW" altLang="en-US" sz="1800" dirty="0" smtClean="0"/>
              <a:t>，</a:t>
            </a:r>
            <a:r>
              <a:rPr lang="zh-TW" altLang="en-US" sz="1800" dirty="0" smtClean="0">
                <a:solidFill>
                  <a:srgbClr val="0000FF"/>
                </a:solidFill>
              </a:rPr>
              <a:t>就只能使用另一把解密</a:t>
            </a:r>
            <a:r>
              <a:rPr lang="zh-TW" altLang="en-US" sz="1800" dirty="0" smtClean="0"/>
              <a:t>。</a:t>
            </a:r>
            <a:endParaRPr lang="en-US" altLang="zh-TW" sz="1800" dirty="0" smtClean="0"/>
          </a:p>
          <a:p>
            <a:pPr>
              <a:spcBef>
                <a:spcPts val="1200"/>
              </a:spcBef>
            </a:pPr>
            <a:r>
              <a:rPr lang="en-US" altLang="zh-TW" sz="2200" dirty="0" smtClean="0"/>
              <a:t>A.</a:t>
            </a:r>
            <a:r>
              <a:rPr lang="zh-TW" altLang="en-US" sz="2200" dirty="0" smtClean="0"/>
              <a:t>加密</a:t>
            </a:r>
            <a:r>
              <a:rPr lang="en-US" altLang="zh-TW" sz="2200" dirty="0" smtClean="0"/>
              <a:t>: </a:t>
            </a:r>
            <a:r>
              <a:rPr lang="zh-TW" altLang="en-US" sz="2200" dirty="0" smtClean="0"/>
              <a:t>以對方</a:t>
            </a:r>
            <a:r>
              <a:rPr lang="en-US" altLang="zh-TW" sz="2200" dirty="0" smtClean="0"/>
              <a:t>(B)</a:t>
            </a:r>
            <a:r>
              <a:rPr lang="zh-TW" altLang="en-US" sz="2200" dirty="0" smtClean="0"/>
              <a:t>的公鑰為之</a:t>
            </a:r>
            <a:r>
              <a:rPr lang="en-US" altLang="zh-TW" sz="2200" dirty="0"/>
              <a:t> </a:t>
            </a:r>
            <a:r>
              <a:rPr lang="en-US" altLang="zh-TW" sz="2200" dirty="0" smtClean="0"/>
              <a:t> (</a:t>
            </a:r>
            <a:r>
              <a:rPr lang="zh-TW" altLang="en-US" sz="2200" dirty="0" smtClean="0"/>
              <a:t>只有</a:t>
            </a:r>
            <a:r>
              <a:rPr lang="en-US" altLang="zh-TW" sz="2200" dirty="0" smtClean="0"/>
              <a:t>B</a:t>
            </a:r>
            <a:r>
              <a:rPr lang="zh-TW" altLang="en-US" sz="2200" dirty="0" smtClean="0"/>
              <a:t>才可解密</a:t>
            </a:r>
            <a:r>
              <a:rPr lang="en-US" altLang="zh-TW" sz="2200" dirty="0" smtClean="0"/>
              <a:t>)</a:t>
            </a:r>
            <a:endParaRPr lang="en-US" altLang="zh-TW" sz="2200" dirty="0"/>
          </a:p>
          <a:p>
            <a:pPr>
              <a:spcBef>
                <a:spcPts val="1200"/>
              </a:spcBef>
            </a:pPr>
            <a:r>
              <a:rPr lang="en-US" altLang="zh-TW" sz="2200" dirty="0" smtClean="0"/>
              <a:t>A.</a:t>
            </a:r>
            <a:r>
              <a:rPr lang="zh-TW" altLang="en-US" sz="2200" dirty="0" smtClean="0"/>
              <a:t>簽章</a:t>
            </a:r>
            <a:r>
              <a:rPr lang="en-US" altLang="zh-TW" sz="2200" dirty="0" smtClean="0"/>
              <a:t>: </a:t>
            </a:r>
            <a:r>
              <a:rPr lang="zh-TW" altLang="en-US" sz="2200" dirty="0" smtClean="0"/>
              <a:t>以自己</a:t>
            </a:r>
            <a:r>
              <a:rPr lang="en-US" altLang="zh-TW" sz="2200" dirty="0" smtClean="0"/>
              <a:t>(A)</a:t>
            </a:r>
            <a:r>
              <a:rPr lang="zh-TW" altLang="en-US" sz="2200" dirty="0" smtClean="0"/>
              <a:t>的私鑰為之 </a:t>
            </a:r>
            <a:r>
              <a:rPr lang="en-US" altLang="zh-TW" sz="2200" dirty="0" smtClean="0"/>
              <a:t>(</a:t>
            </a:r>
            <a:r>
              <a:rPr lang="zh-TW" altLang="en-US" sz="2200" dirty="0" smtClean="0"/>
              <a:t>任何人皆可驗章</a:t>
            </a:r>
            <a:r>
              <a:rPr lang="en-US" altLang="zh-TW" sz="2200" dirty="0" smtClean="0"/>
              <a:t>)</a:t>
            </a:r>
            <a:endParaRPr lang="en-US" altLang="zh-TW" sz="2200" dirty="0"/>
          </a:p>
          <a:p>
            <a:pPr>
              <a:spcBef>
                <a:spcPts val="1200"/>
              </a:spcBef>
            </a:pPr>
            <a:endParaRPr lang="en-US" altLang="zh-TW" sz="2200" dirty="0" smtClean="0"/>
          </a:p>
        </p:txBody>
      </p:sp>
      <p:sp>
        <p:nvSpPr>
          <p:cNvPr id="3" name="標題 2"/>
          <p:cNvSpPr>
            <a:spLocks noGrp="1"/>
          </p:cNvSpPr>
          <p:nvPr>
            <p:ph type="title"/>
          </p:nvPr>
        </p:nvSpPr>
        <p:spPr/>
        <p:txBody>
          <a:bodyPr/>
          <a:lstStyle/>
          <a:p>
            <a:r>
              <a:rPr lang="en-US" altLang="zh-TW" dirty="0" smtClean="0">
                <a:solidFill>
                  <a:srgbClr val="FF0000"/>
                </a:solidFill>
              </a:rPr>
              <a:t>B2. </a:t>
            </a:r>
            <a:r>
              <a:rPr lang="zh-TW" altLang="en-US" dirty="0" smtClean="0">
                <a:solidFill>
                  <a:srgbClr val="FF0000"/>
                </a:solidFill>
              </a:rPr>
              <a:t>非對稱式</a:t>
            </a:r>
            <a:r>
              <a:rPr lang="zh-TW" altLang="en-US" dirty="0" smtClean="0"/>
              <a:t>加密</a:t>
            </a:r>
            <a:endParaRPr lang="zh-TW" altLang="en-US" dirty="0"/>
          </a:p>
        </p:txBody>
      </p:sp>
      <p:sp>
        <p:nvSpPr>
          <p:cNvPr id="9" name="文字方塊 8"/>
          <p:cNvSpPr txBox="1"/>
          <p:nvPr/>
        </p:nvSpPr>
        <p:spPr>
          <a:xfrm>
            <a:off x="6572264" y="6357958"/>
            <a:ext cx="1819729" cy="307777"/>
          </a:xfrm>
          <a:prstGeom prst="rect">
            <a:avLst/>
          </a:prstGeom>
          <a:noFill/>
        </p:spPr>
        <p:txBody>
          <a:bodyPr wrap="none" rtlCol="0">
            <a:spAutoFit/>
          </a:bodyPr>
          <a:lstStyle/>
          <a:p>
            <a:r>
              <a:rPr lang="zh-TW" altLang="en-US" sz="1400" dirty="0" smtClean="0">
                <a:latin typeface="Calibri" pitchFamily="34" charset="0"/>
              </a:rPr>
              <a:t>取材自</a:t>
            </a:r>
            <a:r>
              <a:rPr lang="en-US" altLang="zh-TW" sz="1400" dirty="0" smtClean="0">
                <a:latin typeface="Calibri" pitchFamily="34" charset="0"/>
              </a:rPr>
              <a:t>The Code Book</a:t>
            </a:r>
            <a:endParaRPr lang="zh-TW" altLang="en-US" sz="1400" dirty="0">
              <a:latin typeface="Calibri" pitchFamily="34" charset="0"/>
            </a:endParaRPr>
          </a:p>
        </p:txBody>
      </p:sp>
      <p:sp>
        <p:nvSpPr>
          <p:cNvPr id="10" name="矩形 9">
            <a:hlinkClick r:id="rId2"/>
          </p:cNvPr>
          <p:cNvSpPr/>
          <p:nvPr/>
        </p:nvSpPr>
        <p:spPr>
          <a:xfrm>
            <a:off x="395157" y="5387275"/>
            <a:ext cx="7416824" cy="792088"/>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000" dirty="0">
                <a:latin typeface="標楷體" panose="03000509000000000000" pitchFamily="65" charset="-120"/>
                <a:ea typeface="標楷體" panose="03000509000000000000" pitchFamily="65" charset="-120"/>
              </a:rPr>
              <a:t>RSA </a:t>
            </a:r>
            <a:r>
              <a:rPr lang="zh-TW" altLang="en-US" sz="2000" dirty="0">
                <a:latin typeface="標楷體" panose="03000509000000000000" pitchFamily="65" charset="-120"/>
                <a:ea typeface="標楷體" panose="03000509000000000000" pitchFamily="65" charset="-120"/>
              </a:rPr>
              <a:t>加密特點</a:t>
            </a:r>
            <a:r>
              <a:rPr lang="en-US" altLang="zh-TW" sz="2000" dirty="0">
                <a:solidFill>
                  <a:schemeClr val="accent6"/>
                </a:solidFill>
                <a:latin typeface="標楷體" panose="03000509000000000000" pitchFamily="65" charset="-120"/>
                <a:ea typeface="標楷體" panose="03000509000000000000" pitchFamily="65" charset="-120"/>
              </a:rPr>
              <a:t>:『</a:t>
            </a:r>
            <a:r>
              <a:rPr lang="zh-TW" altLang="en-US" sz="2000" dirty="0">
                <a:solidFill>
                  <a:schemeClr val="accent6"/>
                </a:solidFill>
                <a:latin typeface="標楷體" panose="03000509000000000000" pitchFamily="65" charset="-120"/>
                <a:ea typeface="標楷體" panose="03000509000000000000" pitchFamily="65" charset="-120"/>
              </a:rPr>
              <a:t>明文的長度不可以超過鑰匙長度</a:t>
            </a:r>
            <a:r>
              <a:rPr lang="en-US" altLang="zh-TW" sz="2000" dirty="0" smtClean="0">
                <a:solidFill>
                  <a:schemeClr val="accent6"/>
                </a:solidFill>
                <a:latin typeface="標楷體" panose="03000509000000000000" pitchFamily="65" charset="-120"/>
                <a:ea typeface="標楷體" panose="03000509000000000000" pitchFamily="65" charset="-120"/>
              </a:rPr>
              <a:t>』 </a:t>
            </a:r>
            <a:r>
              <a:rPr lang="en-US" altLang="zh-TW" sz="1400" dirty="0" smtClean="0"/>
              <a:t>https</a:t>
            </a:r>
            <a:r>
              <a:rPr lang="en-US" altLang="zh-TW" sz="1400" dirty="0"/>
              <a:t>://reurl.cc/82AbqX</a:t>
            </a:r>
            <a:endParaRPr lang="zh-TW" altLang="en-US" sz="1400"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流程圖: 文件 4"/>
          <p:cNvSpPr/>
          <p:nvPr/>
        </p:nvSpPr>
        <p:spPr>
          <a:xfrm>
            <a:off x="466404" y="2991252"/>
            <a:ext cx="944692" cy="960738"/>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訊息的原文</a:t>
            </a:r>
            <a:endParaRPr lang="zh-TW" altLang="en-US" sz="1600" dirty="0">
              <a:latin typeface="Calibri" pitchFamily="34" charset="0"/>
            </a:endParaRPr>
          </a:p>
        </p:txBody>
      </p:sp>
      <p:sp>
        <p:nvSpPr>
          <p:cNvPr id="6" name="流程圖: 文件 5"/>
          <p:cNvSpPr/>
          <p:nvPr/>
        </p:nvSpPr>
        <p:spPr>
          <a:xfrm>
            <a:off x="6967262" y="2989663"/>
            <a:ext cx="944692" cy="962381"/>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訊息的原文</a:t>
            </a:r>
            <a:endParaRPr lang="zh-TW" altLang="en-US" sz="1600" dirty="0">
              <a:latin typeface="Calibri" pitchFamily="34" charset="0"/>
            </a:endParaRPr>
          </a:p>
        </p:txBody>
      </p:sp>
      <p:sp>
        <p:nvSpPr>
          <p:cNvPr id="7" name="橢圓 6"/>
          <p:cNvSpPr/>
          <p:nvPr/>
        </p:nvSpPr>
        <p:spPr>
          <a:xfrm>
            <a:off x="1752287" y="3062690"/>
            <a:ext cx="799355" cy="812932"/>
          </a:xfrm>
          <a:prstGeom prst="ellipse">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b="1" dirty="0" smtClean="0">
                <a:solidFill>
                  <a:schemeClr val="bg1"/>
                </a:solidFill>
                <a:latin typeface="Calibri" pitchFamily="34" charset="0"/>
              </a:rPr>
              <a:t>加密</a:t>
            </a:r>
            <a:endParaRPr lang="zh-TW" altLang="en-US" sz="1600" b="1" dirty="0">
              <a:solidFill>
                <a:schemeClr val="bg1"/>
              </a:solidFill>
              <a:latin typeface="Calibri" pitchFamily="34" charset="0"/>
            </a:endParaRPr>
          </a:p>
        </p:txBody>
      </p:sp>
      <p:sp>
        <p:nvSpPr>
          <p:cNvPr id="8" name="橢圓 7"/>
          <p:cNvSpPr/>
          <p:nvPr/>
        </p:nvSpPr>
        <p:spPr>
          <a:xfrm>
            <a:off x="5824253" y="3061101"/>
            <a:ext cx="799355" cy="8145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b="1" dirty="0" smtClean="0">
                <a:solidFill>
                  <a:srgbClr val="FFC000"/>
                </a:solidFill>
                <a:latin typeface="Calibri" pitchFamily="34" charset="0"/>
              </a:rPr>
              <a:t>解密</a:t>
            </a:r>
            <a:endParaRPr lang="zh-TW" altLang="en-US" sz="1600" b="1" dirty="0">
              <a:solidFill>
                <a:srgbClr val="FFC000"/>
              </a:solidFill>
              <a:latin typeface="Calibri" pitchFamily="34" charset="0"/>
            </a:endParaRPr>
          </a:p>
        </p:txBody>
      </p:sp>
      <p:sp>
        <p:nvSpPr>
          <p:cNvPr id="9" name="矩形 8"/>
          <p:cNvSpPr/>
          <p:nvPr/>
        </p:nvSpPr>
        <p:spPr>
          <a:xfrm>
            <a:off x="3038171" y="3062690"/>
            <a:ext cx="799355" cy="8129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密文</a:t>
            </a:r>
            <a:endParaRPr lang="zh-TW" altLang="en-US" sz="1600" dirty="0">
              <a:latin typeface="Calibri" pitchFamily="34" charset="0"/>
            </a:endParaRPr>
          </a:p>
        </p:txBody>
      </p:sp>
      <p:sp>
        <p:nvSpPr>
          <p:cNvPr id="10" name="矩形 9"/>
          <p:cNvSpPr/>
          <p:nvPr/>
        </p:nvSpPr>
        <p:spPr>
          <a:xfrm>
            <a:off x="4609807" y="3062690"/>
            <a:ext cx="799355" cy="8112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密文</a:t>
            </a:r>
            <a:endParaRPr lang="zh-TW" altLang="en-US" sz="1600" dirty="0">
              <a:latin typeface="Calibri" pitchFamily="34" charset="0"/>
            </a:endParaRPr>
          </a:p>
        </p:txBody>
      </p:sp>
      <p:cxnSp>
        <p:nvCxnSpPr>
          <p:cNvPr id="11" name="直線單箭頭接點 10"/>
          <p:cNvCxnSpPr>
            <a:stCxn id="5" idx="3"/>
            <a:endCxn id="7" idx="2"/>
          </p:cNvCxnSpPr>
          <p:nvPr/>
        </p:nvCxnSpPr>
        <p:spPr>
          <a:xfrm flipV="1">
            <a:off x="1411096" y="3469156"/>
            <a:ext cx="341191" cy="246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2" name="直線單箭頭接點 11"/>
          <p:cNvCxnSpPr>
            <a:stCxn id="7" idx="6"/>
            <a:endCxn id="9" idx="1"/>
          </p:cNvCxnSpPr>
          <p:nvPr/>
        </p:nvCxnSpPr>
        <p:spPr>
          <a:xfrm>
            <a:off x="2551642" y="3469156"/>
            <a:ext cx="486529"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 name="直線單箭頭接點 12"/>
          <p:cNvCxnSpPr>
            <a:stCxn id="9" idx="3"/>
            <a:endCxn id="10" idx="1"/>
          </p:cNvCxnSpPr>
          <p:nvPr/>
        </p:nvCxnSpPr>
        <p:spPr>
          <a:xfrm flipV="1">
            <a:off x="3837526" y="3468335"/>
            <a:ext cx="772281" cy="82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 name="直線單箭頭接點 13"/>
          <p:cNvCxnSpPr>
            <a:stCxn id="10" idx="3"/>
            <a:endCxn id="8" idx="2"/>
          </p:cNvCxnSpPr>
          <p:nvPr/>
        </p:nvCxnSpPr>
        <p:spPr>
          <a:xfrm>
            <a:off x="5409162" y="3468335"/>
            <a:ext cx="415091" cy="5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線單箭頭接點 14"/>
          <p:cNvCxnSpPr>
            <a:stCxn id="8" idx="6"/>
            <a:endCxn id="6" idx="1"/>
          </p:cNvCxnSpPr>
          <p:nvPr/>
        </p:nvCxnSpPr>
        <p:spPr>
          <a:xfrm>
            <a:off x="6623608" y="3468389"/>
            <a:ext cx="343654" cy="246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圓角矩形 15"/>
          <p:cNvSpPr/>
          <p:nvPr/>
        </p:nvSpPr>
        <p:spPr>
          <a:xfrm>
            <a:off x="1680850" y="4134259"/>
            <a:ext cx="944692" cy="3695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金鑰</a:t>
            </a:r>
            <a:endParaRPr lang="zh-TW" altLang="en-US" sz="1600" dirty="0">
              <a:latin typeface="Calibri" pitchFamily="34" charset="0"/>
            </a:endParaRPr>
          </a:p>
        </p:txBody>
      </p:sp>
      <p:sp>
        <p:nvSpPr>
          <p:cNvPr id="17" name="圓角矩形 16"/>
          <p:cNvSpPr/>
          <p:nvPr/>
        </p:nvSpPr>
        <p:spPr>
          <a:xfrm>
            <a:off x="5752816" y="4134259"/>
            <a:ext cx="944692" cy="3695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金鑰</a:t>
            </a:r>
            <a:endParaRPr lang="zh-TW" altLang="en-US" sz="1600" dirty="0">
              <a:latin typeface="Calibri" pitchFamily="34" charset="0"/>
            </a:endParaRPr>
          </a:p>
        </p:txBody>
      </p:sp>
      <p:cxnSp>
        <p:nvCxnSpPr>
          <p:cNvPr id="18" name="直線單箭頭接點 17"/>
          <p:cNvCxnSpPr>
            <a:stCxn id="16" idx="0"/>
            <a:endCxn id="7" idx="4"/>
          </p:cNvCxnSpPr>
          <p:nvPr/>
        </p:nvCxnSpPr>
        <p:spPr>
          <a:xfrm flipH="1" flipV="1">
            <a:off x="2151965" y="3875622"/>
            <a:ext cx="1231" cy="25863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直線單箭頭接點 18"/>
          <p:cNvCxnSpPr>
            <a:stCxn id="17" idx="0"/>
            <a:endCxn id="8" idx="4"/>
          </p:cNvCxnSpPr>
          <p:nvPr/>
        </p:nvCxnSpPr>
        <p:spPr>
          <a:xfrm flipH="1" flipV="1">
            <a:off x="6223931" y="3875676"/>
            <a:ext cx="1231" cy="25858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4" name="文字方塊 23"/>
          <p:cNvSpPr txBox="1"/>
          <p:nvPr/>
        </p:nvSpPr>
        <p:spPr>
          <a:xfrm>
            <a:off x="394965" y="2479044"/>
            <a:ext cx="1361891" cy="382076"/>
          </a:xfrm>
          <a:prstGeom prst="rect">
            <a:avLst/>
          </a:prstGeom>
          <a:noFill/>
        </p:spPr>
        <p:txBody>
          <a:bodyPr wrap="square" rtlCol="0">
            <a:spAutoFit/>
          </a:bodyPr>
          <a:lstStyle/>
          <a:p>
            <a:r>
              <a:rPr lang="zh-TW" altLang="en-US" dirty="0" smtClean="0">
                <a:latin typeface="Calibri" pitchFamily="34" charset="0"/>
              </a:rPr>
              <a:t>訊息傳送方</a:t>
            </a:r>
            <a:endParaRPr lang="zh-TW" altLang="en-US" dirty="0">
              <a:latin typeface="Calibri" pitchFamily="34" charset="0"/>
            </a:endParaRPr>
          </a:p>
        </p:txBody>
      </p:sp>
      <p:sp>
        <p:nvSpPr>
          <p:cNvPr id="25" name="文字方塊 24"/>
          <p:cNvSpPr txBox="1"/>
          <p:nvPr/>
        </p:nvSpPr>
        <p:spPr>
          <a:xfrm>
            <a:off x="6828243" y="2479044"/>
            <a:ext cx="1361891" cy="382076"/>
          </a:xfrm>
          <a:prstGeom prst="rect">
            <a:avLst/>
          </a:prstGeom>
          <a:noFill/>
        </p:spPr>
        <p:txBody>
          <a:bodyPr wrap="square" rtlCol="0">
            <a:spAutoFit/>
          </a:bodyPr>
          <a:lstStyle/>
          <a:p>
            <a:r>
              <a:rPr lang="zh-TW" altLang="en-US" dirty="0" smtClean="0">
                <a:latin typeface="Calibri" pitchFamily="34" charset="0"/>
              </a:rPr>
              <a:t>訊息接收方</a:t>
            </a:r>
            <a:endParaRPr lang="zh-TW" altLang="en-US" dirty="0">
              <a:latin typeface="Calibri" pitchFamily="34" charset="0"/>
            </a:endParaRPr>
          </a:p>
        </p:txBody>
      </p:sp>
      <p:sp>
        <p:nvSpPr>
          <p:cNvPr id="74" name="文字方塊 73"/>
          <p:cNvSpPr txBox="1"/>
          <p:nvPr/>
        </p:nvSpPr>
        <p:spPr>
          <a:xfrm>
            <a:off x="1149723" y="4562888"/>
            <a:ext cx="2066318" cy="382076"/>
          </a:xfrm>
          <a:prstGeom prst="rect">
            <a:avLst/>
          </a:prstGeom>
          <a:noFill/>
        </p:spPr>
        <p:txBody>
          <a:bodyPr wrap="square" rtlCol="0">
            <a:spAutoFit/>
          </a:bodyPr>
          <a:lstStyle/>
          <a:p>
            <a:r>
              <a:rPr lang="zh-TW" altLang="en-US" dirty="0" smtClean="0">
                <a:solidFill>
                  <a:srgbClr val="FF0000"/>
                </a:solidFill>
                <a:latin typeface="Calibri" pitchFamily="34" charset="0"/>
              </a:rPr>
              <a:t>接收方</a:t>
            </a:r>
            <a:r>
              <a:rPr lang="zh-TW" altLang="en-US" dirty="0" smtClean="0">
                <a:latin typeface="Calibri" pitchFamily="34" charset="0"/>
              </a:rPr>
              <a:t>的</a:t>
            </a:r>
            <a:r>
              <a:rPr lang="zh-TW" altLang="en-US" dirty="0" smtClean="0">
                <a:solidFill>
                  <a:srgbClr val="FF0000"/>
                </a:solidFill>
                <a:latin typeface="Calibri" pitchFamily="34" charset="0"/>
              </a:rPr>
              <a:t>公開</a:t>
            </a:r>
            <a:r>
              <a:rPr lang="zh-TW" altLang="en-US" dirty="0" smtClean="0">
                <a:latin typeface="Calibri" pitchFamily="34" charset="0"/>
              </a:rPr>
              <a:t>金鑰</a:t>
            </a:r>
            <a:endParaRPr lang="zh-TW" altLang="en-US" dirty="0">
              <a:latin typeface="Calibri" pitchFamily="34" charset="0"/>
            </a:endParaRPr>
          </a:p>
        </p:txBody>
      </p:sp>
      <p:sp>
        <p:nvSpPr>
          <p:cNvPr id="75" name="文字方塊 74"/>
          <p:cNvSpPr txBox="1"/>
          <p:nvPr/>
        </p:nvSpPr>
        <p:spPr>
          <a:xfrm>
            <a:off x="5221689" y="4562888"/>
            <a:ext cx="2066318" cy="382076"/>
          </a:xfrm>
          <a:prstGeom prst="rect">
            <a:avLst/>
          </a:prstGeom>
          <a:noFill/>
        </p:spPr>
        <p:txBody>
          <a:bodyPr wrap="square" rtlCol="0">
            <a:spAutoFit/>
          </a:bodyPr>
          <a:lstStyle/>
          <a:p>
            <a:r>
              <a:rPr lang="zh-TW" altLang="en-US" dirty="0" smtClean="0">
                <a:latin typeface="Calibri" pitchFamily="34" charset="0"/>
              </a:rPr>
              <a:t>接收方的</a:t>
            </a:r>
            <a:r>
              <a:rPr lang="zh-TW" altLang="en-US" dirty="0" smtClean="0">
                <a:solidFill>
                  <a:srgbClr val="FF0000"/>
                </a:solidFill>
                <a:latin typeface="Calibri" pitchFamily="34" charset="0"/>
              </a:rPr>
              <a:t>私密</a:t>
            </a:r>
            <a:r>
              <a:rPr lang="zh-TW" altLang="en-US" dirty="0" smtClean="0">
                <a:latin typeface="Calibri" pitchFamily="34" charset="0"/>
              </a:rPr>
              <a:t>金鑰</a:t>
            </a:r>
            <a:endParaRPr lang="zh-TW" altLang="en-US" dirty="0">
              <a:latin typeface="Calibri" pitchFamily="34" charset="0"/>
            </a:endParaRPr>
          </a:p>
        </p:txBody>
      </p:sp>
      <p:sp>
        <p:nvSpPr>
          <p:cNvPr id="78" name="矩形 77"/>
          <p:cNvSpPr/>
          <p:nvPr/>
        </p:nvSpPr>
        <p:spPr>
          <a:xfrm>
            <a:off x="323528" y="2276872"/>
            <a:ext cx="7920880" cy="28083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79" name="文字方塊 78"/>
          <p:cNvSpPr txBox="1"/>
          <p:nvPr/>
        </p:nvSpPr>
        <p:spPr>
          <a:xfrm>
            <a:off x="3109040" y="908720"/>
            <a:ext cx="2942638" cy="523220"/>
          </a:xfrm>
          <a:prstGeom prst="rect">
            <a:avLst/>
          </a:prstGeom>
          <a:noFill/>
          <a:ln w="12700">
            <a:solidFill>
              <a:schemeClr val="accent1">
                <a:shade val="50000"/>
              </a:schemeClr>
            </a:solidFill>
          </a:ln>
        </p:spPr>
        <p:txBody>
          <a:bodyPr wrap="square" rtlCol="0">
            <a:spAutoFit/>
          </a:bodyPr>
          <a:lstStyle/>
          <a:p>
            <a:r>
              <a:rPr lang="en-US" altLang="zh-TW" sz="2800" b="1" dirty="0" smtClean="0">
                <a:solidFill>
                  <a:srgbClr val="0000FF"/>
                </a:solidFill>
                <a:latin typeface="Calibri" pitchFamily="34" charset="0"/>
              </a:rPr>
              <a:t>Confidentiality</a:t>
            </a:r>
            <a:endParaRPr lang="zh-TW" altLang="en-US" sz="2800" b="1" dirty="0">
              <a:solidFill>
                <a:srgbClr val="0000FF"/>
              </a:solidFill>
              <a:latin typeface="Calibri" pitchFamily="34" charset="0"/>
            </a:endParaRPr>
          </a:p>
        </p:txBody>
      </p:sp>
      <p:cxnSp>
        <p:nvCxnSpPr>
          <p:cNvPr id="90" name="直線接點 89"/>
          <p:cNvCxnSpPr/>
          <p:nvPr/>
        </p:nvCxnSpPr>
        <p:spPr>
          <a:xfrm>
            <a:off x="4182768" y="3062690"/>
            <a:ext cx="27" cy="199538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2117124" y="116631"/>
            <a:ext cx="4615115" cy="715585"/>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4800" dirty="0" smtClean="0">
                <a:latin typeface="標楷體" panose="03000509000000000000" pitchFamily="65" charset="-120"/>
                <a:ea typeface="標楷體" panose="03000509000000000000" pitchFamily="65" charset="-120"/>
              </a:rPr>
              <a:t>加解密</a:t>
            </a:r>
            <a:endParaRPr lang="zh-TW" altLang="en-US" sz="4800" dirty="0">
              <a:latin typeface="標楷體" panose="03000509000000000000" pitchFamily="65" charset="-120"/>
              <a:ea typeface="標楷體" panose="03000509000000000000" pitchFamily="65" charset="-120"/>
            </a:endParaRPr>
          </a:p>
        </p:txBody>
      </p:sp>
      <p:sp>
        <p:nvSpPr>
          <p:cNvPr id="26" name="矩形 25">
            <a:hlinkClick r:id="rId2"/>
          </p:cNvPr>
          <p:cNvSpPr/>
          <p:nvPr/>
        </p:nvSpPr>
        <p:spPr>
          <a:xfrm>
            <a:off x="515254" y="5456482"/>
            <a:ext cx="7416824" cy="924845"/>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2000" dirty="0" smtClean="0">
                <a:latin typeface="標楷體" panose="03000509000000000000" pitchFamily="65" charset="-120"/>
                <a:ea typeface="標楷體" panose="03000509000000000000" pitchFamily="65" charset="-120"/>
              </a:rPr>
              <a:t>現</a:t>
            </a:r>
            <a:r>
              <a:rPr lang="zh-TW" altLang="en-US" sz="2000" dirty="0" smtClean="0">
                <a:latin typeface="標楷體" panose="03000509000000000000" pitchFamily="65" charset="-120"/>
                <a:ea typeface="標楷體" panose="03000509000000000000" pitchFamily="65" charset="-120"/>
              </a:rPr>
              <a:t>代</a:t>
            </a:r>
            <a:r>
              <a:rPr lang="en-US" altLang="zh-TW" sz="2000" dirty="0" smtClean="0">
                <a:latin typeface="標楷體" panose="03000509000000000000" pitchFamily="65" charset="-120"/>
                <a:ea typeface="標楷體" panose="03000509000000000000" pitchFamily="65" charset="-120"/>
              </a:rPr>
              <a:t>RSA</a:t>
            </a:r>
            <a:r>
              <a:rPr lang="zh-TW" altLang="en-US" sz="2000" dirty="0" smtClean="0">
                <a:latin typeface="標楷體" panose="03000509000000000000" pitchFamily="65" charset="-120"/>
                <a:ea typeface="標楷體" panose="03000509000000000000" pitchFamily="65" charset="-120"/>
              </a:rPr>
              <a:t>的金鑰長度都為</a:t>
            </a:r>
            <a:r>
              <a:rPr lang="en-US" altLang="zh-TW" sz="2000" dirty="0" smtClean="0">
                <a:latin typeface="標楷體" panose="03000509000000000000" pitchFamily="65" charset="-120"/>
                <a:ea typeface="標楷體" panose="03000509000000000000" pitchFamily="65" charset="-120"/>
              </a:rPr>
              <a:t>2048 bits (=256 </a:t>
            </a:r>
            <a:r>
              <a:rPr lang="en-US" altLang="zh-TW" sz="2000" dirty="0" err="1" smtClean="0">
                <a:latin typeface="標楷體" panose="03000509000000000000" pitchFamily="65" charset="-120"/>
                <a:ea typeface="標楷體" panose="03000509000000000000" pitchFamily="65" charset="-120"/>
              </a:rPr>
              <a:t>btyes</a:t>
            </a:r>
            <a:r>
              <a:rPr lang="en-US" altLang="zh-TW" sz="2000" dirty="0" smtClean="0">
                <a:latin typeface="標楷體" panose="03000509000000000000" pitchFamily="65" charset="-120"/>
                <a:ea typeface="標楷體" panose="03000509000000000000" pitchFamily="65" charset="-120"/>
              </a:rPr>
              <a:t>) </a:t>
            </a:r>
            <a:br>
              <a:rPr lang="en-US" altLang="zh-TW" sz="2000" dirty="0" smtClean="0">
                <a:latin typeface="標楷體" panose="03000509000000000000" pitchFamily="65" charset="-120"/>
                <a:ea typeface="標楷體" panose="03000509000000000000" pitchFamily="65" charset="-120"/>
              </a:rPr>
            </a:br>
            <a:r>
              <a:rPr lang="zh-TW" altLang="en-US" sz="2000" dirty="0" smtClean="0">
                <a:latin typeface="標楷體" panose="03000509000000000000" pitchFamily="65" charset="-120"/>
                <a:ea typeface="標楷體" panose="03000509000000000000" pitchFamily="65" charset="-120"/>
              </a:rPr>
              <a:t>如果要加密的原文有</a:t>
            </a:r>
            <a:r>
              <a:rPr lang="en-US" altLang="zh-TW" sz="2000" dirty="0" smtClean="0">
                <a:latin typeface="標楷體" panose="03000509000000000000" pitchFamily="65" charset="-120"/>
                <a:ea typeface="標楷體" panose="03000509000000000000" pitchFamily="65" charset="-120"/>
              </a:rPr>
              <a:t>257 </a:t>
            </a:r>
            <a:r>
              <a:rPr lang="en-US" altLang="zh-TW" sz="2000" dirty="0" smtClean="0">
                <a:latin typeface="標楷體" panose="03000509000000000000" pitchFamily="65" charset="-120"/>
                <a:ea typeface="標楷體" panose="03000509000000000000" pitchFamily="65" charset="-120"/>
              </a:rPr>
              <a:t>bytes, </a:t>
            </a:r>
            <a:r>
              <a:rPr lang="zh-TW" altLang="en-US" sz="2000" dirty="0" smtClean="0">
                <a:latin typeface="標楷體" panose="03000509000000000000" pitchFamily="65" charset="-120"/>
                <a:ea typeface="標楷體" panose="03000509000000000000" pitchFamily="65" charset="-120"/>
              </a:rPr>
              <a:t>就要分成</a:t>
            </a:r>
            <a:r>
              <a:rPr lang="en-US" altLang="zh-TW" sz="2000" dirty="0" smtClean="0">
                <a:latin typeface="標楷體" panose="03000509000000000000" pitchFamily="65" charset="-120"/>
                <a:ea typeface="標楷體" panose="03000509000000000000" pitchFamily="65" charset="-120"/>
              </a:rPr>
              <a:t>2</a:t>
            </a:r>
            <a:r>
              <a:rPr lang="zh-TW" altLang="en-US" sz="2000" dirty="0" smtClean="0">
                <a:latin typeface="標楷體" panose="03000509000000000000" pitchFamily="65" charset="-120"/>
                <a:ea typeface="標楷體" panose="03000509000000000000" pitchFamily="65" charset="-120"/>
              </a:rPr>
              <a:t>次來進行</a:t>
            </a:r>
            <a:r>
              <a:rPr lang="zh-TW" altLang="en-US" sz="2000" dirty="0" smtClean="0">
                <a:latin typeface="標楷體" panose="03000509000000000000" pitchFamily="65" charset="-120"/>
                <a:ea typeface="標楷體" panose="03000509000000000000" pitchFamily="65" charset="-120"/>
              </a:rPr>
              <a:t>加密</a:t>
            </a:r>
            <a:r>
              <a:rPr lang="en-US" altLang="zh-TW" sz="2000" dirty="0">
                <a:latin typeface="標楷體" panose="03000509000000000000" pitchFamily="65" charset="-120"/>
                <a:ea typeface="標楷體" panose="03000509000000000000" pitchFamily="65" charset="-120"/>
              </a:rPr>
              <a:t/>
            </a:r>
            <a:br>
              <a:rPr lang="en-US" altLang="zh-TW" sz="2000" dirty="0">
                <a:latin typeface="標楷體" panose="03000509000000000000" pitchFamily="65" charset="-120"/>
                <a:ea typeface="標楷體" panose="03000509000000000000" pitchFamily="65" charset="-120"/>
              </a:rPr>
            </a:br>
            <a:r>
              <a:rPr lang="en-US" altLang="zh-TW" sz="2000" dirty="0" smtClean="0">
                <a:latin typeface="標楷體" panose="03000509000000000000" pitchFamily="65" charset="-120"/>
                <a:ea typeface="標楷體" panose="03000509000000000000" pitchFamily="65" charset="-120"/>
              </a:rPr>
              <a:t>(</a:t>
            </a:r>
            <a:r>
              <a:rPr lang="zh-TW" altLang="en-US" sz="2000" dirty="0" smtClean="0">
                <a:latin typeface="標楷體" panose="03000509000000000000" pitchFamily="65" charset="-120"/>
                <a:ea typeface="標楷體" panose="03000509000000000000" pitchFamily="65" charset="-120"/>
              </a:rPr>
              <a:t>區塊密碼</a:t>
            </a:r>
            <a:r>
              <a:rPr lang="en-US" altLang="zh-TW" sz="2000" dirty="0" smtClean="0">
                <a:latin typeface="標楷體" panose="03000509000000000000" pitchFamily="65" charset="-120"/>
                <a:ea typeface="標楷體" panose="03000509000000000000" pitchFamily="65" charset="-120"/>
              </a:rPr>
              <a:t>)</a:t>
            </a:r>
            <a:endParaRPr lang="zh-TW" altLang="en-US" sz="1400"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3861048"/>
            <a:ext cx="8215370" cy="2594688"/>
          </a:xfrm>
        </p:spPr>
        <p:txBody>
          <a:bodyPr/>
          <a:lstStyle/>
          <a:p>
            <a:r>
              <a:rPr lang="zh-TW" altLang="en-US" dirty="0"/>
              <a:t>請參考附件</a:t>
            </a:r>
          </a:p>
          <a:p>
            <a:pPr marL="0" indent="0">
              <a:buNone/>
            </a:pPr>
            <a:endParaRPr lang="zh-TW" altLang="en-US" dirty="0"/>
          </a:p>
        </p:txBody>
      </p:sp>
      <p:sp>
        <p:nvSpPr>
          <p:cNvPr id="3" name="標題 2"/>
          <p:cNvSpPr>
            <a:spLocks noGrp="1"/>
          </p:cNvSpPr>
          <p:nvPr>
            <p:ph type="title"/>
          </p:nvPr>
        </p:nvSpPr>
        <p:spPr/>
        <p:txBody>
          <a:bodyPr/>
          <a:lstStyle/>
          <a:p>
            <a:pPr algn="ctr"/>
            <a:r>
              <a:rPr lang="en-US" altLang="zh-TW" dirty="0" smtClean="0"/>
              <a:t>2.A: RAS </a:t>
            </a:r>
            <a:r>
              <a:rPr lang="zh-TW" altLang="en-US" dirty="0" smtClean="0"/>
              <a:t>金鑰產生</a:t>
            </a:r>
            <a:endParaRPr lang="zh-TW" altLang="en-US" dirty="0"/>
          </a:p>
        </p:txBody>
      </p:sp>
      <p:sp>
        <p:nvSpPr>
          <p:cNvPr id="4" name="標題 2"/>
          <p:cNvSpPr txBox="1">
            <a:spLocks/>
          </p:cNvSpPr>
          <p:nvPr/>
        </p:nvSpPr>
        <p:spPr>
          <a:xfrm>
            <a:off x="467544" y="2276872"/>
            <a:ext cx="8215370" cy="680068"/>
          </a:xfrm>
          <a:prstGeom prst="rect">
            <a:avLst/>
          </a:prstGeom>
        </p:spPr>
        <p:txBody>
          <a:bodyPr vert="horz" lIns="45720" tIns="0" rIns="45720" bIns="0" anchor="b" anchorCtr="0">
            <a:normAutofit/>
          </a:bodyPr>
          <a:lstStyle>
            <a:lvl1pPr algn="l" rtl="0" eaLnBrk="1" latinLnBrk="0" hangingPunct="1">
              <a:spcBef>
                <a:spcPct val="0"/>
              </a:spcBef>
              <a:buNone/>
              <a:defRPr kumimoji="0" sz="3800" b="1" kern="1200" cap="all" baseline="0">
                <a:ln w="500">
                  <a:solidFill>
                    <a:schemeClr val="tx2">
                      <a:shade val="20000"/>
                      <a:satMod val="120000"/>
                    </a:schemeClr>
                  </a:solidFill>
                </a:ln>
                <a:gradFill>
                  <a:gsLst>
                    <a:gs pos="0">
                      <a:schemeClr val="accent4">
                        <a:tint val="13000"/>
                      </a:schemeClr>
                    </a:gs>
                    <a:gs pos="10000">
                      <a:schemeClr val="accent4">
                        <a:tint val="20000"/>
                      </a:schemeClr>
                    </a:gs>
                    <a:gs pos="49000">
                      <a:schemeClr val="accent4">
                        <a:tint val="70000"/>
                      </a:schemeClr>
                    </a:gs>
                    <a:gs pos="50000">
                      <a:schemeClr val="accent4">
                        <a:tint val="97000"/>
                      </a:schemeClr>
                    </a:gs>
                    <a:gs pos="100000">
                      <a:schemeClr val="accent4">
                        <a:tint val="20000"/>
                      </a:schemeClr>
                    </a:gs>
                  </a:gsLst>
                  <a:lin ang="5400000" scaled="1"/>
                </a:gradFill>
                <a:effectLst/>
                <a:latin typeface="Calibri" pitchFamily="34" charset="0"/>
                <a:ea typeface="微軟正黑體" pitchFamily="34" charset="-120"/>
                <a:cs typeface="+mj-cs"/>
              </a:defRPr>
            </a:lvl1pPr>
            <a:extLst/>
          </a:lstStyle>
          <a:p>
            <a:pPr algn="ctr"/>
            <a:r>
              <a:rPr lang="en-US" altLang="zh-TW" dirty="0" smtClean="0"/>
              <a:t>2.B: RAS </a:t>
            </a:r>
            <a:r>
              <a:rPr lang="zh-TW" altLang="en-US" dirty="0" smtClean="0"/>
              <a:t>加密</a:t>
            </a:r>
            <a:r>
              <a:rPr lang="en-US" altLang="zh-TW" dirty="0" smtClean="0"/>
              <a:t>/</a:t>
            </a:r>
            <a:r>
              <a:rPr lang="zh-TW" altLang="en-US" dirty="0" smtClean="0"/>
              <a:t>解密</a:t>
            </a:r>
            <a:r>
              <a:rPr lang="en-US" altLang="zh-TW" dirty="0" smtClean="0"/>
              <a:t>-</a:t>
            </a:r>
            <a:r>
              <a:rPr lang="zh-TW" altLang="en-US" dirty="0" smtClean="0"/>
              <a:t>計算</a:t>
            </a:r>
            <a:endParaRPr lang="zh-TW" altLang="en-US" dirty="0"/>
          </a:p>
        </p:txBody>
      </p:sp>
    </p:spTree>
    <p:extLst>
      <p:ext uri="{BB962C8B-B14F-4D97-AF65-F5344CB8AC3E}">
        <p14:creationId xmlns:p14="http://schemas.microsoft.com/office/powerpoint/2010/main" val="10835747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1259632" y="2132856"/>
            <a:ext cx="6255488" cy="1362075"/>
          </a:xfrm>
          <a:solidFill>
            <a:srgbClr val="0000FF"/>
          </a:solidFill>
          <a:ln w="25400">
            <a:solidFill>
              <a:srgbClr val="FF0000"/>
            </a:solidFill>
          </a:ln>
        </p:spPr>
        <p:txBody>
          <a:bodyPr anchor="ctr">
            <a:normAutofit/>
          </a:bodyPr>
          <a:lstStyle/>
          <a:p>
            <a:pPr algn="ctr"/>
            <a:r>
              <a:rPr lang="en-US" altLang="zh-TW" dirty="0" smtClean="0">
                <a:solidFill>
                  <a:schemeClr val="bg1"/>
                </a:solidFill>
                <a:latin typeface="標楷體" panose="03000509000000000000" pitchFamily="65" charset="-120"/>
                <a:ea typeface="標楷體" panose="03000509000000000000" pitchFamily="65" charset="-120"/>
              </a:rPr>
              <a:t>B.3 </a:t>
            </a:r>
            <a:r>
              <a:rPr lang="zh-TW" altLang="en-US" dirty="0">
                <a:solidFill>
                  <a:schemeClr val="bg1"/>
                </a:solidFill>
                <a:latin typeface="標楷體" panose="03000509000000000000" pitchFamily="65" charset="-120"/>
                <a:ea typeface="標楷體" panose="03000509000000000000" pitchFamily="65" charset="-120"/>
              </a:rPr>
              <a:t>非</a:t>
            </a:r>
            <a:r>
              <a:rPr lang="zh-TW" altLang="en-US" dirty="0" smtClean="0">
                <a:solidFill>
                  <a:schemeClr val="bg1"/>
                </a:solidFill>
                <a:latin typeface="標楷體" panose="03000509000000000000" pitchFamily="65" charset="-120"/>
                <a:ea typeface="標楷體" panose="03000509000000000000" pitchFamily="65" charset="-120"/>
              </a:rPr>
              <a:t>對稱式</a:t>
            </a:r>
            <a:r>
              <a:rPr lang="zh-TW" altLang="en-US" dirty="0">
                <a:solidFill>
                  <a:schemeClr val="bg1"/>
                </a:solidFill>
                <a:latin typeface="標楷體" panose="03000509000000000000" pitchFamily="65" charset="-120"/>
                <a:ea typeface="標楷體" panose="03000509000000000000" pitchFamily="65" charset="-120"/>
              </a:rPr>
              <a:t>簽</a:t>
            </a:r>
            <a:r>
              <a:rPr lang="en-US" altLang="zh-TW" dirty="0">
                <a:solidFill>
                  <a:schemeClr val="bg1"/>
                </a:solidFill>
                <a:latin typeface="標楷體" panose="03000509000000000000" pitchFamily="65" charset="-120"/>
                <a:ea typeface="標楷體" panose="03000509000000000000" pitchFamily="65" charset="-120"/>
              </a:rPr>
              <a:t>/</a:t>
            </a:r>
            <a:r>
              <a:rPr lang="zh-TW" altLang="en-US" dirty="0">
                <a:solidFill>
                  <a:schemeClr val="bg1"/>
                </a:solidFill>
                <a:latin typeface="標楷體" panose="03000509000000000000" pitchFamily="65" charset="-120"/>
                <a:ea typeface="標楷體" panose="03000509000000000000" pitchFamily="65" charset="-120"/>
              </a:rPr>
              <a:t>驗章 </a:t>
            </a:r>
            <a:r>
              <a:rPr lang="en-US" altLang="zh-TW" dirty="0">
                <a:solidFill>
                  <a:schemeClr val="bg1"/>
                </a:solidFill>
                <a:latin typeface="標楷體" panose="03000509000000000000" pitchFamily="65" charset="-120"/>
                <a:ea typeface="標楷體" panose="03000509000000000000" pitchFamily="65" charset="-120"/>
              </a:rPr>
              <a:t>(Signature)</a:t>
            </a:r>
            <a:endParaRPr lang="zh-TW" altLang="en-US" dirty="0">
              <a:solidFill>
                <a:schemeClr val="bg1"/>
              </a:solidFill>
              <a:latin typeface="標楷體" panose="03000509000000000000" pitchFamily="65" charset="-120"/>
              <a:ea typeface="標楷體" panose="03000509000000000000" pitchFamily="65" charset="-120"/>
            </a:endParaRPr>
          </a:p>
        </p:txBody>
      </p:sp>
      <p:sp>
        <p:nvSpPr>
          <p:cNvPr id="3" name="矩形 2"/>
          <p:cNvSpPr/>
          <p:nvPr/>
        </p:nvSpPr>
        <p:spPr>
          <a:xfrm>
            <a:off x="1259632" y="4653136"/>
            <a:ext cx="6255488" cy="122413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1" algn="ctr"/>
            <a:r>
              <a:rPr lang="zh-TW" altLang="en-US" sz="2400" dirty="0" smtClean="0">
                <a:latin typeface="標楷體" panose="03000509000000000000" pitchFamily="65" charset="-120"/>
                <a:ea typeface="標楷體" panose="03000509000000000000" pitchFamily="65" charset="-120"/>
              </a:rPr>
              <a:t>使用自己的私鑰簽章</a:t>
            </a:r>
            <a:endParaRPr lang="zh-TW" altLang="en-US" sz="24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99037865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標題 1"/>
          <p:cNvSpPr>
            <a:spLocks noGrp="1"/>
          </p:cNvSpPr>
          <p:nvPr>
            <p:ph type="title"/>
          </p:nvPr>
        </p:nvSpPr>
        <p:spPr/>
        <p:txBody>
          <a:bodyPr/>
          <a:lstStyle/>
          <a:p>
            <a:pPr eaLnBrk="1" hangingPunct="1"/>
            <a:r>
              <a:rPr lang="zh-TW" altLang="en-US" dirty="0" smtClean="0">
                <a:solidFill>
                  <a:srgbClr val="FF0000"/>
                </a:solidFill>
                <a:latin typeface="標楷體" panose="03000509000000000000" pitchFamily="65" charset="-120"/>
                <a:ea typeface="標楷體" panose="03000509000000000000" pitchFamily="65" charset="-120"/>
              </a:rPr>
              <a:t>紙本簽章</a:t>
            </a:r>
          </a:p>
        </p:txBody>
      </p:sp>
      <p:pic>
        <p:nvPicPr>
          <p:cNvPr id="35842" name="Picture 2"/>
          <p:cNvPicPr>
            <a:picLocks noGrp="1" noChangeAspect="1" noChangeArrowheads="1"/>
          </p:cNvPicPr>
          <p:nvPr>
            <p:ph idx="1"/>
          </p:nvPr>
        </p:nvPicPr>
        <p:blipFill>
          <a:blip r:embed="rId2"/>
          <a:srcRect/>
          <a:stretch>
            <a:fillRect/>
          </a:stretch>
        </p:blipFill>
        <p:spPr>
          <a:xfrm>
            <a:off x="3419872" y="5661248"/>
            <a:ext cx="2495550" cy="1038225"/>
          </a:xfrm>
          <a:ln>
            <a:solidFill>
              <a:schemeClr val="accent1"/>
            </a:solidFill>
          </a:ln>
        </p:spPr>
      </p:pic>
      <p:pic>
        <p:nvPicPr>
          <p:cNvPr id="35843" name="Picture 4" descr="http://twimg.edgesuite.net/images/ReNews/20150328/640_2b6654b340e03131d8c8b61574d5d416.jpg"/>
          <p:cNvPicPr>
            <a:picLocks noChangeAspect="1" noChangeArrowheads="1"/>
          </p:cNvPicPr>
          <p:nvPr/>
        </p:nvPicPr>
        <p:blipFill>
          <a:blip r:embed="rId3"/>
          <a:srcRect/>
          <a:stretch>
            <a:fillRect/>
          </a:stretch>
        </p:blipFill>
        <p:spPr bwMode="auto">
          <a:xfrm>
            <a:off x="1691680" y="1628800"/>
            <a:ext cx="6096000" cy="3248025"/>
          </a:xfrm>
          <a:prstGeom prst="rect">
            <a:avLst/>
          </a:prstGeom>
          <a:noFill/>
          <a:ln w="9525">
            <a:solidFill>
              <a:schemeClr val="accent1"/>
            </a:solidFill>
            <a:miter lim="800000"/>
            <a:headEnd/>
            <a:tailEnd/>
          </a:ln>
        </p:spPr>
      </p:pic>
    </p:spTree>
    <p:extLst>
      <p:ext uri="{BB962C8B-B14F-4D97-AF65-F5344CB8AC3E}">
        <p14:creationId xmlns:p14="http://schemas.microsoft.com/office/powerpoint/2010/main" val="81151927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4071942"/>
            <a:ext cx="8215370" cy="2383794"/>
          </a:xfrm>
        </p:spPr>
        <p:txBody>
          <a:bodyPr>
            <a:normAutofit lnSpcReduction="10000"/>
          </a:bodyPr>
          <a:lstStyle/>
          <a:p>
            <a:r>
              <a:rPr lang="zh-TW" altLang="en-US" sz="2000" dirty="0" smtClean="0"/>
              <a:t>使用傳送方的私密金鑰對訊息的雜湊值</a:t>
            </a:r>
            <a:r>
              <a:rPr lang="zh-TW" altLang="en-US" sz="2000" dirty="0" smtClean="0">
                <a:latin typeface="微軟正黑體"/>
                <a:ea typeface="微軟正黑體"/>
              </a:rPr>
              <a:t> </a:t>
            </a:r>
            <a:r>
              <a:rPr lang="en-US" altLang="zh-TW" sz="2000" dirty="0" smtClean="0">
                <a:latin typeface="微軟正黑體"/>
                <a:ea typeface="微軟正黑體"/>
              </a:rPr>
              <a:t>(</a:t>
            </a:r>
            <a:r>
              <a:rPr lang="zh-TW" altLang="en-US" sz="2000" dirty="0" smtClean="0"/>
              <a:t>或稱摘要，</a:t>
            </a:r>
            <a:r>
              <a:rPr lang="en-US" altLang="zh-TW" sz="2000" dirty="0" smtClean="0">
                <a:solidFill>
                  <a:srgbClr val="FF0000"/>
                </a:solidFill>
              </a:rPr>
              <a:t>digest</a:t>
            </a:r>
            <a:r>
              <a:rPr lang="en-US" altLang="zh-TW" sz="2000" dirty="0" smtClean="0">
                <a:latin typeface="微軟正黑體"/>
                <a:ea typeface="微軟正黑體"/>
              </a:rPr>
              <a:t>)</a:t>
            </a:r>
            <a:r>
              <a:rPr lang="zh-TW" altLang="en-US" sz="2000" dirty="0" smtClean="0">
                <a:latin typeface="微軟正黑體"/>
                <a:ea typeface="微軟正黑體"/>
              </a:rPr>
              <a:t> </a:t>
            </a:r>
            <a:r>
              <a:rPr lang="zh-TW" altLang="en-US" sz="2000" dirty="0" smtClean="0"/>
              <a:t>加密產生數位簽章 </a:t>
            </a:r>
            <a:r>
              <a:rPr lang="en-US" altLang="zh-TW" sz="2000" dirty="0" smtClean="0"/>
              <a:t>(digital </a:t>
            </a:r>
            <a:r>
              <a:rPr lang="en-US" altLang="zh-TW" sz="2000" dirty="0" smtClean="0">
                <a:solidFill>
                  <a:srgbClr val="FF0000"/>
                </a:solidFill>
              </a:rPr>
              <a:t>signature</a:t>
            </a:r>
            <a:r>
              <a:rPr lang="en-US" altLang="zh-TW" sz="2000" dirty="0" smtClean="0"/>
              <a:t>)</a:t>
            </a:r>
            <a:r>
              <a:rPr lang="zh-TW" altLang="en-US" sz="2000" dirty="0" smtClean="0"/>
              <a:t>，再隨原文傳送。</a:t>
            </a:r>
            <a:endParaRPr lang="en-US" altLang="zh-TW" sz="2000" dirty="0" smtClean="0"/>
          </a:p>
          <a:p>
            <a:r>
              <a:rPr lang="zh-TW" altLang="en-US" sz="2000" dirty="0" smtClean="0"/>
              <a:t>數位簽章保障訊息傳送方的不可否認性 </a:t>
            </a:r>
            <a:r>
              <a:rPr lang="en-US" altLang="zh-TW" sz="2000" dirty="0" smtClean="0"/>
              <a:t>(</a:t>
            </a:r>
            <a:r>
              <a:rPr lang="zh-TW" altLang="en-US" sz="2000" dirty="0" smtClean="0">
                <a:latin typeface="微軟正黑體"/>
                <a:ea typeface="微軟正黑體"/>
              </a:rPr>
              <a:t>因為是以私密金鑰加密</a:t>
            </a:r>
            <a:r>
              <a:rPr lang="en-US" altLang="zh-TW" sz="2000" dirty="0" smtClean="0">
                <a:latin typeface="微軟正黑體"/>
                <a:ea typeface="微軟正黑體"/>
              </a:rPr>
              <a:t>)</a:t>
            </a:r>
            <a:r>
              <a:rPr lang="zh-TW" altLang="en-US" sz="2000" dirty="0" smtClean="0"/>
              <a:t>，並維護信息的正確性</a:t>
            </a:r>
            <a:r>
              <a:rPr lang="zh-TW" altLang="en-US" sz="2000" dirty="0" smtClean="0">
                <a:latin typeface="微軟正黑體"/>
                <a:ea typeface="微軟正黑體"/>
              </a:rPr>
              <a:t>（因為雜湊函數運算）</a:t>
            </a:r>
            <a:r>
              <a:rPr lang="zh-TW" altLang="en-US" sz="2000" dirty="0" smtClean="0"/>
              <a:t>。</a:t>
            </a:r>
            <a:endParaRPr lang="en-US" altLang="zh-TW" sz="2000" dirty="0" smtClean="0"/>
          </a:p>
          <a:p>
            <a:r>
              <a:rPr lang="zh-TW" altLang="en-US" sz="2000" dirty="0" smtClean="0"/>
              <a:t>訊息接收方以傳送方的公開金鑰解開數位簽章後，重算雜湊值，再比對文件的真實與正確性。</a:t>
            </a:r>
            <a:endParaRPr lang="en-US" altLang="zh-TW" sz="2000" dirty="0" smtClean="0"/>
          </a:p>
        </p:txBody>
      </p:sp>
      <p:sp>
        <p:nvSpPr>
          <p:cNvPr id="3" name="標題 2"/>
          <p:cNvSpPr>
            <a:spLocks noGrp="1"/>
          </p:cNvSpPr>
          <p:nvPr>
            <p:ph type="title"/>
          </p:nvPr>
        </p:nvSpPr>
        <p:spPr/>
        <p:txBody>
          <a:bodyPr/>
          <a:lstStyle/>
          <a:p>
            <a:r>
              <a:rPr lang="en-US" altLang="zh-TW" dirty="0" smtClean="0"/>
              <a:t>B4. </a:t>
            </a:r>
            <a:r>
              <a:rPr lang="zh-TW" altLang="en-US" dirty="0" smtClean="0"/>
              <a:t>數位</a:t>
            </a:r>
            <a:r>
              <a:rPr lang="zh-TW" altLang="en-US" dirty="0" smtClean="0"/>
              <a:t>簽章</a:t>
            </a:r>
            <a:r>
              <a:rPr lang="en-US" altLang="zh-TW" dirty="0" smtClean="0"/>
              <a:t>(</a:t>
            </a:r>
            <a:r>
              <a:rPr lang="zh-TW" altLang="en-US" dirty="0" smtClean="0"/>
              <a:t>版本</a:t>
            </a:r>
            <a:r>
              <a:rPr lang="en-US" altLang="zh-TW" dirty="0" smtClean="0"/>
              <a:t>1)</a:t>
            </a:r>
            <a:endParaRPr lang="zh-TW" altLang="en-US" dirty="0"/>
          </a:p>
        </p:txBody>
      </p:sp>
      <p:sp>
        <p:nvSpPr>
          <p:cNvPr id="10" name="矩形 9"/>
          <p:cNvSpPr/>
          <p:nvPr/>
        </p:nvSpPr>
        <p:spPr>
          <a:xfrm>
            <a:off x="2786050" y="2214554"/>
            <a:ext cx="1071570" cy="28416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srgbClr val="B83D68">
                    <a:lumMod val="50000"/>
                  </a:srgbClr>
                </a:solidFill>
                <a:effectLst/>
                <a:uLnTx/>
                <a:uFillTx/>
                <a:latin typeface="Trebuchet MS"/>
                <a:ea typeface="微軟正黑體" panose="020B0604030504040204" pitchFamily="34" charset="-120"/>
                <a:cs typeface="+mn-cs"/>
              </a:rPr>
              <a:t>數位簽章</a:t>
            </a:r>
            <a:endParaRPr kumimoji="0" lang="zh-TW" altLang="en-US" sz="1600" b="0" i="0" u="none" strike="noStrike" kern="1200" cap="none" spc="0" normalizeH="0" baseline="0" noProof="0" dirty="0">
              <a:ln>
                <a:noFill/>
              </a:ln>
              <a:solidFill>
                <a:srgbClr val="B83D68">
                  <a:lumMod val="50000"/>
                </a:srgbClr>
              </a:solidFill>
              <a:effectLst/>
              <a:uLnTx/>
              <a:uFillTx/>
              <a:latin typeface="Trebuchet MS"/>
              <a:ea typeface="微軟正黑體" panose="020B0604030504040204" pitchFamily="34" charset="-120"/>
              <a:cs typeface="+mn-cs"/>
            </a:endParaRPr>
          </a:p>
        </p:txBody>
      </p:sp>
      <p:sp>
        <p:nvSpPr>
          <p:cNvPr id="17" name="圓角矩形 16"/>
          <p:cNvSpPr/>
          <p:nvPr/>
        </p:nvSpPr>
        <p:spPr>
          <a:xfrm>
            <a:off x="1000100" y="3429000"/>
            <a:ext cx="1071570" cy="28575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雜湊值</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sp>
        <p:nvSpPr>
          <p:cNvPr id="21" name="文字方塊 20"/>
          <p:cNvSpPr txBox="1"/>
          <p:nvPr/>
        </p:nvSpPr>
        <p:spPr>
          <a:xfrm>
            <a:off x="932520" y="1130842"/>
            <a:ext cx="1210588"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black"/>
                </a:solidFill>
                <a:effectLst/>
                <a:uLnTx/>
                <a:uFillTx/>
                <a:latin typeface="Trebuchet MS"/>
                <a:ea typeface="微軟正黑體" panose="020B0604030504040204" pitchFamily="34" charset="-120"/>
                <a:cs typeface="+mn-cs"/>
              </a:rPr>
              <a:t>訊息傳送方</a:t>
            </a:r>
            <a:endParaRPr kumimoji="0" lang="zh-TW" altLang="en-US" sz="1600" b="0" i="0" u="none" strike="noStrike" kern="1200" cap="none" spc="0" normalizeH="0" baseline="0" noProof="0" dirty="0">
              <a:ln>
                <a:noFill/>
              </a:ln>
              <a:solidFill>
                <a:prstClr val="black"/>
              </a:solidFill>
              <a:effectLst/>
              <a:uLnTx/>
              <a:uFillTx/>
              <a:latin typeface="Trebuchet MS"/>
              <a:ea typeface="微軟正黑體" panose="020B0604030504040204" pitchFamily="34" charset="-120"/>
              <a:cs typeface="+mn-cs"/>
            </a:endParaRPr>
          </a:p>
        </p:txBody>
      </p:sp>
      <p:sp>
        <p:nvSpPr>
          <p:cNvPr id="25" name="矩形 24"/>
          <p:cNvSpPr/>
          <p:nvPr/>
        </p:nvSpPr>
        <p:spPr>
          <a:xfrm>
            <a:off x="500034" y="1142984"/>
            <a:ext cx="7786742" cy="271464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cxnSp>
        <p:nvCxnSpPr>
          <p:cNvPr id="27" name="直線接點 26"/>
          <p:cNvCxnSpPr>
            <a:stCxn id="25" idx="0"/>
            <a:endCxn id="25" idx="2"/>
          </p:cNvCxnSpPr>
          <p:nvPr/>
        </p:nvCxnSpPr>
        <p:spPr>
          <a:xfrm rot="16200000" flipH="1">
            <a:off x="3036083" y="2500306"/>
            <a:ext cx="2714644" cy="158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31" name="流程圖: 文件 30"/>
          <p:cNvSpPr/>
          <p:nvPr/>
        </p:nvSpPr>
        <p:spPr>
          <a:xfrm>
            <a:off x="2786050" y="1501762"/>
            <a:ext cx="1071570" cy="714380"/>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訊息原文</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sp>
        <p:nvSpPr>
          <p:cNvPr id="42" name="橢圓 41"/>
          <p:cNvSpPr/>
          <p:nvPr/>
        </p:nvSpPr>
        <p:spPr>
          <a:xfrm>
            <a:off x="1214414" y="2500306"/>
            <a:ext cx="642942" cy="64294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雜湊</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cxnSp>
        <p:nvCxnSpPr>
          <p:cNvPr id="44" name="直線單箭頭接點 43"/>
          <p:cNvCxnSpPr>
            <a:stCxn id="45" idx="2"/>
            <a:endCxn id="42" idx="0"/>
          </p:cNvCxnSpPr>
          <p:nvPr/>
        </p:nvCxnSpPr>
        <p:spPr>
          <a:xfrm rot="5400000">
            <a:off x="1369395" y="2333816"/>
            <a:ext cx="33298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5" name="流程圖: 文件 44"/>
          <p:cNvSpPr/>
          <p:nvPr/>
        </p:nvSpPr>
        <p:spPr>
          <a:xfrm>
            <a:off x="1000100" y="1500174"/>
            <a:ext cx="1071570" cy="714380"/>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訊息原文</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cxnSp>
        <p:nvCxnSpPr>
          <p:cNvPr id="49" name="直線單箭頭接點 48"/>
          <p:cNvCxnSpPr>
            <a:stCxn id="42" idx="4"/>
            <a:endCxn id="17" idx="0"/>
          </p:cNvCxnSpPr>
          <p:nvPr/>
        </p:nvCxnSpPr>
        <p:spPr>
          <a:xfrm rot="5400000">
            <a:off x="1393009" y="3286124"/>
            <a:ext cx="28575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0" name="橢圓 49"/>
          <p:cNvSpPr/>
          <p:nvPr/>
        </p:nvSpPr>
        <p:spPr>
          <a:xfrm>
            <a:off x="3000364" y="2786058"/>
            <a:ext cx="642942" cy="64294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簽章</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cxnSp>
        <p:nvCxnSpPr>
          <p:cNvPr id="52" name="圖案 51"/>
          <p:cNvCxnSpPr>
            <a:stCxn id="17" idx="3"/>
            <a:endCxn id="50" idx="4"/>
          </p:cNvCxnSpPr>
          <p:nvPr/>
        </p:nvCxnSpPr>
        <p:spPr>
          <a:xfrm flipV="1">
            <a:off x="2071670" y="3429000"/>
            <a:ext cx="1250165" cy="142876"/>
          </a:xfrm>
          <a:prstGeom prst="bentConnector2">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4" name="直線單箭頭接點 53"/>
          <p:cNvCxnSpPr>
            <a:stCxn id="50" idx="0"/>
            <a:endCxn id="10" idx="2"/>
          </p:cNvCxnSpPr>
          <p:nvPr/>
        </p:nvCxnSpPr>
        <p:spPr>
          <a:xfrm rot="5400000" flipH="1" flipV="1">
            <a:off x="3178165" y="2642388"/>
            <a:ext cx="28734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8" name="矩形 57"/>
          <p:cNvSpPr/>
          <p:nvPr/>
        </p:nvSpPr>
        <p:spPr>
          <a:xfrm>
            <a:off x="4857752" y="2212966"/>
            <a:ext cx="1071570" cy="28416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srgbClr val="B83D68">
                    <a:lumMod val="50000"/>
                  </a:srgbClr>
                </a:solidFill>
                <a:effectLst/>
                <a:uLnTx/>
                <a:uFillTx/>
                <a:latin typeface="Trebuchet MS"/>
                <a:ea typeface="微軟正黑體" panose="020B0604030504040204" pitchFamily="34" charset="-120"/>
                <a:cs typeface="+mn-cs"/>
              </a:rPr>
              <a:t>數位簽章</a:t>
            </a:r>
            <a:endParaRPr kumimoji="0" lang="zh-TW" altLang="en-US" sz="1600" b="0" i="0" u="none" strike="noStrike" kern="1200" cap="none" spc="0" normalizeH="0" baseline="0" noProof="0" dirty="0">
              <a:ln>
                <a:noFill/>
              </a:ln>
              <a:solidFill>
                <a:srgbClr val="B83D68">
                  <a:lumMod val="50000"/>
                </a:srgbClr>
              </a:solidFill>
              <a:effectLst/>
              <a:uLnTx/>
              <a:uFillTx/>
              <a:latin typeface="Trebuchet MS"/>
              <a:ea typeface="微軟正黑體" panose="020B0604030504040204" pitchFamily="34" charset="-120"/>
              <a:cs typeface="+mn-cs"/>
            </a:endParaRPr>
          </a:p>
        </p:txBody>
      </p:sp>
      <p:sp>
        <p:nvSpPr>
          <p:cNvPr id="59" name="流程圖: 文件 58"/>
          <p:cNvSpPr/>
          <p:nvPr/>
        </p:nvSpPr>
        <p:spPr>
          <a:xfrm>
            <a:off x="4857752" y="1500174"/>
            <a:ext cx="1071570" cy="714380"/>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訊息原文</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sp>
        <p:nvSpPr>
          <p:cNvPr id="61" name="圓角矩形 60"/>
          <p:cNvSpPr/>
          <p:nvPr/>
        </p:nvSpPr>
        <p:spPr>
          <a:xfrm>
            <a:off x="6700504" y="3429000"/>
            <a:ext cx="1071570" cy="28575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雜湊值</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sp>
        <p:nvSpPr>
          <p:cNvPr id="62" name="文字方塊 61"/>
          <p:cNvSpPr txBox="1"/>
          <p:nvPr/>
        </p:nvSpPr>
        <p:spPr>
          <a:xfrm>
            <a:off x="6647560" y="1142984"/>
            <a:ext cx="1210588"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black"/>
                </a:solidFill>
                <a:effectLst/>
                <a:uLnTx/>
                <a:uFillTx/>
                <a:latin typeface="Trebuchet MS"/>
                <a:ea typeface="微軟正黑體" panose="020B0604030504040204" pitchFamily="34" charset="-120"/>
                <a:cs typeface="+mn-cs"/>
              </a:rPr>
              <a:t>訊息接收方</a:t>
            </a:r>
            <a:endParaRPr kumimoji="0" lang="zh-TW" altLang="en-US" sz="1600" b="0" i="0" u="none" strike="noStrike" kern="1200" cap="none" spc="0" normalizeH="0" baseline="0" noProof="0" dirty="0">
              <a:ln>
                <a:noFill/>
              </a:ln>
              <a:solidFill>
                <a:prstClr val="black"/>
              </a:solidFill>
              <a:effectLst/>
              <a:uLnTx/>
              <a:uFillTx/>
              <a:latin typeface="Trebuchet MS"/>
              <a:ea typeface="微軟正黑體" panose="020B0604030504040204" pitchFamily="34" charset="-120"/>
              <a:cs typeface="+mn-cs"/>
            </a:endParaRPr>
          </a:p>
        </p:txBody>
      </p:sp>
      <p:sp>
        <p:nvSpPr>
          <p:cNvPr id="63" name="橢圓 62"/>
          <p:cNvSpPr/>
          <p:nvPr/>
        </p:nvSpPr>
        <p:spPr>
          <a:xfrm>
            <a:off x="6914818" y="2512448"/>
            <a:ext cx="642942" cy="64294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雜湊</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cxnSp>
        <p:nvCxnSpPr>
          <p:cNvPr id="64" name="直線單箭頭接點 63"/>
          <p:cNvCxnSpPr>
            <a:stCxn id="65" idx="2"/>
            <a:endCxn id="63" idx="0"/>
          </p:cNvCxnSpPr>
          <p:nvPr/>
        </p:nvCxnSpPr>
        <p:spPr>
          <a:xfrm rot="5400000">
            <a:off x="7069799" y="2345958"/>
            <a:ext cx="33298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5" name="流程圖: 文件 64"/>
          <p:cNvSpPr/>
          <p:nvPr/>
        </p:nvSpPr>
        <p:spPr>
          <a:xfrm>
            <a:off x="6700504" y="1512316"/>
            <a:ext cx="1071570" cy="714380"/>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訊息原文</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cxnSp>
        <p:nvCxnSpPr>
          <p:cNvPr id="66" name="直線單箭頭接點 65"/>
          <p:cNvCxnSpPr>
            <a:stCxn id="63" idx="4"/>
            <a:endCxn id="61" idx="0"/>
          </p:cNvCxnSpPr>
          <p:nvPr/>
        </p:nvCxnSpPr>
        <p:spPr>
          <a:xfrm rot="5400000">
            <a:off x="7099484" y="3292195"/>
            <a:ext cx="27361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7" name="橢圓 66"/>
          <p:cNvSpPr/>
          <p:nvPr/>
        </p:nvSpPr>
        <p:spPr>
          <a:xfrm>
            <a:off x="5072066" y="2643182"/>
            <a:ext cx="642942" cy="64294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解密</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cxnSp>
        <p:nvCxnSpPr>
          <p:cNvPr id="73" name="直線單箭頭接點 72"/>
          <p:cNvCxnSpPr>
            <a:stCxn id="58" idx="2"/>
            <a:endCxn id="67" idx="0"/>
          </p:cNvCxnSpPr>
          <p:nvPr/>
        </p:nvCxnSpPr>
        <p:spPr>
          <a:xfrm rot="5400000">
            <a:off x="5320511" y="2570156"/>
            <a:ext cx="14605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78" name="圓角矩形 77"/>
          <p:cNvSpPr/>
          <p:nvPr/>
        </p:nvSpPr>
        <p:spPr>
          <a:xfrm>
            <a:off x="4857752" y="3429000"/>
            <a:ext cx="1071570" cy="28575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雜湊值</a:t>
            </a:r>
            <a:endParaRPr kumimoji="0" lang="zh-TW" altLang="en-US" sz="16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cxnSp>
        <p:nvCxnSpPr>
          <p:cNvPr id="80" name="直線單箭頭接點 79"/>
          <p:cNvCxnSpPr>
            <a:stCxn id="67" idx="4"/>
            <a:endCxn id="78" idx="0"/>
          </p:cNvCxnSpPr>
          <p:nvPr/>
        </p:nvCxnSpPr>
        <p:spPr>
          <a:xfrm rot="5400000">
            <a:off x="5322099" y="3357562"/>
            <a:ext cx="142876"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2" name="直線單箭頭接點 81"/>
          <p:cNvCxnSpPr>
            <a:stCxn id="59" idx="3"/>
            <a:endCxn id="65" idx="1"/>
          </p:cNvCxnSpPr>
          <p:nvPr/>
        </p:nvCxnSpPr>
        <p:spPr>
          <a:xfrm>
            <a:off x="5929322" y="1857364"/>
            <a:ext cx="771182" cy="121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4" name="直線單箭頭接點 83"/>
          <p:cNvCxnSpPr>
            <a:stCxn id="78" idx="3"/>
            <a:endCxn id="61" idx="1"/>
          </p:cNvCxnSpPr>
          <p:nvPr/>
        </p:nvCxnSpPr>
        <p:spPr>
          <a:xfrm>
            <a:off x="5929322" y="3571876"/>
            <a:ext cx="771182" cy="1588"/>
          </a:xfrm>
          <a:prstGeom prst="straightConnector1">
            <a:avLst/>
          </a:prstGeom>
          <a:ln w="28575">
            <a:solidFill>
              <a:srgbClr val="FF0000"/>
            </a:solidFill>
            <a:prstDash val="dash"/>
            <a:headEnd type="arrow"/>
            <a:tailEnd type="arrow"/>
          </a:ln>
        </p:spPr>
        <p:style>
          <a:lnRef idx="1">
            <a:schemeClr val="accent1"/>
          </a:lnRef>
          <a:fillRef idx="0">
            <a:schemeClr val="accent1"/>
          </a:fillRef>
          <a:effectRef idx="0">
            <a:schemeClr val="accent1"/>
          </a:effectRef>
          <a:fontRef idx="minor">
            <a:schemeClr val="tx1"/>
          </a:fontRef>
        </p:style>
      </p:cxnSp>
      <p:sp>
        <p:nvSpPr>
          <p:cNvPr id="85" name="文字方塊 84"/>
          <p:cNvSpPr txBox="1"/>
          <p:nvPr/>
        </p:nvSpPr>
        <p:spPr>
          <a:xfrm>
            <a:off x="6000760" y="3202544"/>
            <a:ext cx="595035"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600" b="1" i="0" u="none" strike="noStrike" kern="1200" cap="none" spc="0" normalizeH="0" baseline="0" noProof="0" dirty="0" smtClean="0">
                <a:ln>
                  <a:noFill/>
                </a:ln>
                <a:solidFill>
                  <a:prstClr val="black"/>
                </a:solidFill>
                <a:effectLst/>
                <a:uLnTx/>
                <a:uFillTx/>
                <a:latin typeface="Trebuchet MS"/>
                <a:ea typeface="微軟正黑體" panose="020B0604030504040204" pitchFamily="34" charset="-120"/>
                <a:cs typeface="+mn-cs"/>
              </a:rPr>
              <a:t>比對</a:t>
            </a:r>
            <a:endParaRPr kumimoji="0" lang="zh-TW" altLang="en-US" sz="1600" b="1" i="0" u="none" strike="noStrike" kern="1200" cap="none" spc="0" normalizeH="0" baseline="0" noProof="0" dirty="0">
              <a:ln>
                <a:noFill/>
              </a:ln>
              <a:solidFill>
                <a:prstClr val="black"/>
              </a:solidFill>
              <a:effectLst/>
              <a:uLnTx/>
              <a:uFillTx/>
              <a:latin typeface="Trebuchet MS"/>
              <a:ea typeface="微軟正黑體" panose="020B0604030504040204" pitchFamily="34" charset="-120"/>
              <a:cs typeface="+mn-cs"/>
            </a:endParaRPr>
          </a:p>
        </p:txBody>
      </p:sp>
      <p:cxnSp>
        <p:nvCxnSpPr>
          <p:cNvPr id="87" name="直線單箭頭接點 86"/>
          <p:cNvCxnSpPr>
            <a:stCxn id="45" idx="3"/>
            <a:endCxn id="31" idx="1"/>
          </p:cNvCxnSpPr>
          <p:nvPr/>
        </p:nvCxnSpPr>
        <p:spPr>
          <a:xfrm>
            <a:off x="2071670" y="1857364"/>
            <a:ext cx="71438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8" name="右大括弧 87"/>
          <p:cNvSpPr/>
          <p:nvPr/>
        </p:nvSpPr>
        <p:spPr>
          <a:xfrm>
            <a:off x="3929058" y="1500174"/>
            <a:ext cx="142876" cy="100013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800" b="0" i="0" u="none" strike="noStrike" kern="1200" cap="none" spc="0" normalizeH="0" baseline="0" noProof="0">
              <a:ln>
                <a:noFill/>
              </a:ln>
              <a:solidFill>
                <a:prstClr val="black"/>
              </a:solidFill>
              <a:effectLst/>
              <a:uLnTx/>
              <a:uFillTx/>
              <a:latin typeface="Trebuchet MS"/>
              <a:ea typeface="微軟正黑體" panose="020B0604030504040204" pitchFamily="34" charset="-120"/>
              <a:cs typeface="+mn-cs"/>
            </a:endParaRPr>
          </a:p>
        </p:txBody>
      </p:sp>
      <p:sp>
        <p:nvSpPr>
          <p:cNvPr id="89" name="左大括弧 88"/>
          <p:cNvSpPr/>
          <p:nvPr/>
        </p:nvSpPr>
        <p:spPr>
          <a:xfrm>
            <a:off x="4643438" y="1500174"/>
            <a:ext cx="142876" cy="100013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800" b="0" i="0" u="none" strike="noStrike" kern="1200" cap="none" spc="0" normalizeH="0" baseline="0" noProof="0">
              <a:ln>
                <a:noFill/>
              </a:ln>
              <a:solidFill>
                <a:prstClr val="black"/>
              </a:solidFill>
              <a:effectLst/>
              <a:uLnTx/>
              <a:uFillTx/>
              <a:latin typeface="Trebuchet MS"/>
              <a:ea typeface="微軟正黑體" panose="020B0604030504040204" pitchFamily="34" charset="-120"/>
              <a:cs typeface="+mn-cs"/>
            </a:endParaRPr>
          </a:p>
        </p:txBody>
      </p:sp>
      <p:cxnSp>
        <p:nvCxnSpPr>
          <p:cNvPr id="91" name="直線單箭頭接點 90"/>
          <p:cNvCxnSpPr/>
          <p:nvPr/>
        </p:nvCxnSpPr>
        <p:spPr>
          <a:xfrm flipV="1">
            <a:off x="4001636" y="1844824"/>
            <a:ext cx="714380" cy="1254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9" name="文字方塊 38"/>
          <p:cNvSpPr txBox="1"/>
          <p:nvPr/>
        </p:nvSpPr>
        <p:spPr>
          <a:xfrm>
            <a:off x="1965243" y="2887205"/>
            <a:ext cx="749370" cy="430887"/>
          </a:xfrm>
          <a:prstGeom prst="rect">
            <a:avLst/>
          </a:prstGeom>
          <a:solidFill>
            <a:srgbClr val="FFC000"/>
          </a:solidFill>
          <a:ln>
            <a:solidFill>
              <a:schemeClr val="accent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傳送方的</a:t>
            </a:r>
            <a:endParaRPr kumimoji="0" lang="en-US" altLang="zh-TW"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私密金鑰</a:t>
            </a:r>
            <a:endParaRPr kumimoji="0" lang="zh-TW" altLang="en-US" sz="11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cxnSp>
        <p:nvCxnSpPr>
          <p:cNvPr id="6" name="直線單箭頭接點 5"/>
          <p:cNvCxnSpPr>
            <a:stCxn id="39" idx="3"/>
            <a:endCxn id="50" idx="2"/>
          </p:cNvCxnSpPr>
          <p:nvPr/>
        </p:nvCxnSpPr>
        <p:spPr>
          <a:xfrm>
            <a:off x="2714613" y="3102649"/>
            <a:ext cx="285751" cy="48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文字方塊 42"/>
          <p:cNvSpPr txBox="1"/>
          <p:nvPr/>
        </p:nvSpPr>
        <p:spPr>
          <a:xfrm>
            <a:off x="4039363" y="2887205"/>
            <a:ext cx="786006" cy="430887"/>
          </a:xfrm>
          <a:prstGeom prst="rect">
            <a:avLst/>
          </a:prstGeom>
          <a:solidFill>
            <a:srgbClr val="FFC000"/>
          </a:solidFill>
          <a:ln>
            <a:solidFill>
              <a:schemeClr val="accent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傳送方的</a:t>
            </a:r>
            <a:endParaRPr kumimoji="0" lang="en-US" altLang="zh-TW"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公開金鑰</a:t>
            </a:r>
            <a:endParaRPr kumimoji="0" lang="zh-TW" altLang="en-US" sz="11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cxnSp>
        <p:nvCxnSpPr>
          <p:cNvPr id="8" name="直線單箭頭接點 7"/>
          <p:cNvCxnSpPr>
            <a:stCxn id="43" idx="3"/>
            <a:endCxn id="67" idx="2"/>
          </p:cNvCxnSpPr>
          <p:nvPr/>
        </p:nvCxnSpPr>
        <p:spPr>
          <a:xfrm flipV="1">
            <a:off x="4825369" y="2964653"/>
            <a:ext cx="246697" cy="1379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0068439"/>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標題 1"/>
          <p:cNvSpPr>
            <a:spLocks noGrp="1"/>
          </p:cNvSpPr>
          <p:nvPr>
            <p:ph type="title"/>
          </p:nvPr>
        </p:nvSpPr>
        <p:spPr/>
        <p:txBody>
          <a:bodyPr/>
          <a:lstStyle/>
          <a:p>
            <a:r>
              <a:rPr lang="zh-TW" altLang="en-US" dirty="0" smtClean="0">
                <a:latin typeface="標楷體" panose="03000509000000000000" pitchFamily="65" charset="-120"/>
                <a:ea typeface="標楷體" panose="03000509000000000000" pitchFamily="65" charset="-120"/>
              </a:rPr>
              <a:t>數位簽章</a:t>
            </a:r>
            <a:r>
              <a:rPr lang="zh-TW" altLang="en-US" dirty="0" smtClean="0">
                <a:latin typeface="標楷體" panose="03000509000000000000" pitchFamily="65" charset="-120"/>
                <a:ea typeface="標楷體" panose="03000509000000000000" pitchFamily="65" charset="-120"/>
              </a:rPr>
              <a:t>運算</a:t>
            </a:r>
            <a:r>
              <a:rPr lang="en-US" altLang="zh-TW" dirty="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版本</a:t>
            </a:r>
            <a:r>
              <a:rPr lang="en-US" altLang="zh-TW" dirty="0" smtClean="0">
                <a:latin typeface="標楷體" panose="03000509000000000000" pitchFamily="65" charset="-120"/>
                <a:ea typeface="標楷體" panose="03000509000000000000" pitchFamily="65" charset="-120"/>
              </a:rPr>
              <a:t>2)</a:t>
            </a:r>
            <a:endParaRPr lang="zh-TW" altLang="en-US" dirty="0">
              <a:latin typeface="標楷體" panose="03000509000000000000" pitchFamily="65" charset="-120"/>
              <a:ea typeface="標楷體" panose="03000509000000000000" pitchFamily="65" charset="-120"/>
            </a:endParaRPr>
          </a:p>
        </p:txBody>
      </p:sp>
      <p:pic>
        <p:nvPicPr>
          <p:cNvPr id="36866" name="Picture 2"/>
          <p:cNvPicPr>
            <a:picLocks noGrp="1" noChangeAspect="1" noChangeArrowheads="1"/>
          </p:cNvPicPr>
          <p:nvPr>
            <p:ph idx="1"/>
          </p:nvPr>
        </p:nvPicPr>
        <p:blipFill>
          <a:blip r:embed="rId2"/>
          <a:srcRect/>
          <a:stretch>
            <a:fillRect/>
          </a:stretch>
        </p:blipFill>
        <p:spPr>
          <a:xfrm>
            <a:off x="179388" y="2154238"/>
            <a:ext cx="8789987" cy="3651250"/>
          </a:xfrm>
        </p:spPr>
      </p:pic>
    </p:spTree>
    <p:extLst>
      <p:ext uri="{BB962C8B-B14F-4D97-AF65-F5344CB8AC3E}">
        <p14:creationId xmlns:p14="http://schemas.microsoft.com/office/powerpoint/2010/main" val="278627298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fontScale="92500" lnSpcReduction="20000"/>
          </a:bodyPr>
          <a:lstStyle/>
          <a:p>
            <a:r>
              <a:rPr lang="zh-TW" altLang="en-US" sz="2600" dirty="0" smtClean="0">
                <a:latin typeface="標楷體" panose="03000509000000000000" pitchFamily="65" charset="-120"/>
                <a:ea typeface="標楷體" panose="03000509000000000000" pitchFamily="65" charset="-120"/>
              </a:rPr>
              <a:t>沒有人使用</a:t>
            </a:r>
            <a:r>
              <a:rPr lang="en-US" altLang="zh-TW" sz="2600" dirty="0" smtClean="0">
                <a:latin typeface="標楷體" panose="03000509000000000000" pitchFamily="65" charset="-120"/>
                <a:ea typeface="標楷體" panose="03000509000000000000" pitchFamily="65" charset="-120"/>
              </a:rPr>
              <a:t>(</a:t>
            </a:r>
            <a:r>
              <a:rPr lang="zh-TW" altLang="en-US" sz="2800" dirty="0" smtClean="0">
                <a:latin typeface="標楷體" panose="03000509000000000000" pitchFamily="65" charset="-120"/>
                <a:ea typeface="標楷體" panose="03000509000000000000" pitchFamily="65" charset="-120"/>
              </a:rPr>
              <a:t>非對稱</a:t>
            </a:r>
            <a:r>
              <a:rPr lang="en-US" altLang="zh-TW" sz="2800" dirty="0" smtClean="0">
                <a:latin typeface="標楷體" panose="03000509000000000000" pitchFamily="65" charset="-120"/>
                <a:ea typeface="標楷體" panose="03000509000000000000" pitchFamily="65" charset="-120"/>
              </a:rPr>
              <a:t>)</a:t>
            </a:r>
            <a:r>
              <a:rPr lang="en-US" altLang="zh-TW" sz="2600" dirty="0" smtClean="0">
                <a:latin typeface="標楷體" panose="03000509000000000000" pitchFamily="65" charset="-120"/>
                <a:ea typeface="標楷體" panose="03000509000000000000" pitchFamily="65" charset="-120"/>
              </a:rPr>
              <a:t>RSA</a:t>
            </a:r>
            <a:r>
              <a:rPr lang="zh-TW" altLang="en-US" sz="2600" dirty="0" smtClean="0">
                <a:latin typeface="標楷體" panose="03000509000000000000" pitchFamily="65" charset="-120"/>
                <a:ea typeface="標楷體" panose="03000509000000000000" pitchFamily="65" charset="-120"/>
              </a:rPr>
              <a:t>對文件加密 </a:t>
            </a:r>
            <a:r>
              <a:rPr lang="en-US" altLang="zh-TW" sz="2600" dirty="0" smtClean="0">
                <a:latin typeface="標楷體" panose="03000509000000000000" pitchFamily="65" charset="-120"/>
                <a:ea typeface="標楷體" panose="03000509000000000000" pitchFamily="65" charset="-120"/>
              </a:rPr>
              <a:t>- </a:t>
            </a:r>
            <a:r>
              <a:rPr lang="zh-TW" altLang="en-US" sz="2600" dirty="0" smtClean="0">
                <a:latin typeface="標楷體" panose="03000509000000000000" pitchFamily="65" charset="-120"/>
                <a:ea typeface="標楷體" panose="03000509000000000000" pitchFamily="65" charset="-120"/>
              </a:rPr>
              <a:t>原因慢</a:t>
            </a:r>
            <a:endParaRPr lang="en-US" altLang="zh-TW" sz="2600" dirty="0" smtClean="0">
              <a:latin typeface="標楷體" panose="03000509000000000000" pitchFamily="65" charset="-120"/>
              <a:ea typeface="標楷體" panose="03000509000000000000" pitchFamily="65" charset="-120"/>
            </a:endParaRPr>
          </a:p>
          <a:p>
            <a:r>
              <a:rPr lang="zh-TW" altLang="en-US" sz="2600" dirty="0">
                <a:solidFill>
                  <a:srgbClr val="0000FF"/>
                </a:solidFill>
                <a:latin typeface="標楷體" panose="03000509000000000000" pitchFamily="65" charset="-120"/>
                <a:ea typeface="標楷體" panose="03000509000000000000" pitchFamily="65" charset="-120"/>
              </a:rPr>
              <a:t>對文件加</a:t>
            </a:r>
            <a:r>
              <a:rPr lang="zh-TW" altLang="en-US" sz="2600" dirty="0" smtClean="0">
                <a:solidFill>
                  <a:srgbClr val="0000FF"/>
                </a:solidFill>
                <a:latin typeface="標楷體" panose="03000509000000000000" pitchFamily="65" charset="-120"/>
                <a:ea typeface="標楷體" panose="03000509000000000000" pitchFamily="65" charset="-120"/>
              </a:rPr>
              <a:t>密一律使用</a:t>
            </a:r>
            <a:r>
              <a:rPr lang="en-US" altLang="zh-TW" dirty="0" smtClean="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對稱</a:t>
            </a:r>
            <a:r>
              <a:rPr lang="en-US" altLang="zh-TW" dirty="0" smtClean="0">
                <a:latin typeface="標楷體" panose="03000509000000000000" pitchFamily="65" charset="-120"/>
                <a:ea typeface="標楷體" panose="03000509000000000000" pitchFamily="65" charset="-120"/>
              </a:rPr>
              <a:t>)</a:t>
            </a:r>
            <a:r>
              <a:rPr lang="en-US" altLang="zh-TW" sz="2600" dirty="0" smtClean="0">
                <a:solidFill>
                  <a:srgbClr val="0000FF"/>
                </a:solidFill>
                <a:latin typeface="標楷體" panose="03000509000000000000" pitchFamily="65" charset="-120"/>
                <a:ea typeface="標楷體" panose="03000509000000000000" pitchFamily="65" charset="-120"/>
              </a:rPr>
              <a:t>3DES</a:t>
            </a:r>
            <a:r>
              <a:rPr lang="zh-TW" altLang="en-US" sz="2600" dirty="0" smtClean="0">
                <a:solidFill>
                  <a:srgbClr val="0000FF"/>
                </a:solidFill>
                <a:latin typeface="標楷體" panose="03000509000000000000" pitchFamily="65" charset="-120"/>
                <a:ea typeface="標楷體" panose="03000509000000000000" pitchFamily="65" charset="-120"/>
              </a:rPr>
              <a:t>及</a:t>
            </a:r>
            <a:r>
              <a:rPr lang="en-US" altLang="zh-TW" sz="2600" dirty="0" smtClean="0">
                <a:solidFill>
                  <a:srgbClr val="0000FF"/>
                </a:solidFill>
                <a:latin typeface="標楷體" panose="03000509000000000000" pitchFamily="65" charset="-120"/>
                <a:ea typeface="標楷體" panose="03000509000000000000" pitchFamily="65" charset="-120"/>
              </a:rPr>
              <a:t>AES </a:t>
            </a:r>
            <a:r>
              <a:rPr lang="en-US" altLang="zh-TW" sz="2600" dirty="0" smtClean="0">
                <a:latin typeface="標楷體" panose="03000509000000000000" pitchFamily="65" charset="-120"/>
                <a:ea typeface="標楷體" panose="03000509000000000000" pitchFamily="65" charset="-120"/>
              </a:rPr>
              <a:t>– </a:t>
            </a:r>
            <a:r>
              <a:rPr lang="zh-TW" altLang="en-US" sz="2600" dirty="0" smtClean="0">
                <a:latin typeface="標楷體" panose="03000509000000000000" pitchFamily="65" charset="-120"/>
                <a:ea typeface="標楷體" panose="03000509000000000000" pitchFamily="65" charset="-120"/>
              </a:rPr>
              <a:t>原因快</a:t>
            </a:r>
            <a:endParaRPr lang="en-US" altLang="zh-TW" sz="2600" dirty="0" smtClean="0">
              <a:latin typeface="標楷體" panose="03000509000000000000" pitchFamily="65" charset="-120"/>
              <a:ea typeface="標楷體" panose="03000509000000000000" pitchFamily="65" charset="-120"/>
            </a:endParaRPr>
          </a:p>
          <a:p>
            <a:r>
              <a:rPr lang="zh-TW" altLang="en-US" sz="2600" dirty="0" smtClean="0">
                <a:latin typeface="標楷體" panose="03000509000000000000" pitchFamily="65" charset="-120"/>
                <a:ea typeface="標楷體" panose="03000509000000000000" pitchFamily="65" charset="-120"/>
              </a:rPr>
              <a:t>什麼時候會使用</a:t>
            </a:r>
            <a:r>
              <a:rPr lang="en-US" altLang="zh-TW" sz="2600" dirty="0" smtClean="0">
                <a:latin typeface="標楷體" panose="03000509000000000000" pitchFamily="65" charset="-120"/>
                <a:ea typeface="標楷體" panose="03000509000000000000" pitchFamily="65" charset="-120"/>
              </a:rPr>
              <a:t>RSA</a:t>
            </a:r>
            <a:r>
              <a:rPr lang="zh-TW" altLang="en-US" sz="2600" dirty="0" smtClean="0">
                <a:latin typeface="標楷體" panose="03000509000000000000" pitchFamily="65" charset="-120"/>
                <a:ea typeface="標楷體" panose="03000509000000000000" pitchFamily="65" charset="-120"/>
              </a:rPr>
              <a:t>的加密 </a:t>
            </a:r>
            <a:r>
              <a:rPr lang="en-US" altLang="zh-TW" sz="2600" dirty="0" smtClean="0">
                <a:latin typeface="標楷體" panose="03000509000000000000" pitchFamily="65" charset="-120"/>
                <a:ea typeface="標楷體" panose="03000509000000000000" pitchFamily="65" charset="-120"/>
              </a:rPr>
              <a:t>– </a:t>
            </a:r>
            <a:r>
              <a:rPr lang="zh-TW" altLang="en-US" sz="2600" dirty="0" smtClean="0">
                <a:latin typeface="標楷體" panose="03000509000000000000" pitchFamily="65" charset="-120"/>
                <a:ea typeface="標楷體" panose="03000509000000000000" pitchFamily="65" charset="-120"/>
              </a:rPr>
              <a:t>對「</a:t>
            </a:r>
            <a:r>
              <a:rPr lang="zh-TW" altLang="en-US" sz="2600" dirty="0">
                <a:latin typeface="標楷體" panose="03000509000000000000" pitchFamily="65" charset="-120"/>
                <a:ea typeface="標楷體" panose="03000509000000000000" pitchFamily="65" charset="-120"/>
              </a:rPr>
              <a:t>對稱式的加密金鑰</a:t>
            </a:r>
            <a:r>
              <a:rPr lang="zh-TW" altLang="en-US" sz="2600" dirty="0" smtClean="0">
                <a:latin typeface="標楷體" panose="03000509000000000000" pitchFamily="65" charset="-120"/>
                <a:ea typeface="標楷體" panose="03000509000000000000" pitchFamily="65" charset="-120"/>
              </a:rPr>
              <a:t>」</a:t>
            </a:r>
            <a:endParaRPr lang="en-US" altLang="zh-TW" sz="2600" dirty="0" smtClean="0">
              <a:latin typeface="標楷體" panose="03000509000000000000" pitchFamily="65" charset="-120"/>
              <a:ea typeface="標楷體" panose="03000509000000000000" pitchFamily="65" charset="-120"/>
            </a:endParaRPr>
          </a:p>
          <a:p>
            <a:r>
              <a:rPr lang="en-US" altLang="zh-TW" sz="2600" dirty="0">
                <a:latin typeface="標楷體" panose="03000509000000000000" pitchFamily="65" charset="-120"/>
                <a:ea typeface="標楷體" panose="03000509000000000000" pitchFamily="65" charset="-120"/>
              </a:rPr>
              <a:t>RSA</a:t>
            </a:r>
            <a:r>
              <a:rPr lang="zh-TW" altLang="en-US" sz="2600" dirty="0">
                <a:latin typeface="標楷體" panose="03000509000000000000" pitchFamily="65" charset="-120"/>
                <a:ea typeface="標楷體" panose="03000509000000000000" pitchFamily="65" charset="-120"/>
              </a:rPr>
              <a:t>的</a:t>
            </a:r>
            <a:r>
              <a:rPr lang="zh-TW" altLang="en-US" sz="2600" dirty="0">
                <a:solidFill>
                  <a:srgbClr val="FF0000"/>
                </a:solidFill>
                <a:latin typeface="標楷體" panose="03000509000000000000" pitchFamily="65" charset="-120"/>
                <a:ea typeface="標楷體" panose="03000509000000000000" pitchFamily="65" charset="-120"/>
              </a:rPr>
              <a:t>加</a:t>
            </a:r>
            <a:r>
              <a:rPr lang="zh-TW" altLang="en-US" sz="2600" dirty="0" smtClean="0">
                <a:solidFill>
                  <a:srgbClr val="FF0000"/>
                </a:solidFill>
                <a:latin typeface="標楷體" panose="03000509000000000000" pitchFamily="65" charset="-120"/>
                <a:ea typeface="標楷體" panose="03000509000000000000" pitchFamily="65" charset="-120"/>
              </a:rPr>
              <a:t>密用的是對方的公開金鑰</a:t>
            </a:r>
            <a:r>
              <a:rPr lang="en-US" altLang="zh-TW" sz="2600" dirty="0" smtClean="0">
                <a:latin typeface="標楷體" panose="03000509000000000000" pitchFamily="65" charset="-120"/>
                <a:ea typeface="標楷體" panose="03000509000000000000" pitchFamily="65" charset="-120"/>
              </a:rPr>
              <a:t>/</a:t>
            </a:r>
            <a:r>
              <a:rPr lang="zh-TW" altLang="en-US" sz="2600" dirty="0">
                <a:solidFill>
                  <a:srgbClr val="FF0000"/>
                </a:solidFill>
                <a:latin typeface="標楷體" panose="03000509000000000000" pitchFamily="65" charset="-120"/>
                <a:ea typeface="標楷體" panose="03000509000000000000" pitchFamily="65" charset="-120"/>
              </a:rPr>
              <a:t>解</a:t>
            </a:r>
            <a:r>
              <a:rPr lang="zh-TW" altLang="en-US" sz="2600" dirty="0" smtClean="0">
                <a:solidFill>
                  <a:srgbClr val="FF0000"/>
                </a:solidFill>
                <a:latin typeface="標楷體" panose="03000509000000000000" pitchFamily="65" charset="-120"/>
                <a:ea typeface="標楷體" panose="03000509000000000000" pitchFamily="65" charset="-120"/>
              </a:rPr>
              <a:t>密</a:t>
            </a:r>
            <a:r>
              <a:rPr lang="zh-TW" altLang="en-US" sz="2600" dirty="0" smtClean="0">
                <a:latin typeface="標楷體" panose="03000509000000000000" pitchFamily="65" charset="-120"/>
                <a:ea typeface="標楷體" panose="03000509000000000000" pitchFamily="65" charset="-120"/>
              </a:rPr>
              <a:t>用對方的私鑰</a:t>
            </a:r>
            <a:endParaRPr lang="en-US" altLang="zh-TW" sz="2600" dirty="0" smtClean="0">
              <a:latin typeface="標楷體" panose="03000509000000000000" pitchFamily="65" charset="-120"/>
              <a:ea typeface="標楷體" panose="03000509000000000000" pitchFamily="65" charset="-120"/>
            </a:endParaRPr>
          </a:p>
          <a:p>
            <a:r>
              <a:rPr lang="en-US" altLang="zh-TW" sz="2600" dirty="0">
                <a:latin typeface="標楷體" panose="03000509000000000000" pitchFamily="65" charset="-120"/>
                <a:ea typeface="標楷體" panose="03000509000000000000" pitchFamily="65" charset="-120"/>
              </a:rPr>
              <a:t>RSA</a:t>
            </a:r>
            <a:r>
              <a:rPr lang="zh-TW" altLang="en-US" sz="2600" dirty="0" smtClean="0">
                <a:latin typeface="標楷體" panose="03000509000000000000" pitchFamily="65" charset="-120"/>
                <a:ea typeface="標楷體" panose="03000509000000000000" pitchFamily="65" charset="-120"/>
              </a:rPr>
              <a:t>的</a:t>
            </a:r>
            <a:r>
              <a:rPr lang="zh-TW" altLang="en-US" sz="2600" dirty="0" smtClean="0">
                <a:solidFill>
                  <a:srgbClr val="FF0000"/>
                </a:solidFill>
                <a:latin typeface="標楷體" panose="03000509000000000000" pitchFamily="65" charset="-120"/>
                <a:ea typeface="標楷體" panose="03000509000000000000" pitchFamily="65" charset="-120"/>
              </a:rPr>
              <a:t>簽章用</a:t>
            </a:r>
            <a:r>
              <a:rPr lang="zh-TW" altLang="en-US" sz="2600" dirty="0">
                <a:solidFill>
                  <a:srgbClr val="FF0000"/>
                </a:solidFill>
                <a:latin typeface="標楷體" panose="03000509000000000000" pitchFamily="65" charset="-120"/>
                <a:ea typeface="標楷體" panose="03000509000000000000" pitchFamily="65" charset="-120"/>
              </a:rPr>
              <a:t>的</a:t>
            </a:r>
            <a:r>
              <a:rPr lang="zh-TW" altLang="en-US" sz="2600" dirty="0" smtClean="0">
                <a:solidFill>
                  <a:srgbClr val="FF0000"/>
                </a:solidFill>
                <a:latin typeface="標楷體" panose="03000509000000000000" pitchFamily="65" charset="-120"/>
                <a:ea typeface="標楷體" panose="03000509000000000000" pitchFamily="65" charset="-120"/>
              </a:rPr>
              <a:t>是自己的私密金鑰</a:t>
            </a:r>
            <a:r>
              <a:rPr lang="en-US" altLang="zh-TW" sz="2600" dirty="0" smtClean="0">
                <a:latin typeface="標楷體" panose="03000509000000000000" pitchFamily="65" charset="-120"/>
                <a:ea typeface="標楷體" panose="03000509000000000000" pitchFamily="65" charset="-120"/>
              </a:rPr>
              <a:t>/</a:t>
            </a:r>
            <a:r>
              <a:rPr lang="zh-TW" altLang="en-US" sz="2600" dirty="0" smtClean="0">
                <a:solidFill>
                  <a:srgbClr val="0000FF"/>
                </a:solidFill>
                <a:latin typeface="標楷體" panose="03000509000000000000" pitchFamily="65" charset="-120"/>
                <a:ea typeface="標楷體" panose="03000509000000000000" pitchFamily="65" charset="-120"/>
              </a:rPr>
              <a:t>驗章</a:t>
            </a:r>
            <a:r>
              <a:rPr lang="zh-TW" altLang="en-US" sz="2600" dirty="0" smtClean="0">
                <a:latin typeface="標楷體" panose="03000509000000000000" pitchFamily="65" charset="-120"/>
                <a:ea typeface="標楷體" panose="03000509000000000000" pitchFamily="65" charset="-120"/>
              </a:rPr>
              <a:t>用自己的公鑰</a:t>
            </a:r>
            <a:endParaRPr lang="en-US" altLang="zh-TW" sz="2600" dirty="0">
              <a:latin typeface="標楷體" panose="03000509000000000000" pitchFamily="65" charset="-120"/>
              <a:ea typeface="標楷體" panose="03000509000000000000" pitchFamily="65" charset="-120"/>
            </a:endParaRPr>
          </a:p>
          <a:p>
            <a:r>
              <a:rPr lang="en-US" altLang="zh-TW" sz="2600" dirty="0" smtClean="0">
                <a:latin typeface="標楷體" panose="03000509000000000000" pitchFamily="65" charset="-120"/>
                <a:ea typeface="標楷體" panose="03000509000000000000" pitchFamily="65" charset="-120"/>
              </a:rPr>
              <a:t>RSA</a:t>
            </a:r>
            <a:r>
              <a:rPr lang="zh-TW" altLang="en-US" sz="2600" dirty="0" smtClean="0">
                <a:solidFill>
                  <a:srgbClr val="FF0000"/>
                </a:solidFill>
                <a:latin typeface="標楷體" panose="03000509000000000000" pitchFamily="65" charset="-120"/>
                <a:ea typeface="標楷體" panose="03000509000000000000" pitchFamily="65" charset="-120"/>
              </a:rPr>
              <a:t>簽章的對象 </a:t>
            </a:r>
            <a:r>
              <a:rPr lang="en-US" altLang="zh-TW" sz="2600" dirty="0" smtClean="0">
                <a:solidFill>
                  <a:srgbClr val="FF0000"/>
                </a:solidFill>
                <a:latin typeface="標楷體" panose="03000509000000000000" pitchFamily="65" charset="-120"/>
                <a:ea typeface="標楷體" panose="03000509000000000000" pitchFamily="65" charset="-120"/>
              </a:rPr>
              <a:t>–</a:t>
            </a:r>
            <a:r>
              <a:rPr lang="zh-TW" altLang="en-US" sz="2600" dirty="0" smtClean="0">
                <a:solidFill>
                  <a:srgbClr val="FF0000"/>
                </a:solidFill>
                <a:latin typeface="標楷體" panose="03000509000000000000" pitchFamily="65" charset="-120"/>
                <a:ea typeface="標楷體" panose="03000509000000000000" pitchFamily="65" charset="-120"/>
              </a:rPr>
              <a:t>是文件的</a:t>
            </a:r>
            <a:r>
              <a:rPr lang="en-US" altLang="zh-TW" sz="2600" dirty="0" smtClean="0">
                <a:solidFill>
                  <a:srgbClr val="FF0000"/>
                </a:solidFill>
                <a:latin typeface="標楷體" panose="03000509000000000000" pitchFamily="65" charset="-120"/>
                <a:ea typeface="標楷體" panose="03000509000000000000" pitchFamily="65" charset="-120"/>
              </a:rPr>
              <a:t>【</a:t>
            </a:r>
            <a:r>
              <a:rPr lang="zh-TW" altLang="en-US" sz="2600" dirty="0" smtClean="0">
                <a:solidFill>
                  <a:srgbClr val="FF0000"/>
                </a:solidFill>
                <a:latin typeface="標楷體" panose="03000509000000000000" pitchFamily="65" charset="-120"/>
                <a:ea typeface="標楷體" panose="03000509000000000000" pitchFamily="65" charset="-120"/>
              </a:rPr>
              <a:t>雜湊值</a:t>
            </a:r>
            <a:r>
              <a:rPr lang="en-US" altLang="zh-TW" sz="2600" dirty="0" smtClean="0">
                <a:solidFill>
                  <a:srgbClr val="FF0000"/>
                </a:solidFill>
                <a:latin typeface="標楷體" panose="03000509000000000000" pitchFamily="65" charset="-120"/>
                <a:ea typeface="標楷體" panose="03000509000000000000" pitchFamily="65" charset="-120"/>
              </a:rPr>
              <a:t>】(hash value)</a:t>
            </a:r>
          </a:p>
          <a:p>
            <a:pPr lvl="8"/>
            <a:r>
              <a:rPr lang="zh-TW" altLang="en-US" sz="1600" dirty="0" smtClean="0">
                <a:latin typeface="標楷體" panose="03000509000000000000" pitchFamily="65" charset="-120"/>
                <a:ea typeface="標楷體" panose="03000509000000000000" pitchFamily="65" charset="-120"/>
              </a:rPr>
              <a:t>沒有必要對整份文件作簽章</a:t>
            </a:r>
            <a:r>
              <a:rPr lang="en-US" altLang="zh-TW" sz="1600" dirty="0" smtClean="0">
                <a:latin typeface="標楷體" panose="03000509000000000000" pitchFamily="65" charset="-120"/>
                <a:ea typeface="標楷體" panose="03000509000000000000" pitchFamily="65" charset="-120"/>
              </a:rPr>
              <a:t>, </a:t>
            </a:r>
            <a:r>
              <a:rPr lang="zh-TW" altLang="en-US" sz="1600" dirty="0" smtClean="0">
                <a:solidFill>
                  <a:srgbClr val="0000FF"/>
                </a:solidFill>
                <a:latin typeface="標楷體" panose="03000509000000000000" pitchFamily="65" charset="-120"/>
                <a:ea typeface="標楷體" panose="03000509000000000000" pitchFamily="65" charset="-120"/>
              </a:rPr>
              <a:t>簽章</a:t>
            </a:r>
            <a:r>
              <a:rPr lang="zh-TW" altLang="en-US" sz="1600" baseline="-25000" dirty="0" smtClean="0">
                <a:solidFill>
                  <a:srgbClr val="0000FF"/>
                </a:solidFill>
                <a:latin typeface="標楷體" panose="03000509000000000000" pitchFamily="65" charset="-120"/>
                <a:ea typeface="標楷體" panose="03000509000000000000" pitchFamily="65" charset="-120"/>
              </a:rPr>
              <a:t>自已的私鑰</a:t>
            </a:r>
            <a:r>
              <a:rPr lang="en-US" altLang="zh-TW" sz="1600" dirty="0" smtClean="0">
                <a:latin typeface="標楷體" panose="03000509000000000000" pitchFamily="65" charset="-120"/>
                <a:ea typeface="標楷體" panose="03000509000000000000" pitchFamily="65" charset="-120"/>
              </a:rPr>
              <a:t>(</a:t>
            </a:r>
            <a:r>
              <a:rPr lang="en-US" altLang="zh-TW" sz="1600" dirty="0" smtClean="0">
                <a:solidFill>
                  <a:srgbClr val="FF0000"/>
                </a:solidFill>
                <a:latin typeface="標楷體" panose="03000509000000000000" pitchFamily="65" charset="-120"/>
                <a:ea typeface="標楷體" panose="03000509000000000000" pitchFamily="65" charset="-120"/>
              </a:rPr>
              <a:t>Hash</a:t>
            </a:r>
            <a:r>
              <a:rPr lang="en-US" altLang="zh-TW" sz="1600" dirty="0" smtClean="0">
                <a:latin typeface="標楷體" panose="03000509000000000000" pitchFamily="65" charset="-120"/>
                <a:ea typeface="標楷體" panose="03000509000000000000" pitchFamily="65" charset="-120"/>
              </a:rPr>
              <a:t>(</a:t>
            </a:r>
            <a:r>
              <a:rPr lang="zh-TW" altLang="en-US" sz="1600" dirty="0" smtClean="0">
                <a:latin typeface="標楷體" panose="03000509000000000000" pitchFamily="65" charset="-120"/>
                <a:ea typeface="標楷體" panose="03000509000000000000" pitchFamily="65" charset="-120"/>
              </a:rPr>
              <a:t>文件</a:t>
            </a:r>
            <a:r>
              <a:rPr lang="en-US" altLang="zh-TW" sz="1600" dirty="0" smtClean="0">
                <a:latin typeface="標楷體" panose="03000509000000000000" pitchFamily="65" charset="-120"/>
                <a:ea typeface="標楷體" panose="03000509000000000000" pitchFamily="65" charset="-120"/>
              </a:rPr>
              <a:t>))</a:t>
            </a:r>
            <a:endParaRPr lang="en-US" altLang="zh-TW" dirty="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註</a:t>
            </a:r>
            <a:r>
              <a:rPr lang="en-US" altLang="zh-TW" dirty="0" smtClean="0">
                <a:latin typeface="標楷體" panose="03000509000000000000" pitchFamily="65" charset="-120"/>
                <a:ea typeface="標楷體" panose="03000509000000000000" pitchFamily="65" charset="-120"/>
              </a:rPr>
              <a:t>: </a:t>
            </a:r>
            <a:r>
              <a:rPr lang="zh-TW" altLang="en-US" dirty="0" smtClean="0">
                <a:latin typeface="標楷體" panose="03000509000000000000" pitchFamily="65" charset="-120"/>
                <a:ea typeface="標楷體" panose="03000509000000000000" pitchFamily="65" charset="-120"/>
              </a:rPr>
              <a:t>此處</a:t>
            </a:r>
            <a:r>
              <a:rPr lang="en-US" altLang="zh-TW" dirty="0" smtClean="0">
                <a:latin typeface="標楷體" panose="03000509000000000000" pitchFamily="65" charset="-120"/>
                <a:ea typeface="標楷體" panose="03000509000000000000" pitchFamily="65" charset="-120"/>
              </a:rPr>
              <a:t>RSA</a:t>
            </a:r>
            <a:r>
              <a:rPr lang="zh-TW" altLang="en-US" dirty="0" smtClean="0">
                <a:latin typeface="標楷體" panose="03000509000000000000" pitchFamily="65" charset="-120"/>
                <a:ea typeface="標楷體" panose="03000509000000000000" pitchFamily="65" charset="-120"/>
              </a:rPr>
              <a:t>泛指非對稱式、</a:t>
            </a:r>
            <a:r>
              <a:rPr lang="en-US" altLang="zh-TW" dirty="0">
                <a:latin typeface="標楷體" panose="03000509000000000000" pitchFamily="65" charset="-120"/>
                <a:ea typeface="標楷體" panose="03000509000000000000" pitchFamily="65" charset="-120"/>
              </a:rPr>
              <a:t> 3DES</a:t>
            </a:r>
            <a:r>
              <a:rPr lang="zh-TW" altLang="en-US" dirty="0">
                <a:latin typeface="標楷體" panose="03000509000000000000" pitchFamily="65" charset="-120"/>
                <a:ea typeface="標楷體" panose="03000509000000000000" pitchFamily="65" charset="-120"/>
              </a:rPr>
              <a:t>及</a:t>
            </a:r>
            <a:r>
              <a:rPr lang="en-US" altLang="zh-TW" dirty="0" smtClean="0">
                <a:latin typeface="標楷體" panose="03000509000000000000" pitchFamily="65" charset="-120"/>
                <a:ea typeface="標楷體" panose="03000509000000000000" pitchFamily="65" charset="-120"/>
              </a:rPr>
              <a:t>AES</a:t>
            </a:r>
            <a:r>
              <a:rPr lang="zh-TW" altLang="en-US" dirty="0">
                <a:latin typeface="標楷體" panose="03000509000000000000" pitchFamily="65" charset="-120"/>
                <a:ea typeface="標楷體" panose="03000509000000000000" pitchFamily="65" charset="-120"/>
              </a:rPr>
              <a:t>泛指</a:t>
            </a:r>
            <a:r>
              <a:rPr lang="zh-TW" altLang="en-US" dirty="0" smtClean="0">
                <a:latin typeface="標楷體" panose="03000509000000000000" pitchFamily="65" charset="-120"/>
                <a:ea typeface="標楷體" panose="03000509000000000000" pitchFamily="65" charset="-120"/>
              </a:rPr>
              <a:t>對稱式、對方指的是接受方</a:t>
            </a:r>
            <a:endParaRPr lang="zh-TW" altLang="en-US" dirty="0">
              <a:latin typeface="標楷體" panose="03000509000000000000" pitchFamily="65" charset="-120"/>
              <a:ea typeface="標楷體" panose="03000509000000000000" pitchFamily="65" charset="-120"/>
            </a:endParaRPr>
          </a:p>
        </p:txBody>
      </p:sp>
      <p:sp>
        <p:nvSpPr>
          <p:cNvPr id="3" name="標題 2"/>
          <p:cNvSpPr>
            <a:spLocks noGrp="1"/>
          </p:cNvSpPr>
          <p:nvPr>
            <p:ph type="title"/>
          </p:nvPr>
        </p:nvSpPr>
        <p:spPr/>
        <p:txBody>
          <a:bodyPr/>
          <a:lstStyle/>
          <a:p>
            <a:pPr algn="ctr"/>
            <a:r>
              <a:rPr lang="zh-TW" altLang="en-US" dirty="0" smtClean="0">
                <a:solidFill>
                  <a:srgbClr val="FF0000"/>
                </a:solidFill>
              </a:rPr>
              <a:t>小結 </a:t>
            </a:r>
            <a:r>
              <a:rPr lang="en-US" altLang="zh-TW" dirty="0" smtClean="0">
                <a:solidFill>
                  <a:srgbClr val="FF0000"/>
                </a:solidFill>
              </a:rPr>
              <a:t>Sub-Summary</a:t>
            </a:r>
            <a:r>
              <a:rPr lang="en-US" altLang="zh-TW" dirty="0" smtClean="0"/>
              <a:t> </a:t>
            </a:r>
            <a:endParaRPr lang="zh-TW" altLang="en-US" dirty="0"/>
          </a:p>
        </p:txBody>
      </p:sp>
      <p:sp>
        <p:nvSpPr>
          <p:cNvPr id="4" name="矩形 3"/>
          <p:cNvSpPr/>
          <p:nvPr/>
        </p:nvSpPr>
        <p:spPr>
          <a:xfrm>
            <a:off x="467544" y="465313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RSA</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的觀念 </a:t>
            </a: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https</a:t>
            </a:r>
            <a:r>
              <a:rPr kumimoji="0" lang="en-US" altLang="zh-TW"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rPr>
              <a:t>://reurl.cc/RbV7nD</a:t>
            </a:r>
            <a:endPar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spTree>
    <p:extLst>
      <p:ext uri="{BB962C8B-B14F-4D97-AF65-F5344CB8AC3E}">
        <p14:creationId xmlns:p14="http://schemas.microsoft.com/office/powerpoint/2010/main" val="3293613148"/>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a:solidFill>
            <a:srgbClr val="00CC00"/>
          </a:solidFill>
        </p:spPr>
        <p:txBody>
          <a:bodyPr>
            <a:normAutofit fontScale="90000"/>
          </a:bodyPr>
          <a:lstStyle/>
          <a:p>
            <a:pPr algn="ctr"/>
            <a:r>
              <a:rPr lang="zh-TW" altLang="en-US" dirty="0"/>
              <a:t>非對稱式加</a:t>
            </a:r>
            <a:r>
              <a:rPr lang="zh-TW" altLang="en-US" dirty="0" smtClean="0"/>
              <a:t>密</a:t>
            </a:r>
            <a:r>
              <a:rPr lang="zh-TW" altLang="en-US" dirty="0"/>
              <a:t>中</a:t>
            </a:r>
            <a:r>
              <a:rPr lang="en-US" altLang="zh-TW" dirty="0" smtClean="0"/>
              <a:t>-</a:t>
            </a:r>
            <a:r>
              <a:rPr lang="zh-TW" altLang="en-US" dirty="0" smtClean="0">
                <a:solidFill>
                  <a:srgbClr val="FF0000"/>
                </a:solidFill>
              </a:rPr>
              <a:t>最常</a:t>
            </a:r>
            <a:r>
              <a:rPr lang="zh-TW" altLang="en-US" dirty="0" smtClean="0"/>
              <a:t>被使用的</a:t>
            </a:r>
            <a:r>
              <a:rPr lang="en-US" altLang="zh-TW" dirty="0" smtClean="0">
                <a:solidFill>
                  <a:srgbClr val="FF0000"/>
                </a:solidFill>
              </a:rPr>
              <a:t>RSA</a:t>
            </a:r>
            <a:r>
              <a:rPr lang="zh-TW" altLang="en-US" dirty="0" smtClean="0"/>
              <a:t> 算法</a:t>
            </a:r>
            <a:endParaRPr lang="zh-TW" altLang="en-US" dirty="0"/>
          </a:p>
        </p:txBody>
      </p:sp>
      <p:sp>
        <p:nvSpPr>
          <p:cNvPr id="2" name="內容版面配置區 1"/>
          <p:cNvSpPr>
            <a:spLocks noGrp="1"/>
          </p:cNvSpPr>
          <p:nvPr>
            <p:ph sz="half" idx="1"/>
          </p:nvPr>
        </p:nvSpPr>
        <p:spPr>
          <a:xfrm>
            <a:off x="285720" y="1285860"/>
            <a:ext cx="3714776" cy="5143536"/>
          </a:xfrm>
        </p:spPr>
        <p:txBody>
          <a:bodyPr/>
          <a:lstStyle/>
          <a:p>
            <a:pPr>
              <a:spcBef>
                <a:spcPts val="1200"/>
              </a:spcBef>
            </a:pPr>
            <a:r>
              <a:rPr lang="zh-TW" altLang="en-US" dirty="0" smtClean="0"/>
              <a:t>非對稱式加密算法中，最有名且歷史最長的是 </a:t>
            </a:r>
            <a:r>
              <a:rPr lang="en-US" altLang="zh-TW" dirty="0" err="1" smtClean="0">
                <a:solidFill>
                  <a:srgbClr val="FF0000"/>
                </a:solidFill>
              </a:rPr>
              <a:t>R</a:t>
            </a:r>
            <a:r>
              <a:rPr lang="en-US" altLang="zh-TW" dirty="0" err="1" smtClean="0"/>
              <a:t>ivest</a:t>
            </a:r>
            <a:r>
              <a:rPr lang="en-US" altLang="zh-TW" dirty="0" smtClean="0"/>
              <a:t>, </a:t>
            </a:r>
            <a:r>
              <a:rPr lang="en-US" altLang="zh-TW" dirty="0" smtClean="0">
                <a:solidFill>
                  <a:srgbClr val="FF0000"/>
                </a:solidFill>
              </a:rPr>
              <a:t>S</a:t>
            </a:r>
            <a:r>
              <a:rPr lang="en-US" altLang="zh-TW" dirty="0" smtClean="0"/>
              <a:t>hamir, </a:t>
            </a:r>
            <a:r>
              <a:rPr lang="zh-TW" altLang="en-US" dirty="0" smtClean="0"/>
              <a:t>與 </a:t>
            </a:r>
            <a:r>
              <a:rPr lang="en-US" altLang="zh-TW" dirty="0" err="1" smtClean="0">
                <a:solidFill>
                  <a:srgbClr val="FF0000"/>
                </a:solidFill>
              </a:rPr>
              <a:t>A</a:t>
            </a:r>
            <a:r>
              <a:rPr lang="en-US" altLang="zh-TW" dirty="0" err="1" smtClean="0"/>
              <a:t>dleman</a:t>
            </a:r>
            <a:r>
              <a:rPr lang="zh-TW" altLang="en-US" dirty="0" smtClean="0"/>
              <a:t> 在</a:t>
            </a:r>
            <a:r>
              <a:rPr lang="en-US" altLang="zh-TW" dirty="0" smtClean="0"/>
              <a:t>1977</a:t>
            </a:r>
            <a:r>
              <a:rPr lang="zh-TW" altLang="en-US" dirty="0" smtClean="0"/>
              <a:t> 年共創的 </a:t>
            </a:r>
            <a:r>
              <a:rPr lang="en-US" altLang="zh-TW" dirty="0" smtClean="0"/>
              <a:t>RSA</a:t>
            </a:r>
            <a:r>
              <a:rPr lang="zh-TW" altLang="en-US" dirty="0" smtClean="0"/>
              <a:t>。</a:t>
            </a:r>
            <a:endParaRPr lang="en-US" altLang="zh-TW" dirty="0" smtClean="0"/>
          </a:p>
          <a:p>
            <a:pPr>
              <a:spcBef>
                <a:spcPts val="1200"/>
              </a:spcBef>
            </a:pPr>
            <a:r>
              <a:rPr lang="zh-TW" altLang="en-US" dirty="0" smtClean="0"/>
              <a:t>由於金鑰長度</a:t>
            </a:r>
            <a:r>
              <a:rPr lang="zh-TW" altLang="en-US" strike="sngStrike" dirty="0" smtClean="0">
                <a:solidFill>
                  <a:srgbClr val="FF0000"/>
                </a:solidFill>
              </a:rPr>
              <a:t>並非固定</a:t>
            </a:r>
            <a:r>
              <a:rPr lang="zh-TW" altLang="en-US" dirty="0" smtClean="0"/>
              <a:t>，所以可在運算時間與安全強度之間做取捨。時下視</a:t>
            </a:r>
            <a:r>
              <a:rPr lang="en-US" altLang="zh-TW" dirty="0" smtClean="0"/>
              <a:t>1024</a:t>
            </a:r>
            <a:r>
              <a:rPr lang="zh-TW" altLang="en-US" dirty="0" smtClean="0"/>
              <a:t>位元為維持安全性的最短金鑰長度，當然</a:t>
            </a:r>
            <a:r>
              <a:rPr lang="en-US" altLang="zh-TW" dirty="0" smtClean="0">
                <a:solidFill>
                  <a:srgbClr val="FF0000"/>
                </a:solidFill>
              </a:rPr>
              <a:t>2048</a:t>
            </a:r>
            <a:r>
              <a:rPr lang="zh-TW" altLang="en-US" dirty="0" smtClean="0"/>
              <a:t>或</a:t>
            </a:r>
            <a:r>
              <a:rPr lang="en-US" altLang="zh-TW" dirty="0" smtClean="0"/>
              <a:t>4096</a:t>
            </a:r>
            <a:r>
              <a:rPr lang="zh-TW" altLang="en-US" dirty="0" smtClean="0"/>
              <a:t>位元更佳。</a:t>
            </a:r>
            <a:endParaRPr lang="en-US" altLang="zh-TW" dirty="0" smtClean="0"/>
          </a:p>
          <a:p>
            <a:pPr>
              <a:spcBef>
                <a:spcPts val="1200"/>
              </a:spcBef>
            </a:pPr>
            <a:r>
              <a:rPr lang="zh-TW" altLang="en-US" dirty="0" smtClean="0"/>
              <a:t>右表為 </a:t>
            </a:r>
            <a:r>
              <a:rPr lang="en-US" altLang="zh-TW" dirty="0" smtClean="0"/>
              <a:t>RSA</a:t>
            </a:r>
            <a:r>
              <a:rPr lang="zh-TW" altLang="en-US" dirty="0" smtClean="0"/>
              <a:t>算法的簡單介紹：</a:t>
            </a:r>
            <a:endParaRPr lang="zh-TW" altLang="en-US" dirty="0"/>
          </a:p>
        </p:txBody>
      </p:sp>
      <p:sp>
        <p:nvSpPr>
          <p:cNvPr id="4" name="內容版面配置區 3"/>
          <p:cNvSpPr>
            <a:spLocks noGrp="1"/>
          </p:cNvSpPr>
          <p:nvPr>
            <p:ph sz="half" idx="2"/>
          </p:nvPr>
        </p:nvSpPr>
        <p:spPr>
          <a:xfrm>
            <a:off x="4286248" y="1285860"/>
            <a:ext cx="4221674" cy="5143536"/>
          </a:xfrm>
        </p:spPr>
        <p:txBody>
          <a:bodyPr>
            <a:noAutofit/>
          </a:bodyPr>
          <a:lstStyle/>
          <a:p>
            <a:r>
              <a:rPr lang="zh-TW" altLang="en-US" dirty="0" smtClean="0"/>
              <a:t>挑兩個質數，並命名為 </a:t>
            </a:r>
            <a:r>
              <a:rPr lang="en-US" altLang="zh-TW" dirty="0" smtClean="0"/>
              <a:t>p</a:t>
            </a:r>
            <a:r>
              <a:rPr lang="zh-TW" altLang="en-US" dirty="0" smtClean="0"/>
              <a:t> 與 </a:t>
            </a:r>
            <a:r>
              <a:rPr lang="en-US" altLang="zh-TW" dirty="0" smtClean="0"/>
              <a:t>q</a:t>
            </a:r>
            <a:r>
              <a:rPr lang="zh-TW" altLang="en-US" dirty="0" smtClean="0"/>
              <a:t>。</a:t>
            </a:r>
            <a:endParaRPr lang="en-US" altLang="zh-TW" dirty="0" smtClean="0"/>
          </a:p>
          <a:p>
            <a:r>
              <a:rPr lang="zh-TW" altLang="en-US" dirty="0" smtClean="0"/>
              <a:t>將它兩者相乘，並稱結果為 </a:t>
            </a:r>
            <a:r>
              <a:rPr lang="en-US" altLang="zh-TW" dirty="0" smtClean="0"/>
              <a:t>n</a:t>
            </a:r>
            <a:r>
              <a:rPr lang="zh-TW" altLang="en-US" dirty="0" smtClean="0"/>
              <a:t>。</a:t>
            </a:r>
            <a:endParaRPr lang="en-US" altLang="zh-TW" dirty="0" smtClean="0"/>
          </a:p>
          <a:p>
            <a:r>
              <a:rPr lang="zh-TW" altLang="en-US" dirty="0" smtClean="0"/>
              <a:t>選擇一個公開值 </a:t>
            </a:r>
            <a:r>
              <a:rPr lang="en-US" altLang="zh-TW" dirty="0" smtClean="0"/>
              <a:t>e</a:t>
            </a:r>
            <a:r>
              <a:rPr lang="zh-TW" altLang="en-US" dirty="0" smtClean="0"/>
              <a:t>，該值應小於 </a:t>
            </a:r>
            <a:r>
              <a:rPr lang="en-US" altLang="zh-TW" dirty="0" smtClean="0"/>
              <a:t>n </a:t>
            </a:r>
            <a:r>
              <a:rPr lang="zh-TW" altLang="en-US" dirty="0" smtClean="0"/>
              <a:t>且與 </a:t>
            </a:r>
            <a:r>
              <a:rPr lang="en-US" altLang="zh-TW" dirty="0" smtClean="0"/>
              <a:t>(p-1) </a:t>
            </a:r>
            <a:r>
              <a:rPr lang="zh-TW" altLang="en-US" dirty="0" smtClean="0"/>
              <a:t>及 </a:t>
            </a:r>
            <a:r>
              <a:rPr lang="en-US" altLang="zh-TW" dirty="0" smtClean="0"/>
              <a:t>(q-1) </a:t>
            </a:r>
            <a:r>
              <a:rPr lang="zh-TW" altLang="en-US" dirty="0" smtClean="0"/>
              <a:t>互質 </a:t>
            </a:r>
            <a:r>
              <a:rPr lang="en-US" altLang="zh-TW" dirty="0" smtClean="0"/>
              <a:t>(</a:t>
            </a:r>
            <a:r>
              <a:rPr lang="zh-TW" altLang="en-US" dirty="0" smtClean="0"/>
              <a:t>沒有</a:t>
            </a:r>
            <a:r>
              <a:rPr lang="en-US" altLang="zh-TW" dirty="0" smtClean="0"/>
              <a:t>1</a:t>
            </a:r>
            <a:r>
              <a:rPr lang="zh-TW" altLang="en-US" dirty="0" smtClean="0"/>
              <a:t>之外的公因數</a:t>
            </a:r>
            <a:r>
              <a:rPr lang="en-US" altLang="zh-TW" dirty="0" smtClean="0"/>
              <a:t>)</a:t>
            </a:r>
            <a:r>
              <a:rPr lang="zh-TW" altLang="en-US" dirty="0" smtClean="0"/>
              <a:t>。</a:t>
            </a:r>
            <a:endParaRPr lang="en-US" altLang="zh-TW" dirty="0" smtClean="0"/>
          </a:p>
          <a:p>
            <a:r>
              <a:rPr lang="zh-TW" altLang="en-US" dirty="0" smtClean="0"/>
              <a:t>尋找一個值 </a:t>
            </a:r>
            <a:r>
              <a:rPr lang="en-US" altLang="zh-TW" dirty="0" smtClean="0"/>
              <a:t>d</a:t>
            </a:r>
            <a:r>
              <a:rPr lang="zh-TW" altLang="en-US" dirty="0" smtClean="0"/>
              <a:t>，可滿足</a:t>
            </a:r>
            <a:endParaRPr lang="en-US" altLang="zh-TW" dirty="0" smtClean="0"/>
          </a:p>
          <a:p>
            <a:pPr>
              <a:buNone/>
            </a:pPr>
            <a:r>
              <a:rPr lang="en-US" altLang="zh-TW" dirty="0" smtClean="0"/>
              <a:t>	e*d = 1 mod(p-1)*(q-1)</a:t>
            </a:r>
            <a:r>
              <a:rPr lang="zh-TW" altLang="en-US" dirty="0" smtClean="0"/>
              <a:t> </a:t>
            </a:r>
            <a:endParaRPr lang="en-US" altLang="zh-TW" dirty="0" smtClean="0"/>
          </a:p>
          <a:p>
            <a:r>
              <a:rPr lang="zh-TW" altLang="en-US" dirty="0" smtClean="0"/>
              <a:t>讓 </a:t>
            </a:r>
            <a:r>
              <a:rPr lang="en-US" altLang="zh-TW" dirty="0" smtClean="0"/>
              <a:t>n</a:t>
            </a:r>
            <a:r>
              <a:rPr lang="zh-TW" altLang="en-US" dirty="0" smtClean="0"/>
              <a:t> 與 </a:t>
            </a:r>
            <a:r>
              <a:rPr lang="en-US" altLang="zh-TW" dirty="0" smtClean="0"/>
              <a:t>e</a:t>
            </a:r>
            <a:r>
              <a:rPr lang="zh-TW" altLang="en-US" dirty="0" smtClean="0"/>
              <a:t> 可以公開；而保持 </a:t>
            </a:r>
            <a:r>
              <a:rPr lang="en-US" altLang="zh-TW" dirty="0" smtClean="0"/>
              <a:t>d</a:t>
            </a:r>
            <a:r>
              <a:rPr lang="zh-TW" altLang="en-US" dirty="0" smtClean="0"/>
              <a:t> 為私密。</a:t>
            </a:r>
            <a:endParaRPr lang="en-US" altLang="zh-TW" dirty="0" smtClean="0"/>
          </a:p>
          <a:p>
            <a:r>
              <a:rPr lang="zh-TW" altLang="en-US" dirty="0" smtClean="0"/>
              <a:t>加密原文</a:t>
            </a:r>
            <a:r>
              <a:rPr lang="en-US" altLang="zh-TW" dirty="0" smtClean="0"/>
              <a:t>m</a:t>
            </a:r>
            <a:r>
              <a:rPr lang="zh-TW" altLang="en-US" dirty="0" smtClean="0"/>
              <a:t>：密文 </a:t>
            </a:r>
            <a:r>
              <a:rPr lang="en-US" altLang="zh-TW" dirty="0" smtClean="0"/>
              <a:t>c = m</a:t>
            </a:r>
            <a:r>
              <a:rPr lang="en-US" altLang="zh-TW" baseline="30000" dirty="0" smtClean="0"/>
              <a:t>e</a:t>
            </a:r>
            <a:r>
              <a:rPr lang="en-US" altLang="zh-TW" dirty="0" smtClean="0"/>
              <a:t> mod n</a:t>
            </a:r>
            <a:r>
              <a:rPr lang="zh-TW" altLang="en-US" dirty="0" smtClean="0"/>
              <a:t>。</a:t>
            </a:r>
            <a:endParaRPr lang="en-US" altLang="zh-TW" dirty="0" smtClean="0"/>
          </a:p>
          <a:p>
            <a:r>
              <a:rPr lang="zh-TW" altLang="en-US" dirty="0" smtClean="0"/>
              <a:t>解密：</a:t>
            </a:r>
            <a:r>
              <a:rPr lang="en-US" altLang="zh-TW" dirty="0" smtClean="0"/>
              <a:t>m = </a:t>
            </a:r>
            <a:r>
              <a:rPr lang="en-US" altLang="zh-TW" dirty="0" err="1" smtClean="0"/>
              <a:t>c</a:t>
            </a:r>
            <a:r>
              <a:rPr lang="en-US" altLang="zh-TW" baseline="30000" dirty="0" err="1" smtClean="0"/>
              <a:t>d</a:t>
            </a:r>
            <a:r>
              <a:rPr lang="en-US" altLang="zh-TW" dirty="0" smtClean="0"/>
              <a:t> mod n</a:t>
            </a:r>
            <a:r>
              <a:rPr lang="zh-TW" altLang="en-US" dirty="0" smtClean="0"/>
              <a:t>。</a:t>
            </a:r>
            <a:endParaRPr lang="zh-TW" altLang="en-US" dirty="0"/>
          </a:p>
        </p:txBody>
      </p:sp>
    </p:spTree>
    <p:extLst>
      <p:ext uri="{BB962C8B-B14F-4D97-AF65-F5344CB8AC3E}">
        <p14:creationId xmlns:p14="http://schemas.microsoft.com/office/powerpoint/2010/main" val="369118904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流程圖: 文件 57"/>
          <p:cNvSpPr/>
          <p:nvPr/>
        </p:nvSpPr>
        <p:spPr>
          <a:xfrm>
            <a:off x="498691" y="2371790"/>
            <a:ext cx="859989" cy="1015697"/>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訊息的原文</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59" name="流程圖: 文件 58"/>
          <p:cNvSpPr/>
          <p:nvPr/>
        </p:nvSpPr>
        <p:spPr>
          <a:xfrm>
            <a:off x="4777021" y="2371790"/>
            <a:ext cx="859989" cy="922515"/>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訊息的原文</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60" name="橢圓 59"/>
          <p:cNvSpPr/>
          <p:nvPr/>
        </p:nvSpPr>
        <p:spPr>
          <a:xfrm>
            <a:off x="1718596" y="4674702"/>
            <a:ext cx="727683" cy="859436"/>
          </a:xfrm>
          <a:prstGeom prst="ellipse">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簽章</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62" name="矩形 61"/>
          <p:cNvSpPr/>
          <p:nvPr/>
        </p:nvSpPr>
        <p:spPr>
          <a:xfrm>
            <a:off x="2909350" y="4854409"/>
            <a:ext cx="727683" cy="52621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簽章值</a:t>
            </a:r>
            <a:endParaRPr kumimoji="0" lang="zh-TW" altLang="en-US" sz="14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63" name="矩形 62"/>
          <p:cNvSpPr/>
          <p:nvPr/>
        </p:nvSpPr>
        <p:spPr>
          <a:xfrm>
            <a:off x="4777022" y="4854409"/>
            <a:ext cx="727683" cy="52621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簽章值</a:t>
            </a:r>
            <a:endParaRPr kumimoji="0" lang="zh-TW" altLang="en-US" sz="14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cxnSp>
        <p:nvCxnSpPr>
          <p:cNvPr id="64" name="直線單箭頭接點 63"/>
          <p:cNvCxnSpPr>
            <a:endCxn id="60" idx="2"/>
          </p:cNvCxnSpPr>
          <p:nvPr/>
        </p:nvCxnSpPr>
        <p:spPr>
          <a:xfrm>
            <a:off x="1387831" y="5104419"/>
            <a:ext cx="330765" cy="173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5" name="直線單箭頭接點 64"/>
          <p:cNvCxnSpPr>
            <a:stCxn id="60" idx="6"/>
            <a:endCxn id="62" idx="1"/>
          </p:cNvCxnSpPr>
          <p:nvPr/>
        </p:nvCxnSpPr>
        <p:spPr>
          <a:xfrm>
            <a:off x="2446279" y="5104419"/>
            <a:ext cx="463071" cy="173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6" name="直線單箭頭接點 65"/>
          <p:cNvCxnSpPr>
            <a:stCxn id="62" idx="3"/>
            <a:endCxn id="63" idx="1"/>
          </p:cNvCxnSpPr>
          <p:nvPr/>
        </p:nvCxnSpPr>
        <p:spPr>
          <a:xfrm>
            <a:off x="3637033" y="5117518"/>
            <a:ext cx="1139989"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7" name="直線單箭頭接點 66"/>
          <p:cNvCxnSpPr>
            <a:stCxn id="63" idx="3"/>
            <a:endCxn id="61" idx="2"/>
          </p:cNvCxnSpPr>
          <p:nvPr/>
        </p:nvCxnSpPr>
        <p:spPr>
          <a:xfrm>
            <a:off x="5504705" y="5103551"/>
            <a:ext cx="396918" cy="173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8" name="直線單箭頭接點 67"/>
          <p:cNvCxnSpPr>
            <a:stCxn id="85" idx="6"/>
            <a:endCxn id="86" idx="1"/>
          </p:cNvCxnSpPr>
          <p:nvPr/>
        </p:nvCxnSpPr>
        <p:spPr>
          <a:xfrm>
            <a:off x="6623034" y="5087222"/>
            <a:ext cx="424665"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9" name="圓角矩形 68"/>
          <p:cNvSpPr/>
          <p:nvPr/>
        </p:nvSpPr>
        <p:spPr>
          <a:xfrm>
            <a:off x="1652443" y="5846659"/>
            <a:ext cx="859989" cy="3906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金鑰</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70" name="圓角矩形 69"/>
          <p:cNvSpPr/>
          <p:nvPr/>
        </p:nvSpPr>
        <p:spPr>
          <a:xfrm>
            <a:off x="5835470" y="5844922"/>
            <a:ext cx="859989" cy="39065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金鑰</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cxnSp>
        <p:nvCxnSpPr>
          <p:cNvPr id="71" name="直線單箭頭接點 70"/>
          <p:cNvCxnSpPr>
            <a:stCxn id="69" idx="0"/>
            <a:endCxn id="60" idx="4"/>
          </p:cNvCxnSpPr>
          <p:nvPr/>
        </p:nvCxnSpPr>
        <p:spPr>
          <a:xfrm rot="5400000" flipH="1" flipV="1">
            <a:off x="1926177" y="5690531"/>
            <a:ext cx="312522" cy="147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2" name="直線單箭頭接點 71"/>
          <p:cNvCxnSpPr>
            <a:stCxn id="70" idx="0"/>
            <a:endCxn id="61" idx="4"/>
          </p:cNvCxnSpPr>
          <p:nvPr/>
        </p:nvCxnSpPr>
        <p:spPr>
          <a:xfrm rot="5400000" flipH="1" flipV="1">
            <a:off x="6110072" y="5689663"/>
            <a:ext cx="310785" cy="147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76" name="文字方塊 75"/>
          <p:cNvSpPr txBox="1"/>
          <p:nvPr/>
        </p:nvSpPr>
        <p:spPr>
          <a:xfrm>
            <a:off x="2482508" y="5886145"/>
            <a:ext cx="1441420"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srgbClr val="FF0000"/>
                </a:solidFill>
                <a:effectLst/>
                <a:uLnTx/>
                <a:uFillTx/>
                <a:latin typeface="Calibri" pitchFamily="34" charset="0"/>
                <a:ea typeface="微軟正黑體" panose="020B0604030504040204" pitchFamily="34" charset="-120"/>
                <a:cs typeface="+mn-cs"/>
              </a:rPr>
              <a:t>自己</a:t>
            </a:r>
            <a:r>
              <a:rPr kumimoji="0" lang="zh-TW" altLang="en-US" sz="14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的</a:t>
            </a:r>
            <a:r>
              <a:rPr kumimoji="0" lang="zh-TW" altLang="en-US" sz="1400" b="0" i="0" u="none" strike="noStrike" kern="1200" cap="none" spc="0" normalizeH="0" baseline="0" noProof="0" dirty="0" smtClean="0">
                <a:ln>
                  <a:noFill/>
                </a:ln>
                <a:solidFill>
                  <a:srgbClr val="FF0000"/>
                </a:solidFill>
                <a:effectLst/>
                <a:uLnTx/>
                <a:uFillTx/>
                <a:latin typeface="Calibri" pitchFamily="34" charset="0"/>
                <a:ea typeface="微軟正黑體" panose="020B0604030504040204" pitchFamily="34" charset="-120"/>
                <a:cs typeface="+mn-cs"/>
              </a:rPr>
              <a:t>私密</a:t>
            </a:r>
            <a:r>
              <a:rPr kumimoji="0" lang="zh-TW" altLang="en-US" sz="14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金鑰</a:t>
            </a:r>
            <a:endParaRPr kumimoji="0" lang="zh-TW" altLang="en-US" sz="14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sp>
        <p:nvSpPr>
          <p:cNvPr id="77" name="文字方塊 76"/>
          <p:cNvSpPr txBox="1"/>
          <p:nvPr/>
        </p:nvSpPr>
        <p:spPr>
          <a:xfrm>
            <a:off x="6695459" y="5878356"/>
            <a:ext cx="1620957"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簽章者的</a:t>
            </a:r>
            <a:r>
              <a:rPr kumimoji="0" lang="zh-TW" altLang="en-US" sz="1400" b="0" i="0" u="none" strike="noStrike" kern="1200" cap="none" spc="0" normalizeH="0" baseline="0" noProof="0" dirty="0" smtClean="0">
                <a:ln>
                  <a:noFill/>
                </a:ln>
                <a:solidFill>
                  <a:srgbClr val="FF0000"/>
                </a:solidFill>
                <a:effectLst/>
                <a:uLnTx/>
                <a:uFillTx/>
                <a:latin typeface="Calibri" pitchFamily="34" charset="0"/>
                <a:ea typeface="微軟正黑體" panose="020B0604030504040204" pitchFamily="34" charset="-120"/>
                <a:cs typeface="+mn-cs"/>
              </a:rPr>
              <a:t>公開</a:t>
            </a:r>
            <a:r>
              <a:rPr kumimoji="0" lang="zh-TW" altLang="en-US" sz="14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金鑰</a:t>
            </a:r>
            <a:endParaRPr kumimoji="0" lang="zh-TW" altLang="en-US" sz="14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sp>
        <p:nvSpPr>
          <p:cNvPr id="80" name="矩形 79"/>
          <p:cNvSpPr/>
          <p:nvPr/>
        </p:nvSpPr>
        <p:spPr>
          <a:xfrm>
            <a:off x="355984" y="2180306"/>
            <a:ext cx="8104447" cy="41290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800" b="0" i="0" u="none" strike="noStrike" kern="1200" cap="none" spc="0" normalizeH="0" baseline="0" noProof="0">
              <a:ln>
                <a:noFill/>
              </a:ln>
              <a:solidFill>
                <a:prstClr val="white"/>
              </a:solidFill>
              <a:effectLst/>
              <a:uLnTx/>
              <a:uFillTx/>
              <a:latin typeface="Calibri" pitchFamily="34" charset="0"/>
              <a:ea typeface="微軟正黑體" panose="020B0604030504040204" pitchFamily="34" charset="-120"/>
              <a:cs typeface="+mn-cs"/>
            </a:endParaRPr>
          </a:p>
        </p:txBody>
      </p:sp>
      <p:sp>
        <p:nvSpPr>
          <p:cNvPr id="81" name="文字方塊 80"/>
          <p:cNvSpPr txBox="1"/>
          <p:nvPr/>
        </p:nvSpPr>
        <p:spPr>
          <a:xfrm>
            <a:off x="2875502" y="1339192"/>
            <a:ext cx="2826810" cy="529674"/>
          </a:xfrm>
          <a:prstGeom prst="rect">
            <a:avLst/>
          </a:prstGeom>
          <a:noFill/>
          <a:ln w="12700">
            <a:solidFill>
              <a:schemeClr val="accent1">
                <a:shade val="50000"/>
              </a:schemeClr>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3200" b="1" i="0" u="none" strike="noStrike" kern="1200" cap="none" spc="0" normalizeH="0" baseline="0" noProof="0" dirty="0" smtClean="0">
                <a:ln>
                  <a:noFill/>
                </a:ln>
                <a:solidFill>
                  <a:srgbClr val="0000FF"/>
                </a:solidFill>
                <a:effectLst/>
                <a:uLnTx/>
                <a:uFillTx/>
                <a:latin typeface="Calibri" pitchFamily="34" charset="0"/>
                <a:ea typeface="微軟正黑體" panose="020B0604030504040204" pitchFamily="34" charset="-120"/>
                <a:cs typeface="+mn-cs"/>
              </a:rPr>
              <a:t>Proof of Origin</a:t>
            </a:r>
            <a:endParaRPr kumimoji="0" lang="zh-TW" altLang="en-US" sz="3200" b="1" i="0" u="none" strike="noStrike" kern="1200" cap="none" spc="0" normalizeH="0" baseline="0" noProof="0" dirty="0">
              <a:ln>
                <a:noFill/>
              </a:ln>
              <a:solidFill>
                <a:srgbClr val="0000FF"/>
              </a:solidFill>
              <a:effectLst/>
              <a:uLnTx/>
              <a:uFillTx/>
              <a:latin typeface="Calibri" pitchFamily="34" charset="0"/>
              <a:ea typeface="微軟正黑體" panose="020B0604030504040204" pitchFamily="34" charset="-120"/>
              <a:cs typeface="+mn-cs"/>
            </a:endParaRPr>
          </a:p>
        </p:txBody>
      </p:sp>
      <p:cxnSp>
        <p:nvCxnSpPr>
          <p:cNvPr id="84" name="直線接點 83"/>
          <p:cNvCxnSpPr/>
          <p:nvPr/>
        </p:nvCxnSpPr>
        <p:spPr>
          <a:xfrm>
            <a:off x="4212902" y="2182705"/>
            <a:ext cx="1611" cy="4126615"/>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53" name="直線圖說文字 1 (無框線) 52"/>
          <p:cNvSpPr/>
          <p:nvPr/>
        </p:nvSpPr>
        <p:spPr>
          <a:xfrm>
            <a:off x="7457226" y="1244691"/>
            <a:ext cx="1003205" cy="597752"/>
          </a:xfrm>
          <a:prstGeom prst="callout1">
            <a:avLst>
              <a:gd name="adj1" fmla="val 26733"/>
              <a:gd name="adj2" fmla="val 10101"/>
              <a:gd name="adj3" fmla="val 128467"/>
              <a:gd name="adj4" fmla="val -41097"/>
            </a:avLst>
          </a:prstGeom>
          <a:solidFill>
            <a:srgbClr val="0000FF"/>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prstClr val="white"/>
                </a:solidFill>
                <a:effectLst/>
                <a:uLnTx/>
                <a:uFillTx/>
                <a:latin typeface="標楷體" panose="03000509000000000000" pitchFamily="65" charset="-120"/>
                <a:ea typeface="標楷體" panose="03000509000000000000" pitchFamily="65" charset="-120"/>
                <a:cs typeface="+mn-cs"/>
              </a:rPr>
              <a:t>驗證</a:t>
            </a:r>
            <a:endParaRPr kumimoji="0" lang="en-US" altLang="zh-TW" sz="1400" b="0" i="0" u="none" strike="noStrike" kern="1200" cap="none" spc="0" normalizeH="0" baseline="0" noProof="0" dirty="0" smtClean="0">
              <a:ln>
                <a:noFill/>
              </a:ln>
              <a:solidFill>
                <a:prstClr val="white"/>
              </a:solidFill>
              <a:effectLst/>
              <a:uLnTx/>
              <a:uFillTx/>
              <a:latin typeface="標楷體" panose="03000509000000000000" pitchFamily="65" charset="-120"/>
              <a:ea typeface="標楷體" panose="03000509000000000000" pitchFamily="65"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prstClr val="white"/>
                </a:solidFill>
                <a:effectLst/>
                <a:uLnTx/>
                <a:uFillTx/>
                <a:latin typeface="標楷體" panose="03000509000000000000" pitchFamily="65" charset="-120"/>
                <a:ea typeface="標楷體" panose="03000509000000000000" pitchFamily="65" charset="-120"/>
                <a:cs typeface="+mn-cs"/>
              </a:rPr>
              <a:t>簽章值</a:t>
            </a:r>
            <a:endParaRPr kumimoji="0" lang="zh-TW" altLang="en-US" sz="1400" b="0" i="0" u="none" strike="noStrike" kern="1200" cap="none" spc="0" normalizeH="0" baseline="0" noProof="0" dirty="0">
              <a:ln>
                <a:noFill/>
              </a:ln>
              <a:solidFill>
                <a:prstClr val="white"/>
              </a:solidFill>
              <a:effectLst/>
              <a:uLnTx/>
              <a:uFillTx/>
              <a:latin typeface="標楷體" panose="03000509000000000000" pitchFamily="65" charset="-120"/>
              <a:ea typeface="標楷體" panose="03000509000000000000" pitchFamily="65" charset="-120"/>
              <a:cs typeface="+mn-cs"/>
            </a:endParaRPr>
          </a:p>
        </p:txBody>
      </p:sp>
      <p:sp>
        <p:nvSpPr>
          <p:cNvPr id="54" name="矩形 53"/>
          <p:cNvSpPr/>
          <p:nvPr/>
        </p:nvSpPr>
        <p:spPr>
          <a:xfrm>
            <a:off x="1886639" y="237820"/>
            <a:ext cx="5051390" cy="881767"/>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kumimoji="0" lang="zh-TW" altLang="en-US" sz="5400" b="0" i="0" u="none" strike="noStrike" kern="1200" cap="none" spc="0" normalizeH="0" baseline="0" noProof="0" dirty="0" smtClean="0">
                <a:ln>
                  <a:noFill/>
                </a:ln>
                <a:solidFill>
                  <a:prstClr val="white"/>
                </a:solidFill>
                <a:effectLst/>
                <a:uLnTx/>
                <a:uFillTx/>
                <a:latin typeface="標楷體" panose="03000509000000000000" pitchFamily="65" charset="-120"/>
                <a:ea typeface="標楷體" panose="03000509000000000000" pitchFamily="65" charset="-120"/>
                <a:cs typeface="+mn-cs"/>
              </a:rPr>
              <a:t>簽驗</a:t>
            </a:r>
            <a:r>
              <a:rPr lang="zh-TW" altLang="en-US" sz="5400" dirty="0">
                <a:solidFill>
                  <a:prstClr val="white"/>
                </a:solidFill>
                <a:latin typeface="標楷體" panose="03000509000000000000" pitchFamily="65" charset="-120"/>
                <a:ea typeface="標楷體" panose="03000509000000000000" pitchFamily="65" charset="-120"/>
              </a:rPr>
              <a:t>章</a:t>
            </a:r>
            <a:r>
              <a:rPr lang="en-US" altLang="zh-TW" sz="5400" dirty="0">
                <a:solidFill>
                  <a:prstClr val="white"/>
                </a:solidFill>
                <a:latin typeface="標楷體" panose="03000509000000000000" pitchFamily="65" charset="-120"/>
                <a:ea typeface="標楷體" panose="03000509000000000000" pitchFamily="65" charset="-120"/>
              </a:rPr>
              <a:t>(</a:t>
            </a:r>
            <a:r>
              <a:rPr lang="zh-TW" altLang="en-US" sz="5400" dirty="0" smtClean="0">
                <a:solidFill>
                  <a:prstClr val="white"/>
                </a:solidFill>
                <a:latin typeface="標楷體" panose="03000509000000000000" pitchFamily="65" charset="-120"/>
                <a:ea typeface="標楷體" panose="03000509000000000000" pitchFamily="65" charset="-120"/>
              </a:rPr>
              <a:t>版本</a:t>
            </a:r>
            <a:r>
              <a:rPr lang="en-US" altLang="zh-TW" sz="5400" dirty="0">
                <a:solidFill>
                  <a:prstClr val="white"/>
                </a:solidFill>
                <a:latin typeface="標楷體" panose="03000509000000000000" pitchFamily="65" charset="-120"/>
                <a:ea typeface="標楷體" panose="03000509000000000000" pitchFamily="65" charset="-120"/>
              </a:rPr>
              <a:t>3</a:t>
            </a:r>
            <a:r>
              <a:rPr lang="en-US" altLang="zh-TW" sz="5400" dirty="0" smtClean="0">
                <a:solidFill>
                  <a:prstClr val="white"/>
                </a:solidFill>
                <a:latin typeface="標楷體" panose="03000509000000000000" pitchFamily="65" charset="-120"/>
                <a:ea typeface="標楷體" panose="03000509000000000000" pitchFamily="65" charset="-120"/>
              </a:rPr>
              <a:t>)</a:t>
            </a:r>
            <a:endParaRPr lang="zh-TW" altLang="en-US" sz="5400" dirty="0">
              <a:solidFill>
                <a:prstClr val="white"/>
              </a:solidFill>
              <a:latin typeface="標楷體" panose="03000509000000000000" pitchFamily="65" charset="-120"/>
              <a:ea typeface="標楷體" panose="03000509000000000000" pitchFamily="65" charset="-120"/>
            </a:endParaRPr>
          </a:p>
        </p:txBody>
      </p:sp>
      <p:sp>
        <p:nvSpPr>
          <p:cNvPr id="55" name="橢圓 54"/>
          <p:cNvSpPr/>
          <p:nvPr/>
        </p:nvSpPr>
        <p:spPr>
          <a:xfrm>
            <a:off x="558571" y="3691157"/>
            <a:ext cx="727683" cy="859436"/>
          </a:xfrm>
          <a:prstGeom prst="ellipse">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雜湊</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22" name="矩形 21"/>
          <p:cNvSpPr/>
          <p:nvPr/>
        </p:nvSpPr>
        <p:spPr>
          <a:xfrm>
            <a:off x="431514" y="4854409"/>
            <a:ext cx="981799" cy="526217"/>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rPr>
              <a:t>雜湊值</a:t>
            </a:r>
          </a:p>
        </p:txBody>
      </p:sp>
      <p:cxnSp>
        <p:nvCxnSpPr>
          <p:cNvPr id="26" name="直線單箭頭接點 25"/>
          <p:cNvCxnSpPr>
            <a:stCxn id="58" idx="2"/>
            <a:endCxn id="55" idx="0"/>
          </p:cNvCxnSpPr>
          <p:nvPr/>
        </p:nvCxnSpPr>
        <p:spPr>
          <a:xfrm flipH="1">
            <a:off x="922413" y="3320338"/>
            <a:ext cx="6273" cy="370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直線單箭頭接點 27"/>
          <p:cNvCxnSpPr>
            <a:stCxn id="55" idx="4"/>
            <a:endCxn id="22" idx="0"/>
          </p:cNvCxnSpPr>
          <p:nvPr/>
        </p:nvCxnSpPr>
        <p:spPr>
          <a:xfrm>
            <a:off x="922413" y="4550593"/>
            <a:ext cx="1" cy="3038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直線單箭頭接點 72"/>
          <p:cNvCxnSpPr>
            <a:stCxn id="58" idx="3"/>
            <a:endCxn id="59" idx="1"/>
          </p:cNvCxnSpPr>
          <p:nvPr/>
        </p:nvCxnSpPr>
        <p:spPr>
          <a:xfrm flipV="1">
            <a:off x="1358680" y="2833048"/>
            <a:ext cx="3418341" cy="4659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2" name="橢圓 81"/>
          <p:cNvSpPr/>
          <p:nvPr/>
        </p:nvSpPr>
        <p:spPr>
          <a:xfrm>
            <a:off x="5986043" y="2403329"/>
            <a:ext cx="727683" cy="859436"/>
          </a:xfrm>
          <a:prstGeom prst="ellipse">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雜湊</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83" name="矩形 82"/>
          <p:cNvSpPr/>
          <p:nvPr/>
        </p:nvSpPr>
        <p:spPr>
          <a:xfrm>
            <a:off x="7047699" y="2555655"/>
            <a:ext cx="981799" cy="52621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rPr>
              <a:t>雜湊值</a:t>
            </a:r>
          </a:p>
        </p:txBody>
      </p:sp>
      <p:cxnSp>
        <p:nvCxnSpPr>
          <p:cNvPr id="38" name="直線單箭頭接點 37"/>
          <p:cNvCxnSpPr>
            <a:stCxn id="59" idx="3"/>
            <a:endCxn id="82" idx="2"/>
          </p:cNvCxnSpPr>
          <p:nvPr/>
        </p:nvCxnSpPr>
        <p:spPr>
          <a:xfrm flipV="1">
            <a:off x="5637010" y="2833047"/>
            <a:ext cx="34903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直線單箭頭接點 43"/>
          <p:cNvCxnSpPr>
            <a:stCxn id="82" idx="6"/>
            <a:endCxn id="83" idx="1"/>
          </p:cNvCxnSpPr>
          <p:nvPr/>
        </p:nvCxnSpPr>
        <p:spPr>
          <a:xfrm flipV="1">
            <a:off x="6713726" y="2818764"/>
            <a:ext cx="333973" cy="14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5" name="橢圓 84"/>
          <p:cNvSpPr/>
          <p:nvPr/>
        </p:nvSpPr>
        <p:spPr>
          <a:xfrm>
            <a:off x="5895351" y="4656636"/>
            <a:ext cx="727683" cy="861172"/>
          </a:xfrm>
          <a:prstGeom prst="ellipse">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srgbClr val="FFFF00"/>
                </a:solidFill>
                <a:effectLst/>
                <a:uLnTx/>
                <a:uFillTx/>
                <a:latin typeface="Calibri" pitchFamily="34" charset="0"/>
                <a:ea typeface="微軟正黑體" panose="020B0604030504040204" pitchFamily="34" charset="-120"/>
                <a:cs typeface="+mn-cs"/>
              </a:rPr>
              <a:t>解簽章</a:t>
            </a:r>
            <a:endParaRPr kumimoji="0" lang="zh-TW" altLang="en-US" sz="1600" b="0" i="0" u="none" strike="noStrike" kern="1200" cap="none" spc="0" normalizeH="0" baseline="0" noProof="0" dirty="0">
              <a:ln>
                <a:noFill/>
              </a:ln>
              <a:solidFill>
                <a:srgbClr val="FFFF00"/>
              </a:solidFill>
              <a:effectLst/>
              <a:uLnTx/>
              <a:uFillTx/>
              <a:latin typeface="Calibri" pitchFamily="34" charset="0"/>
              <a:ea typeface="微軟正黑體" panose="020B0604030504040204" pitchFamily="34" charset="-120"/>
              <a:cs typeface="+mn-cs"/>
            </a:endParaRPr>
          </a:p>
        </p:txBody>
      </p:sp>
      <p:sp>
        <p:nvSpPr>
          <p:cNvPr id="86" name="矩形 85"/>
          <p:cNvSpPr/>
          <p:nvPr/>
        </p:nvSpPr>
        <p:spPr>
          <a:xfrm>
            <a:off x="7047699" y="4824113"/>
            <a:ext cx="981799" cy="526217"/>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rPr>
              <a:t>雜湊值</a:t>
            </a:r>
          </a:p>
        </p:txBody>
      </p:sp>
      <p:cxnSp>
        <p:nvCxnSpPr>
          <p:cNvPr id="57" name="直線單箭頭接點 56"/>
          <p:cNvCxnSpPr>
            <a:endCxn id="93" idx="0"/>
          </p:cNvCxnSpPr>
          <p:nvPr/>
        </p:nvCxnSpPr>
        <p:spPr>
          <a:xfrm>
            <a:off x="7538599" y="3066078"/>
            <a:ext cx="19611" cy="7368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直線單箭頭接點 88"/>
          <p:cNvCxnSpPr>
            <a:stCxn id="86" idx="0"/>
            <a:endCxn id="93" idx="2"/>
          </p:cNvCxnSpPr>
          <p:nvPr/>
        </p:nvCxnSpPr>
        <p:spPr>
          <a:xfrm flipV="1">
            <a:off x="7538599" y="4115287"/>
            <a:ext cx="19611" cy="7088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3" name="矩形 92"/>
          <p:cNvSpPr/>
          <p:nvPr/>
        </p:nvSpPr>
        <p:spPr>
          <a:xfrm>
            <a:off x="6913440" y="3802945"/>
            <a:ext cx="1289540" cy="312342"/>
          </a:xfrm>
          <a:prstGeom prst="rect">
            <a:avLst/>
          </a:prstGeom>
          <a:solidFill>
            <a:srgbClr val="00CC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是否相等</a:t>
            </a: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a:t>
            </a:r>
            <a:endPar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sp>
        <p:nvSpPr>
          <p:cNvPr id="94" name="直線圖說文字 1 (無框線) 93"/>
          <p:cNvSpPr/>
          <p:nvPr/>
        </p:nvSpPr>
        <p:spPr>
          <a:xfrm>
            <a:off x="355984" y="1341272"/>
            <a:ext cx="1080120" cy="624175"/>
          </a:xfrm>
          <a:prstGeom prst="callout1">
            <a:avLst>
              <a:gd name="adj1" fmla="val 45146"/>
              <a:gd name="adj2" fmla="val 102255"/>
              <a:gd name="adj3" fmla="val 119099"/>
              <a:gd name="adj4" fmla="val 143947"/>
            </a:avLst>
          </a:prstGeom>
          <a:solidFill>
            <a:srgbClr val="0000FF"/>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prstClr val="white"/>
                </a:solidFill>
                <a:effectLst/>
                <a:uLnTx/>
                <a:uFillTx/>
                <a:latin typeface="標楷體" panose="03000509000000000000" pitchFamily="65" charset="-120"/>
                <a:ea typeface="標楷體" panose="03000509000000000000" pitchFamily="65" charset="-120"/>
                <a:cs typeface="+mn-cs"/>
              </a:rPr>
              <a:t>產生</a:t>
            </a:r>
            <a:endParaRPr kumimoji="0" lang="en-US" altLang="zh-TW" sz="1400" b="0" i="0" u="none" strike="noStrike" kern="1200" cap="none" spc="0" normalizeH="0" baseline="0" noProof="0" dirty="0" smtClean="0">
              <a:ln>
                <a:noFill/>
              </a:ln>
              <a:solidFill>
                <a:prstClr val="white"/>
              </a:solidFill>
              <a:effectLst/>
              <a:uLnTx/>
              <a:uFillTx/>
              <a:latin typeface="標楷體" panose="03000509000000000000" pitchFamily="65" charset="-120"/>
              <a:ea typeface="標楷體" panose="03000509000000000000" pitchFamily="65"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prstClr val="white"/>
                </a:solidFill>
                <a:effectLst/>
                <a:uLnTx/>
                <a:uFillTx/>
                <a:latin typeface="標楷體" panose="03000509000000000000" pitchFamily="65" charset="-120"/>
                <a:ea typeface="標楷體" panose="03000509000000000000" pitchFamily="65" charset="-120"/>
                <a:cs typeface="+mn-cs"/>
              </a:rPr>
              <a:t>簽章值</a:t>
            </a:r>
            <a:endParaRPr kumimoji="0" lang="zh-TW" altLang="en-US" sz="1400" b="0" i="0" u="none" strike="noStrike" kern="1200" cap="none" spc="0" normalizeH="0" baseline="0" noProof="0" dirty="0">
              <a:ln>
                <a:noFill/>
              </a:ln>
              <a:solidFill>
                <a:prstClr val="white"/>
              </a:solidFill>
              <a:effectLst/>
              <a:uLnTx/>
              <a:uFillTx/>
              <a:latin typeface="標楷體" panose="03000509000000000000" pitchFamily="65" charset="-120"/>
              <a:ea typeface="標楷體" panose="03000509000000000000" pitchFamily="65" charset="-120"/>
              <a:cs typeface="+mn-cs"/>
            </a:endParaRPr>
          </a:p>
        </p:txBody>
      </p:sp>
    </p:spTree>
    <p:extLst>
      <p:ext uri="{BB962C8B-B14F-4D97-AF65-F5344CB8AC3E}">
        <p14:creationId xmlns:p14="http://schemas.microsoft.com/office/powerpoint/2010/main" val="24706628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1000"/>
                                        <p:tgtEl>
                                          <p:spTgt spid="53"/>
                                        </p:tgtEl>
                                      </p:cBhvr>
                                    </p:animEffect>
                                    <p:anim calcmode="lin" valueType="num">
                                      <p:cBhvr>
                                        <p:cTn id="8" dur="1000" fill="hold"/>
                                        <p:tgtEl>
                                          <p:spTgt spid="53"/>
                                        </p:tgtEl>
                                        <p:attrNameLst>
                                          <p:attrName>ppt_x</p:attrName>
                                        </p:attrNameLst>
                                      </p:cBhvr>
                                      <p:tavLst>
                                        <p:tav tm="0">
                                          <p:val>
                                            <p:strVal val="#ppt_x"/>
                                          </p:val>
                                        </p:tav>
                                        <p:tav tm="100000">
                                          <p:val>
                                            <p:strVal val="#ppt_x"/>
                                          </p:val>
                                        </p:tav>
                                      </p:tavLst>
                                    </p:anim>
                                    <p:anim calcmode="lin" valueType="num">
                                      <p:cBhvr>
                                        <p:cTn id="9" dur="1000" fill="hold"/>
                                        <p:tgtEl>
                                          <p:spTgt spid="5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1066800" y="2852936"/>
            <a:ext cx="6255488" cy="1362075"/>
          </a:xfrm>
          <a:solidFill>
            <a:srgbClr val="0000FF"/>
          </a:solidFill>
          <a:ln w="25400">
            <a:solidFill>
              <a:srgbClr val="FF0000"/>
            </a:solidFill>
          </a:ln>
        </p:spPr>
        <p:txBody>
          <a:bodyPr anchor="ctr"/>
          <a:lstStyle/>
          <a:p>
            <a:pPr algn="ctr"/>
            <a:r>
              <a:rPr lang="en-US" altLang="zh-TW" dirty="0" smtClean="0">
                <a:solidFill>
                  <a:schemeClr val="bg1"/>
                </a:solidFill>
                <a:latin typeface="標楷體" panose="03000509000000000000" pitchFamily="65" charset="-120"/>
                <a:ea typeface="標楷體" panose="03000509000000000000" pitchFamily="65" charset="-120"/>
              </a:rPr>
              <a:t>B.4 </a:t>
            </a:r>
            <a:r>
              <a:rPr lang="zh-TW" altLang="en-US" dirty="0">
                <a:solidFill>
                  <a:schemeClr val="bg1"/>
                </a:solidFill>
                <a:latin typeface="標楷體" panose="03000509000000000000" pitchFamily="65" charset="-120"/>
                <a:ea typeface="標楷體" panose="03000509000000000000" pitchFamily="65" charset="-120"/>
              </a:rPr>
              <a:t>雜湊函數 </a:t>
            </a:r>
            <a:r>
              <a:rPr lang="en-US" altLang="zh-TW" dirty="0">
                <a:solidFill>
                  <a:schemeClr val="bg1"/>
                </a:solidFill>
                <a:latin typeface="標楷體" panose="03000509000000000000" pitchFamily="65" charset="-120"/>
                <a:ea typeface="標楷體" panose="03000509000000000000" pitchFamily="65" charset="-120"/>
              </a:rPr>
              <a:t>(HASH)</a:t>
            </a:r>
            <a:endParaRPr lang="zh-TW" altLang="en-US" dirty="0">
              <a:solidFill>
                <a:schemeClr val="bg1"/>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99772492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title"/>
          </p:nvPr>
        </p:nvSpPr>
        <p:spPr>
          <a:xfrm>
            <a:off x="179388" y="188913"/>
            <a:ext cx="8651875" cy="1143000"/>
          </a:xfrm>
        </p:spPr>
        <p:txBody>
          <a:bodyPr/>
          <a:lstStyle/>
          <a:p>
            <a:pPr eaLnBrk="1" hangingPunct="1"/>
            <a:r>
              <a:rPr lang="zh-TW" altLang="en-US" dirty="0" smtClean="0"/>
              <a:t>雜湊函數</a:t>
            </a:r>
            <a:r>
              <a:rPr lang="en-US" altLang="zh-TW" dirty="0" smtClean="0"/>
              <a:t>(Hash Function)</a:t>
            </a:r>
          </a:p>
        </p:txBody>
      </p:sp>
      <p:sp>
        <p:nvSpPr>
          <p:cNvPr id="77827" name="Rectangle 4"/>
          <p:cNvSpPr>
            <a:spLocks noChangeArrowheads="1"/>
          </p:cNvSpPr>
          <p:nvPr/>
        </p:nvSpPr>
        <p:spPr bwMode="auto">
          <a:xfrm>
            <a:off x="2051050" y="5084763"/>
            <a:ext cx="5094288" cy="110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a:spAutoFit/>
          </a:bodyP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zh-TW" sz="1800" b="0" i="0" u="none" strike="noStrike" kern="1200" cap="none" spc="0" normalizeH="0" baseline="0" noProof="0" dirty="0">
                <a:ln>
                  <a:noFill/>
                </a:ln>
                <a:solidFill>
                  <a:srgbClr val="000000"/>
                </a:solidFill>
                <a:effectLst/>
                <a:uLnTx/>
                <a:uFillTx/>
                <a:latin typeface="Arial" charset="0"/>
                <a:ea typeface="標楷體" pitchFamily="65" charset="-120"/>
                <a:cs typeface="+mn-cs"/>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TW" altLang="en-US"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以</a:t>
            </a:r>
            <a:r>
              <a:rPr kumimoji="0" lang="en-US" altLang="zh-TW"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SHA-1</a:t>
            </a:r>
            <a:r>
              <a:rPr kumimoji="0" lang="zh-TW" altLang="en-US"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為例</a:t>
            </a:r>
            <a:r>
              <a:rPr kumimoji="0" lang="en-US" altLang="zh-TW"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a:t>
            </a:r>
            <a:r>
              <a:rPr kumimoji="0" lang="zh-TW" altLang="en-US"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輸出固定為</a:t>
            </a:r>
            <a:r>
              <a:rPr kumimoji="0" lang="en-US" altLang="zh-TW"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20</a:t>
            </a:r>
            <a:r>
              <a:rPr kumimoji="0" lang="zh-TW" altLang="zh-TW"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 byte</a:t>
            </a:r>
            <a:endParaRPr kumimoji="0" lang="en-US" altLang="zh-TW"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endParaRPr>
          </a:p>
          <a:p>
            <a:pPr marL="0" marR="0" lvl="0" indent="0" algn="ctr" defTabSz="914400" rtl="0" eaLnBrk="1" fontAlgn="base" latinLnBrk="0" hangingPunct="1">
              <a:lnSpc>
                <a:spcPct val="100000"/>
              </a:lnSpc>
              <a:spcBef>
                <a:spcPct val="0"/>
              </a:spcBef>
              <a:spcAft>
                <a:spcPct val="0"/>
              </a:spcAft>
              <a:buClrTx/>
              <a:buSzTx/>
              <a:buFontTx/>
              <a:buNone/>
              <a:tabLst/>
              <a:defRPr/>
            </a:pPr>
            <a:r>
              <a:rPr kumimoji="1" lang="zh-TW" altLang="zh-TW"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ie: abcdefgxyz123456</a:t>
            </a:r>
            <a:r>
              <a:rPr kumimoji="1" lang="en-US" altLang="zh-TW" sz="2400" b="1" i="0" u="none" strike="noStrike" kern="1200" cap="none" spc="0" normalizeH="0" baseline="0" noProof="0" dirty="0">
                <a:ln>
                  <a:noFill/>
                </a:ln>
                <a:solidFill>
                  <a:srgbClr val="0000FF"/>
                </a:solidFill>
                <a:effectLst/>
                <a:uLnTx/>
                <a:uFillTx/>
                <a:latin typeface="標楷體" pitchFamily="65" charset="-120"/>
                <a:ea typeface="標楷體" pitchFamily="65" charset="-120"/>
                <a:cs typeface="+mn-cs"/>
              </a:rPr>
              <a:t>7890</a:t>
            </a:r>
          </a:p>
        </p:txBody>
      </p:sp>
      <p:pic>
        <p:nvPicPr>
          <p:cNvPr id="77828" name="Picture 5" descr="j0198771[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9750" y="2565400"/>
            <a:ext cx="1835150" cy="187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29" name="Picture 7" descr="j0346543[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83438" y="3230563"/>
            <a:ext cx="1060450"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30" name="AutoShape 8"/>
          <p:cNvSpPr>
            <a:spLocks noChangeArrowheads="1"/>
          </p:cNvSpPr>
          <p:nvPr/>
        </p:nvSpPr>
        <p:spPr bwMode="auto">
          <a:xfrm>
            <a:off x="2627313" y="3068638"/>
            <a:ext cx="936625" cy="647700"/>
          </a:xfrm>
          <a:prstGeom prst="rightArrow">
            <a:avLst>
              <a:gd name="adj1" fmla="val 50000"/>
              <a:gd name="adj2" fmla="val 36152"/>
            </a:avLst>
          </a:prstGeom>
          <a:noFill/>
          <a:ln w="25400" algn="ctr">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charset="0"/>
              <a:ea typeface="標楷體" pitchFamily="65" charset="-120"/>
              <a:cs typeface="+mn-cs"/>
            </a:endParaRPr>
          </a:p>
        </p:txBody>
      </p:sp>
      <p:sp>
        <p:nvSpPr>
          <p:cNvPr id="77831" name="AutoShape 9"/>
          <p:cNvSpPr>
            <a:spLocks noChangeArrowheads="1"/>
          </p:cNvSpPr>
          <p:nvPr/>
        </p:nvSpPr>
        <p:spPr bwMode="auto">
          <a:xfrm>
            <a:off x="6083300" y="3068638"/>
            <a:ext cx="936625" cy="647700"/>
          </a:xfrm>
          <a:prstGeom prst="rightArrow">
            <a:avLst>
              <a:gd name="adj1" fmla="val 50000"/>
              <a:gd name="adj2" fmla="val 36152"/>
            </a:avLst>
          </a:prstGeom>
          <a:noFill/>
          <a:ln w="25400" algn="ctr">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charset="0"/>
              <a:ea typeface="標楷體" pitchFamily="65" charset="-120"/>
              <a:cs typeface="+mn-cs"/>
            </a:endParaRPr>
          </a:p>
        </p:txBody>
      </p:sp>
      <p:sp>
        <p:nvSpPr>
          <p:cNvPr id="77832" name="Text Box 10"/>
          <p:cNvSpPr txBox="1">
            <a:spLocks noChangeArrowheads="1"/>
          </p:cNvSpPr>
          <p:nvPr/>
        </p:nvSpPr>
        <p:spPr bwMode="auto">
          <a:xfrm>
            <a:off x="755650" y="4581525"/>
            <a:ext cx="12239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a:spAutoFit/>
          </a:bodyP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zh-TW" altLang="en-US" sz="1800" b="0" i="0" u="none" strike="noStrike" kern="1200" cap="none" spc="0" normalizeH="0" baseline="0" noProof="0" dirty="0">
                <a:ln>
                  <a:noFill/>
                </a:ln>
                <a:solidFill>
                  <a:srgbClr val="0033CC"/>
                </a:solidFill>
                <a:effectLst/>
                <a:uLnTx/>
                <a:uFillTx/>
                <a:latin typeface="Arial" charset="0"/>
                <a:ea typeface="標楷體" pitchFamily="65" charset="-120"/>
                <a:cs typeface="+mn-cs"/>
              </a:rPr>
              <a:t>訊息原文</a:t>
            </a:r>
            <a:r>
              <a:rPr kumimoji="0" lang="en-US" altLang="zh-TW" sz="1800" b="0" i="0" u="none" strike="noStrike" kern="1200" cap="none" spc="0" normalizeH="0" baseline="0" noProof="0" dirty="0">
                <a:ln>
                  <a:noFill/>
                </a:ln>
                <a:solidFill>
                  <a:srgbClr val="000000"/>
                </a:solidFill>
                <a:effectLst/>
                <a:uLnTx/>
                <a:uFillTx/>
                <a:latin typeface="Arial" charset="0"/>
                <a:ea typeface="標楷體" pitchFamily="65" charset="-120"/>
                <a:cs typeface="+mn-cs"/>
              </a:rPr>
              <a:t>(</a:t>
            </a:r>
            <a:r>
              <a:rPr kumimoji="0" lang="zh-TW" altLang="en-US" sz="1800" b="0" i="0" u="none" strike="noStrike" kern="1200" cap="none" spc="0" normalizeH="0" baseline="0" noProof="0" dirty="0">
                <a:ln>
                  <a:noFill/>
                </a:ln>
                <a:solidFill>
                  <a:srgbClr val="000000"/>
                </a:solidFill>
                <a:effectLst/>
                <a:uLnTx/>
                <a:uFillTx/>
                <a:latin typeface="Arial" charset="0"/>
                <a:ea typeface="標楷體" pitchFamily="65" charset="-120"/>
                <a:cs typeface="+mn-cs"/>
              </a:rPr>
              <a:t>一篇文章</a:t>
            </a:r>
            <a:r>
              <a:rPr kumimoji="0" lang="en-US" altLang="zh-TW" sz="1800" b="0" i="0" u="none" strike="noStrike" kern="1200" cap="none" spc="0" normalizeH="0" baseline="0" noProof="0" dirty="0">
                <a:ln>
                  <a:noFill/>
                </a:ln>
                <a:solidFill>
                  <a:srgbClr val="000000"/>
                </a:solidFill>
                <a:effectLst/>
                <a:uLnTx/>
                <a:uFillTx/>
                <a:latin typeface="Arial" charset="0"/>
                <a:ea typeface="標楷體" pitchFamily="65" charset="-120"/>
                <a:cs typeface="+mn-cs"/>
              </a:rPr>
              <a:t>)</a:t>
            </a:r>
          </a:p>
        </p:txBody>
      </p:sp>
      <p:sp>
        <p:nvSpPr>
          <p:cNvPr id="77833" name="Text Box 11"/>
          <p:cNvSpPr txBox="1">
            <a:spLocks noChangeArrowheads="1"/>
          </p:cNvSpPr>
          <p:nvPr/>
        </p:nvSpPr>
        <p:spPr bwMode="auto">
          <a:xfrm>
            <a:off x="3995738" y="4581525"/>
            <a:ext cx="187166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txBody>
          <a:bodyPr>
            <a:spAutoFit/>
          </a:bodyP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zh-TW" altLang="zh-TW" sz="1800" b="0" i="0" u="sng" strike="noStrike" kern="1200" cap="none" spc="0" normalizeH="0" baseline="0" noProof="0" dirty="0">
                <a:ln>
                  <a:noFill/>
                </a:ln>
                <a:solidFill>
                  <a:srgbClr val="0033CC"/>
                </a:solidFill>
                <a:effectLst/>
                <a:uLnTx/>
                <a:uFillTx/>
                <a:latin typeface="Arial" charset="0"/>
                <a:ea typeface="標楷體" pitchFamily="65" charset="-120"/>
                <a:cs typeface="+mn-cs"/>
              </a:rPr>
              <a:t>Hash</a:t>
            </a:r>
            <a:r>
              <a:rPr kumimoji="0" lang="zh-TW" altLang="zh-TW" sz="1800" b="0" i="0" u="sng" strike="noStrike" kern="1200" cap="none" spc="0" normalizeH="0" baseline="0" noProof="0" dirty="0">
                <a:ln>
                  <a:noFill/>
                </a:ln>
                <a:solidFill>
                  <a:srgbClr val="0033CC"/>
                </a:solidFill>
                <a:effectLst/>
                <a:uLnTx/>
                <a:uFillTx/>
                <a:latin typeface="標楷體" pitchFamily="65" charset="-120"/>
                <a:ea typeface="標楷體" pitchFamily="65" charset="-120"/>
                <a:cs typeface="+mn-cs"/>
              </a:rPr>
              <a:t>(雜湊函</a:t>
            </a:r>
            <a:r>
              <a:rPr kumimoji="0" lang="zh-TW" altLang="en-US" sz="1800" b="0" i="0" u="sng" strike="noStrike" kern="1200" cap="none" spc="0" normalizeH="0" baseline="0" noProof="0" dirty="0">
                <a:ln>
                  <a:noFill/>
                </a:ln>
                <a:solidFill>
                  <a:srgbClr val="0033CC"/>
                </a:solidFill>
                <a:effectLst/>
                <a:uLnTx/>
                <a:uFillTx/>
                <a:latin typeface="標楷體" pitchFamily="65" charset="-120"/>
                <a:ea typeface="標楷體" pitchFamily="65" charset="-120"/>
                <a:cs typeface="+mn-cs"/>
              </a:rPr>
              <a:t>數</a:t>
            </a:r>
            <a:r>
              <a:rPr kumimoji="0" lang="zh-TW" altLang="zh-TW" sz="1800" b="0" i="0" u="sng" strike="noStrike" kern="1200" cap="none" spc="0" normalizeH="0" baseline="0" noProof="0" dirty="0">
                <a:ln>
                  <a:noFill/>
                </a:ln>
                <a:solidFill>
                  <a:srgbClr val="0033CC"/>
                </a:solidFill>
                <a:effectLst/>
                <a:uLnTx/>
                <a:uFillTx/>
                <a:latin typeface="標楷體" pitchFamily="65" charset="-120"/>
                <a:ea typeface="標楷體" pitchFamily="65" charset="-120"/>
                <a:cs typeface="+mn-cs"/>
              </a:rPr>
              <a:t>)</a:t>
            </a:r>
            <a:endParaRPr kumimoji="0" lang="en-US" altLang="zh-TW" sz="1800" b="0" i="0" u="sng" strike="noStrike" kern="1200" cap="none" spc="0" normalizeH="0" baseline="0" noProof="0" dirty="0">
              <a:ln>
                <a:noFill/>
              </a:ln>
              <a:solidFill>
                <a:srgbClr val="0033CC"/>
              </a:solidFill>
              <a:effectLst/>
              <a:uLnTx/>
              <a:uFillTx/>
              <a:latin typeface="標楷體" pitchFamily="65" charset="-120"/>
              <a:ea typeface="標楷體" pitchFamily="65" charset="-120"/>
              <a:cs typeface="+mn-cs"/>
            </a:endParaRPr>
          </a:p>
        </p:txBody>
      </p:sp>
      <p:sp>
        <p:nvSpPr>
          <p:cNvPr id="77834" name="Text Box 12"/>
          <p:cNvSpPr txBox="1">
            <a:spLocks noChangeArrowheads="1"/>
          </p:cNvSpPr>
          <p:nvPr/>
        </p:nvSpPr>
        <p:spPr bwMode="auto">
          <a:xfrm>
            <a:off x="6339680" y="2526632"/>
            <a:ext cx="2747963" cy="369332"/>
          </a:xfrm>
          <a:prstGeom prst="rect">
            <a:avLst/>
          </a:prstGeom>
          <a:noFill/>
          <a:ln w="25400" algn="ctr">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zh-TW" altLang="zh-TW" sz="1800" b="0" i="0" u="none" strike="noStrike" kern="1200" cap="none" spc="0" normalizeH="0" baseline="0" noProof="0" dirty="0">
                <a:ln>
                  <a:noFill/>
                </a:ln>
                <a:solidFill>
                  <a:srgbClr val="0033CC"/>
                </a:solidFill>
                <a:effectLst/>
                <a:uLnTx/>
                <a:uFillTx/>
                <a:latin typeface="標楷體" pitchFamily="65" charset="-120"/>
                <a:ea typeface="標楷體" pitchFamily="65" charset="-120"/>
                <a:cs typeface="+mn-cs"/>
              </a:rPr>
              <a:t>Hash </a:t>
            </a:r>
            <a:r>
              <a:rPr kumimoji="0" lang="zh-TW" altLang="zh-TW" sz="1800" b="0" i="0" u="none" strike="noStrike" kern="1200" cap="none" spc="0" normalizeH="0" baseline="0" noProof="0" dirty="0" smtClean="0">
                <a:ln>
                  <a:noFill/>
                </a:ln>
                <a:solidFill>
                  <a:srgbClr val="0033CC"/>
                </a:solidFill>
                <a:effectLst/>
                <a:uLnTx/>
                <a:uFillTx/>
                <a:latin typeface="標楷體" pitchFamily="65" charset="-120"/>
                <a:ea typeface="標楷體" pitchFamily="65" charset="-120"/>
                <a:cs typeface="+mn-cs"/>
              </a:rPr>
              <a:t>value</a:t>
            </a:r>
            <a:r>
              <a:rPr kumimoji="0" lang="en-US" altLang="zh-TW" sz="1800" b="0" i="0" u="none" strike="noStrike" kern="1200" cap="none" spc="0" normalizeH="0" baseline="0" noProof="0" dirty="0" smtClean="0">
                <a:ln>
                  <a:noFill/>
                </a:ln>
                <a:solidFill>
                  <a:srgbClr val="0033CC"/>
                </a:solidFill>
                <a:effectLst/>
                <a:uLnTx/>
                <a:uFillTx/>
                <a:latin typeface="標楷體" pitchFamily="65" charset="-120"/>
                <a:ea typeface="標楷體" pitchFamily="65" charset="-120"/>
                <a:cs typeface="+mn-cs"/>
              </a:rPr>
              <a:t>(</a:t>
            </a:r>
            <a:r>
              <a:rPr kumimoji="0" lang="zh-TW" altLang="en-US" sz="1800" b="0" i="0" u="none" strike="noStrike" kern="1200" cap="none" spc="0" normalizeH="0" baseline="0" noProof="0" dirty="0" smtClean="0">
                <a:ln>
                  <a:noFill/>
                </a:ln>
                <a:solidFill>
                  <a:srgbClr val="0033CC"/>
                </a:solidFill>
                <a:effectLst/>
                <a:uLnTx/>
                <a:uFillTx/>
                <a:latin typeface="標楷體" pitchFamily="65" charset="-120"/>
                <a:ea typeface="標楷體" pitchFamily="65" charset="-120"/>
                <a:cs typeface="+mn-cs"/>
              </a:rPr>
              <a:t>固定長度</a:t>
            </a:r>
            <a:r>
              <a:rPr kumimoji="0" lang="en-US" altLang="zh-TW" sz="1800" b="0" i="0" u="none" strike="noStrike" kern="1200" cap="none" spc="0" normalizeH="0" baseline="0" noProof="0" dirty="0" smtClean="0">
                <a:ln>
                  <a:noFill/>
                </a:ln>
                <a:solidFill>
                  <a:srgbClr val="0033CC"/>
                </a:solidFill>
                <a:effectLst/>
                <a:uLnTx/>
                <a:uFillTx/>
                <a:latin typeface="標楷體" pitchFamily="65" charset="-120"/>
                <a:ea typeface="標楷體" pitchFamily="65" charset="-120"/>
                <a:cs typeface="+mn-cs"/>
              </a:rPr>
              <a:t>)</a:t>
            </a:r>
            <a:endParaRPr kumimoji="0" lang="zh-TW" altLang="en-US" sz="1800" b="0" i="0" u="none" strike="noStrike" kern="1200" cap="none" spc="0" normalizeH="0" baseline="0" noProof="0" dirty="0">
              <a:ln>
                <a:noFill/>
              </a:ln>
              <a:solidFill>
                <a:srgbClr val="0033CC"/>
              </a:solidFill>
              <a:effectLst/>
              <a:uLnTx/>
              <a:uFillTx/>
              <a:latin typeface="標楷體" pitchFamily="65" charset="-120"/>
              <a:ea typeface="標楷體" pitchFamily="65" charset="-120"/>
              <a:cs typeface="+mn-cs"/>
            </a:endParaRPr>
          </a:p>
        </p:txBody>
      </p:sp>
      <p:sp>
        <p:nvSpPr>
          <p:cNvPr id="77835" name="Rectangle 13"/>
          <p:cNvSpPr>
            <a:spLocks noChangeArrowheads="1"/>
          </p:cNvSpPr>
          <p:nvPr/>
        </p:nvSpPr>
        <p:spPr bwMode="auto">
          <a:xfrm>
            <a:off x="2124075" y="5229225"/>
            <a:ext cx="4968875" cy="1081088"/>
          </a:xfrm>
          <a:prstGeom prst="rect">
            <a:avLst/>
          </a:prstGeom>
          <a:noFill/>
          <a:ln w="25400">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charset="0"/>
              <a:ea typeface="標楷體" pitchFamily="65" charset="-120"/>
              <a:cs typeface="+mn-cs"/>
            </a:endParaRPr>
          </a:p>
        </p:txBody>
      </p:sp>
      <p:sp useBgFill="1">
        <p:nvSpPr>
          <p:cNvPr id="77836" name="Rectangle 14"/>
          <p:cNvSpPr>
            <a:spLocks noChangeArrowheads="1"/>
          </p:cNvSpPr>
          <p:nvPr/>
        </p:nvSpPr>
        <p:spPr bwMode="auto">
          <a:xfrm>
            <a:off x="3779838" y="2276475"/>
            <a:ext cx="2159000" cy="2087563"/>
          </a:xfrm>
          <a:prstGeom prst="rect">
            <a:avLst/>
          </a:prstGeom>
          <a:ln w="25400" algn="ctr">
            <a:pattFill prst="pct50">
              <a:fgClr>
                <a:srgbClr val="FF6600"/>
              </a:fgClr>
              <a:bgClr>
                <a:srgbClr val="FFFFFF"/>
              </a:bgClr>
            </a:pattFill>
            <a:miter lim="800000"/>
            <a:headEnd/>
            <a:tailEnd/>
          </a:ln>
        </p:spPr>
        <p:txBody>
          <a:bodyPr wrap="none" anchor="ct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1" lang="zh-TW" altLang="en-US" sz="1800" b="0" i="0" u="none" strike="noStrike" kern="1200" cap="none" spc="0" normalizeH="0" baseline="0" noProof="0">
              <a:ln>
                <a:noFill/>
              </a:ln>
              <a:solidFill>
                <a:srgbClr val="000000"/>
              </a:solidFill>
              <a:effectLst/>
              <a:uLnTx/>
              <a:uFillTx/>
              <a:latin typeface="Arial" charset="0"/>
              <a:ea typeface="標楷體" pitchFamily="65" charset="-120"/>
              <a:cs typeface="+mn-cs"/>
            </a:endParaRPr>
          </a:p>
        </p:txBody>
      </p:sp>
      <p:pic>
        <p:nvPicPr>
          <p:cNvPr id="77837" name="Picture 1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7175" y="2276475"/>
            <a:ext cx="1733550" cy="208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lgn="ctr">
                <a:solidFill>
                  <a:srgbClr val="000000"/>
                </a:solidFill>
                <a:miter lim="800000"/>
                <a:headEnd/>
                <a:tailEnd/>
              </a14:hiddenLine>
            </a:ext>
          </a:extLst>
        </p:spPr>
      </p:pic>
      <p:sp>
        <p:nvSpPr>
          <p:cNvPr id="14" name="Text Box 12"/>
          <p:cNvSpPr txBox="1">
            <a:spLocks noChangeArrowheads="1"/>
          </p:cNvSpPr>
          <p:nvPr/>
        </p:nvSpPr>
        <p:spPr bwMode="auto">
          <a:xfrm>
            <a:off x="6339681" y="3835037"/>
            <a:ext cx="2747963" cy="1015663"/>
          </a:xfrm>
          <a:prstGeom prst="rect">
            <a:avLst/>
          </a:prstGeom>
          <a:noFill/>
          <a:ln w="25400" algn="ctr">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eaLnBrk="0" hangingPunct="0">
              <a:defRPr kumimoji="1">
                <a:solidFill>
                  <a:schemeClr val="tx1"/>
                </a:solidFill>
                <a:latin typeface="Arial" charset="0"/>
                <a:ea typeface="新細明體" charset="-120"/>
              </a:defRPr>
            </a:lvl1pPr>
            <a:lvl2pPr marL="742950" indent="-285750" eaLnBrk="0" hangingPunct="0">
              <a:defRPr kumimoji="1">
                <a:solidFill>
                  <a:schemeClr val="tx1"/>
                </a:solidFill>
                <a:latin typeface="Arial" charset="0"/>
                <a:ea typeface="新細明體" charset="-120"/>
              </a:defRPr>
            </a:lvl2pPr>
            <a:lvl3pPr marL="1143000" indent="-228600" eaLnBrk="0" hangingPunct="0">
              <a:defRPr kumimoji="1">
                <a:solidFill>
                  <a:schemeClr val="tx1"/>
                </a:solidFill>
                <a:latin typeface="Arial" charset="0"/>
                <a:ea typeface="新細明體" charset="-120"/>
              </a:defRPr>
            </a:lvl3pPr>
            <a:lvl4pPr marL="1600200" indent="-228600" eaLnBrk="0" hangingPunct="0">
              <a:defRPr kumimoji="1">
                <a:solidFill>
                  <a:schemeClr val="tx1"/>
                </a:solidFill>
                <a:latin typeface="Arial" charset="0"/>
                <a:ea typeface="新細明體" charset="-120"/>
              </a:defRPr>
            </a:lvl4pPr>
            <a:lvl5pPr marL="2057400" indent="-228600" eaLnBrk="0" hangingPunct="0">
              <a:defRPr kumimoji="1">
                <a:solidFill>
                  <a:schemeClr val="tx1"/>
                </a:solidFill>
                <a:latin typeface="Arial" charset="0"/>
                <a:ea typeface="新細明體" charset="-120"/>
              </a:defRPr>
            </a:lvl5pPr>
            <a:lvl6pPr marL="2514600" indent="-228600" eaLnBrk="0" fontAlgn="base" hangingPunct="0">
              <a:spcBef>
                <a:spcPct val="0"/>
              </a:spcBef>
              <a:spcAft>
                <a:spcPct val="0"/>
              </a:spcAft>
              <a:defRPr kumimoji="1">
                <a:solidFill>
                  <a:schemeClr val="tx1"/>
                </a:solidFill>
                <a:latin typeface="Arial" charset="0"/>
                <a:ea typeface="新細明體" charset="-120"/>
              </a:defRPr>
            </a:lvl6pPr>
            <a:lvl7pPr marL="2971800" indent="-228600" eaLnBrk="0" fontAlgn="base" hangingPunct="0">
              <a:spcBef>
                <a:spcPct val="0"/>
              </a:spcBef>
              <a:spcAft>
                <a:spcPct val="0"/>
              </a:spcAft>
              <a:defRPr kumimoji="1">
                <a:solidFill>
                  <a:schemeClr val="tx1"/>
                </a:solidFill>
                <a:latin typeface="Arial" charset="0"/>
                <a:ea typeface="新細明體" charset="-120"/>
              </a:defRPr>
            </a:lvl7pPr>
            <a:lvl8pPr marL="3429000" indent="-228600" eaLnBrk="0" fontAlgn="base" hangingPunct="0">
              <a:spcBef>
                <a:spcPct val="0"/>
              </a:spcBef>
              <a:spcAft>
                <a:spcPct val="0"/>
              </a:spcAft>
              <a:defRPr kumimoji="1">
                <a:solidFill>
                  <a:schemeClr val="tx1"/>
                </a:solidFill>
                <a:latin typeface="Arial" charset="0"/>
                <a:ea typeface="新細明體" charset="-120"/>
              </a:defRPr>
            </a:lvl8pPr>
            <a:lvl9pPr marL="3886200" indent="-228600" eaLnBrk="0" fontAlgn="base" hangingPunct="0">
              <a:spcBef>
                <a:spcPct val="0"/>
              </a:spcBef>
              <a:spcAft>
                <a:spcPct val="0"/>
              </a:spcAft>
              <a:defRPr kumimoji="1">
                <a:solidFill>
                  <a:schemeClr val="tx1"/>
                </a:solidFill>
                <a:latin typeface="Arial" charset="0"/>
                <a:ea typeface="新細明體" charset="-12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zh-TW" altLang="en-US" sz="2400" b="0" i="0" u="none" strike="noStrike" kern="1200" cap="none" spc="0" normalizeH="0" baseline="0" noProof="0" dirty="0" smtClean="0">
                <a:ln>
                  <a:noFill/>
                </a:ln>
                <a:solidFill>
                  <a:srgbClr val="FF0000"/>
                </a:solidFill>
                <a:effectLst/>
                <a:uLnTx/>
                <a:uFillTx/>
                <a:latin typeface="標楷體" pitchFamily="65" charset="-120"/>
                <a:ea typeface="標楷體" pitchFamily="65" charset="-120"/>
                <a:cs typeface="+mn-cs"/>
              </a:rPr>
              <a:t>訊息</a:t>
            </a:r>
            <a:r>
              <a:rPr kumimoji="0" lang="zh-TW" altLang="en-US" sz="2400" b="0" i="0" u="none" strike="noStrike" kern="1200" cap="none" spc="0" normalizeH="0" baseline="0" noProof="0" dirty="0">
                <a:ln>
                  <a:noFill/>
                </a:ln>
                <a:solidFill>
                  <a:srgbClr val="FF0000"/>
                </a:solidFill>
                <a:effectLst/>
                <a:uLnTx/>
                <a:uFillTx/>
                <a:latin typeface="標楷體" pitchFamily="65" charset="-120"/>
                <a:ea typeface="標楷體" pitchFamily="65" charset="-120"/>
                <a:cs typeface="+mn-cs"/>
              </a:rPr>
              <a:t>摘要</a:t>
            </a:r>
          </a:p>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zh-TW" altLang="en-US" sz="2400" b="0" i="0" u="none" strike="noStrike" kern="1200" cap="none" spc="0" normalizeH="0" baseline="0" noProof="0" dirty="0">
                <a:ln>
                  <a:noFill/>
                </a:ln>
                <a:solidFill>
                  <a:srgbClr val="FF0000"/>
                </a:solidFill>
                <a:effectLst/>
                <a:uLnTx/>
                <a:uFillTx/>
                <a:latin typeface="Arial" charset="0"/>
                <a:ea typeface="標楷體" pitchFamily="65" charset="-120"/>
                <a:cs typeface="+mn-cs"/>
              </a:rPr>
              <a:t>指紋</a:t>
            </a:r>
          </a:p>
        </p:txBody>
      </p:sp>
    </p:spTree>
    <p:extLst>
      <p:ext uri="{BB962C8B-B14F-4D97-AF65-F5344CB8AC3E}">
        <p14:creationId xmlns:p14="http://schemas.microsoft.com/office/powerpoint/2010/main" val="213319982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77834"/>
                                        </p:tgtEl>
                                        <p:attrNameLst>
                                          <p:attrName>style.visibility</p:attrName>
                                        </p:attrNameLst>
                                      </p:cBhvr>
                                      <p:to>
                                        <p:strVal val="visible"/>
                                      </p:to>
                                    </p:set>
                                    <p:animEffect transition="in" filter="fade">
                                      <p:cBhvr>
                                        <p:cTn id="7" dur="1000"/>
                                        <p:tgtEl>
                                          <p:spTgt spid="77834"/>
                                        </p:tgtEl>
                                      </p:cBhvr>
                                    </p:animEffect>
                                    <p:anim calcmode="lin" valueType="num">
                                      <p:cBhvr>
                                        <p:cTn id="8" dur="1000" fill="hold"/>
                                        <p:tgtEl>
                                          <p:spTgt spid="77834"/>
                                        </p:tgtEl>
                                        <p:attrNameLst>
                                          <p:attrName>ppt_x</p:attrName>
                                        </p:attrNameLst>
                                      </p:cBhvr>
                                      <p:tavLst>
                                        <p:tav tm="0">
                                          <p:val>
                                            <p:strVal val="#ppt_x"/>
                                          </p:val>
                                        </p:tav>
                                        <p:tav tm="100000">
                                          <p:val>
                                            <p:strVal val="#ppt_x"/>
                                          </p:val>
                                        </p:tav>
                                      </p:tavLst>
                                    </p:anim>
                                    <p:anim calcmode="lin" valueType="num">
                                      <p:cBhvr>
                                        <p:cTn id="9" dur="1000" fill="hold"/>
                                        <p:tgtEl>
                                          <p:spTgt spid="77834"/>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2" presetClass="entr" presetSubtype="0" fill="hold" grpId="0" nodeType="after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1000"/>
                                        <p:tgtEl>
                                          <p:spTgt spid="14"/>
                                        </p:tgtEl>
                                      </p:cBhvr>
                                    </p:animEffect>
                                    <p:anim calcmode="lin" valueType="num">
                                      <p:cBhvr>
                                        <p:cTn id="14" dur="1000" fill="hold"/>
                                        <p:tgtEl>
                                          <p:spTgt spid="14"/>
                                        </p:tgtEl>
                                        <p:attrNameLst>
                                          <p:attrName>ppt_x</p:attrName>
                                        </p:attrNameLst>
                                      </p:cBhvr>
                                      <p:tavLst>
                                        <p:tav tm="0">
                                          <p:val>
                                            <p:strVal val="#ppt_x"/>
                                          </p:val>
                                        </p:tav>
                                        <p:tav tm="100000">
                                          <p:val>
                                            <p:strVal val="#ppt_x"/>
                                          </p:val>
                                        </p:tav>
                                      </p:tavLst>
                                    </p:anim>
                                    <p:anim calcmode="lin" valueType="num">
                                      <p:cBhvr>
                                        <p:cTn id="15"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34" grpId="0" animBg="1"/>
      <p:bldP spid="14"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8215370" cy="5286412"/>
          </a:xfrm>
        </p:spPr>
        <p:txBody>
          <a:bodyPr>
            <a:normAutofit/>
          </a:bodyPr>
          <a:lstStyle/>
          <a:p>
            <a:r>
              <a:rPr lang="zh-TW" altLang="en-US" sz="2000" dirty="0" smtClean="0"/>
              <a:t>雜湊值是訊息原文的一種</a:t>
            </a:r>
            <a:r>
              <a:rPr lang="zh-TW" altLang="en-US" sz="2000" dirty="0" smtClean="0">
                <a:solidFill>
                  <a:srgbClr val="FF0000"/>
                </a:solidFill>
                <a:ea typeface="微軟正黑體"/>
              </a:rPr>
              <a:t>「濃縮」</a:t>
            </a:r>
            <a:r>
              <a:rPr lang="zh-TW" altLang="en-US" sz="2000" dirty="0" smtClean="0">
                <a:ea typeface="微軟正黑體"/>
              </a:rPr>
              <a:t>，任何一個訊息的雜湊值都要有一定程度的獨特性。</a:t>
            </a:r>
            <a:endParaRPr lang="en-US" altLang="zh-TW" sz="2000" dirty="0" smtClean="0">
              <a:ea typeface="微軟正黑體"/>
            </a:endParaRPr>
          </a:p>
          <a:p>
            <a:r>
              <a:rPr lang="zh-TW" altLang="en-US" sz="2000" dirty="0" smtClean="0">
                <a:ea typeface="微軟正黑體"/>
              </a:rPr>
              <a:t>雜湊函數應該是一種「</a:t>
            </a:r>
            <a:r>
              <a:rPr lang="zh-TW" altLang="en-US" sz="2000" dirty="0" smtClean="0">
                <a:solidFill>
                  <a:srgbClr val="FF0000"/>
                </a:solidFill>
                <a:ea typeface="微軟正黑體"/>
              </a:rPr>
              <a:t>單向</a:t>
            </a:r>
            <a:r>
              <a:rPr lang="zh-TW" altLang="en-US" sz="2000" dirty="0" smtClean="0">
                <a:ea typeface="微軟正黑體"/>
              </a:rPr>
              <a:t>函數 </a:t>
            </a:r>
            <a:r>
              <a:rPr lang="en-US" altLang="zh-TW" sz="2000" dirty="0" smtClean="0">
                <a:ea typeface="微軟正黑體"/>
              </a:rPr>
              <a:t>(one-way function)</a:t>
            </a:r>
            <a:r>
              <a:rPr lang="zh-TW" altLang="en-US" sz="2000" dirty="0" smtClean="0">
                <a:ea typeface="微軟正黑體"/>
              </a:rPr>
              <a:t>」，意即我們應該不能從雜湊值反推出訊息原文。</a:t>
            </a:r>
            <a:endParaRPr lang="en-US" altLang="zh-TW" sz="2000" dirty="0" smtClean="0">
              <a:ea typeface="微軟正黑體"/>
            </a:endParaRPr>
          </a:p>
          <a:p>
            <a:r>
              <a:rPr lang="zh-TW" altLang="en-US" sz="2000" dirty="0" smtClean="0">
                <a:ea typeface="微軟正黑體"/>
              </a:rPr>
              <a:t>雜湊值之間不該有任何線性關係：我們把兩個雜湊值合併 </a:t>
            </a:r>
            <a:r>
              <a:rPr lang="en-US" altLang="zh-TW" sz="2000" dirty="0" smtClean="0">
                <a:ea typeface="微軟正黑體"/>
              </a:rPr>
              <a:t>(</a:t>
            </a:r>
            <a:r>
              <a:rPr lang="zh-TW" altLang="en-US" sz="2000" dirty="0" smtClean="0">
                <a:ea typeface="微軟正黑體"/>
              </a:rPr>
              <a:t>例如相加或 </a:t>
            </a:r>
            <a:r>
              <a:rPr lang="en-US" altLang="zh-TW" sz="2000" dirty="0" smtClean="0">
                <a:ea typeface="微軟正黑體"/>
              </a:rPr>
              <a:t>XOR)</a:t>
            </a:r>
            <a:r>
              <a:rPr lang="zh-TW" altLang="en-US" sz="2000" dirty="0" smtClean="0">
                <a:ea typeface="微軟正黑體"/>
              </a:rPr>
              <a:t> 後所得到的新值，不應該等於兩者的原文以同樣方法合併後所算出來的雜湊值。</a:t>
            </a:r>
            <a:endParaRPr lang="en-US" altLang="zh-TW" sz="2000" dirty="0" smtClean="0">
              <a:ea typeface="微軟正黑體"/>
            </a:endParaRPr>
          </a:p>
          <a:p>
            <a:r>
              <a:rPr lang="zh-TW" altLang="en-US" sz="2000" dirty="0" smtClean="0">
                <a:ea typeface="微軟正黑體"/>
              </a:rPr>
              <a:t>一個訊息產生雜湊值之後，應該無法以數學方法</a:t>
            </a:r>
            <a:r>
              <a:rPr lang="zh-TW" altLang="en-US" sz="2000" dirty="0" smtClean="0">
                <a:solidFill>
                  <a:srgbClr val="FF0000"/>
                </a:solidFill>
                <a:ea typeface="微軟正黑體"/>
              </a:rPr>
              <a:t>找到另一個訊息會產生一樣的雜湊值</a:t>
            </a:r>
            <a:r>
              <a:rPr lang="zh-TW" altLang="en-US" sz="2000" dirty="0" smtClean="0">
                <a:ea typeface="微軟正黑體"/>
              </a:rPr>
              <a:t>。</a:t>
            </a:r>
            <a:r>
              <a:rPr lang="en-US" altLang="zh-TW" sz="2000" dirty="0" smtClean="0">
                <a:ea typeface="微軟正黑體"/>
              </a:rPr>
              <a:t>(</a:t>
            </a:r>
            <a:r>
              <a:rPr lang="zh-TW" altLang="en-US" sz="2000" dirty="0" smtClean="0">
                <a:ea typeface="微軟正黑體"/>
              </a:rPr>
              <a:t>不是沒有，而是不該有方法能夠找到。</a:t>
            </a:r>
            <a:r>
              <a:rPr lang="en-US" altLang="zh-TW" sz="2000" dirty="0" smtClean="0">
                <a:ea typeface="微軟正黑體"/>
              </a:rPr>
              <a:t>)</a:t>
            </a:r>
          </a:p>
          <a:p>
            <a:r>
              <a:rPr lang="zh-TW" altLang="en-US" sz="2000" dirty="0" smtClean="0">
                <a:ea typeface="微軟正黑體"/>
              </a:rPr>
              <a:t>任何原文的變動，都要造成雜湊值巨大的變動。</a:t>
            </a:r>
            <a:endParaRPr lang="en-US" altLang="zh-TW" sz="2000" dirty="0" smtClean="0">
              <a:ea typeface="微軟正黑體"/>
            </a:endParaRPr>
          </a:p>
          <a:p>
            <a:r>
              <a:rPr lang="zh-TW" altLang="en-US" sz="2000" dirty="0" smtClean="0">
                <a:ea typeface="微軟正黑體"/>
              </a:rPr>
              <a:t>較有名的雜湊函數包括：</a:t>
            </a:r>
            <a:r>
              <a:rPr lang="en-US" altLang="zh-TW" sz="2000" dirty="0" smtClean="0">
                <a:ea typeface="微軟正黑體"/>
              </a:rPr>
              <a:t>MD2, MD4, MD5, SHA-1,SHA-256</a:t>
            </a:r>
            <a:r>
              <a:rPr lang="zh-TW" altLang="en-US" sz="2000" dirty="0" smtClean="0">
                <a:ea typeface="微軟正黑體"/>
              </a:rPr>
              <a:t>等。</a:t>
            </a:r>
            <a:r>
              <a:rPr lang="en-US" altLang="zh-TW" sz="2000" dirty="0" smtClean="0">
                <a:ea typeface="微軟正黑體"/>
              </a:rPr>
              <a:t> </a:t>
            </a:r>
          </a:p>
          <a:p>
            <a:endParaRPr lang="zh-TW" altLang="en-US" sz="2000" dirty="0"/>
          </a:p>
        </p:txBody>
      </p:sp>
      <p:sp>
        <p:nvSpPr>
          <p:cNvPr id="3" name="標題 2"/>
          <p:cNvSpPr>
            <a:spLocks noGrp="1"/>
          </p:cNvSpPr>
          <p:nvPr>
            <p:ph type="title"/>
          </p:nvPr>
        </p:nvSpPr>
        <p:spPr/>
        <p:txBody>
          <a:bodyPr/>
          <a:lstStyle/>
          <a:p>
            <a:r>
              <a:rPr lang="zh-TW" altLang="en-US" dirty="0" smtClean="0"/>
              <a:t>雜湊函數的特質</a:t>
            </a:r>
            <a:endParaRPr lang="zh-TW" altLang="en-US" dirty="0"/>
          </a:p>
        </p:txBody>
      </p:sp>
      <p:sp>
        <p:nvSpPr>
          <p:cNvPr id="4" name="矩形 3"/>
          <p:cNvSpPr/>
          <p:nvPr/>
        </p:nvSpPr>
        <p:spPr>
          <a:xfrm>
            <a:off x="1259632" y="6165304"/>
            <a:ext cx="5544616" cy="360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dirty="0" smtClean="0"/>
              <a:t>搜尋</a:t>
            </a:r>
            <a:r>
              <a:rPr lang="en-US" altLang="zh-TW" dirty="0" smtClean="0"/>
              <a:t>: </a:t>
            </a:r>
            <a:r>
              <a:rPr lang="zh-TW" altLang="en-US" dirty="0" smtClean="0"/>
              <a:t>線</a:t>
            </a:r>
            <a:r>
              <a:rPr lang="zh-TW" altLang="en-US" dirty="0"/>
              <a:t>上 雜湊函數</a:t>
            </a:r>
          </a:p>
        </p:txBody>
      </p:sp>
      <p:sp>
        <p:nvSpPr>
          <p:cNvPr id="5" name="矩形 4"/>
          <p:cNvSpPr/>
          <p:nvPr/>
        </p:nvSpPr>
        <p:spPr>
          <a:xfrm>
            <a:off x="3995936" y="116632"/>
            <a:ext cx="4104456" cy="1240666"/>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TW" dirty="0" smtClean="0"/>
              <a:t>ONE WAY</a:t>
            </a:r>
          </a:p>
          <a:p>
            <a:r>
              <a:rPr lang="zh-TW" altLang="en-US" dirty="0" smtClean="0"/>
              <a:t>達到</a:t>
            </a:r>
            <a:r>
              <a:rPr lang="en-US" altLang="zh-TW" dirty="0" smtClean="0"/>
              <a:t>: </a:t>
            </a:r>
            <a:r>
              <a:rPr lang="zh-TW" altLang="en-US" dirty="0" smtClean="0"/>
              <a:t>混淆 </a:t>
            </a:r>
            <a:r>
              <a:rPr lang="en-US" altLang="zh-TW" dirty="0" smtClean="0"/>
              <a:t>confusion</a:t>
            </a:r>
            <a:r>
              <a:rPr lang="zh-TW" altLang="en-US" dirty="0" smtClean="0">
                <a:latin typeface="PMingLiU" panose="02020500000000000000" pitchFamily="18" charset="-120"/>
                <a:ea typeface="PMingLiU" panose="02020500000000000000" pitchFamily="18" charset="-120"/>
              </a:rPr>
              <a:t>、</a:t>
            </a:r>
            <a:r>
              <a:rPr lang="zh-TW" altLang="en-US" dirty="0" smtClean="0"/>
              <a:t>擴散</a:t>
            </a:r>
            <a:r>
              <a:rPr lang="en-US" altLang="zh-TW" dirty="0" smtClean="0"/>
              <a:t>diffusion</a:t>
            </a:r>
            <a:br>
              <a:rPr lang="en-US" altLang="zh-TW" dirty="0" smtClean="0"/>
            </a:br>
            <a:r>
              <a:rPr lang="zh-TW" altLang="en-US" dirty="0" smtClean="0"/>
              <a:t>避免</a:t>
            </a:r>
            <a:r>
              <a:rPr lang="en-US" altLang="zh-TW" dirty="0" smtClean="0"/>
              <a:t>:</a:t>
            </a:r>
            <a:r>
              <a:rPr lang="zh-TW" altLang="en-US" dirty="0" smtClean="0"/>
              <a:t>碰撞</a:t>
            </a:r>
            <a:r>
              <a:rPr lang="en-US" altLang="zh-TW" dirty="0" smtClean="0"/>
              <a:t>collision</a:t>
            </a:r>
            <a:br>
              <a:rPr lang="en-US" altLang="zh-TW" dirty="0" smtClean="0"/>
            </a:br>
            <a:r>
              <a:rPr lang="zh-TW" altLang="en-US" dirty="0"/>
              <a:t>鴿籠</a:t>
            </a:r>
            <a:r>
              <a:rPr lang="zh-TW" altLang="en-US" dirty="0" smtClean="0"/>
              <a:t>原理</a:t>
            </a:r>
            <a:r>
              <a:rPr lang="en-US" altLang="zh-TW" dirty="0"/>
              <a:t>Pigeonhole principle</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4646320" cy="5098438"/>
          </a:xfrm>
        </p:spPr>
        <p:txBody>
          <a:bodyPr>
            <a:normAutofit/>
          </a:bodyPr>
          <a:lstStyle/>
          <a:p>
            <a:pPr>
              <a:spcBef>
                <a:spcPts val="1200"/>
              </a:spcBef>
            </a:pPr>
            <a:r>
              <a:rPr lang="zh-TW" altLang="en-US" sz="2000" dirty="0" smtClean="0"/>
              <a:t>雜湊函數 </a:t>
            </a:r>
            <a:r>
              <a:rPr lang="en-US" altLang="zh-TW" sz="2000" dirty="0" smtClean="0"/>
              <a:t>(hash function)</a:t>
            </a:r>
            <a:r>
              <a:rPr lang="zh-TW" altLang="en-US" sz="2000" dirty="0" smtClean="0"/>
              <a:t> 就是</a:t>
            </a:r>
            <a:r>
              <a:rPr lang="zh-TW" altLang="en-US" sz="2000" dirty="0" smtClean="0">
                <a:solidFill>
                  <a:srgbClr val="FF0000"/>
                </a:solidFill>
              </a:rPr>
              <a:t>把任意長度的訊息字串</a:t>
            </a:r>
            <a:r>
              <a:rPr lang="zh-TW" altLang="en-US" sz="2000" dirty="0" smtClean="0"/>
              <a:t>轉化成</a:t>
            </a:r>
            <a:r>
              <a:rPr lang="zh-TW" altLang="en-US" sz="2000" dirty="0" smtClean="0">
                <a:solidFill>
                  <a:srgbClr val="0000FF"/>
                </a:solidFill>
              </a:rPr>
              <a:t>固定長度的輸出字串</a:t>
            </a:r>
            <a:r>
              <a:rPr lang="zh-TW" altLang="en-US" sz="2000" dirty="0" smtClean="0"/>
              <a:t>的一種函數，這個輸出字串稱為該訊息的</a:t>
            </a:r>
            <a:r>
              <a:rPr lang="zh-TW" altLang="en-US" sz="2000" dirty="0" smtClean="0">
                <a:solidFill>
                  <a:srgbClr val="FF0000"/>
                </a:solidFill>
              </a:rPr>
              <a:t>雜湊值</a:t>
            </a:r>
            <a:r>
              <a:rPr lang="zh-TW" altLang="en-US" sz="2000" dirty="0" smtClean="0"/>
              <a:t>。</a:t>
            </a:r>
            <a:endParaRPr lang="en-US" altLang="zh-TW" sz="2000" dirty="0" smtClean="0"/>
          </a:p>
          <a:p>
            <a:pPr>
              <a:spcBef>
                <a:spcPts val="1200"/>
              </a:spcBef>
            </a:pPr>
            <a:r>
              <a:rPr lang="zh-TW" altLang="en-US" sz="2000" dirty="0" smtClean="0"/>
              <a:t>右圖將訊息字串以</a:t>
            </a:r>
            <a:r>
              <a:rPr lang="en-US" altLang="zh-TW" sz="2000" dirty="0" smtClean="0"/>
              <a:t> SHA</a:t>
            </a:r>
            <a:r>
              <a:rPr lang="zh-TW" altLang="en-US" sz="2000" dirty="0" smtClean="0"/>
              <a:t> 雜湊函數轉換成 </a:t>
            </a:r>
            <a:r>
              <a:rPr lang="en-US" altLang="zh-TW" sz="2000" dirty="0" smtClean="0"/>
              <a:t>160-bit </a:t>
            </a:r>
            <a:r>
              <a:rPr lang="zh-TW" altLang="en-US" sz="2000" dirty="0" smtClean="0"/>
              <a:t>雜湊值。上下字串間</a:t>
            </a:r>
            <a:r>
              <a:rPr lang="zh-TW" altLang="en-US" sz="2000" dirty="0" smtClean="0">
                <a:solidFill>
                  <a:srgbClr val="0000FF"/>
                </a:solidFill>
              </a:rPr>
              <a:t>只改了一個字母</a:t>
            </a:r>
            <a:r>
              <a:rPr lang="zh-TW" altLang="en-US" sz="2000" dirty="0" smtClean="0"/>
              <a:t>，雜湊值就完全不同了。</a:t>
            </a:r>
            <a:endParaRPr lang="en-US" altLang="zh-TW" sz="2000" dirty="0" smtClean="0"/>
          </a:p>
          <a:p>
            <a:pPr>
              <a:spcBef>
                <a:spcPts val="1200"/>
              </a:spcBef>
            </a:pPr>
            <a:r>
              <a:rPr lang="zh-TW" altLang="en-US" sz="2000" dirty="0" smtClean="0"/>
              <a:t>雜湊函數應用很廣，主要用來</a:t>
            </a:r>
            <a:r>
              <a:rPr lang="zh-TW" altLang="en-US" sz="2000" dirty="0" smtClean="0">
                <a:solidFill>
                  <a:srgbClr val="0000FF"/>
                </a:solidFill>
              </a:rPr>
              <a:t>保證文件的完整性</a:t>
            </a:r>
            <a:r>
              <a:rPr lang="zh-TW" altLang="en-US" sz="2000" dirty="0" smtClean="0"/>
              <a:t> </a:t>
            </a:r>
            <a:r>
              <a:rPr lang="en-US" altLang="zh-TW" sz="2000" dirty="0" smtClean="0"/>
              <a:t>(integrity)</a:t>
            </a:r>
            <a:r>
              <a:rPr lang="zh-TW" altLang="en-US" sz="2000" dirty="0" smtClean="0"/>
              <a:t>；因為文件若有任何微小的更動，雜湊值就會起巨大的變化。</a:t>
            </a:r>
            <a:endParaRPr lang="en-US" altLang="zh-TW" sz="2000" dirty="0" smtClean="0"/>
          </a:p>
        </p:txBody>
      </p:sp>
      <p:sp>
        <p:nvSpPr>
          <p:cNvPr id="3" name="標題 2"/>
          <p:cNvSpPr>
            <a:spLocks noGrp="1"/>
          </p:cNvSpPr>
          <p:nvPr>
            <p:ph type="title"/>
          </p:nvPr>
        </p:nvSpPr>
        <p:spPr/>
        <p:txBody>
          <a:bodyPr/>
          <a:lstStyle/>
          <a:p>
            <a:r>
              <a:rPr lang="en-US" altLang="zh-TW" dirty="0" smtClean="0"/>
              <a:t>B3. </a:t>
            </a:r>
            <a:r>
              <a:rPr lang="zh-TW" altLang="en-US" dirty="0" smtClean="0"/>
              <a:t>雜湊函數</a:t>
            </a:r>
            <a:endParaRPr lang="zh-TW" altLang="en-US" dirty="0"/>
          </a:p>
        </p:txBody>
      </p:sp>
      <p:grpSp>
        <p:nvGrpSpPr>
          <p:cNvPr id="17" name="群組 16"/>
          <p:cNvGrpSpPr/>
          <p:nvPr/>
        </p:nvGrpSpPr>
        <p:grpSpPr>
          <a:xfrm>
            <a:off x="5364088" y="1357298"/>
            <a:ext cx="2786082" cy="5143536"/>
            <a:chOff x="5500694" y="1357298"/>
            <a:chExt cx="2643206" cy="5143536"/>
          </a:xfrm>
        </p:grpSpPr>
        <p:sp>
          <p:nvSpPr>
            <p:cNvPr id="4" name="文字方塊 3"/>
            <p:cNvSpPr txBox="1"/>
            <p:nvPr/>
          </p:nvSpPr>
          <p:spPr>
            <a:xfrm>
              <a:off x="5786446" y="1571612"/>
              <a:ext cx="1928826" cy="369332"/>
            </a:xfrm>
            <a:prstGeom prst="rect">
              <a:avLst/>
            </a:prstGeom>
            <a:noFill/>
          </p:spPr>
          <p:txBody>
            <a:bodyPr wrap="square" rtlCol="0">
              <a:spAutoFit/>
            </a:bodyPr>
            <a:lstStyle/>
            <a:p>
              <a:r>
                <a:rPr lang="en-US" altLang="zh-TW" b="1" dirty="0" smtClean="0">
                  <a:latin typeface="Calibri" pitchFamily="34" charset="0"/>
                </a:rPr>
                <a:t>Tom is a nice kid.</a:t>
              </a:r>
              <a:endParaRPr lang="zh-TW" altLang="en-US" b="1" dirty="0">
                <a:latin typeface="Calibri" pitchFamily="34" charset="0"/>
              </a:endParaRPr>
            </a:p>
          </p:txBody>
        </p:sp>
        <p:sp>
          <p:nvSpPr>
            <p:cNvPr id="5" name="文字方塊 4"/>
            <p:cNvSpPr txBox="1"/>
            <p:nvPr/>
          </p:nvSpPr>
          <p:spPr>
            <a:xfrm>
              <a:off x="5643570" y="2577108"/>
              <a:ext cx="2500330" cy="923330"/>
            </a:xfrm>
            <a:prstGeom prst="rect">
              <a:avLst/>
            </a:prstGeom>
            <a:noFill/>
          </p:spPr>
          <p:txBody>
            <a:bodyPr wrap="square" rtlCol="0">
              <a:spAutoFit/>
            </a:bodyPr>
            <a:lstStyle/>
            <a:p>
              <a:r>
                <a:rPr lang="pt-BR" altLang="zh-TW" dirty="0" smtClean="0">
                  <a:latin typeface="Calibri" pitchFamily="34" charset="0"/>
                </a:rPr>
                <a:t>D5 32 DB 8A 1C BB 3D B3 8E 3C FE D6 B3 88 53 50 CF 6A DB 09 </a:t>
              </a:r>
              <a:endParaRPr lang="zh-TW" altLang="en-US" dirty="0">
                <a:latin typeface="Calibri" pitchFamily="34" charset="0"/>
              </a:endParaRPr>
            </a:p>
          </p:txBody>
        </p:sp>
        <p:sp>
          <p:nvSpPr>
            <p:cNvPr id="8" name="向下箭號 7"/>
            <p:cNvSpPr/>
            <p:nvPr/>
          </p:nvSpPr>
          <p:spPr>
            <a:xfrm>
              <a:off x="6572264" y="2000240"/>
              <a:ext cx="357190" cy="500066"/>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dirty="0">
                <a:latin typeface="Calibri" pitchFamily="34" charset="0"/>
              </a:endParaRPr>
            </a:p>
          </p:txBody>
        </p:sp>
        <p:sp>
          <p:nvSpPr>
            <p:cNvPr id="10" name="矩形 9"/>
            <p:cNvSpPr/>
            <p:nvPr/>
          </p:nvSpPr>
          <p:spPr>
            <a:xfrm>
              <a:off x="5500694" y="1357298"/>
              <a:ext cx="2643206" cy="235745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11" name="文字方塊 10"/>
            <p:cNvSpPr txBox="1"/>
            <p:nvPr/>
          </p:nvSpPr>
          <p:spPr>
            <a:xfrm>
              <a:off x="7024683" y="2090314"/>
              <a:ext cx="1048685" cy="307777"/>
            </a:xfrm>
            <a:prstGeom prst="rect">
              <a:avLst/>
            </a:prstGeom>
            <a:noFill/>
          </p:spPr>
          <p:txBody>
            <a:bodyPr wrap="none" rtlCol="0">
              <a:spAutoFit/>
            </a:bodyPr>
            <a:lstStyle/>
            <a:p>
              <a:r>
                <a:rPr lang="en-US" altLang="zh-TW" sz="1400" dirty="0" smtClean="0">
                  <a:latin typeface="Calibri" pitchFamily="34" charset="0"/>
                </a:rPr>
                <a:t>160-bit SHA</a:t>
              </a:r>
              <a:endParaRPr lang="zh-TW" altLang="en-US" sz="1400" dirty="0">
                <a:latin typeface="Calibri" pitchFamily="34" charset="0"/>
              </a:endParaRPr>
            </a:p>
          </p:txBody>
        </p:sp>
        <p:sp>
          <p:nvSpPr>
            <p:cNvPr id="6" name="文字方塊 5"/>
            <p:cNvSpPr txBox="1"/>
            <p:nvPr/>
          </p:nvSpPr>
          <p:spPr>
            <a:xfrm>
              <a:off x="5786446" y="4286256"/>
              <a:ext cx="1928826" cy="369332"/>
            </a:xfrm>
            <a:prstGeom prst="rect">
              <a:avLst/>
            </a:prstGeom>
            <a:noFill/>
          </p:spPr>
          <p:txBody>
            <a:bodyPr wrap="square" rtlCol="0">
              <a:spAutoFit/>
            </a:bodyPr>
            <a:lstStyle/>
            <a:p>
              <a:r>
                <a:rPr lang="en-US" altLang="zh-TW" b="1" dirty="0" smtClean="0">
                  <a:latin typeface="Calibri" pitchFamily="34" charset="0"/>
                </a:rPr>
                <a:t>Tim is a nice kid.</a:t>
              </a:r>
              <a:endParaRPr lang="zh-TW" altLang="en-US" b="1" dirty="0">
                <a:latin typeface="Calibri" pitchFamily="34" charset="0"/>
              </a:endParaRPr>
            </a:p>
          </p:txBody>
        </p:sp>
        <p:sp>
          <p:nvSpPr>
            <p:cNvPr id="7" name="文字方塊 6"/>
            <p:cNvSpPr txBox="1"/>
            <p:nvPr/>
          </p:nvSpPr>
          <p:spPr>
            <a:xfrm>
              <a:off x="5643570" y="5281024"/>
              <a:ext cx="2500330" cy="923330"/>
            </a:xfrm>
            <a:prstGeom prst="rect">
              <a:avLst/>
            </a:prstGeom>
            <a:noFill/>
          </p:spPr>
          <p:txBody>
            <a:bodyPr wrap="square" rtlCol="0">
              <a:spAutoFit/>
            </a:bodyPr>
            <a:lstStyle/>
            <a:p>
              <a:r>
                <a:rPr lang="en-US" altLang="zh-TW" dirty="0" smtClean="0">
                  <a:latin typeface="Calibri" pitchFamily="34" charset="0"/>
                </a:rPr>
                <a:t>97 18 52 D0 F3 10 65 0F 12 44 CB 20 16 CC 4D 71 85 A9 DF B6 </a:t>
              </a:r>
              <a:endParaRPr lang="zh-TW" altLang="en-US" dirty="0">
                <a:latin typeface="Calibri" pitchFamily="34" charset="0"/>
              </a:endParaRPr>
            </a:p>
          </p:txBody>
        </p:sp>
        <p:sp>
          <p:nvSpPr>
            <p:cNvPr id="9" name="向下箭號 8"/>
            <p:cNvSpPr/>
            <p:nvPr/>
          </p:nvSpPr>
          <p:spPr>
            <a:xfrm>
              <a:off x="6572264" y="4704156"/>
              <a:ext cx="357190" cy="500066"/>
            </a:xfrm>
            <a:prstGeom prst="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dirty="0">
                <a:latin typeface="Calibri" pitchFamily="34" charset="0"/>
              </a:endParaRPr>
            </a:p>
          </p:txBody>
        </p:sp>
        <p:sp>
          <p:nvSpPr>
            <p:cNvPr id="13" name="矩形 12"/>
            <p:cNvSpPr/>
            <p:nvPr/>
          </p:nvSpPr>
          <p:spPr>
            <a:xfrm>
              <a:off x="5500694" y="4143380"/>
              <a:ext cx="2643206" cy="235745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14" name="文字方塊 13"/>
            <p:cNvSpPr txBox="1"/>
            <p:nvPr/>
          </p:nvSpPr>
          <p:spPr>
            <a:xfrm>
              <a:off x="7024683" y="4786322"/>
              <a:ext cx="1048685" cy="307777"/>
            </a:xfrm>
            <a:prstGeom prst="rect">
              <a:avLst/>
            </a:prstGeom>
            <a:noFill/>
          </p:spPr>
          <p:txBody>
            <a:bodyPr wrap="none" rtlCol="0">
              <a:spAutoFit/>
            </a:bodyPr>
            <a:lstStyle/>
            <a:p>
              <a:r>
                <a:rPr lang="en-US" altLang="zh-TW" sz="1400" dirty="0" smtClean="0">
                  <a:latin typeface="Calibri" pitchFamily="34" charset="0"/>
                </a:rPr>
                <a:t>160-bit SHA</a:t>
              </a:r>
              <a:endParaRPr lang="zh-TW" altLang="en-US" sz="1400" dirty="0">
                <a:latin typeface="Calibri" pitchFamily="34" charset="0"/>
              </a:endParaRPr>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p:cNvSpPr>
            <a:spLocks noGrp="1"/>
          </p:cNvSpPr>
          <p:nvPr>
            <p:ph type="title"/>
          </p:nvPr>
        </p:nvSpPr>
        <p:spPr/>
        <p:txBody>
          <a:bodyPr/>
          <a:lstStyle/>
          <a:p>
            <a:pPr eaLnBrk="1" hangingPunct="1"/>
            <a:r>
              <a:rPr lang="zh-TW" altLang="en-US" smtClean="0"/>
              <a:t>常見單向雜湊函數的比較 </a:t>
            </a:r>
          </a:p>
        </p:txBody>
      </p:sp>
      <p:pic>
        <p:nvPicPr>
          <p:cNvPr id="1095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2565400"/>
            <a:ext cx="8424863" cy="184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1"/>
          <p:cNvSpPr/>
          <p:nvPr/>
        </p:nvSpPr>
        <p:spPr bwMode="auto">
          <a:xfrm>
            <a:off x="971600" y="4869160"/>
            <a:ext cx="6912768" cy="1152128"/>
          </a:xfrm>
          <a:prstGeom prst="rect">
            <a:avLst/>
          </a:prstGeom>
          <a:solidFill>
            <a:schemeClr val="accent1"/>
          </a:solidFill>
          <a:ln w="254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rtlCol="0" anchor="ctr" anchorCtr="0" compatLnSpc="1">
            <a:prstTxWarp prst="textNoShape">
              <a:avLst/>
            </a:prstTxWarp>
          </a:bodyPr>
          <a:lstStyle/>
          <a:p>
            <a:pPr fontAlgn="base">
              <a:spcBef>
                <a:spcPct val="0"/>
              </a:spcBef>
              <a:spcAft>
                <a:spcPct val="0"/>
              </a:spcAft>
            </a:pPr>
            <a:r>
              <a:rPr kumimoji="1" lang="zh-TW" altLang="en-US" dirty="0" smtClean="0">
                <a:latin typeface="標楷體" panose="03000509000000000000" pitchFamily="65" charset="-120"/>
                <a:ea typeface="標楷體" panose="03000509000000000000" pitchFamily="65" charset="-120"/>
              </a:rPr>
              <a:t>請搜尋</a:t>
            </a:r>
            <a:r>
              <a:rPr kumimoji="1" lang="en-US" altLang="zh-TW" dirty="0" smtClean="0">
                <a:latin typeface="標楷體" panose="03000509000000000000" pitchFamily="65" charset="-120"/>
                <a:ea typeface="標楷體" panose="03000509000000000000" pitchFamily="65" charset="-120"/>
              </a:rPr>
              <a:t>: </a:t>
            </a:r>
          </a:p>
          <a:p>
            <a:pPr fontAlgn="base">
              <a:spcBef>
                <a:spcPct val="0"/>
              </a:spcBef>
              <a:spcAft>
                <a:spcPct val="0"/>
              </a:spcAft>
            </a:pPr>
            <a:r>
              <a:rPr kumimoji="1" lang="en-US" altLang="zh-TW" dirty="0">
                <a:latin typeface="標楷體" panose="03000509000000000000" pitchFamily="65" charset="-120"/>
                <a:ea typeface="標楷體" panose="03000509000000000000" pitchFamily="65" charset="-120"/>
              </a:rPr>
              <a:t>	</a:t>
            </a:r>
            <a:r>
              <a:rPr kumimoji="1" lang="en-US" altLang="zh-TW" dirty="0" smtClean="0">
                <a:solidFill>
                  <a:srgbClr val="0000FF"/>
                </a:solidFill>
                <a:latin typeface="標楷體" panose="03000509000000000000" pitchFamily="65" charset="-120"/>
                <a:ea typeface="標楷體" panose="03000509000000000000" pitchFamily="65" charset="-120"/>
              </a:rPr>
              <a:t>1.</a:t>
            </a:r>
            <a:r>
              <a:rPr kumimoji="1" lang="zh-TW" altLang="en-US" dirty="0" smtClean="0">
                <a:solidFill>
                  <a:srgbClr val="0000FF"/>
                </a:solidFill>
                <a:latin typeface="標楷體" panose="03000509000000000000" pitchFamily="65" charset="-120"/>
                <a:ea typeface="標楷體" panose="03000509000000000000" pitchFamily="65" charset="-120"/>
              </a:rPr>
              <a:t>鴿籠原理 </a:t>
            </a:r>
            <a:r>
              <a:rPr kumimoji="1" lang="en-US" altLang="zh-TW" dirty="0" smtClean="0">
                <a:solidFill>
                  <a:srgbClr val="0000FF"/>
                </a:solidFill>
                <a:latin typeface="標楷體" panose="03000509000000000000" pitchFamily="65" charset="-120"/>
                <a:ea typeface="標楷體" panose="03000509000000000000" pitchFamily="65" charset="-120"/>
              </a:rPr>
              <a:t>(</a:t>
            </a:r>
            <a:r>
              <a:rPr lang="en-US" altLang="zh-TW" dirty="0">
                <a:solidFill>
                  <a:srgbClr val="0000FF"/>
                </a:solidFill>
                <a:latin typeface="標楷體" panose="03000509000000000000" pitchFamily="65" charset="-120"/>
                <a:ea typeface="標楷體" panose="03000509000000000000" pitchFamily="65" charset="-120"/>
              </a:rPr>
              <a:t>Pigeonhole </a:t>
            </a:r>
            <a:r>
              <a:rPr lang="en-US" altLang="zh-TW" dirty="0" smtClean="0">
                <a:solidFill>
                  <a:srgbClr val="0000FF"/>
                </a:solidFill>
                <a:latin typeface="標楷體" panose="03000509000000000000" pitchFamily="65" charset="-120"/>
                <a:ea typeface="標楷體" panose="03000509000000000000" pitchFamily="65" charset="-120"/>
              </a:rPr>
              <a:t>principle)</a:t>
            </a:r>
          </a:p>
          <a:p>
            <a:pPr fontAlgn="base">
              <a:spcBef>
                <a:spcPct val="0"/>
              </a:spcBef>
              <a:spcAft>
                <a:spcPct val="0"/>
              </a:spcAft>
            </a:pPr>
            <a:r>
              <a:rPr lang="en-US" altLang="zh-TW" dirty="0">
                <a:latin typeface="標楷體" panose="03000509000000000000" pitchFamily="65" charset="-120"/>
                <a:ea typeface="標楷體" panose="03000509000000000000" pitchFamily="65" charset="-120"/>
              </a:rPr>
              <a:t>	</a:t>
            </a:r>
            <a:r>
              <a:rPr lang="en-US" altLang="zh-TW" dirty="0" smtClean="0">
                <a:solidFill>
                  <a:srgbClr val="FF0000"/>
                </a:solidFill>
                <a:latin typeface="標楷體" panose="03000509000000000000" pitchFamily="65" charset="-120"/>
                <a:ea typeface="標楷體" panose="03000509000000000000" pitchFamily="65" charset="-120"/>
              </a:rPr>
              <a:t>2.</a:t>
            </a:r>
            <a:r>
              <a:rPr lang="zh-TW" altLang="en-US" dirty="0" smtClean="0">
                <a:solidFill>
                  <a:srgbClr val="FF0000"/>
                </a:solidFill>
                <a:latin typeface="標楷體" panose="03000509000000000000" pitchFamily="65" charset="-120"/>
                <a:ea typeface="標楷體" panose="03000509000000000000" pitchFamily="65" charset="-120"/>
              </a:rPr>
              <a:t>碰撞 </a:t>
            </a:r>
            <a:r>
              <a:rPr lang="en-US" altLang="zh-TW" dirty="0" smtClean="0">
                <a:solidFill>
                  <a:srgbClr val="FF0000"/>
                </a:solidFill>
                <a:latin typeface="標楷體" panose="03000509000000000000" pitchFamily="65" charset="-120"/>
                <a:ea typeface="標楷體" panose="03000509000000000000" pitchFamily="65" charset="-120"/>
              </a:rPr>
              <a:t>(collision)</a:t>
            </a:r>
          </a:p>
        </p:txBody>
      </p:sp>
    </p:spTree>
    <p:extLst>
      <p:ext uri="{BB962C8B-B14F-4D97-AF65-F5344CB8AC3E}">
        <p14:creationId xmlns:p14="http://schemas.microsoft.com/office/powerpoint/2010/main" val="331022583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1066800" y="2852936"/>
            <a:ext cx="6255488" cy="1362075"/>
          </a:xfrm>
          <a:solidFill>
            <a:srgbClr val="0000FF"/>
          </a:solidFill>
          <a:ln w="25400">
            <a:solidFill>
              <a:srgbClr val="FF0000"/>
            </a:solidFill>
          </a:ln>
        </p:spPr>
        <p:txBody>
          <a:bodyPr anchor="ctr">
            <a:normAutofit/>
          </a:bodyPr>
          <a:lstStyle/>
          <a:p>
            <a:pPr algn="ctr"/>
            <a:r>
              <a:rPr lang="en-US" altLang="zh-TW" dirty="0" smtClean="0">
                <a:latin typeface="標楷體" panose="03000509000000000000" pitchFamily="65" charset="-120"/>
                <a:ea typeface="標楷體" panose="03000509000000000000" pitchFamily="65" charset="-120"/>
              </a:rPr>
              <a:t>B.5 </a:t>
            </a:r>
            <a:r>
              <a:rPr lang="zh-TW" altLang="en-US" dirty="0">
                <a:latin typeface="標楷體" panose="03000509000000000000" pitchFamily="65" charset="-120"/>
                <a:ea typeface="標楷體" panose="03000509000000000000" pitchFamily="65" charset="-120"/>
              </a:rPr>
              <a:t>數位</a:t>
            </a:r>
            <a:r>
              <a:rPr lang="zh-TW" altLang="en-US" dirty="0" smtClean="0">
                <a:latin typeface="標楷體" panose="03000509000000000000" pitchFamily="65" charset="-120"/>
                <a:ea typeface="標楷體" panose="03000509000000000000" pitchFamily="65" charset="-120"/>
              </a:rPr>
              <a:t>信封</a:t>
            </a:r>
            <a:r>
              <a:rPr lang="en-US" altLang="zh-TW" dirty="0" smtClean="0">
                <a:latin typeface="標楷體" panose="03000509000000000000" pitchFamily="65" charset="-120"/>
                <a:ea typeface="標楷體" panose="03000509000000000000" pitchFamily="65" charset="-120"/>
              </a:rPr>
              <a:t/>
            </a:r>
            <a:br>
              <a:rPr lang="en-US" altLang="zh-TW" dirty="0" smtClean="0">
                <a:latin typeface="標楷體" panose="03000509000000000000" pitchFamily="65" charset="-120"/>
                <a:ea typeface="標楷體" panose="03000509000000000000" pitchFamily="65" charset="-120"/>
              </a:rPr>
            </a:br>
            <a:r>
              <a:rPr lang="en-US" altLang="zh-TW" dirty="0" smtClean="0">
                <a:latin typeface="標楷體" panose="03000509000000000000" pitchFamily="65" charset="-120"/>
                <a:ea typeface="標楷體" panose="03000509000000000000" pitchFamily="65" charset="-120"/>
              </a:rPr>
              <a:t>(</a:t>
            </a:r>
            <a:r>
              <a:rPr lang="en-US" altLang="zh-TW" dirty="0">
                <a:latin typeface="標楷體" panose="03000509000000000000" pitchFamily="65" charset="-120"/>
                <a:ea typeface="標楷體" panose="03000509000000000000" pitchFamily="65" charset="-120"/>
              </a:rPr>
              <a:t>Digital  Envelope</a:t>
            </a:r>
            <a:r>
              <a:rPr lang="en-US" altLang="zh-TW" dirty="0" smtClean="0">
                <a:latin typeface="標楷體" panose="03000509000000000000" pitchFamily="65" charset="-120"/>
                <a:ea typeface="標楷體" panose="03000509000000000000" pitchFamily="65" charset="-120"/>
              </a:rPr>
              <a:t>)</a:t>
            </a:r>
            <a:endParaRPr lang="zh-TW" altLang="en-US" b="0" dirty="0">
              <a:solidFill>
                <a:schemeClr val="bg1"/>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4246750566"/>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395536" y="984221"/>
            <a:ext cx="8215370" cy="5286412"/>
          </a:xfrm>
        </p:spPr>
        <p:txBody>
          <a:bodyPr>
            <a:normAutofit/>
          </a:bodyPr>
          <a:lstStyle/>
          <a:p>
            <a:pPr>
              <a:spcBef>
                <a:spcPts val="1200"/>
              </a:spcBef>
            </a:pPr>
            <a:r>
              <a:rPr lang="zh-TW" altLang="en-US" sz="2000" dirty="0" smtClean="0"/>
              <a:t>複合式系統 </a:t>
            </a:r>
            <a:r>
              <a:rPr lang="en-US" altLang="zh-TW" sz="2000" dirty="0" smtClean="0"/>
              <a:t>(hybrid systems) </a:t>
            </a:r>
            <a:r>
              <a:rPr lang="zh-TW" altLang="en-US" sz="2000" dirty="0" smtClean="0"/>
              <a:t>採前述各家之長，使訊息傳送可以兼顧機密性與完整性；並在安全性與複雜度之間取得平衡。</a:t>
            </a:r>
            <a:endParaRPr lang="en-US" altLang="zh-TW" sz="2000" dirty="0" smtClean="0"/>
          </a:p>
          <a:p>
            <a:pPr>
              <a:spcBef>
                <a:spcPts val="1200"/>
              </a:spcBef>
            </a:pPr>
            <a:r>
              <a:rPr lang="zh-TW" altLang="en-US" sz="2000" dirty="0" smtClean="0">
                <a:solidFill>
                  <a:srgbClr val="FF0000"/>
                </a:solidFill>
              </a:rPr>
              <a:t>對稱式</a:t>
            </a:r>
            <a:r>
              <a:rPr lang="en-US" altLang="zh-TW" sz="2000" dirty="0" smtClean="0">
                <a:solidFill>
                  <a:srgbClr val="FF0000"/>
                </a:solidFill>
              </a:rPr>
              <a:t>-</a:t>
            </a:r>
            <a:r>
              <a:rPr lang="zh-TW" altLang="en-US" sz="2000" dirty="0" smtClean="0">
                <a:solidFill>
                  <a:srgbClr val="FF0000"/>
                </a:solidFill>
              </a:rPr>
              <a:t>加密</a:t>
            </a:r>
            <a:endParaRPr lang="en-US" altLang="zh-TW" sz="2000" dirty="0" smtClean="0">
              <a:solidFill>
                <a:srgbClr val="FF0000"/>
              </a:solidFill>
            </a:endParaRPr>
          </a:p>
          <a:p>
            <a:pPr lvl="1">
              <a:spcBef>
                <a:spcPts val="1200"/>
              </a:spcBef>
            </a:pPr>
            <a:r>
              <a:rPr lang="zh-TW" altLang="en-US" dirty="0" smtClean="0">
                <a:solidFill>
                  <a:srgbClr val="0000FF"/>
                </a:solidFill>
              </a:rPr>
              <a:t>大量的訊息</a:t>
            </a:r>
            <a:r>
              <a:rPr lang="zh-TW" altLang="en-US" dirty="0" smtClean="0">
                <a:solidFill>
                  <a:srgbClr val="0000FF"/>
                </a:solidFill>
                <a:ea typeface="微軟正黑體"/>
              </a:rPr>
              <a:t> </a:t>
            </a:r>
            <a:r>
              <a:rPr lang="en-US" altLang="zh-TW" dirty="0" smtClean="0">
                <a:solidFill>
                  <a:srgbClr val="0000FF"/>
                </a:solidFill>
                <a:ea typeface="微軟正黑體"/>
              </a:rPr>
              <a:t>(</a:t>
            </a:r>
            <a:r>
              <a:rPr lang="zh-TW" altLang="en-US" dirty="0" smtClean="0">
                <a:solidFill>
                  <a:srgbClr val="0000FF"/>
                </a:solidFill>
                <a:ea typeface="微軟正黑體"/>
              </a:rPr>
              <a:t>原文</a:t>
            </a:r>
            <a:r>
              <a:rPr lang="en-US" altLang="zh-TW" dirty="0" smtClean="0">
                <a:solidFill>
                  <a:srgbClr val="0000FF"/>
                </a:solidFill>
                <a:ea typeface="微軟正黑體"/>
              </a:rPr>
              <a:t>/</a:t>
            </a:r>
            <a:r>
              <a:rPr lang="zh-TW" altLang="en-US" dirty="0" smtClean="0">
                <a:solidFill>
                  <a:srgbClr val="0000FF"/>
                </a:solidFill>
                <a:ea typeface="微軟正黑體"/>
              </a:rPr>
              <a:t>明文</a:t>
            </a:r>
            <a:r>
              <a:rPr lang="en-US" altLang="zh-TW" dirty="0" smtClean="0">
                <a:solidFill>
                  <a:srgbClr val="0000FF"/>
                </a:solidFill>
                <a:ea typeface="微軟正黑體"/>
              </a:rPr>
              <a:t>)</a:t>
            </a:r>
            <a:r>
              <a:rPr lang="zh-TW" altLang="en-US" dirty="0" smtClean="0">
                <a:solidFill>
                  <a:srgbClr val="0000FF"/>
                </a:solidFill>
                <a:ea typeface="微軟正黑體"/>
              </a:rPr>
              <a:t> 使用對稱式加密</a:t>
            </a:r>
            <a:r>
              <a:rPr lang="zh-TW" altLang="en-US" dirty="0" smtClean="0">
                <a:ea typeface="微軟正黑體"/>
              </a:rPr>
              <a:t>法如</a:t>
            </a:r>
            <a:r>
              <a:rPr lang="en-US" altLang="zh-TW" dirty="0" smtClean="0">
                <a:ea typeface="微軟正黑體"/>
              </a:rPr>
              <a:t>DES</a:t>
            </a:r>
            <a:r>
              <a:rPr lang="zh-TW" altLang="en-US" dirty="0" smtClean="0">
                <a:ea typeface="微軟正黑體"/>
              </a:rPr>
              <a:t>或</a:t>
            </a:r>
            <a:r>
              <a:rPr lang="en-US" altLang="zh-TW" dirty="0" smtClean="0">
                <a:ea typeface="微軟正黑體"/>
              </a:rPr>
              <a:t>AES</a:t>
            </a:r>
            <a:r>
              <a:rPr lang="zh-TW" altLang="en-US" dirty="0" smtClean="0">
                <a:ea typeface="微軟正黑體"/>
              </a:rPr>
              <a:t>，可以節省最主要的加解密時間。</a:t>
            </a:r>
            <a:endParaRPr lang="en-US" altLang="zh-TW" dirty="0" smtClean="0"/>
          </a:p>
          <a:p>
            <a:pPr>
              <a:spcBef>
                <a:spcPts val="1200"/>
              </a:spcBef>
            </a:pPr>
            <a:r>
              <a:rPr lang="zh-TW" altLang="en-US" sz="2000" dirty="0" smtClean="0">
                <a:solidFill>
                  <a:srgbClr val="FF0000"/>
                </a:solidFill>
              </a:rPr>
              <a:t>非對稱式</a:t>
            </a:r>
            <a:r>
              <a:rPr lang="en-US" altLang="zh-TW" sz="2000" dirty="0" smtClean="0">
                <a:solidFill>
                  <a:srgbClr val="FF0000"/>
                </a:solidFill>
              </a:rPr>
              <a:t>-</a:t>
            </a:r>
            <a:r>
              <a:rPr lang="zh-TW" altLang="en-US" sz="2000" dirty="0" smtClean="0">
                <a:solidFill>
                  <a:srgbClr val="FF0000"/>
                </a:solidFill>
              </a:rPr>
              <a:t>加密</a:t>
            </a:r>
            <a:endParaRPr lang="en-US" altLang="zh-TW" sz="2000" dirty="0" smtClean="0">
              <a:solidFill>
                <a:srgbClr val="FF0000"/>
              </a:solidFill>
            </a:endParaRPr>
          </a:p>
          <a:p>
            <a:pPr lvl="1">
              <a:spcBef>
                <a:spcPts val="1200"/>
              </a:spcBef>
            </a:pPr>
            <a:r>
              <a:rPr lang="zh-TW" altLang="en-US" dirty="0" smtClean="0">
                <a:solidFill>
                  <a:srgbClr val="0000FF"/>
                </a:solidFill>
              </a:rPr>
              <a:t>用來加密對稱式金鑰</a:t>
            </a:r>
            <a:r>
              <a:rPr lang="zh-TW" altLang="en-US" dirty="0" smtClean="0"/>
              <a:t>。將對稱式金鑰以接收方的公開金鑰加密後傳送，就可以確保只有接收方能解開並取得該對稱式金鑰。</a:t>
            </a:r>
            <a:endParaRPr lang="en-US" altLang="zh-TW" dirty="0" smtClean="0"/>
          </a:p>
          <a:p>
            <a:pPr>
              <a:spcBef>
                <a:spcPts val="1200"/>
              </a:spcBef>
            </a:pPr>
            <a:r>
              <a:rPr lang="zh-TW" altLang="en-US" sz="2000" dirty="0">
                <a:solidFill>
                  <a:srgbClr val="FF0000"/>
                </a:solidFill>
              </a:rPr>
              <a:t>非對稱</a:t>
            </a:r>
            <a:r>
              <a:rPr lang="zh-TW" altLang="en-US" sz="2000" dirty="0" smtClean="0">
                <a:solidFill>
                  <a:srgbClr val="FF0000"/>
                </a:solidFill>
              </a:rPr>
              <a:t>式</a:t>
            </a:r>
            <a:r>
              <a:rPr lang="en-US" altLang="zh-TW" sz="2000" dirty="0" smtClean="0">
                <a:solidFill>
                  <a:srgbClr val="FF0000"/>
                </a:solidFill>
              </a:rPr>
              <a:t>-</a:t>
            </a:r>
            <a:r>
              <a:rPr lang="zh-TW" altLang="en-US" sz="2000" dirty="0" smtClean="0">
                <a:solidFill>
                  <a:srgbClr val="FF0000"/>
                </a:solidFill>
              </a:rPr>
              <a:t>數位簽章</a:t>
            </a:r>
            <a:endParaRPr lang="en-US" altLang="zh-TW" sz="2000" dirty="0" smtClean="0">
              <a:solidFill>
                <a:srgbClr val="FF0000"/>
              </a:solidFill>
            </a:endParaRPr>
          </a:p>
          <a:p>
            <a:pPr lvl="1">
              <a:spcBef>
                <a:spcPts val="1200"/>
              </a:spcBef>
            </a:pPr>
            <a:r>
              <a:rPr lang="zh-TW" altLang="en-US" dirty="0" smtClean="0"/>
              <a:t>主要用來保證文件的完整性與傳送方的不可否認性。</a:t>
            </a:r>
            <a:endParaRPr lang="en-US" altLang="zh-TW" dirty="0" smtClean="0"/>
          </a:p>
          <a:p>
            <a:pPr lvl="1">
              <a:spcBef>
                <a:spcPts val="1200"/>
              </a:spcBef>
            </a:pPr>
            <a:r>
              <a:rPr lang="zh-TW" altLang="en-US" dirty="0"/>
              <a:t>使用傳送</a:t>
            </a:r>
            <a:r>
              <a:rPr lang="zh-TW" altLang="en-US" dirty="0" smtClean="0"/>
              <a:t>方的私密金鑰對雜湊值作簽章</a:t>
            </a:r>
            <a:endParaRPr lang="en-US" altLang="zh-TW" dirty="0" smtClean="0"/>
          </a:p>
        </p:txBody>
      </p:sp>
      <p:sp>
        <p:nvSpPr>
          <p:cNvPr id="3" name="標題 2"/>
          <p:cNvSpPr>
            <a:spLocks noGrp="1"/>
          </p:cNvSpPr>
          <p:nvPr>
            <p:ph type="title"/>
          </p:nvPr>
        </p:nvSpPr>
        <p:spPr>
          <a:xfrm>
            <a:off x="285719" y="158076"/>
            <a:ext cx="8215370" cy="680068"/>
          </a:xfrm>
        </p:spPr>
        <p:txBody>
          <a:bodyPr>
            <a:normAutofit/>
          </a:bodyPr>
          <a:lstStyle/>
          <a:p>
            <a:pPr algn="ctr"/>
            <a:r>
              <a:rPr lang="zh-TW" altLang="en-US" dirty="0" smtClean="0"/>
              <a:t>數位</a:t>
            </a:r>
            <a:r>
              <a:rPr lang="zh-TW" altLang="en-US" dirty="0"/>
              <a:t>信封 </a:t>
            </a:r>
            <a:r>
              <a:rPr lang="en-US" altLang="zh-TW" dirty="0" smtClean="0"/>
              <a:t>(Digital </a:t>
            </a:r>
            <a:r>
              <a:rPr lang="en-US" altLang="zh-TW" dirty="0"/>
              <a:t>Envelope)</a:t>
            </a:r>
            <a:endParaRPr lang="zh-TW" altLang="en-US" dirty="0"/>
          </a:p>
        </p:txBody>
      </p:sp>
      <p:sp>
        <p:nvSpPr>
          <p:cNvPr id="4" name="矩形 3"/>
          <p:cNvSpPr/>
          <p:nvPr/>
        </p:nvSpPr>
        <p:spPr>
          <a:xfrm>
            <a:off x="2718506" y="6093296"/>
            <a:ext cx="3349797" cy="360040"/>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800" b="0" i="0" u="none" strike="noStrike" kern="1200" cap="none" spc="0" normalizeH="0" baseline="0" noProof="0" dirty="0" smtClean="0">
                <a:ln>
                  <a:noFill/>
                </a:ln>
                <a:solidFill>
                  <a:prstClr val="white"/>
                </a:solidFill>
                <a:effectLst/>
                <a:uLnTx/>
                <a:uFillTx/>
                <a:latin typeface="標楷體" panose="03000509000000000000" pitchFamily="65" charset="-120"/>
                <a:ea typeface="標楷體" panose="03000509000000000000" pitchFamily="65" charset="-120"/>
              </a:rPr>
              <a:t>既加密又簽章</a:t>
            </a:r>
            <a:endParaRPr kumimoji="0" lang="en-US" altLang="zh-TW" sz="1800" b="0" i="0" u="none" strike="noStrike" kern="1200" cap="none" spc="0" normalizeH="0" baseline="0" noProof="0" dirty="0">
              <a:ln>
                <a:noFill/>
              </a:ln>
              <a:solidFill>
                <a:prstClr val="white"/>
              </a:solidFill>
              <a:effectLst/>
              <a:uLnTx/>
              <a:uFillTx/>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333149073"/>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pPr algn="ctr"/>
            <a:r>
              <a:rPr lang="zh-TW" altLang="en-US" dirty="0" smtClean="0"/>
              <a:t>數位</a:t>
            </a:r>
            <a:r>
              <a:rPr lang="zh-TW" altLang="en-US" dirty="0"/>
              <a:t>信封 </a:t>
            </a:r>
            <a:r>
              <a:rPr lang="en-US" altLang="zh-TW" dirty="0"/>
              <a:t>(Digital Envelope)</a:t>
            </a:r>
            <a:endParaRPr lang="zh-TW" altLang="en-US" dirty="0"/>
          </a:p>
        </p:txBody>
      </p:sp>
      <p:grpSp>
        <p:nvGrpSpPr>
          <p:cNvPr id="66" name="群組 65"/>
          <p:cNvGrpSpPr/>
          <p:nvPr/>
        </p:nvGrpSpPr>
        <p:grpSpPr>
          <a:xfrm>
            <a:off x="214282" y="1275911"/>
            <a:ext cx="8275693" cy="5010609"/>
            <a:chOff x="214282" y="1275911"/>
            <a:chExt cx="8275693" cy="5010609"/>
          </a:xfrm>
        </p:grpSpPr>
        <p:sp>
          <p:nvSpPr>
            <p:cNvPr id="109" name="矩形 108"/>
            <p:cNvSpPr/>
            <p:nvPr/>
          </p:nvSpPr>
          <p:spPr>
            <a:xfrm>
              <a:off x="4632323" y="1275911"/>
              <a:ext cx="3857652" cy="500066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800" b="0" i="0" u="none" strike="noStrike" kern="1200" cap="none" spc="0" normalizeH="0" baseline="0" noProof="0">
                <a:ln>
                  <a:noFill/>
                </a:ln>
                <a:solidFill>
                  <a:prstClr val="white"/>
                </a:solidFill>
                <a:effectLst/>
                <a:uLnTx/>
                <a:uFillTx/>
                <a:latin typeface="Calibri" pitchFamily="34" charset="0"/>
                <a:ea typeface="微軟正黑體" panose="020B0604030504040204" pitchFamily="34" charset="-120"/>
                <a:cs typeface="+mn-cs"/>
              </a:endParaRPr>
            </a:p>
          </p:txBody>
        </p:sp>
        <p:sp>
          <p:nvSpPr>
            <p:cNvPr id="108" name="矩形 107"/>
            <p:cNvSpPr/>
            <p:nvPr/>
          </p:nvSpPr>
          <p:spPr>
            <a:xfrm>
              <a:off x="449338" y="1285860"/>
              <a:ext cx="3857652" cy="50006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8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4" name="流程圖: 文件 3"/>
            <p:cNvSpPr/>
            <p:nvPr/>
          </p:nvSpPr>
          <p:spPr>
            <a:xfrm>
              <a:off x="735090" y="2643182"/>
              <a:ext cx="1071570" cy="642942"/>
            </a:xfrm>
            <a:prstGeom prst="flowChartDocumen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訊息原文</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5" name="橢圓 4"/>
            <p:cNvSpPr/>
            <p:nvPr/>
          </p:nvSpPr>
          <p:spPr>
            <a:xfrm>
              <a:off x="1020842" y="3786190"/>
              <a:ext cx="500066" cy="5000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H</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6" name="圓角矩形 5"/>
            <p:cNvSpPr/>
            <p:nvPr/>
          </p:nvSpPr>
          <p:spPr>
            <a:xfrm>
              <a:off x="806528" y="4643446"/>
              <a:ext cx="928694"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雜湊值</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7" name="橢圓 6"/>
            <p:cNvSpPr/>
            <p:nvPr/>
          </p:nvSpPr>
          <p:spPr>
            <a:xfrm>
              <a:off x="2235288" y="2714620"/>
              <a:ext cx="500066" cy="500066"/>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E</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8" name="橢圓 7"/>
            <p:cNvSpPr/>
            <p:nvPr/>
          </p:nvSpPr>
          <p:spPr>
            <a:xfrm>
              <a:off x="6164378" y="2714620"/>
              <a:ext cx="500066" cy="500066"/>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D</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9" name="矩形 8"/>
            <p:cNvSpPr/>
            <p:nvPr/>
          </p:nvSpPr>
          <p:spPr>
            <a:xfrm>
              <a:off x="3949800" y="2714620"/>
              <a:ext cx="1071570" cy="500066"/>
            </a:xfrm>
            <a:prstGeom prst="rect">
              <a:avLst/>
            </a:prstGeom>
            <a:solidFill>
              <a:srgbClr val="0000FF"/>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訊息密文</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10" name="矩形 9"/>
            <p:cNvSpPr/>
            <p:nvPr/>
          </p:nvSpPr>
          <p:spPr>
            <a:xfrm>
              <a:off x="3949800" y="3214686"/>
              <a:ext cx="1071570" cy="375050"/>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數位簽章</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11" name="流程圖: 文件 10"/>
            <p:cNvSpPr/>
            <p:nvPr/>
          </p:nvSpPr>
          <p:spPr>
            <a:xfrm>
              <a:off x="7093072" y="2643182"/>
              <a:ext cx="1071570" cy="642942"/>
            </a:xfrm>
            <a:prstGeom prst="flowChartDocumen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訊息原文</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12" name="橢圓 11"/>
            <p:cNvSpPr/>
            <p:nvPr/>
          </p:nvSpPr>
          <p:spPr>
            <a:xfrm>
              <a:off x="7378824" y="3786190"/>
              <a:ext cx="500066" cy="5000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H</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13" name="圓角矩形 12"/>
            <p:cNvSpPr/>
            <p:nvPr/>
          </p:nvSpPr>
          <p:spPr>
            <a:xfrm>
              <a:off x="7164510" y="4643446"/>
              <a:ext cx="928694"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雜湊值</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14" name="橢圓 13"/>
            <p:cNvSpPr/>
            <p:nvPr/>
          </p:nvSpPr>
          <p:spPr>
            <a:xfrm>
              <a:off x="2999754" y="3173241"/>
              <a:ext cx="500066" cy="5000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E</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15" name="橢圓 14"/>
            <p:cNvSpPr/>
            <p:nvPr/>
          </p:nvSpPr>
          <p:spPr>
            <a:xfrm>
              <a:off x="5019197" y="3793030"/>
              <a:ext cx="500066" cy="50006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D</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cxnSp>
          <p:nvCxnSpPr>
            <p:cNvPr id="17" name="直線單箭頭接點 16"/>
            <p:cNvCxnSpPr>
              <a:stCxn id="4" idx="3"/>
              <a:endCxn id="7" idx="2"/>
            </p:cNvCxnSpPr>
            <p:nvPr/>
          </p:nvCxnSpPr>
          <p:spPr>
            <a:xfrm>
              <a:off x="1806660" y="2964653"/>
              <a:ext cx="428628" cy="1588"/>
            </a:xfrm>
            <a:prstGeom prst="straightConnector1">
              <a:avLst/>
            </a:prstGeom>
            <a:ln>
              <a:tailEnd type="arrow"/>
            </a:ln>
          </p:spPr>
          <p:style>
            <a:lnRef idx="2">
              <a:schemeClr val="accent2">
                <a:shade val="50000"/>
              </a:schemeClr>
            </a:lnRef>
            <a:fillRef idx="1">
              <a:schemeClr val="accent2"/>
            </a:fillRef>
            <a:effectRef idx="0">
              <a:schemeClr val="accent2"/>
            </a:effectRef>
            <a:fontRef idx="minor">
              <a:schemeClr val="lt1"/>
            </a:fontRef>
          </p:style>
        </p:cxnSp>
        <p:cxnSp>
          <p:nvCxnSpPr>
            <p:cNvPr id="19" name="直線單箭頭接點 18"/>
            <p:cNvCxnSpPr>
              <a:stCxn id="7" idx="6"/>
              <a:endCxn id="9" idx="1"/>
            </p:cNvCxnSpPr>
            <p:nvPr/>
          </p:nvCxnSpPr>
          <p:spPr>
            <a:xfrm>
              <a:off x="2735354" y="2964653"/>
              <a:ext cx="1214446" cy="1588"/>
            </a:xfrm>
            <a:prstGeom prst="straightConnector1">
              <a:avLst/>
            </a:prstGeom>
            <a:ln>
              <a:tailEnd type="arrow"/>
            </a:ln>
          </p:spPr>
          <p:style>
            <a:lnRef idx="2">
              <a:schemeClr val="accent2">
                <a:shade val="50000"/>
              </a:schemeClr>
            </a:lnRef>
            <a:fillRef idx="1">
              <a:schemeClr val="accent2"/>
            </a:fillRef>
            <a:effectRef idx="0">
              <a:schemeClr val="accent2"/>
            </a:effectRef>
            <a:fontRef idx="minor">
              <a:schemeClr val="lt1"/>
            </a:fontRef>
          </p:style>
        </p:cxnSp>
        <p:cxnSp>
          <p:nvCxnSpPr>
            <p:cNvPr id="22" name="直線單箭頭接點 21"/>
            <p:cNvCxnSpPr>
              <a:stCxn id="9" idx="3"/>
              <a:endCxn id="8" idx="2"/>
            </p:cNvCxnSpPr>
            <p:nvPr/>
          </p:nvCxnSpPr>
          <p:spPr>
            <a:xfrm>
              <a:off x="5021370" y="2964653"/>
              <a:ext cx="1143008" cy="1588"/>
            </a:xfrm>
            <a:prstGeom prst="straightConnector1">
              <a:avLst/>
            </a:prstGeom>
            <a:ln>
              <a:tailEnd type="arrow"/>
            </a:ln>
          </p:spPr>
          <p:style>
            <a:lnRef idx="2">
              <a:schemeClr val="accent2">
                <a:shade val="50000"/>
              </a:schemeClr>
            </a:lnRef>
            <a:fillRef idx="1">
              <a:schemeClr val="accent2"/>
            </a:fillRef>
            <a:effectRef idx="0">
              <a:schemeClr val="accent2"/>
            </a:effectRef>
            <a:fontRef idx="minor">
              <a:schemeClr val="lt1"/>
            </a:fontRef>
          </p:style>
        </p:cxnSp>
        <p:cxnSp>
          <p:nvCxnSpPr>
            <p:cNvPr id="24" name="直線單箭頭接點 23"/>
            <p:cNvCxnSpPr>
              <a:stCxn id="8" idx="6"/>
              <a:endCxn id="11" idx="1"/>
            </p:cNvCxnSpPr>
            <p:nvPr/>
          </p:nvCxnSpPr>
          <p:spPr>
            <a:xfrm>
              <a:off x="6664444" y="2964653"/>
              <a:ext cx="428628" cy="1588"/>
            </a:xfrm>
            <a:prstGeom prst="straightConnector1">
              <a:avLst/>
            </a:prstGeom>
            <a:ln>
              <a:tailEnd type="arrow"/>
            </a:ln>
          </p:spPr>
          <p:style>
            <a:lnRef idx="2">
              <a:schemeClr val="accent2">
                <a:shade val="50000"/>
              </a:schemeClr>
            </a:lnRef>
            <a:fillRef idx="1">
              <a:schemeClr val="accent2"/>
            </a:fillRef>
            <a:effectRef idx="0">
              <a:schemeClr val="accent2"/>
            </a:effectRef>
            <a:fontRef idx="minor">
              <a:schemeClr val="lt1"/>
            </a:fontRef>
          </p:style>
        </p:cxnSp>
        <p:cxnSp>
          <p:nvCxnSpPr>
            <p:cNvPr id="28" name="直線單箭頭接點 27"/>
            <p:cNvCxnSpPr>
              <a:stCxn id="4" idx="2"/>
              <a:endCxn id="5" idx="0"/>
            </p:cNvCxnSpPr>
            <p:nvPr/>
          </p:nvCxnSpPr>
          <p:spPr>
            <a:xfrm rot="5400000">
              <a:off x="999589" y="3514904"/>
              <a:ext cx="542572" cy="1588"/>
            </a:xfrm>
            <a:prstGeom prst="straightConnector1">
              <a:avLst/>
            </a:prstGeom>
            <a:ln>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37" name="直線單箭頭接點 36"/>
            <p:cNvCxnSpPr>
              <a:stCxn id="5" idx="4"/>
              <a:endCxn id="6" idx="0"/>
            </p:cNvCxnSpPr>
            <p:nvPr/>
          </p:nvCxnSpPr>
          <p:spPr>
            <a:xfrm rot="5400000">
              <a:off x="1092280" y="4464851"/>
              <a:ext cx="357190" cy="1588"/>
            </a:xfrm>
            <a:prstGeom prst="straightConnector1">
              <a:avLst/>
            </a:prstGeom>
            <a:ln>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39" name="圖案 38"/>
            <p:cNvCxnSpPr>
              <a:stCxn id="6" idx="3"/>
              <a:endCxn id="14" idx="2"/>
            </p:cNvCxnSpPr>
            <p:nvPr/>
          </p:nvCxnSpPr>
          <p:spPr>
            <a:xfrm flipV="1">
              <a:off x="1735222" y="3423274"/>
              <a:ext cx="1264532" cy="1398767"/>
            </a:xfrm>
            <a:prstGeom prst="bentConnector3">
              <a:avLst>
                <a:gd name="adj1" fmla="val 50000"/>
              </a:avLst>
            </a:prstGeom>
            <a:ln>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43" name="圖案 42"/>
            <p:cNvCxnSpPr>
              <a:stCxn id="10" idx="3"/>
              <a:endCxn id="15" idx="0"/>
            </p:cNvCxnSpPr>
            <p:nvPr/>
          </p:nvCxnSpPr>
          <p:spPr>
            <a:xfrm>
              <a:off x="5021370" y="3402211"/>
              <a:ext cx="247860" cy="390819"/>
            </a:xfrm>
            <a:prstGeom prst="bentConnector2">
              <a:avLst/>
            </a:prstGeom>
            <a:ln>
              <a:tailEnd type="arrow"/>
            </a:ln>
          </p:spPr>
          <p:style>
            <a:lnRef idx="2">
              <a:schemeClr val="accent1">
                <a:shade val="50000"/>
              </a:schemeClr>
            </a:lnRef>
            <a:fillRef idx="1">
              <a:schemeClr val="accent1"/>
            </a:fillRef>
            <a:effectRef idx="0">
              <a:schemeClr val="accent1"/>
            </a:effectRef>
            <a:fontRef idx="minor">
              <a:schemeClr val="lt1"/>
            </a:fontRef>
          </p:style>
        </p:cxnSp>
        <p:sp>
          <p:nvSpPr>
            <p:cNvPr id="44" name="圓角矩形 43"/>
            <p:cNvSpPr/>
            <p:nvPr/>
          </p:nvSpPr>
          <p:spPr>
            <a:xfrm>
              <a:off x="4807056" y="4643446"/>
              <a:ext cx="928694" cy="3571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雜湊值</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cxnSp>
          <p:nvCxnSpPr>
            <p:cNvPr id="46" name="直線單箭頭接點 45"/>
            <p:cNvCxnSpPr>
              <a:stCxn id="15" idx="4"/>
              <a:endCxn id="44" idx="0"/>
            </p:cNvCxnSpPr>
            <p:nvPr/>
          </p:nvCxnSpPr>
          <p:spPr>
            <a:xfrm>
              <a:off x="5269230" y="4293096"/>
              <a:ext cx="2173" cy="350350"/>
            </a:xfrm>
            <a:prstGeom prst="straightConnector1">
              <a:avLst/>
            </a:prstGeom>
            <a:ln>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48" name="直線單箭頭接點 47"/>
            <p:cNvCxnSpPr>
              <a:stCxn id="11" idx="2"/>
              <a:endCxn id="12" idx="0"/>
            </p:cNvCxnSpPr>
            <p:nvPr/>
          </p:nvCxnSpPr>
          <p:spPr>
            <a:xfrm rot="5400000">
              <a:off x="7357571" y="3514904"/>
              <a:ext cx="542572" cy="1588"/>
            </a:xfrm>
            <a:prstGeom prst="straightConnector1">
              <a:avLst/>
            </a:prstGeom>
            <a:ln>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0" name="直線單箭頭接點 49"/>
            <p:cNvCxnSpPr>
              <a:stCxn id="12" idx="4"/>
              <a:endCxn id="13" idx="0"/>
            </p:cNvCxnSpPr>
            <p:nvPr/>
          </p:nvCxnSpPr>
          <p:spPr>
            <a:xfrm rot="5400000">
              <a:off x="7450262" y="4464851"/>
              <a:ext cx="357190" cy="1588"/>
            </a:xfrm>
            <a:prstGeom prst="straightConnector1">
              <a:avLst/>
            </a:prstGeom>
            <a:ln>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2" name="文字方塊 51"/>
            <p:cNvSpPr txBox="1"/>
            <p:nvPr/>
          </p:nvSpPr>
          <p:spPr>
            <a:xfrm>
              <a:off x="6307254" y="4415402"/>
              <a:ext cx="595035" cy="3385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srgbClr val="F4E7ED">
                      <a:lumMod val="25000"/>
                    </a:srgbClr>
                  </a:solidFill>
                  <a:effectLst/>
                  <a:uLnTx/>
                  <a:uFillTx/>
                  <a:latin typeface="Calibri" pitchFamily="34" charset="0"/>
                  <a:ea typeface="微軟正黑體" panose="020B0604030504040204" pitchFamily="34" charset="-120"/>
                  <a:cs typeface="+mn-cs"/>
                </a:rPr>
                <a:t>比對</a:t>
              </a:r>
              <a:endParaRPr kumimoji="0" lang="zh-TW" altLang="en-US" sz="1600" b="0" i="0" u="none" strike="noStrike" kern="1200" cap="none" spc="0" normalizeH="0" baseline="0" noProof="0" dirty="0">
                <a:ln>
                  <a:noFill/>
                </a:ln>
                <a:solidFill>
                  <a:srgbClr val="F4E7ED">
                    <a:lumMod val="25000"/>
                  </a:srgbClr>
                </a:solidFill>
                <a:effectLst/>
                <a:uLnTx/>
                <a:uFillTx/>
                <a:latin typeface="Calibri" pitchFamily="34" charset="0"/>
                <a:ea typeface="微軟正黑體" panose="020B0604030504040204" pitchFamily="34" charset="-120"/>
                <a:cs typeface="+mn-cs"/>
              </a:endParaRPr>
            </a:p>
          </p:txBody>
        </p:sp>
        <p:sp>
          <p:nvSpPr>
            <p:cNvPr id="55" name="圓角矩形 54"/>
            <p:cNvSpPr/>
            <p:nvPr/>
          </p:nvSpPr>
          <p:spPr>
            <a:xfrm>
              <a:off x="2092412" y="1785926"/>
              <a:ext cx="785818" cy="500066"/>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對稱</a:t>
              </a:r>
              <a:endPar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金鑰</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57" name="圓角矩形 56"/>
            <p:cNvSpPr/>
            <p:nvPr/>
          </p:nvSpPr>
          <p:spPr>
            <a:xfrm>
              <a:off x="4092676" y="1785926"/>
              <a:ext cx="714380" cy="500066"/>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金鑰密文</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58" name="圓角矩形 57"/>
            <p:cNvSpPr/>
            <p:nvPr/>
          </p:nvSpPr>
          <p:spPr>
            <a:xfrm>
              <a:off x="6021502" y="1785926"/>
              <a:ext cx="785818" cy="500066"/>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對稱</a:t>
              </a:r>
              <a:endPar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金鑰</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cxnSp>
          <p:nvCxnSpPr>
            <p:cNvPr id="60" name="直線單箭頭接點 59"/>
            <p:cNvCxnSpPr>
              <a:stCxn id="55" idx="2"/>
              <a:endCxn id="7" idx="0"/>
            </p:cNvCxnSpPr>
            <p:nvPr/>
          </p:nvCxnSpPr>
          <p:spPr>
            <a:xfrm rot="5400000">
              <a:off x="2271007" y="2500306"/>
              <a:ext cx="428628" cy="1588"/>
            </a:xfrm>
            <a:prstGeom prst="straightConnector1">
              <a:avLst/>
            </a:prstGeom>
            <a:ln>
              <a:tailEnd type="arrow"/>
            </a:ln>
          </p:spPr>
          <p:style>
            <a:lnRef idx="2">
              <a:schemeClr val="accent2">
                <a:shade val="50000"/>
              </a:schemeClr>
            </a:lnRef>
            <a:fillRef idx="1">
              <a:schemeClr val="accent2"/>
            </a:fillRef>
            <a:effectRef idx="0">
              <a:schemeClr val="accent2"/>
            </a:effectRef>
            <a:fontRef idx="minor">
              <a:schemeClr val="lt1"/>
            </a:fontRef>
          </p:style>
        </p:cxnSp>
        <p:cxnSp>
          <p:nvCxnSpPr>
            <p:cNvPr id="63" name="直線單箭頭接點 62"/>
            <p:cNvCxnSpPr>
              <a:stCxn id="58" idx="2"/>
              <a:endCxn id="8" idx="0"/>
            </p:cNvCxnSpPr>
            <p:nvPr/>
          </p:nvCxnSpPr>
          <p:spPr>
            <a:xfrm rot="5400000">
              <a:off x="6200097" y="2500306"/>
              <a:ext cx="428628" cy="1588"/>
            </a:xfrm>
            <a:prstGeom prst="straightConnector1">
              <a:avLst/>
            </a:prstGeom>
            <a:ln>
              <a:tailEnd type="arrow"/>
            </a:ln>
          </p:spPr>
          <p:style>
            <a:lnRef idx="2">
              <a:schemeClr val="accent2">
                <a:shade val="50000"/>
              </a:schemeClr>
            </a:lnRef>
            <a:fillRef idx="1">
              <a:schemeClr val="accent2"/>
            </a:fillRef>
            <a:effectRef idx="0">
              <a:schemeClr val="accent2"/>
            </a:effectRef>
            <a:fontRef idx="minor">
              <a:schemeClr val="lt1"/>
            </a:fontRef>
          </p:style>
        </p:cxnSp>
        <p:sp>
          <p:nvSpPr>
            <p:cNvPr id="64" name="橢圓 63"/>
            <p:cNvSpPr/>
            <p:nvPr/>
          </p:nvSpPr>
          <p:spPr>
            <a:xfrm>
              <a:off x="3235420" y="1785926"/>
              <a:ext cx="500066" cy="500066"/>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E</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65" name="橢圓 64"/>
            <p:cNvSpPr/>
            <p:nvPr/>
          </p:nvSpPr>
          <p:spPr>
            <a:xfrm>
              <a:off x="5164246" y="1785926"/>
              <a:ext cx="500066" cy="500066"/>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D</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cxnSp>
          <p:nvCxnSpPr>
            <p:cNvPr id="67" name="直線單箭頭接點 66"/>
            <p:cNvCxnSpPr>
              <a:stCxn id="55" idx="3"/>
              <a:endCxn id="64" idx="2"/>
            </p:cNvCxnSpPr>
            <p:nvPr/>
          </p:nvCxnSpPr>
          <p:spPr>
            <a:xfrm>
              <a:off x="2878230" y="2035959"/>
              <a:ext cx="357190" cy="1588"/>
            </a:xfrm>
            <a:prstGeom prst="straightConnector1">
              <a:avLst/>
            </a:prstGeom>
            <a:ln>
              <a:tailEnd type="arrow"/>
            </a:ln>
          </p:spPr>
          <p:style>
            <a:lnRef idx="2">
              <a:schemeClr val="accent3">
                <a:shade val="50000"/>
              </a:schemeClr>
            </a:lnRef>
            <a:fillRef idx="1">
              <a:schemeClr val="accent3"/>
            </a:fillRef>
            <a:effectRef idx="0">
              <a:schemeClr val="accent3"/>
            </a:effectRef>
            <a:fontRef idx="minor">
              <a:schemeClr val="lt1"/>
            </a:fontRef>
          </p:style>
        </p:cxnSp>
        <p:cxnSp>
          <p:nvCxnSpPr>
            <p:cNvPr id="72" name="直線單箭頭接點 71"/>
            <p:cNvCxnSpPr>
              <a:stCxn id="64" idx="6"/>
              <a:endCxn id="57" idx="1"/>
            </p:cNvCxnSpPr>
            <p:nvPr/>
          </p:nvCxnSpPr>
          <p:spPr>
            <a:xfrm>
              <a:off x="3735486" y="2035959"/>
              <a:ext cx="357190" cy="1588"/>
            </a:xfrm>
            <a:prstGeom prst="straightConnector1">
              <a:avLst/>
            </a:prstGeom>
            <a:ln>
              <a:tailEnd type="arrow"/>
            </a:ln>
          </p:spPr>
          <p:style>
            <a:lnRef idx="2">
              <a:schemeClr val="accent3">
                <a:shade val="50000"/>
              </a:schemeClr>
            </a:lnRef>
            <a:fillRef idx="1">
              <a:schemeClr val="accent3"/>
            </a:fillRef>
            <a:effectRef idx="0">
              <a:schemeClr val="accent3"/>
            </a:effectRef>
            <a:fontRef idx="minor">
              <a:schemeClr val="lt1"/>
            </a:fontRef>
          </p:style>
        </p:cxnSp>
        <p:cxnSp>
          <p:nvCxnSpPr>
            <p:cNvPr id="74" name="直線單箭頭接點 73"/>
            <p:cNvCxnSpPr>
              <a:stCxn id="57" idx="3"/>
              <a:endCxn id="65" idx="2"/>
            </p:cNvCxnSpPr>
            <p:nvPr/>
          </p:nvCxnSpPr>
          <p:spPr>
            <a:xfrm>
              <a:off x="4807056" y="2035959"/>
              <a:ext cx="357190" cy="1588"/>
            </a:xfrm>
            <a:prstGeom prst="straightConnector1">
              <a:avLst/>
            </a:prstGeom>
            <a:ln>
              <a:tailEnd type="arrow"/>
            </a:ln>
          </p:spPr>
          <p:style>
            <a:lnRef idx="2">
              <a:schemeClr val="accent3">
                <a:shade val="50000"/>
              </a:schemeClr>
            </a:lnRef>
            <a:fillRef idx="1">
              <a:schemeClr val="accent3"/>
            </a:fillRef>
            <a:effectRef idx="0">
              <a:schemeClr val="accent3"/>
            </a:effectRef>
            <a:fontRef idx="minor">
              <a:schemeClr val="lt1"/>
            </a:fontRef>
          </p:style>
        </p:cxnSp>
        <p:cxnSp>
          <p:nvCxnSpPr>
            <p:cNvPr id="76" name="直線單箭頭接點 75"/>
            <p:cNvCxnSpPr>
              <a:stCxn id="65" idx="6"/>
              <a:endCxn id="58" idx="1"/>
            </p:cNvCxnSpPr>
            <p:nvPr/>
          </p:nvCxnSpPr>
          <p:spPr>
            <a:xfrm>
              <a:off x="5664312" y="2035959"/>
              <a:ext cx="357190" cy="1588"/>
            </a:xfrm>
            <a:prstGeom prst="straightConnector1">
              <a:avLst/>
            </a:prstGeom>
            <a:ln>
              <a:tailEnd type="arrow"/>
            </a:ln>
          </p:spPr>
          <p:style>
            <a:lnRef idx="2">
              <a:schemeClr val="accent3">
                <a:shade val="50000"/>
              </a:schemeClr>
            </a:lnRef>
            <a:fillRef idx="1">
              <a:schemeClr val="accent3"/>
            </a:fillRef>
            <a:effectRef idx="0">
              <a:schemeClr val="accent3"/>
            </a:effectRef>
            <a:fontRef idx="minor">
              <a:schemeClr val="lt1"/>
            </a:fontRef>
          </p:style>
        </p:cxnSp>
        <p:cxnSp>
          <p:nvCxnSpPr>
            <p:cNvPr id="78" name="直線單箭頭接點 77"/>
            <p:cNvCxnSpPr>
              <a:stCxn id="44" idx="3"/>
              <a:endCxn id="13" idx="1"/>
            </p:cNvCxnSpPr>
            <p:nvPr/>
          </p:nvCxnSpPr>
          <p:spPr>
            <a:xfrm>
              <a:off x="5735750" y="4822041"/>
              <a:ext cx="1428760" cy="0"/>
            </a:xfrm>
            <a:prstGeom prst="straightConnector1">
              <a:avLst/>
            </a:prstGeom>
            <a:ln>
              <a:prstDash val="sysDot"/>
              <a:headEnd type="arrow"/>
              <a:tailEnd type="arrow"/>
            </a:ln>
          </p:spPr>
          <p:style>
            <a:lnRef idx="2">
              <a:schemeClr val="accent1">
                <a:shade val="50000"/>
              </a:schemeClr>
            </a:lnRef>
            <a:fillRef idx="1">
              <a:schemeClr val="accent1"/>
            </a:fillRef>
            <a:effectRef idx="0">
              <a:schemeClr val="accent1"/>
            </a:effectRef>
            <a:fontRef idx="minor">
              <a:schemeClr val="lt1"/>
            </a:fontRef>
          </p:style>
        </p:cxnSp>
        <p:sp>
          <p:nvSpPr>
            <p:cNvPr id="79" name="橢圓 78"/>
            <p:cNvSpPr/>
            <p:nvPr/>
          </p:nvSpPr>
          <p:spPr>
            <a:xfrm>
              <a:off x="7378824" y="5500702"/>
              <a:ext cx="500066" cy="500066"/>
            </a:xfrm>
            <a:prstGeom prst="ellipse">
              <a:avLst/>
            </a:prstGeom>
            <a:solidFill>
              <a:srgbClr val="00CC00"/>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E</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80" name="圓角矩形 79"/>
            <p:cNvSpPr/>
            <p:nvPr/>
          </p:nvSpPr>
          <p:spPr>
            <a:xfrm>
              <a:off x="806528" y="5572140"/>
              <a:ext cx="928694" cy="357190"/>
            </a:xfrm>
            <a:prstGeom prst="roundRect">
              <a:avLst/>
            </a:prstGeom>
            <a:solidFill>
              <a:srgbClr val="00CC00"/>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雜湊值</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82" name="橢圓 81"/>
            <p:cNvSpPr/>
            <p:nvPr/>
          </p:nvSpPr>
          <p:spPr>
            <a:xfrm>
              <a:off x="2378164" y="5500702"/>
              <a:ext cx="500066" cy="500066"/>
            </a:xfrm>
            <a:prstGeom prst="ellipse">
              <a:avLst/>
            </a:prstGeom>
            <a:solidFill>
              <a:srgbClr val="00CC00"/>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D</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sp>
          <p:nvSpPr>
            <p:cNvPr id="83" name="矩形 82"/>
            <p:cNvSpPr/>
            <p:nvPr/>
          </p:nvSpPr>
          <p:spPr>
            <a:xfrm>
              <a:off x="3949800" y="5572140"/>
              <a:ext cx="1071570" cy="375050"/>
            </a:xfrm>
            <a:prstGeom prst="rect">
              <a:avLst/>
            </a:prstGeom>
            <a:solidFill>
              <a:srgbClr val="00CC00"/>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white"/>
                  </a:solidFill>
                  <a:effectLst/>
                  <a:uLnTx/>
                  <a:uFillTx/>
                  <a:latin typeface="Calibri" pitchFamily="34" charset="0"/>
                  <a:ea typeface="微軟正黑體" panose="020B0604030504040204" pitchFamily="34" charset="-120"/>
                  <a:cs typeface="+mn-cs"/>
                </a:rPr>
                <a:t>數位簽章</a:t>
              </a:r>
              <a:endParaRPr kumimoji="0" lang="zh-TW" altLang="en-US" sz="1600" b="0" i="0" u="none" strike="noStrike" kern="1200" cap="none" spc="0" normalizeH="0" baseline="0" noProof="0" dirty="0">
                <a:ln>
                  <a:noFill/>
                </a:ln>
                <a:solidFill>
                  <a:prstClr val="white"/>
                </a:solidFill>
                <a:effectLst/>
                <a:uLnTx/>
                <a:uFillTx/>
                <a:latin typeface="Calibri" pitchFamily="34" charset="0"/>
                <a:ea typeface="微軟正黑體" panose="020B0604030504040204" pitchFamily="34" charset="-120"/>
                <a:cs typeface="+mn-cs"/>
              </a:endParaRPr>
            </a:p>
          </p:txBody>
        </p:sp>
        <p:cxnSp>
          <p:nvCxnSpPr>
            <p:cNvPr id="85" name="直線單箭頭接點 84"/>
            <p:cNvCxnSpPr>
              <a:stCxn id="13" idx="2"/>
              <a:endCxn id="79" idx="0"/>
            </p:cNvCxnSpPr>
            <p:nvPr/>
          </p:nvCxnSpPr>
          <p:spPr>
            <a:xfrm rot="5400000">
              <a:off x="7378824" y="5250669"/>
              <a:ext cx="500066" cy="1588"/>
            </a:xfrm>
            <a:prstGeom prst="straightConnector1">
              <a:avLst/>
            </a:prstGeom>
            <a:ln>
              <a:solidFill>
                <a:srgbClr val="00CC00"/>
              </a:solidFill>
              <a:tailEnd type="arrow"/>
            </a:ln>
          </p:spPr>
          <p:style>
            <a:lnRef idx="2">
              <a:schemeClr val="accent5">
                <a:shade val="50000"/>
              </a:schemeClr>
            </a:lnRef>
            <a:fillRef idx="1">
              <a:schemeClr val="accent5"/>
            </a:fillRef>
            <a:effectRef idx="0">
              <a:schemeClr val="accent5"/>
            </a:effectRef>
            <a:fontRef idx="minor">
              <a:schemeClr val="lt1"/>
            </a:fontRef>
          </p:style>
        </p:cxnSp>
        <p:cxnSp>
          <p:nvCxnSpPr>
            <p:cNvPr id="87" name="直線單箭頭接點 86"/>
            <p:cNvCxnSpPr>
              <a:stCxn id="79" idx="2"/>
              <a:endCxn id="83" idx="3"/>
            </p:cNvCxnSpPr>
            <p:nvPr/>
          </p:nvCxnSpPr>
          <p:spPr>
            <a:xfrm rot="10800000" flipV="1">
              <a:off x="5021370" y="5750735"/>
              <a:ext cx="2357454" cy="8930"/>
            </a:xfrm>
            <a:prstGeom prst="straightConnector1">
              <a:avLst/>
            </a:prstGeom>
            <a:ln>
              <a:solidFill>
                <a:srgbClr val="00CC00"/>
              </a:solidFill>
              <a:tailEnd type="arrow"/>
            </a:ln>
          </p:spPr>
          <p:style>
            <a:lnRef idx="2">
              <a:schemeClr val="accent5">
                <a:shade val="50000"/>
              </a:schemeClr>
            </a:lnRef>
            <a:fillRef idx="1">
              <a:schemeClr val="accent5"/>
            </a:fillRef>
            <a:effectRef idx="0">
              <a:schemeClr val="accent5"/>
            </a:effectRef>
            <a:fontRef idx="minor">
              <a:schemeClr val="lt1"/>
            </a:fontRef>
          </p:style>
        </p:cxnSp>
        <p:cxnSp>
          <p:nvCxnSpPr>
            <p:cNvPr id="89" name="直線單箭頭接點 88"/>
            <p:cNvCxnSpPr>
              <a:stCxn id="83" idx="1"/>
              <a:endCxn id="82" idx="6"/>
            </p:cNvCxnSpPr>
            <p:nvPr/>
          </p:nvCxnSpPr>
          <p:spPr>
            <a:xfrm rot="10800000">
              <a:off x="2878230" y="5750735"/>
              <a:ext cx="1071570" cy="8930"/>
            </a:xfrm>
            <a:prstGeom prst="straightConnector1">
              <a:avLst/>
            </a:prstGeom>
            <a:ln>
              <a:solidFill>
                <a:srgbClr val="00CC00"/>
              </a:solidFill>
              <a:tailEnd type="arrow"/>
            </a:ln>
          </p:spPr>
          <p:style>
            <a:lnRef idx="2">
              <a:schemeClr val="accent5">
                <a:shade val="50000"/>
              </a:schemeClr>
            </a:lnRef>
            <a:fillRef idx="1">
              <a:schemeClr val="accent5"/>
            </a:fillRef>
            <a:effectRef idx="0">
              <a:schemeClr val="accent5"/>
            </a:effectRef>
            <a:fontRef idx="minor">
              <a:schemeClr val="lt1"/>
            </a:fontRef>
          </p:style>
        </p:cxnSp>
        <p:cxnSp>
          <p:nvCxnSpPr>
            <p:cNvPr id="91" name="直線單箭頭接點 90"/>
            <p:cNvCxnSpPr>
              <a:stCxn id="82" idx="2"/>
              <a:endCxn id="80" idx="3"/>
            </p:cNvCxnSpPr>
            <p:nvPr/>
          </p:nvCxnSpPr>
          <p:spPr>
            <a:xfrm rot="10800000">
              <a:off x="1735222" y="5750735"/>
              <a:ext cx="642942" cy="1588"/>
            </a:xfrm>
            <a:prstGeom prst="straightConnector1">
              <a:avLst/>
            </a:prstGeom>
            <a:ln>
              <a:solidFill>
                <a:srgbClr val="00CC00"/>
              </a:solidFill>
              <a:tailEnd type="arrow"/>
            </a:ln>
          </p:spPr>
          <p:style>
            <a:lnRef idx="2">
              <a:schemeClr val="accent5">
                <a:shade val="50000"/>
              </a:schemeClr>
            </a:lnRef>
            <a:fillRef idx="1">
              <a:schemeClr val="accent5"/>
            </a:fillRef>
            <a:effectRef idx="0">
              <a:schemeClr val="accent5"/>
            </a:effectRef>
            <a:fontRef idx="minor">
              <a:schemeClr val="lt1"/>
            </a:fontRef>
          </p:style>
        </p:cxnSp>
        <p:cxnSp>
          <p:nvCxnSpPr>
            <p:cNvPr id="93" name="直線單箭頭接點 92"/>
            <p:cNvCxnSpPr>
              <a:stCxn id="6" idx="2"/>
              <a:endCxn id="80" idx="0"/>
            </p:cNvCxnSpPr>
            <p:nvPr/>
          </p:nvCxnSpPr>
          <p:spPr>
            <a:xfrm rot="5400000">
              <a:off x="985123" y="5286388"/>
              <a:ext cx="571504" cy="1588"/>
            </a:xfrm>
            <a:prstGeom prst="straightConnector1">
              <a:avLst/>
            </a:prstGeom>
            <a:ln>
              <a:solidFill>
                <a:srgbClr val="00CC00"/>
              </a:solidFill>
              <a:prstDash val="sysDot"/>
              <a:headEnd type="arrow"/>
              <a:tailEnd type="arrow"/>
            </a:ln>
          </p:spPr>
          <p:style>
            <a:lnRef idx="2">
              <a:schemeClr val="accent5">
                <a:shade val="50000"/>
              </a:schemeClr>
            </a:lnRef>
            <a:fillRef idx="1">
              <a:schemeClr val="accent5"/>
            </a:fillRef>
            <a:effectRef idx="0">
              <a:schemeClr val="accent5"/>
            </a:effectRef>
            <a:fontRef idx="minor">
              <a:schemeClr val="lt1"/>
            </a:fontRef>
          </p:style>
        </p:cxnSp>
        <p:sp>
          <p:nvSpPr>
            <p:cNvPr id="94" name="文字方塊 93"/>
            <p:cNvSpPr txBox="1"/>
            <p:nvPr/>
          </p:nvSpPr>
          <p:spPr>
            <a:xfrm>
              <a:off x="1378032" y="5162148"/>
              <a:ext cx="595035" cy="338554"/>
            </a:xfrm>
            <a:prstGeom prst="rect">
              <a:avLst/>
            </a:prstGeom>
            <a:noFill/>
            <a:ln>
              <a:noFill/>
            </a:ln>
          </p:spPr>
          <p:style>
            <a:lnRef idx="2">
              <a:schemeClr val="accent5">
                <a:shade val="50000"/>
              </a:schemeClr>
            </a:lnRef>
            <a:fillRef idx="1">
              <a:schemeClr val="accent5"/>
            </a:fillRef>
            <a:effectRef idx="0">
              <a:schemeClr val="accent5"/>
            </a:effectRef>
            <a:fontRef idx="minor">
              <a:schemeClr val="lt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srgbClr val="F4E7ED">
                      <a:lumMod val="25000"/>
                    </a:srgbClr>
                  </a:solidFill>
                  <a:effectLst/>
                  <a:uLnTx/>
                  <a:uFillTx/>
                  <a:latin typeface="Calibri" pitchFamily="34" charset="0"/>
                  <a:ea typeface="微軟正黑體" panose="020B0604030504040204" pitchFamily="34" charset="-120"/>
                  <a:cs typeface="+mn-cs"/>
                </a:rPr>
                <a:t>比對</a:t>
              </a:r>
              <a:endParaRPr kumimoji="0" lang="zh-TW" altLang="en-US" sz="1600" b="0" i="0" u="none" strike="noStrike" kern="1200" cap="none" spc="0" normalizeH="0" baseline="0" noProof="0" dirty="0">
                <a:ln>
                  <a:noFill/>
                </a:ln>
                <a:solidFill>
                  <a:srgbClr val="F4E7ED">
                    <a:lumMod val="25000"/>
                  </a:srgbClr>
                </a:solidFill>
                <a:effectLst/>
                <a:uLnTx/>
                <a:uFillTx/>
                <a:latin typeface="Calibri" pitchFamily="34" charset="0"/>
                <a:ea typeface="微軟正黑體" panose="020B0604030504040204" pitchFamily="34" charset="-120"/>
                <a:cs typeface="+mn-cs"/>
              </a:endParaRPr>
            </a:p>
          </p:txBody>
        </p:sp>
        <p:sp>
          <p:nvSpPr>
            <p:cNvPr id="110" name="文字方塊 109"/>
            <p:cNvSpPr txBox="1"/>
            <p:nvPr/>
          </p:nvSpPr>
          <p:spPr>
            <a:xfrm>
              <a:off x="449338" y="1357298"/>
              <a:ext cx="1210588" cy="338554"/>
            </a:xfrm>
            <a:prstGeom prst="rect">
              <a:avLst/>
            </a:prstGeom>
            <a:solidFill>
              <a:srgbClr val="FF00FF"/>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訊息傳送方</a:t>
              </a:r>
              <a:endParaRPr kumimoji="0" lang="zh-TW" altLang="en-US" sz="16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sp>
          <p:nvSpPr>
            <p:cNvPr id="111" name="文字方塊 110"/>
            <p:cNvSpPr txBox="1"/>
            <p:nvPr/>
          </p:nvSpPr>
          <p:spPr>
            <a:xfrm>
              <a:off x="7235948" y="1357298"/>
              <a:ext cx="1210588" cy="338554"/>
            </a:xfrm>
            <a:prstGeom prst="rect">
              <a:avLst/>
            </a:prstGeom>
            <a:solidFill>
              <a:srgbClr val="FF00FF"/>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6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訊息接收方</a:t>
              </a:r>
              <a:endParaRPr kumimoji="0" lang="zh-TW" altLang="en-US" sz="16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sp>
          <p:nvSpPr>
            <p:cNvPr id="113" name="文字方塊 112"/>
            <p:cNvSpPr txBox="1"/>
            <p:nvPr/>
          </p:nvSpPr>
          <p:spPr>
            <a:xfrm>
              <a:off x="2189733" y="4977482"/>
              <a:ext cx="902811" cy="523220"/>
            </a:xfrm>
            <a:prstGeom prst="rect">
              <a:avLst/>
            </a:prstGeom>
            <a:noFill/>
            <a:ln>
              <a:noFill/>
            </a:ln>
          </p:spPr>
          <p:style>
            <a:lnRef idx="2">
              <a:schemeClr val="accent5">
                <a:shade val="50000"/>
              </a:schemeClr>
            </a:lnRef>
            <a:fillRef idx="1">
              <a:schemeClr val="accent5"/>
            </a:fillRef>
            <a:effectRef idx="0">
              <a:schemeClr val="accent5"/>
            </a:effectRef>
            <a:fontRef idx="minor">
              <a:schemeClr val="lt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srgbClr val="F4E7ED">
                      <a:lumMod val="25000"/>
                    </a:srgbClr>
                  </a:solidFill>
                  <a:effectLst/>
                  <a:uLnTx/>
                  <a:uFillTx/>
                  <a:latin typeface="Calibri" pitchFamily="34" charset="0"/>
                  <a:ea typeface="微軟正黑體" panose="020B0604030504040204" pitchFamily="34" charset="-120"/>
                  <a:cs typeface="+mn-cs"/>
                </a:rPr>
                <a:t>接收方的</a:t>
              </a:r>
              <a:endParaRPr kumimoji="0" lang="en-US" altLang="zh-TW" sz="1400" b="0" i="0" u="none" strike="noStrike" kern="1200" cap="none" spc="0" normalizeH="0" baseline="0" noProof="0" dirty="0" smtClean="0">
                <a:ln>
                  <a:noFill/>
                </a:ln>
                <a:solidFill>
                  <a:srgbClr val="F4E7ED">
                    <a:lumMod val="25000"/>
                  </a:srgbClr>
                </a:solidFill>
                <a:effectLst/>
                <a:uLnTx/>
                <a:uFillTx/>
                <a:latin typeface="Calibri" pitchFamily="34" charset="0"/>
                <a:ea typeface="微軟正黑體"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400" b="0" i="0" u="none" strike="noStrike" kern="1200" cap="none" spc="0" normalizeH="0" baseline="0" noProof="0" dirty="0" smtClean="0">
                  <a:ln>
                    <a:noFill/>
                  </a:ln>
                  <a:solidFill>
                    <a:srgbClr val="F4E7ED">
                      <a:lumMod val="25000"/>
                    </a:srgbClr>
                  </a:solidFill>
                  <a:effectLst/>
                  <a:uLnTx/>
                  <a:uFillTx/>
                  <a:latin typeface="Calibri" pitchFamily="34" charset="0"/>
                  <a:ea typeface="微軟正黑體" panose="020B0604030504040204" pitchFamily="34" charset="-120"/>
                  <a:cs typeface="+mn-cs"/>
                </a:rPr>
                <a:t>公開金鑰</a:t>
              </a:r>
              <a:endParaRPr kumimoji="0" lang="zh-TW" altLang="en-US" sz="1400" b="0" i="0" u="none" strike="noStrike" kern="1200" cap="none" spc="0" normalizeH="0" baseline="0" noProof="0" dirty="0">
                <a:ln>
                  <a:noFill/>
                </a:ln>
                <a:solidFill>
                  <a:srgbClr val="F4E7ED">
                    <a:lumMod val="25000"/>
                  </a:srgbClr>
                </a:solidFill>
                <a:effectLst/>
                <a:uLnTx/>
                <a:uFillTx/>
                <a:latin typeface="Calibri" pitchFamily="34" charset="0"/>
                <a:ea typeface="微軟正黑體" panose="020B0604030504040204" pitchFamily="34" charset="-120"/>
                <a:cs typeface="+mn-cs"/>
              </a:endParaRPr>
            </a:p>
          </p:txBody>
        </p:sp>
        <p:sp>
          <p:nvSpPr>
            <p:cNvPr id="114" name="文字方塊 113"/>
            <p:cNvSpPr txBox="1"/>
            <p:nvPr/>
          </p:nvSpPr>
          <p:spPr>
            <a:xfrm>
              <a:off x="2817937" y="1291646"/>
              <a:ext cx="1394023" cy="261610"/>
            </a:xfrm>
            <a:prstGeom prst="rect">
              <a:avLst/>
            </a:prstGeom>
            <a:solidFill>
              <a:srgbClr val="FFFF00"/>
            </a:solidFill>
            <a:ln>
              <a:solidFill>
                <a:schemeClr val="accent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接收方的公開金鑰</a:t>
              </a:r>
              <a:endParaRPr kumimoji="0" lang="zh-TW" altLang="en-US" sz="11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sp>
          <p:nvSpPr>
            <p:cNvPr id="118" name="文字方塊 117"/>
            <p:cNvSpPr txBox="1"/>
            <p:nvPr/>
          </p:nvSpPr>
          <p:spPr>
            <a:xfrm>
              <a:off x="214282" y="1857364"/>
              <a:ext cx="306494" cy="369332"/>
            </a:xfrm>
            <a:prstGeom prst="rect">
              <a:avLst/>
            </a:prstGeom>
            <a:ln/>
          </p:spPr>
          <p:style>
            <a:lnRef idx="2">
              <a:schemeClr val="accent3"/>
            </a:lnRef>
            <a:fillRef idx="1">
              <a:schemeClr val="lt1"/>
            </a:fillRef>
            <a:effectRef idx="0">
              <a:schemeClr val="accent3"/>
            </a:effectRef>
            <a:fontRef idx="minor">
              <a:schemeClr val="dk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2</a:t>
              </a:r>
              <a:endParaRPr kumimoji="0" lang="zh-TW" altLang="en-US" sz="18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sp>
          <p:nvSpPr>
            <p:cNvPr id="119" name="文字方塊 118"/>
            <p:cNvSpPr txBox="1"/>
            <p:nvPr/>
          </p:nvSpPr>
          <p:spPr>
            <a:xfrm>
              <a:off x="214282" y="2714620"/>
              <a:ext cx="306494" cy="369332"/>
            </a:xfrm>
            <a:prstGeom prst="rect">
              <a:avLst/>
            </a:prstGeom>
            <a:ln/>
          </p:spPr>
          <p:style>
            <a:lnRef idx="2">
              <a:schemeClr val="accent2"/>
            </a:lnRef>
            <a:fillRef idx="1">
              <a:schemeClr val="lt1"/>
            </a:fillRef>
            <a:effectRef idx="0">
              <a:schemeClr val="accent2"/>
            </a:effectRef>
            <a:fontRef idx="minor">
              <a:schemeClr val="dk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1</a:t>
              </a:r>
              <a:endParaRPr kumimoji="0" lang="zh-TW" altLang="en-US" sz="18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sp>
          <p:nvSpPr>
            <p:cNvPr id="120" name="文字方塊 119"/>
            <p:cNvSpPr txBox="1"/>
            <p:nvPr/>
          </p:nvSpPr>
          <p:spPr>
            <a:xfrm>
              <a:off x="214282" y="4131238"/>
              <a:ext cx="306494" cy="369332"/>
            </a:xfrm>
            <a:prstGeom prst="rect">
              <a:avLst/>
            </a:prstGeom>
            <a:ln/>
          </p:spPr>
          <p:style>
            <a:lnRef idx="2">
              <a:schemeClr val="accent1"/>
            </a:lnRef>
            <a:fillRef idx="1">
              <a:schemeClr val="lt1"/>
            </a:fillRef>
            <a:effectRef idx="0">
              <a:schemeClr val="accent1"/>
            </a:effectRef>
            <a:fontRef idx="minor">
              <a:schemeClr val="dk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3</a:t>
              </a:r>
              <a:endParaRPr kumimoji="0" lang="zh-TW" altLang="en-US" sz="18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sp>
          <p:nvSpPr>
            <p:cNvPr id="121" name="文字方塊 120"/>
            <p:cNvSpPr txBox="1"/>
            <p:nvPr/>
          </p:nvSpPr>
          <p:spPr>
            <a:xfrm>
              <a:off x="214282" y="5559998"/>
              <a:ext cx="306494" cy="369332"/>
            </a:xfrm>
            <a:prstGeom prst="rect">
              <a:avLst/>
            </a:prstGeom>
            <a:ln/>
          </p:spPr>
          <p:style>
            <a:lnRef idx="2">
              <a:schemeClr val="accent5"/>
            </a:lnRef>
            <a:fillRef idx="1">
              <a:schemeClr val="lt1"/>
            </a:fillRef>
            <a:effectRef idx="0">
              <a:schemeClr val="accent5"/>
            </a:effectRef>
            <a:fontRef idx="minor">
              <a:schemeClr val="dk1"/>
            </a:fontRef>
          </p:style>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4</a:t>
              </a:r>
              <a:endParaRPr kumimoji="0" lang="zh-TW" altLang="en-US" sz="18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grpSp>
      <p:sp>
        <p:nvSpPr>
          <p:cNvPr id="68" name="文字方塊 67"/>
          <p:cNvSpPr txBox="1"/>
          <p:nvPr/>
        </p:nvSpPr>
        <p:spPr>
          <a:xfrm>
            <a:off x="867170" y="1928802"/>
            <a:ext cx="950286" cy="261610"/>
          </a:xfrm>
          <a:prstGeom prst="rect">
            <a:avLst/>
          </a:prstGeom>
          <a:noFill/>
          <a:ln>
            <a:solidFill>
              <a:schemeClr val="accent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dirty="0" smtClean="0">
                <a:solidFill>
                  <a:prstClr val="black"/>
                </a:solidFill>
                <a:latin typeface="Calibri" pitchFamily="34" charset="0"/>
                <a:ea typeface="微軟正黑體" panose="020B0604030504040204" pitchFamily="34" charset="-120"/>
              </a:rPr>
              <a:t>Random</a:t>
            </a:r>
            <a:r>
              <a:rPr lang="zh-TW" altLang="en-US" sz="1100" dirty="0" smtClean="0">
                <a:solidFill>
                  <a:prstClr val="black"/>
                </a:solidFill>
                <a:latin typeface="Calibri" pitchFamily="34" charset="0"/>
                <a:ea typeface="微軟正黑體" panose="020B0604030504040204" pitchFamily="34" charset="-120"/>
              </a:rPr>
              <a:t>產生</a:t>
            </a:r>
            <a:endParaRPr kumimoji="0" lang="zh-TW" altLang="en-US" sz="11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cxnSp>
        <p:nvCxnSpPr>
          <p:cNvPr id="16" name="直線單箭頭接點 15"/>
          <p:cNvCxnSpPr>
            <a:endCxn id="55" idx="1"/>
          </p:cNvCxnSpPr>
          <p:nvPr/>
        </p:nvCxnSpPr>
        <p:spPr>
          <a:xfrm flipV="1">
            <a:off x="1817456" y="2035959"/>
            <a:ext cx="274956" cy="120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直線單箭頭接點 19"/>
          <p:cNvCxnSpPr>
            <a:endCxn id="64" idx="0"/>
          </p:cNvCxnSpPr>
          <p:nvPr/>
        </p:nvCxnSpPr>
        <p:spPr>
          <a:xfrm flipH="1">
            <a:off x="3485453" y="1547470"/>
            <a:ext cx="794" cy="2384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1" name="文字方塊 70"/>
          <p:cNvSpPr txBox="1"/>
          <p:nvPr/>
        </p:nvSpPr>
        <p:spPr>
          <a:xfrm>
            <a:off x="4716016" y="1323485"/>
            <a:ext cx="1394023" cy="261610"/>
          </a:xfrm>
          <a:prstGeom prst="rect">
            <a:avLst/>
          </a:prstGeom>
          <a:solidFill>
            <a:srgbClr val="FFFF00"/>
          </a:solidFill>
          <a:ln>
            <a:solidFill>
              <a:schemeClr val="accent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接收方的私密金鑰</a:t>
            </a:r>
            <a:endParaRPr kumimoji="0" lang="zh-TW" altLang="en-US" sz="11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cxnSp>
        <p:nvCxnSpPr>
          <p:cNvPr id="23" name="直線單箭頭接點 22"/>
          <p:cNvCxnSpPr>
            <a:stCxn id="71" idx="2"/>
            <a:endCxn id="65" idx="0"/>
          </p:cNvCxnSpPr>
          <p:nvPr/>
        </p:nvCxnSpPr>
        <p:spPr>
          <a:xfrm>
            <a:off x="5413028" y="1585095"/>
            <a:ext cx="1251" cy="2008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文字方塊 74"/>
          <p:cNvSpPr txBox="1"/>
          <p:nvPr/>
        </p:nvSpPr>
        <p:spPr>
          <a:xfrm>
            <a:off x="2555776" y="3946925"/>
            <a:ext cx="1394023" cy="261610"/>
          </a:xfrm>
          <a:prstGeom prst="rect">
            <a:avLst/>
          </a:prstGeom>
          <a:solidFill>
            <a:srgbClr val="FFC000"/>
          </a:solidFill>
          <a:ln>
            <a:solidFill>
              <a:schemeClr val="accent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100" dirty="0" smtClean="0">
                <a:solidFill>
                  <a:prstClr val="black"/>
                </a:solidFill>
                <a:latin typeface="Calibri" pitchFamily="34" charset="0"/>
                <a:ea typeface="微軟正黑體" panose="020B0604030504040204" pitchFamily="34" charset="-120"/>
              </a:rPr>
              <a:t>傳送</a:t>
            </a: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方的私密金鑰</a:t>
            </a:r>
            <a:endParaRPr kumimoji="0" lang="zh-TW" altLang="en-US" sz="11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cxnSp>
        <p:nvCxnSpPr>
          <p:cNvPr id="84" name="直線單箭頭接點 83"/>
          <p:cNvCxnSpPr>
            <a:endCxn id="10" idx="1"/>
          </p:cNvCxnSpPr>
          <p:nvPr/>
        </p:nvCxnSpPr>
        <p:spPr>
          <a:xfrm>
            <a:off x="3514948" y="3402211"/>
            <a:ext cx="434852" cy="0"/>
          </a:xfrm>
          <a:prstGeom prst="straightConnector1">
            <a:avLst/>
          </a:prstGeom>
          <a:ln>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38" name="直線單箭頭接點 37"/>
          <p:cNvCxnSpPr>
            <a:stCxn id="75" idx="0"/>
            <a:endCxn id="14" idx="4"/>
          </p:cNvCxnSpPr>
          <p:nvPr/>
        </p:nvCxnSpPr>
        <p:spPr>
          <a:xfrm flipH="1" flipV="1">
            <a:off x="3249787" y="3673307"/>
            <a:ext cx="3001" cy="273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8" name="文字方塊 87"/>
          <p:cNvSpPr txBox="1"/>
          <p:nvPr/>
        </p:nvSpPr>
        <p:spPr>
          <a:xfrm>
            <a:off x="5778055" y="3907806"/>
            <a:ext cx="1394023" cy="261610"/>
          </a:xfrm>
          <a:prstGeom prst="rect">
            <a:avLst/>
          </a:prstGeom>
          <a:solidFill>
            <a:srgbClr val="FFC000"/>
          </a:solidFill>
          <a:ln>
            <a:solidFill>
              <a:schemeClr val="accent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100" dirty="0" smtClean="0">
                <a:solidFill>
                  <a:prstClr val="black"/>
                </a:solidFill>
                <a:latin typeface="Calibri" pitchFamily="34" charset="0"/>
                <a:ea typeface="微軟正黑體" panose="020B0604030504040204" pitchFamily="34" charset="-120"/>
              </a:rPr>
              <a:t>傳送</a:t>
            </a: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方的公開金鑰</a:t>
            </a:r>
            <a:endParaRPr kumimoji="0" lang="zh-TW" altLang="en-US" sz="11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cxnSp>
        <p:nvCxnSpPr>
          <p:cNvPr id="42" name="直線單箭頭接點 41"/>
          <p:cNvCxnSpPr>
            <a:stCxn id="88" idx="1"/>
            <a:endCxn id="15" idx="6"/>
          </p:cNvCxnSpPr>
          <p:nvPr/>
        </p:nvCxnSpPr>
        <p:spPr>
          <a:xfrm flipH="1">
            <a:off x="5519263" y="4038611"/>
            <a:ext cx="258792" cy="44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1" name="文字方塊 100"/>
          <p:cNvSpPr txBox="1"/>
          <p:nvPr/>
        </p:nvSpPr>
        <p:spPr>
          <a:xfrm>
            <a:off x="5694147" y="5918699"/>
            <a:ext cx="1394023" cy="261610"/>
          </a:xfrm>
          <a:prstGeom prst="rect">
            <a:avLst/>
          </a:prstGeom>
          <a:solidFill>
            <a:srgbClr val="00CC00"/>
          </a:solidFill>
          <a:ln>
            <a:solidFill>
              <a:schemeClr val="accent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100" b="0" i="0" u="none" strike="noStrike" kern="1200" cap="none" spc="0" normalizeH="0" baseline="0" noProof="0" dirty="0" smtClean="0">
                <a:ln>
                  <a:noFill/>
                </a:ln>
                <a:solidFill>
                  <a:prstClr val="black"/>
                </a:solidFill>
                <a:effectLst/>
                <a:uLnTx/>
                <a:uFillTx/>
                <a:latin typeface="Calibri" pitchFamily="34" charset="0"/>
                <a:ea typeface="微軟正黑體" panose="020B0604030504040204" pitchFamily="34" charset="-120"/>
                <a:cs typeface="+mn-cs"/>
              </a:rPr>
              <a:t>接收方的私密金鑰</a:t>
            </a:r>
            <a:endParaRPr kumimoji="0" lang="zh-TW" altLang="en-US" sz="1100" b="0" i="0" u="none" strike="noStrike" kern="1200" cap="none" spc="0" normalizeH="0" baseline="0" noProof="0" dirty="0">
              <a:ln>
                <a:noFill/>
              </a:ln>
              <a:solidFill>
                <a:prstClr val="black"/>
              </a:solidFill>
              <a:effectLst/>
              <a:uLnTx/>
              <a:uFillTx/>
              <a:latin typeface="Calibri" pitchFamily="34" charset="0"/>
              <a:ea typeface="微軟正黑體" panose="020B0604030504040204" pitchFamily="34" charset="-120"/>
              <a:cs typeface="+mn-cs"/>
            </a:endParaRPr>
          </a:p>
        </p:txBody>
      </p:sp>
      <p:cxnSp>
        <p:nvCxnSpPr>
          <p:cNvPr id="70" name="直線單箭頭接點 69"/>
          <p:cNvCxnSpPr>
            <a:stCxn id="101" idx="3"/>
            <a:endCxn id="79" idx="3"/>
          </p:cNvCxnSpPr>
          <p:nvPr/>
        </p:nvCxnSpPr>
        <p:spPr>
          <a:xfrm flipV="1">
            <a:off x="7088170" y="5927535"/>
            <a:ext cx="363887" cy="121969"/>
          </a:xfrm>
          <a:prstGeom prst="straightConnector1">
            <a:avLst/>
          </a:prstGeom>
          <a:ln>
            <a:solidFill>
              <a:srgbClr val="00CC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076919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pPr>
              <a:spcBef>
                <a:spcPts val="1200"/>
              </a:spcBef>
            </a:pPr>
            <a:r>
              <a:rPr lang="zh-TW" altLang="en-US" sz="2000" dirty="0" smtClean="0">
                <a:solidFill>
                  <a:srgbClr val="FF0000"/>
                </a:solidFill>
              </a:rPr>
              <a:t>上圖</a:t>
            </a:r>
            <a:r>
              <a:rPr lang="en-US" altLang="zh-TW" sz="2000" dirty="0" smtClean="0">
                <a:solidFill>
                  <a:srgbClr val="FF0000"/>
                </a:solidFill>
              </a:rPr>
              <a:t>(</a:t>
            </a:r>
            <a:r>
              <a:rPr lang="zh-TW" altLang="en-US" sz="2000" dirty="0" smtClean="0">
                <a:solidFill>
                  <a:srgbClr val="FF0000"/>
                </a:solidFill>
              </a:rPr>
              <a:t>加密</a:t>
            </a:r>
            <a:r>
              <a:rPr lang="en-US" altLang="zh-TW" sz="2000" dirty="0" smtClean="0">
                <a:solidFill>
                  <a:srgbClr val="FF0000"/>
                </a:solidFill>
              </a:rPr>
              <a:t>)</a:t>
            </a:r>
            <a:r>
              <a:rPr lang="zh-TW" altLang="en-US" sz="2000" dirty="0" smtClean="0"/>
              <a:t>使用非對稱式加密達到</a:t>
            </a:r>
            <a:r>
              <a:rPr lang="zh-TW" altLang="en-US" sz="2000" dirty="0" smtClean="0">
                <a:solidFill>
                  <a:srgbClr val="00CC00"/>
                </a:solidFill>
                <a:latin typeface="微軟正黑體"/>
                <a:ea typeface="微軟正黑體"/>
              </a:rPr>
              <a:t>「</a:t>
            </a:r>
            <a:r>
              <a:rPr lang="zh-TW" altLang="en-US" sz="2000" dirty="0" smtClean="0">
                <a:solidFill>
                  <a:srgbClr val="00CC00"/>
                </a:solidFill>
              </a:rPr>
              <a:t>文件保密</a:t>
            </a:r>
            <a:r>
              <a:rPr lang="zh-TW" altLang="en-US" sz="2000" dirty="0" smtClean="0">
                <a:solidFill>
                  <a:srgbClr val="00CC00"/>
                </a:solidFill>
                <a:latin typeface="微軟正黑體"/>
                <a:ea typeface="微軟正黑體"/>
              </a:rPr>
              <a:t>」</a:t>
            </a:r>
            <a:r>
              <a:rPr lang="zh-TW" altLang="en-US" sz="2000" dirty="0" smtClean="0"/>
              <a:t>之目的。</a:t>
            </a:r>
            <a:endParaRPr lang="en-US" altLang="zh-TW" sz="2000" dirty="0" smtClean="0"/>
          </a:p>
          <a:p>
            <a:pPr lvl="1">
              <a:spcBef>
                <a:spcPts val="1200"/>
              </a:spcBef>
            </a:pPr>
            <a:r>
              <a:rPr lang="zh-TW" altLang="en-US" sz="1800" dirty="0" smtClean="0"/>
              <a:t>原文在訊息傳送方以</a:t>
            </a:r>
            <a:r>
              <a:rPr lang="zh-TW" altLang="en-US" sz="1800" dirty="0" smtClean="0">
                <a:solidFill>
                  <a:srgbClr val="FF0000"/>
                </a:solidFill>
              </a:rPr>
              <a:t>接收方的公開金鑰</a:t>
            </a:r>
            <a:r>
              <a:rPr lang="zh-TW" altLang="en-US" sz="1800" dirty="0" smtClean="0">
                <a:solidFill>
                  <a:srgbClr val="0000FF"/>
                </a:solidFill>
              </a:rPr>
              <a:t>加密</a:t>
            </a:r>
            <a:r>
              <a:rPr lang="zh-TW" altLang="en-US" sz="1800" dirty="0" smtClean="0"/>
              <a:t>，</a:t>
            </a:r>
            <a:r>
              <a:rPr lang="zh-TW" altLang="en-US" sz="1800" dirty="0" smtClean="0">
                <a:solidFill>
                  <a:schemeClr val="tx1"/>
                </a:solidFill>
              </a:rPr>
              <a:t>公開金鑰可以自由取得</a:t>
            </a:r>
            <a:r>
              <a:rPr lang="zh-TW" altLang="en-US" sz="1800" dirty="0" smtClean="0"/>
              <a:t>，所以傳、收雙方沒有金鑰交換的困擾。</a:t>
            </a:r>
            <a:endParaRPr lang="en-US" altLang="zh-TW" sz="1800" dirty="0" smtClean="0"/>
          </a:p>
          <a:p>
            <a:pPr lvl="1">
              <a:spcBef>
                <a:spcPts val="1200"/>
              </a:spcBef>
            </a:pPr>
            <a:r>
              <a:rPr lang="zh-TW" altLang="en-US" sz="1800" dirty="0" smtClean="0"/>
              <a:t>密文傳給接收方後，</a:t>
            </a:r>
            <a:r>
              <a:rPr lang="zh-TW" altLang="en-US" sz="1800" dirty="0" smtClean="0">
                <a:solidFill>
                  <a:srgbClr val="00B050"/>
                </a:solidFill>
              </a:rPr>
              <a:t>接收方以自己的私密金鑰解開密文</a:t>
            </a:r>
            <a:r>
              <a:rPr lang="en-US" altLang="zh-TW" sz="1800" dirty="0" smtClean="0">
                <a:solidFill>
                  <a:srgbClr val="0000FF"/>
                </a:solidFill>
              </a:rPr>
              <a:t>(</a:t>
            </a:r>
            <a:r>
              <a:rPr lang="zh-TW" altLang="en-US" sz="1800" dirty="0" smtClean="0">
                <a:solidFill>
                  <a:srgbClr val="0000FF"/>
                </a:solidFill>
              </a:rPr>
              <a:t>解密</a:t>
            </a:r>
            <a:r>
              <a:rPr lang="en-US" altLang="zh-TW" sz="1800" dirty="0" smtClean="0">
                <a:solidFill>
                  <a:srgbClr val="0000FF"/>
                </a:solidFill>
              </a:rPr>
              <a:t>)</a:t>
            </a:r>
            <a:r>
              <a:rPr lang="zh-TW" altLang="en-US" sz="1800" dirty="0" smtClean="0"/>
              <a:t>。由於只有接收方自己才有私密金鑰，所以這個通訊能達到保密效果。</a:t>
            </a:r>
            <a:endParaRPr lang="en-US" altLang="zh-TW" sz="1800" dirty="0" smtClean="0"/>
          </a:p>
          <a:p>
            <a:pPr>
              <a:spcBef>
                <a:spcPts val="1200"/>
              </a:spcBef>
            </a:pPr>
            <a:r>
              <a:rPr lang="zh-TW" altLang="en-US" sz="2000" dirty="0" smtClean="0">
                <a:solidFill>
                  <a:srgbClr val="FF0000"/>
                </a:solidFill>
              </a:rPr>
              <a:t>下圖</a:t>
            </a:r>
            <a:r>
              <a:rPr lang="en-US" altLang="zh-TW" sz="2000" dirty="0" smtClean="0">
                <a:solidFill>
                  <a:srgbClr val="FF0000"/>
                </a:solidFill>
              </a:rPr>
              <a:t>(</a:t>
            </a:r>
            <a:r>
              <a:rPr lang="zh-TW" altLang="en-US" sz="2000" dirty="0" smtClean="0">
                <a:solidFill>
                  <a:srgbClr val="FF0000"/>
                </a:solidFill>
              </a:rPr>
              <a:t>簽章</a:t>
            </a:r>
            <a:r>
              <a:rPr lang="en-US" altLang="zh-TW" sz="2000" dirty="0" smtClean="0">
                <a:solidFill>
                  <a:srgbClr val="FF0000"/>
                </a:solidFill>
              </a:rPr>
              <a:t>)</a:t>
            </a:r>
            <a:r>
              <a:rPr lang="zh-TW" altLang="en-US" sz="2000" dirty="0" smtClean="0"/>
              <a:t>使用非對稱式加密達到</a:t>
            </a:r>
            <a:r>
              <a:rPr lang="zh-TW" altLang="en-US" sz="2000" dirty="0" smtClean="0">
                <a:solidFill>
                  <a:srgbClr val="00CC00"/>
                </a:solidFill>
                <a:latin typeface="微軟正黑體"/>
                <a:ea typeface="微軟正黑體"/>
              </a:rPr>
              <a:t>「</a:t>
            </a:r>
            <a:r>
              <a:rPr lang="zh-TW" altLang="en-US" sz="2000" dirty="0" smtClean="0">
                <a:solidFill>
                  <a:srgbClr val="00CC00"/>
                </a:solidFill>
              </a:rPr>
              <a:t>身分證明</a:t>
            </a:r>
            <a:r>
              <a:rPr lang="zh-TW" altLang="en-US" sz="2000" dirty="0" smtClean="0">
                <a:solidFill>
                  <a:srgbClr val="00CC00"/>
                </a:solidFill>
                <a:latin typeface="微軟正黑體"/>
                <a:ea typeface="微軟正黑體"/>
              </a:rPr>
              <a:t>」</a:t>
            </a:r>
            <a:r>
              <a:rPr lang="zh-TW" altLang="en-US" sz="2000" dirty="0" smtClean="0"/>
              <a:t>之目的。</a:t>
            </a:r>
            <a:endParaRPr lang="en-US" altLang="zh-TW" sz="2000" dirty="0" smtClean="0"/>
          </a:p>
          <a:p>
            <a:pPr lvl="1">
              <a:spcBef>
                <a:spcPts val="1200"/>
              </a:spcBef>
            </a:pPr>
            <a:r>
              <a:rPr lang="zh-TW" altLang="en-US" sz="1800" dirty="0" smtClean="0"/>
              <a:t>原文在訊息傳送方以</a:t>
            </a:r>
            <a:r>
              <a:rPr lang="zh-TW" altLang="en-US" sz="1800" dirty="0" smtClean="0">
                <a:solidFill>
                  <a:srgbClr val="FF0000"/>
                </a:solidFill>
              </a:rPr>
              <a:t>自己的私密金鑰</a:t>
            </a:r>
            <a:r>
              <a:rPr lang="zh-TW" altLang="en-US" sz="1800" dirty="0" smtClean="0"/>
              <a:t>加密</a:t>
            </a:r>
            <a:r>
              <a:rPr lang="en-US" altLang="zh-TW" sz="1800" dirty="0" smtClean="0">
                <a:solidFill>
                  <a:srgbClr val="0000FF"/>
                </a:solidFill>
              </a:rPr>
              <a:t>(</a:t>
            </a:r>
            <a:r>
              <a:rPr lang="zh-TW" altLang="en-US" sz="1800" dirty="0" smtClean="0">
                <a:solidFill>
                  <a:srgbClr val="0000FF"/>
                </a:solidFill>
              </a:rPr>
              <a:t>簽章</a:t>
            </a:r>
            <a:r>
              <a:rPr lang="en-US" altLang="zh-TW" sz="1800" dirty="0" smtClean="0">
                <a:solidFill>
                  <a:srgbClr val="0000FF"/>
                </a:solidFill>
              </a:rPr>
              <a:t>)</a:t>
            </a:r>
            <a:r>
              <a:rPr lang="zh-TW" altLang="en-US" sz="1800" dirty="0" smtClean="0"/>
              <a:t>，由於只有傳送方自己才有私密金鑰，所以這個密文不可能由別人偽造。</a:t>
            </a:r>
            <a:endParaRPr lang="en-US" altLang="zh-TW" sz="1800" dirty="0" smtClean="0"/>
          </a:p>
          <a:p>
            <a:pPr lvl="1">
              <a:spcBef>
                <a:spcPts val="1200"/>
              </a:spcBef>
            </a:pPr>
            <a:r>
              <a:rPr lang="zh-TW" altLang="en-US" sz="1800" dirty="0" smtClean="0"/>
              <a:t>密文傳給接收方後，接收方以</a:t>
            </a:r>
            <a:r>
              <a:rPr lang="zh-TW" altLang="en-US" sz="1800" dirty="0" smtClean="0">
                <a:solidFill>
                  <a:srgbClr val="00B050"/>
                </a:solidFill>
              </a:rPr>
              <a:t>傳送方的公開金鑰</a:t>
            </a:r>
            <a:r>
              <a:rPr lang="zh-TW" altLang="en-US" sz="1800" dirty="0" smtClean="0"/>
              <a:t>解開密文</a:t>
            </a:r>
            <a:r>
              <a:rPr lang="en-US" altLang="zh-TW" sz="1800" dirty="0" smtClean="0">
                <a:solidFill>
                  <a:srgbClr val="0000FF"/>
                </a:solidFill>
              </a:rPr>
              <a:t>(</a:t>
            </a:r>
            <a:r>
              <a:rPr lang="zh-TW" altLang="en-US" sz="1800" dirty="0" smtClean="0">
                <a:solidFill>
                  <a:srgbClr val="0000FF"/>
                </a:solidFill>
              </a:rPr>
              <a:t>驗章</a:t>
            </a:r>
            <a:r>
              <a:rPr lang="en-US" altLang="zh-TW" sz="1800" dirty="0" smtClean="0">
                <a:solidFill>
                  <a:srgbClr val="0000FF"/>
                </a:solidFill>
              </a:rPr>
              <a:t>)</a:t>
            </a:r>
            <a:r>
              <a:rPr lang="zh-TW" altLang="en-US" sz="1800" dirty="0" smtClean="0"/>
              <a:t>。公開金鑰可以自由取得。</a:t>
            </a:r>
            <a:endParaRPr lang="en-US" altLang="zh-TW" sz="1800" dirty="0" smtClean="0"/>
          </a:p>
          <a:p>
            <a:pPr lvl="0">
              <a:spcBef>
                <a:spcPts val="1200"/>
              </a:spcBef>
            </a:pPr>
            <a:r>
              <a:rPr lang="zh-TW" altLang="en-US" sz="2000" dirty="0" smtClean="0"/>
              <a:t>可達到</a:t>
            </a:r>
            <a:r>
              <a:rPr lang="zh-TW" altLang="en-US" sz="2000" dirty="0"/>
              <a:t>既加密又簽章的</a:t>
            </a:r>
            <a:r>
              <a:rPr lang="zh-TW" altLang="en-US" sz="2000" dirty="0" smtClean="0"/>
              <a:t>雙重目的</a:t>
            </a:r>
            <a:r>
              <a:rPr lang="en-US" altLang="zh-TW" sz="2000" dirty="0" smtClean="0">
                <a:solidFill>
                  <a:srgbClr val="FF0000"/>
                </a:solidFill>
              </a:rPr>
              <a:t>(</a:t>
            </a:r>
            <a:r>
              <a:rPr lang="zh-TW" altLang="en-US" sz="2000" dirty="0" smtClean="0">
                <a:solidFill>
                  <a:srgbClr val="FF0000"/>
                </a:solidFill>
              </a:rPr>
              <a:t>數位信封</a:t>
            </a:r>
            <a:r>
              <a:rPr lang="en-US" altLang="zh-TW" sz="2000" dirty="0" smtClean="0">
                <a:solidFill>
                  <a:srgbClr val="FF0000"/>
                </a:solidFill>
              </a:rPr>
              <a:t>)</a:t>
            </a:r>
            <a:r>
              <a:rPr lang="zh-TW" altLang="en-US" sz="2000" dirty="0" smtClean="0"/>
              <a:t>。</a:t>
            </a:r>
            <a:endParaRPr lang="en-US" altLang="zh-TW" sz="2000" dirty="0" smtClean="0"/>
          </a:p>
          <a:p>
            <a:pPr lvl="1">
              <a:spcBef>
                <a:spcPts val="1200"/>
              </a:spcBef>
            </a:pPr>
            <a:endParaRPr lang="zh-TW" altLang="en-US" dirty="0">
              <a:solidFill>
                <a:schemeClr val="tx1"/>
              </a:solidFill>
            </a:endParaRPr>
          </a:p>
        </p:txBody>
      </p:sp>
      <p:sp>
        <p:nvSpPr>
          <p:cNvPr id="3" name="標題 2"/>
          <p:cNvSpPr>
            <a:spLocks noGrp="1"/>
          </p:cNvSpPr>
          <p:nvPr>
            <p:ph type="title"/>
          </p:nvPr>
        </p:nvSpPr>
        <p:spPr/>
        <p:txBody>
          <a:bodyPr/>
          <a:lstStyle/>
          <a:p>
            <a:pPr algn="ctr"/>
            <a:r>
              <a:rPr lang="zh-TW" altLang="en-US" dirty="0" smtClean="0"/>
              <a:t>數位</a:t>
            </a:r>
            <a:r>
              <a:rPr lang="zh-TW" altLang="en-US" dirty="0"/>
              <a:t>信封</a:t>
            </a:r>
            <a:r>
              <a:rPr lang="zh-TW" altLang="en-US" dirty="0" smtClean="0"/>
              <a:t>的說明</a:t>
            </a:r>
            <a:r>
              <a:rPr lang="en-US" altLang="zh-TW" dirty="0" smtClean="0"/>
              <a:t>(</a:t>
            </a:r>
            <a:r>
              <a:rPr lang="zh-TW" altLang="en-US" dirty="0" smtClean="0"/>
              <a:t>一</a:t>
            </a:r>
            <a:r>
              <a:rPr lang="en-US" altLang="zh-TW" dirty="0" smtClean="0"/>
              <a:t>)</a:t>
            </a:r>
            <a:endParaRPr lang="zh-TW" altLang="en-US" dirty="0"/>
          </a:p>
        </p:txBody>
      </p:sp>
    </p:spTree>
    <p:extLst>
      <p:ext uri="{BB962C8B-B14F-4D97-AF65-F5344CB8AC3E}">
        <p14:creationId xmlns:p14="http://schemas.microsoft.com/office/powerpoint/2010/main" val="187710276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7814672" cy="5098438"/>
          </a:xfrm>
        </p:spPr>
        <p:txBody>
          <a:bodyPr>
            <a:normAutofit/>
          </a:bodyPr>
          <a:lstStyle/>
          <a:p>
            <a:pPr marL="388620" indent="-342900">
              <a:spcBef>
                <a:spcPts val="1200"/>
              </a:spcBef>
              <a:buFont typeface="+mj-lt"/>
              <a:buAutoNum type="arabicPeriod"/>
            </a:pPr>
            <a:r>
              <a:rPr lang="zh-TW" altLang="en-US" sz="2000" dirty="0" smtClean="0"/>
              <a:t>訊息原文以對稱式金鑰加密後傳送到接收端；再以相同對稱金鑰解密後取得原文。對稱式加密速度快，適合原文的較長篇幅。</a:t>
            </a:r>
            <a:endParaRPr lang="en-US" altLang="zh-TW" sz="2000" dirty="0" smtClean="0"/>
          </a:p>
          <a:p>
            <a:pPr marL="388620" indent="-342900">
              <a:spcBef>
                <a:spcPts val="1200"/>
              </a:spcBef>
              <a:buFont typeface="+mj-lt"/>
              <a:buAutoNum type="arabicPeriod"/>
            </a:pPr>
            <a:r>
              <a:rPr lang="zh-TW" altLang="en-US" sz="2000" dirty="0" smtClean="0"/>
              <a:t>金鑰以非對稱式金鑰加密傳送，採取</a:t>
            </a:r>
            <a:r>
              <a:rPr lang="en-US" altLang="zh-TW" sz="2000" dirty="0" smtClean="0"/>
              <a:t>confidentiality</a:t>
            </a:r>
            <a:r>
              <a:rPr lang="zh-TW" altLang="en-US" sz="2000" dirty="0" smtClean="0"/>
              <a:t>做法，只有接收端的私密金鑰可以解開並取得對稱式金鑰。</a:t>
            </a:r>
            <a:endParaRPr lang="en-US" altLang="zh-TW" sz="2000" dirty="0" smtClean="0"/>
          </a:p>
          <a:p>
            <a:pPr marL="388620" indent="-342900">
              <a:spcBef>
                <a:spcPts val="1200"/>
              </a:spcBef>
              <a:buFont typeface="+mj-lt"/>
              <a:buAutoNum type="arabicPeriod"/>
            </a:pPr>
            <a:r>
              <a:rPr lang="zh-TW" altLang="en-US" sz="2000" dirty="0" smtClean="0"/>
              <a:t>以數位簽章確保原文的真實性與正確性，訊息接收方比對兩個雜湊值。</a:t>
            </a:r>
            <a:endParaRPr lang="en-US" altLang="zh-TW" sz="2000" dirty="0" smtClean="0"/>
          </a:p>
          <a:p>
            <a:pPr marL="388620" indent="-342900">
              <a:spcBef>
                <a:spcPts val="1200"/>
              </a:spcBef>
              <a:buFont typeface="+mj-lt"/>
              <a:buAutoNum type="arabicPeriod"/>
            </a:pPr>
            <a:r>
              <a:rPr lang="zh-TW" altLang="en-US" sz="2000" dirty="0" smtClean="0"/>
              <a:t>最後接收方以自己的私密金鑰加密雜湊值，並回傳給傳送方，用以確認接收方已</a:t>
            </a:r>
            <a:r>
              <a:rPr lang="zh-TW" altLang="en-US" sz="2000" dirty="0" smtClean="0">
                <a:latin typeface="微軟正黑體"/>
                <a:ea typeface="微軟正黑體"/>
              </a:rPr>
              <a:t>收到訊息並且訊息正確，類似郵局的雙掛號。</a:t>
            </a:r>
            <a:endParaRPr lang="en-US" altLang="zh-TW" sz="2000" dirty="0" smtClean="0"/>
          </a:p>
        </p:txBody>
      </p:sp>
      <p:sp>
        <p:nvSpPr>
          <p:cNvPr id="3" name="標題 2"/>
          <p:cNvSpPr>
            <a:spLocks noGrp="1"/>
          </p:cNvSpPr>
          <p:nvPr>
            <p:ph type="title"/>
          </p:nvPr>
        </p:nvSpPr>
        <p:spPr/>
        <p:txBody>
          <a:bodyPr/>
          <a:lstStyle/>
          <a:p>
            <a:pPr algn="ctr"/>
            <a:r>
              <a:rPr lang="zh-TW" altLang="en-US" dirty="0" smtClean="0"/>
              <a:t>數位</a:t>
            </a:r>
            <a:r>
              <a:rPr lang="zh-TW" altLang="en-US" dirty="0"/>
              <a:t>信封的說明</a:t>
            </a:r>
            <a:r>
              <a:rPr lang="en-US" altLang="zh-TW" dirty="0" smtClean="0"/>
              <a:t>(</a:t>
            </a:r>
            <a:r>
              <a:rPr lang="zh-TW" altLang="en-US" dirty="0" smtClean="0"/>
              <a:t>二</a:t>
            </a:r>
            <a:r>
              <a:rPr lang="en-US" altLang="zh-TW" dirty="0" smtClean="0"/>
              <a:t>)</a:t>
            </a:r>
            <a:endParaRPr lang="zh-TW" altLang="en-US" dirty="0"/>
          </a:p>
        </p:txBody>
      </p:sp>
    </p:spTree>
    <p:extLst>
      <p:ext uri="{BB962C8B-B14F-4D97-AF65-F5344CB8AC3E}">
        <p14:creationId xmlns:p14="http://schemas.microsoft.com/office/powerpoint/2010/main" val="200954644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390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908050"/>
            <a:ext cx="8234363" cy="590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3907" name="Rectangle 2"/>
          <p:cNvSpPr txBox="1">
            <a:spLocks noChangeArrowheads="1"/>
          </p:cNvSpPr>
          <p:nvPr/>
        </p:nvSpPr>
        <p:spPr bwMode="auto">
          <a:xfrm>
            <a:off x="525463" y="115888"/>
            <a:ext cx="8229600"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Font typeface="Arial" panose="020B0604020202020204" pitchFamily="34" charset="0"/>
              <a:buChar char="•"/>
              <a:defRPr sz="3200">
                <a:solidFill>
                  <a:schemeClr val="tx1"/>
                </a:solidFill>
                <a:latin typeface="Garamond" panose="02020404030301010803" pitchFamily="18" charset="0"/>
                <a:ea typeface="標楷體" panose="03000509000000000000" pitchFamily="65" charset="-120"/>
              </a:defRPr>
            </a:lvl1pPr>
            <a:lvl2pPr marL="742950" indent="-285750" eaLnBrk="0" hangingPunct="0">
              <a:spcBef>
                <a:spcPct val="20000"/>
              </a:spcBef>
              <a:buFont typeface="Arial" panose="020B0604020202020204" pitchFamily="34" charset="0"/>
              <a:buChar char="–"/>
              <a:defRPr sz="2800">
                <a:solidFill>
                  <a:schemeClr val="tx1"/>
                </a:solidFill>
                <a:latin typeface="Garamond" panose="02020404030301010803" pitchFamily="18" charset="0"/>
                <a:ea typeface="標楷體" panose="03000509000000000000" pitchFamily="65" charset="-120"/>
              </a:defRPr>
            </a:lvl2pPr>
            <a:lvl3pPr marL="1143000" indent="-228600" eaLnBrk="0" hangingPunct="0">
              <a:spcBef>
                <a:spcPct val="20000"/>
              </a:spcBef>
              <a:buFont typeface="Arial" panose="020B0604020202020204" pitchFamily="34" charset="0"/>
              <a:buChar char="•"/>
              <a:defRPr sz="2400">
                <a:solidFill>
                  <a:schemeClr val="tx1"/>
                </a:solidFill>
                <a:latin typeface="Garamond" panose="02020404030301010803" pitchFamily="18" charset="0"/>
                <a:ea typeface="標楷體" panose="03000509000000000000" pitchFamily="65" charset="-120"/>
              </a:defRPr>
            </a:lvl3pPr>
            <a:lvl4pPr marL="1600200" indent="-228600" eaLnBrk="0" hangingPunct="0">
              <a:spcBef>
                <a:spcPct val="20000"/>
              </a:spcBef>
              <a:buFont typeface="Arial" panose="020B0604020202020204" pitchFamily="34" charset="0"/>
              <a:buChar char="–"/>
              <a:defRPr sz="2000">
                <a:solidFill>
                  <a:schemeClr val="tx1"/>
                </a:solidFill>
                <a:latin typeface="Garamond" panose="02020404030301010803" pitchFamily="18" charset="0"/>
                <a:ea typeface="標楷體" panose="03000509000000000000" pitchFamily="65" charset="-120"/>
              </a:defRPr>
            </a:lvl4pPr>
            <a:lvl5pPr marL="2057400" indent="-228600" eaLnBrk="0" hangingPunct="0">
              <a:spcBef>
                <a:spcPct val="20000"/>
              </a:spcBef>
              <a:buFont typeface="Arial" panose="020B0604020202020204" pitchFamily="34" charset="0"/>
              <a:buChar char="»"/>
              <a:defRPr sz="2000">
                <a:solidFill>
                  <a:schemeClr val="tx1"/>
                </a:solidFill>
                <a:latin typeface="Garamond" panose="02020404030301010803" pitchFamily="18" charset="0"/>
                <a:ea typeface="標楷體" panose="03000509000000000000" pitchFamily="65" charset="-12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ea typeface="標楷體" panose="03000509000000000000" pitchFamily="65" charset="-12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ea typeface="標楷體" panose="03000509000000000000" pitchFamily="65" charset="-12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ea typeface="標楷體" panose="03000509000000000000" pitchFamily="65" charset="-12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ea typeface="標楷體" panose="03000509000000000000" pitchFamily="65" charset="-12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1" lang="zh-TW" altLang="en-US" sz="4400" b="0" i="0" u="none" strike="noStrike" kern="1200" cap="none" spc="0" normalizeH="0" baseline="0" noProof="0" smtClean="0">
                <a:ln>
                  <a:noFill/>
                </a:ln>
                <a:solidFill>
                  <a:srgbClr val="0000FF"/>
                </a:solidFill>
                <a:effectLst/>
                <a:uLnTx/>
                <a:uFillTx/>
                <a:latin typeface="Garamond" panose="02020404030301010803" pitchFamily="18" charset="0"/>
                <a:ea typeface="標楷體" panose="03000509000000000000" pitchFamily="65" charset="-120"/>
                <a:cs typeface="+mn-cs"/>
              </a:rPr>
              <a:t>數位信封製作</a:t>
            </a:r>
          </a:p>
        </p:txBody>
      </p:sp>
    </p:spTree>
    <p:extLst>
      <p:ext uri="{BB962C8B-B14F-4D97-AF65-F5344CB8AC3E}">
        <p14:creationId xmlns:p14="http://schemas.microsoft.com/office/powerpoint/2010/main" val="2998837260"/>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a:solidFill>
            <a:srgbClr val="00CC00"/>
          </a:solidFill>
        </p:spPr>
        <p:txBody>
          <a:bodyPr/>
          <a:lstStyle/>
          <a:p>
            <a:pPr algn="ctr"/>
            <a:r>
              <a:rPr lang="zh-TW" altLang="en-US" dirty="0"/>
              <a:t>數位信封的說明</a:t>
            </a:r>
            <a:r>
              <a:rPr lang="en-US" altLang="zh-TW" dirty="0" smtClean="0"/>
              <a:t>(</a:t>
            </a:r>
            <a:r>
              <a:rPr lang="zh-TW" altLang="en-US" dirty="0" smtClean="0"/>
              <a:t>三</a:t>
            </a:r>
            <a:r>
              <a:rPr lang="en-US" altLang="zh-TW" dirty="0" smtClean="0"/>
              <a:t>)-</a:t>
            </a:r>
            <a:r>
              <a:rPr lang="zh-TW" altLang="en-US" dirty="0" smtClean="0"/>
              <a:t>優缺點</a:t>
            </a:r>
            <a:endParaRPr lang="zh-TW" altLang="en-US" dirty="0"/>
          </a:p>
        </p:txBody>
      </p:sp>
      <p:sp>
        <p:nvSpPr>
          <p:cNvPr id="4" name="內容版面配置區 3"/>
          <p:cNvSpPr>
            <a:spLocks noGrp="1"/>
          </p:cNvSpPr>
          <p:nvPr>
            <p:ph sz="half" idx="1"/>
          </p:nvPr>
        </p:nvSpPr>
        <p:spPr>
          <a:xfrm>
            <a:off x="285720" y="1844824"/>
            <a:ext cx="4000528" cy="5013176"/>
          </a:xfrm>
        </p:spPr>
        <p:txBody>
          <a:bodyPr>
            <a:normAutofit/>
          </a:bodyPr>
          <a:lstStyle/>
          <a:p>
            <a:pPr>
              <a:spcBef>
                <a:spcPts val="1200"/>
              </a:spcBef>
            </a:pPr>
            <a:r>
              <a:rPr lang="zh-TW" altLang="en-US" dirty="0" smtClean="0"/>
              <a:t>可保護機密性與隱私，因為文件需要</a:t>
            </a:r>
            <a:r>
              <a:rPr lang="zh-TW" altLang="en-US" dirty="0" smtClean="0">
                <a:solidFill>
                  <a:srgbClr val="FF0000"/>
                </a:solidFill>
              </a:rPr>
              <a:t>接收方的私密金鑰</a:t>
            </a:r>
            <a:r>
              <a:rPr lang="zh-TW" altLang="en-US" dirty="0" smtClean="0"/>
              <a:t>方能解開。</a:t>
            </a:r>
            <a:endParaRPr lang="en-US" altLang="zh-TW" dirty="0" smtClean="0"/>
          </a:p>
          <a:p>
            <a:pPr>
              <a:spcBef>
                <a:spcPts val="1200"/>
              </a:spcBef>
            </a:pPr>
            <a:r>
              <a:rPr lang="zh-TW" altLang="en-US" dirty="0" smtClean="0"/>
              <a:t>可應用於存取控制，因為私密金鑰只由一位使用者持有。</a:t>
            </a:r>
            <a:endParaRPr lang="en-US" altLang="zh-TW" dirty="0" smtClean="0"/>
          </a:p>
          <a:p>
            <a:pPr>
              <a:spcBef>
                <a:spcPts val="1200"/>
              </a:spcBef>
            </a:pPr>
            <a:r>
              <a:rPr lang="zh-TW" altLang="en-US" dirty="0" smtClean="0"/>
              <a:t>可做身分認證 </a:t>
            </a:r>
            <a:r>
              <a:rPr lang="en-US" altLang="zh-TW" dirty="0" smtClean="0"/>
              <a:t>(authentication)</a:t>
            </a:r>
            <a:r>
              <a:rPr lang="zh-TW" altLang="en-US" dirty="0" smtClean="0"/>
              <a:t>，因為只有傳送方才能用傳送方私密金鑰對訊息加密。</a:t>
            </a:r>
            <a:endParaRPr lang="en-US" altLang="zh-TW" dirty="0" smtClean="0"/>
          </a:p>
          <a:p>
            <a:pPr>
              <a:spcBef>
                <a:spcPts val="1200"/>
              </a:spcBef>
            </a:pPr>
            <a:r>
              <a:rPr lang="zh-TW" altLang="en-US" dirty="0" smtClean="0"/>
              <a:t>同時</a:t>
            </a:r>
            <a:r>
              <a:rPr lang="zh-TW" altLang="en-US" dirty="0" smtClean="0">
                <a:solidFill>
                  <a:srgbClr val="FF0000"/>
                </a:solidFill>
              </a:rPr>
              <a:t>傳送者無法否認</a:t>
            </a:r>
            <a:r>
              <a:rPr lang="zh-TW" altLang="en-US" dirty="0" smtClean="0"/>
              <a:t> </a:t>
            </a:r>
            <a:r>
              <a:rPr lang="en-US" altLang="zh-TW" dirty="0" smtClean="0"/>
              <a:t>(non-repudiation)</a:t>
            </a:r>
            <a:r>
              <a:rPr lang="zh-TW" altLang="en-US" dirty="0" smtClean="0"/>
              <a:t> 他曾傳出文件，因為只有他才有自己的私密金鑰。</a:t>
            </a:r>
            <a:endParaRPr lang="en-US" altLang="zh-TW" dirty="0" smtClean="0"/>
          </a:p>
        </p:txBody>
      </p:sp>
      <p:sp>
        <p:nvSpPr>
          <p:cNvPr id="6" name="內容版面配置區 5"/>
          <p:cNvSpPr>
            <a:spLocks noGrp="1"/>
          </p:cNvSpPr>
          <p:nvPr>
            <p:ph sz="half" idx="2"/>
          </p:nvPr>
        </p:nvSpPr>
        <p:spPr>
          <a:xfrm>
            <a:off x="4500562" y="1844824"/>
            <a:ext cx="4007360" cy="5013176"/>
          </a:xfrm>
        </p:spPr>
        <p:txBody>
          <a:bodyPr>
            <a:normAutofit/>
          </a:bodyPr>
          <a:lstStyle/>
          <a:p>
            <a:pPr>
              <a:spcBef>
                <a:spcPts val="1200"/>
              </a:spcBef>
            </a:pPr>
            <a:r>
              <a:rPr lang="zh-TW" altLang="en-US" dirty="0" smtClean="0"/>
              <a:t>非對稱式加密只有一個明顯的缺點：就是運算的複雜度</a:t>
            </a:r>
            <a:r>
              <a:rPr lang="zh-TW" altLang="en-US" dirty="0"/>
              <a:t>高</a:t>
            </a:r>
            <a:r>
              <a:rPr lang="zh-TW" altLang="en-US" b="1" dirty="0" smtClean="0">
                <a:solidFill>
                  <a:srgbClr val="0000FF"/>
                </a:solidFill>
              </a:rPr>
              <a:t>速度慢</a:t>
            </a:r>
            <a:r>
              <a:rPr lang="zh-TW" altLang="en-US" dirty="0" smtClean="0"/>
              <a:t>。</a:t>
            </a:r>
            <a:r>
              <a:rPr lang="zh-TW" altLang="en-US" dirty="0" smtClean="0">
                <a:ea typeface="微軟正黑體"/>
              </a:rPr>
              <a:t>若</a:t>
            </a:r>
            <a:r>
              <a:rPr lang="zh-TW" altLang="en-US" dirty="0" smtClean="0">
                <a:solidFill>
                  <a:srgbClr val="FF0000"/>
                </a:solidFill>
                <a:ea typeface="微軟正黑體"/>
              </a:rPr>
              <a:t>提供類似的安全強度，</a:t>
            </a:r>
            <a:r>
              <a:rPr lang="en-US" altLang="zh-TW" dirty="0" smtClean="0">
                <a:solidFill>
                  <a:srgbClr val="FF0000"/>
                </a:solidFill>
                <a:ea typeface="微軟正黑體"/>
              </a:rPr>
              <a:t>DES</a:t>
            </a:r>
            <a:r>
              <a:rPr lang="zh-TW" altLang="en-US" dirty="0" smtClean="0">
                <a:solidFill>
                  <a:srgbClr val="FF0000"/>
                </a:solidFill>
                <a:ea typeface="微軟正黑體"/>
              </a:rPr>
              <a:t> 約比 </a:t>
            </a:r>
            <a:r>
              <a:rPr lang="en-US" altLang="zh-TW" dirty="0" smtClean="0">
                <a:solidFill>
                  <a:srgbClr val="FF0000"/>
                </a:solidFill>
                <a:ea typeface="微軟正黑體"/>
              </a:rPr>
              <a:t>RSA</a:t>
            </a:r>
            <a:r>
              <a:rPr lang="zh-TW" altLang="en-US" dirty="0" smtClean="0">
                <a:solidFill>
                  <a:srgbClr val="FF0000"/>
                </a:solidFill>
                <a:ea typeface="微軟正黑體"/>
              </a:rPr>
              <a:t> 快</a:t>
            </a:r>
            <a:r>
              <a:rPr lang="en-US" altLang="zh-TW" dirty="0" smtClean="0">
                <a:solidFill>
                  <a:srgbClr val="FF0000"/>
                </a:solidFill>
                <a:ea typeface="微軟正黑體"/>
              </a:rPr>
              <a:t> 1,000</a:t>
            </a:r>
            <a:r>
              <a:rPr lang="zh-TW" altLang="en-US" dirty="0" smtClean="0">
                <a:solidFill>
                  <a:srgbClr val="FF0000"/>
                </a:solidFill>
                <a:ea typeface="微軟正黑體"/>
              </a:rPr>
              <a:t>倍</a:t>
            </a:r>
            <a:r>
              <a:rPr lang="zh-TW" altLang="en-US" dirty="0" smtClean="0">
                <a:ea typeface="微軟正黑體"/>
              </a:rPr>
              <a:t>。</a:t>
            </a:r>
            <a:endParaRPr lang="en-US" altLang="zh-TW" dirty="0" smtClean="0"/>
          </a:p>
        </p:txBody>
      </p:sp>
      <p:sp>
        <p:nvSpPr>
          <p:cNvPr id="5" name="文字方塊 4"/>
          <p:cNvSpPr txBox="1"/>
          <p:nvPr/>
        </p:nvSpPr>
        <p:spPr>
          <a:xfrm>
            <a:off x="1907704" y="1340768"/>
            <a:ext cx="697627"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2000" b="1" i="0" u="none" strike="noStrike" kern="1200" cap="none" spc="0" normalizeH="0" baseline="0" noProof="0" dirty="0" smtClean="0">
                <a:ln>
                  <a:noFill/>
                </a:ln>
                <a:solidFill>
                  <a:prstClr val="black"/>
                </a:solidFill>
                <a:effectLst/>
                <a:uLnTx/>
                <a:uFillTx/>
                <a:latin typeface="Trebuchet MS"/>
                <a:ea typeface="微軟正黑體" panose="020B0604030504040204" pitchFamily="34" charset="-120"/>
                <a:cs typeface="+mn-cs"/>
              </a:rPr>
              <a:t>優點</a:t>
            </a:r>
            <a:endParaRPr kumimoji="0" lang="en-US" altLang="zh-TW" sz="2000" b="1" i="0" u="none" strike="noStrike" kern="1200" cap="none" spc="0" normalizeH="0" baseline="0" noProof="0" dirty="0" smtClean="0">
              <a:ln>
                <a:noFill/>
              </a:ln>
              <a:solidFill>
                <a:prstClr val="black"/>
              </a:solidFill>
              <a:effectLst/>
              <a:uLnTx/>
              <a:uFillTx/>
              <a:latin typeface="Trebuchet MS"/>
              <a:ea typeface="微軟正黑體" panose="020B0604030504040204" pitchFamily="34" charset="-120"/>
              <a:cs typeface="+mn-cs"/>
            </a:endParaRPr>
          </a:p>
        </p:txBody>
      </p:sp>
      <p:sp>
        <p:nvSpPr>
          <p:cNvPr id="7" name="文字方塊 6"/>
          <p:cNvSpPr txBox="1"/>
          <p:nvPr/>
        </p:nvSpPr>
        <p:spPr>
          <a:xfrm>
            <a:off x="6178629" y="1340768"/>
            <a:ext cx="697627"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2000" b="1" i="0" u="none" strike="noStrike" kern="1200" cap="none" spc="0" normalizeH="0" baseline="0" noProof="0" dirty="0" smtClean="0">
                <a:ln>
                  <a:noFill/>
                </a:ln>
                <a:solidFill>
                  <a:prstClr val="black"/>
                </a:solidFill>
                <a:effectLst/>
                <a:uLnTx/>
                <a:uFillTx/>
                <a:latin typeface="Trebuchet MS"/>
                <a:ea typeface="微軟正黑體" panose="020B0604030504040204" pitchFamily="34" charset="-120"/>
                <a:cs typeface="+mn-cs"/>
              </a:rPr>
              <a:t>缺點</a:t>
            </a:r>
            <a:endParaRPr kumimoji="0" lang="en-US" altLang="zh-TW" sz="2000" b="1" i="0" u="none" strike="noStrike" kern="1200" cap="none" spc="0" normalizeH="0" baseline="0" noProof="0" dirty="0" smtClean="0">
              <a:ln>
                <a:noFill/>
              </a:ln>
              <a:solidFill>
                <a:prstClr val="black"/>
              </a:solidFill>
              <a:effectLst/>
              <a:uLnTx/>
              <a:uFillTx/>
              <a:latin typeface="Trebuchet MS"/>
              <a:ea typeface="微軟正黑體" panose="020B0604030504040204" pitchFamily="34" charset="-120"/>
              <a:cs typeface="+mn-cs"/>
            </a:endParaRPr>
          </a:p>
        </p:txBody>
      </p:sp>
      <p:sp>
        <p:nvSpPr>
          <p:cNvPr id="2" name="矩形 1"/>
          <p:cNvSpPr/>
          <p:nvPr/>
        </p:nvSpPr>
        <p:spPr>
          <a:xfrm>
            <a:off x="4932040" y="3645024"/>
            <a:ext cx="3569050" cy="28083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所以，要將文件加密傳給對方</a:t>
            </a:r>
            <a:endPar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1.</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先產生亂數</a:t>
            </a:r>
            <a:endPar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2.</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文件本身使用對稱式加密</a:t>
            </a: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亂數為</a:t>
            </a: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key)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3.</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使用</a:t>
            </a:r>
            <a:r>
              <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rPr>
              <a:t>非</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對稱</a:t>
            </a:r>
            <a:r>
              <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rPr>
              <a:t>式加</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密，加密亂數</a:t>
            </a: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使用對方的公鑰為</a:t>
            </a: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key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4.</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將</a:t>
            </a: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加密後的亂數</a:t>
            </a:r>
            <a:r>
              <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a:t>
            </a:r>
            <a:r>
              <a:rPr kumimoji="0" lang="zh-TW" altLang="en-US"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rPr>
              <a:t>寄給對方</a:t>
            </a:r>
            <a:endParaRPr kumimoji="0" lang="en-US" altLang="zh-TW" sz="1800" b="0" i="0" u="none" strike="noStrike" kern="1200" cap="none" spc="0" normalizeH="0" baseline="0" noProof="0" dirty="0" smtClean="0">
              <a:ln>
                <a:noFill/>
              </a:ln>
              <a:solidFill>
                <a:prstClr val="white"/>
              </a:solidFill>
              <a:effectLst/>
              <a:uLnTx/>
              <a:uFillTx/>
              <a:latin typeface="Trebuchet MS"/>
              <a:ea typeface="微軟正黑體"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800" b="0" i="0" u="none" strike="noStrike" kern="1200" cap="none" spc="0" normalizeH="0" baseline="0" noProof="0" dirty="0">
              <a:ln>
                <a:noFill/>
              </a:ln>
              <a:solidFill>
                <a:prstClr val="white"/>
              </a:solidFill>
              <a:effectLst/>
              <a:uLnTx/>
              <a:uFillTx/>
              <a:latin typeface="Trebuchet MS"/>
              <a:ea typeface="微軟正黑體" panose="020B0604030504040204" pitchFamily="34" charset="-120"/>
              <a:cs typeface="+mn-cs"/>
            </a:endParaRPr>
          </a:p>
        </p:txBody>
      </p:sp>
    </p:spTree>
    <p:extLst>
      <p:ext uri="{BB962C8B-B14F-4D97-AF65-F5344CB8AC3E}">
        <p14:creationId xmlns:p14="http://schemas.microsoft.com/office/powerpoint/2010/main" val="227391631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457200" y="115888"/>
            <a:ext cx="8229600" cy="1441450"/>
          </a:xfrm>
        </p:spPr>
        <p:txBody>
          <a:bodyPr/>
          <a:lstStyle/>
          <a:p>
            <a:pPr>
              <a:defRPr/>
            </a:pPr>
            <a:r>
              <a:rPr lang="zh-TW" altLang="en-US" sz="3200" dirty="0" smtClean="0"/>
              <a:t>院</a:t>
            </a:r>
            <a:r>
              <a:rPr lang="zh-TW" altLang="en-US" sz="3200" dirty="0"/>
              <a:t>際間的資料交換，都採用數位信封</a:t>
            </a:r>
            <a:r>
              <a:rPr lang="en-US" altLang="zh-TW" sz="3200" dirty="0">
                <a:latin typeface="+mn-ea"/>
              </a:rPr>
              <a:t>(Digital  Envelope)</a:t>
            </a:r>
            <a:r>
              <a:rPr lang="zh-TW" altLang="en-US" sz="3200" dirty="0"/>
              <a:t>，以保護病人資料。請說明數位信封製作的過程</a:t>
            </a:r>
          </a:p>
        </p:txBody>
      </p:sp>
      <p:sp>
        <p:nvSpPr>
          <p:cNvPr id="122883" name="內容版面配置區 2"/>
          <p:cNvSpPr>
            <a:spLocks noGrp="1"/>
          </p:cNvSpPr>
          <p:nvPr>
            <p:ph idx="1"/>
          </p:nvPr>
        </p:nvSpPr>
        <p:spPr/>
        <p:txBody>
          <a:bodyPr/>
          <a:lstStyle/>
          <a:p>
            <a:r>
              <a:rPr lang="zh-TW" altLang="en-US" sz="2400" dirty="0" smtClean="0">
                <a:latin typeface="標楷體" panose="03000509000000000000" pitchFamily="65" charset="-120"/>
              </a:rPr>
              <a:t>（配合下一頁的流程圖作說明</a:t>
            </a:r>
            <a:r>
              <a:rPr lang="en-US" altLang="zh-TW" sz="2400" dirty="0" smtClean="0">
                <a:latin typeface="標楷體" panose="03000509000000000000" pitchFamily="65" charset="-120"/>
              </a:rPr>
              <a:t>)</a:t>
            </a:r>
          </a:p>
          <a:p>
            <a:r>
              <a:rPr lang="en-US" altLang="zh-TW" sz="2400" dirty="0" smtClean="0">
                <a:latin typeface="標楷體" panose="03000509000000000000" pitchFamily="65" charset="-120"/>
              </a:rPr>
              <a:t>1.</a:t>
            </a:r>
            <a:r>
              <a:rPr lang="zh-TW" altLang="en-US" sz="2400" dirty="0" smtClean="0">
                <a:solidFill>
                  <a:srgbClr val="FF0000"/>
                </a:solidFill>
                <a:latin typeface="標楷體" panose="03000509000000000000" pitchFamily="65" charset="-120"/>
              </a:rPr>
              <a:t>送信機構Ａ</a:t>
            </a:r>
            <a:r>
              <a:rPr lang="zh-TW" altLang="en-US" sz="2400" dirty="0" smtClean="0">
                <a:latin typeface="標楷體" panose="03000509000000000000" pitchFamily="65" charset="-120"/>
              </a:rPr>
              <a:t>， </a:t>
            </a:r>
            <a:r>
              <a:rPr lang="en-US" altLang="zh-TW" sz="2400" dirty="0" smtClean="0">
                <a:latin typeface="標楷體" panose="03000509000000000000" pitchFamily="65" charset="-120"/>
              </a:rPr>
              <a:t>Random</a:t>
            </a:r>
            <a:r>
              <a:rPr lang="zh-TW" altLang="en-US" sz="2400" dirty="0" smtClean="0">
                <a:latin typeface="標楷體" panose="03000509000000000000" pitchFamily="65" charset="-120"/>
              </a:rPr>
              <a:t>產生</a:t>
            </a:r>
            <a:r>
              <a:rPr lang="en-US" altLang="zh-TW" sz="2400" dirty="0" smtClean="0">
                <a:latin typeface="標楷體" panose="03000509000000000000" pitchFamily="65" charset="-120"/>
              </a:rPr>
              <a:t>Session Key.</a:t>
            </a:r>
          </a:p>
          <a:p>
            <a:r>
              <a:rPr lang="en-US" altLang="zh-TW" sz="2400" dirty="0" smtClean="0">
                <a:latin typeface="標楷體" panose="03000509000000000000" pitchFamily="65" charset="-120"/>
              </a:rPr>
              <a:t>2.</a:t>
            </a:r>
            <a:r>
              <a:rPr lang="zh-TW" altLang="en-US" sz="2400" dirty="0" smtClean="0">
                <a:latin typeface="標楷體" panose="03000509000000000000" pitchFamily="65" charset="-120"/>
              </a:rPr>
              <a:t>將信件內容</a:t>
            </a:r>
            <a:r>
              <a:rPr lang="en-US" altLang="zh-TW" sz="2400" dirty="0" smtClean="0">
                <a:latin typeface="標楷體" panose="03000509000000000000" pitchFamily="65" charset="-120"/>
              </a:rPr>
              <a:t>M</a:t>
            </a:r>
            <a:r>
              <a:rPr lang="zh-TW" altLang="en-US" sz="2400" dirty="0" smtClean="0">
                <a:latin typeface="標楷體" panose="03000509000000000000" pitchFamily="65" charset="-120"/>
              </a:rPr>
              <a:t>以</a:t>
            </a:r>
            <a:r>
              <a:rPr lang="en-US" altLang="zh-TW" sz="2400" dirty="0" smtClean="0">
                <a:latin typeface="標楷體" panose="03000509000000000000" pitchFamily="65" charset="-120"/>
              </a:rPr>
              <a:t>Session Key</a:t>
            </a:r>
            <a:r>
              <a:rPr lang="zh-TW" altLang="en-US" sz="2400" dirty="0" smtClean="0">
                <a:latin typeface="標楷體" panose="03000509000000000000" pitchFamily="65" charset="-120"/>
              </a:rPr>
              <a:t>執行對稱的加密</a:t>
            </a:r>
            <a:r>
              <a:rPr lang="en-US" altLang="zh-TW" sz="2400" dirty="0" smtClean="0">
                <a:latin typeface="標楷體" panose="03000509000000000000" pitchFamily="65" charset="-120"/>
              </a:rPr>
              <a:t>.</a:t>
            </a:r>
          </a:p>
          <a:p>
            <a:r>
              <a:rPr lang="en-US" altLang="zh-TW" sz="2400" dirty="0" smtClean="0">
                <a:latin typeface="標楷體" panose="03000509000000000000" pitchFamily="65" charset="-120"/>
              </a:rPr>
              <a:t>3.</a:t>
            </a:r>
            <a:r>
              <a:rPr lang="zh-TW" altLang="en-US" sz="2400" dirty="0" smtClean="0">
                <a:latin typeface="標楷體" panose="03000509000000000000" pitchFamily="65" charset="-120"/>
              </a:rPr>
              <a:t>將</a:t>
            </a:r>
            <a:r>
              <a:rPr lang="en-US" altLang="zh-TW" sz="2400" dirty="0" smtClean="0">
                <a:latin typeface="標楷體" panose="03000509000000000000" pitchFamily="65" charset="-120"/>
              </a:rPr>
              <a:t>Session Key</a:t>
            </a:r>
            <a:r>
              <a:rPr lang="zh-TW" altLang="en-US" sz="2400" dirty="0" smtClean="0">
                <a:latin typeface="標楷體" panose="03000509000000000000" pitchFamily="65" charset="-120"/>
              </a:rPr>
              <a:t>以收件機構</a:t>
            </a:r>
            <a:r>
              <a:rPr lang="en-US" altLang="zh-TW" sz="2400" dirty="0" smtClean="0">
                <a:latin typeface="標楷體" panose="03000509000000000000" pitchFamily="65" charset="-120"/>
              </a:rPr>
              <a:t>B</a:t>
            </a:r>
            <a:r>
              <a:rPr lang="zh-TW" altLang="en-US" sz="2400" dirty="0" smtClean="0">
                <a:latin typeface="標楷體" panose="03000509000000000000" pitchFamily="65" charset="-120"/>
              </a:rPr>
              <a:t>的公鑰加密</a:t>
            </a:r>
            <a:r>
              <a:rPr lang="en-US" altLang="zh-TW" sz="2400" dirty="0" smtClean="0">
                <a:latin typeface="標楷體" panose="03000509000000000000" pitchFamily="65" charset="-120"/>
              </a:rPr>
              <a:t>.</a:t>
            </a:r>
          </a:p>
          <a:p>
            <a:r>
              <a:rPr lang="en-US" altLang="zh-TW" sz="2400" dirty="0" smtClean="0">
                <a:latin typeface="標楷體" panose="03000509000000000000" pitchFamily="65" charset="-120"/>
              </a:rPr>
              <a:t>4.</a:t>
            </a:r>
            <a:r>
              <a:rPr lang="zh-TW" altLang="en-US" sz="2400" dirty="0" smtClean="0">
                <a:latin typeface="標楷體" panose="03000509000000000000" pitchFamily="65" charset="-120"/>
              </a:rPr>
              <a:t>送信機構Ａ以自己的私鑰對（密文及加密後的</a:t>
            </a:r>
            <a:r>
              <a:rPr lang="en-US" altLang="zh-TW" sz="2400" dirty="0" smtClean="0">
                <a:latin typeface="標楷體" panose="03000509000000000000" pitchFamily="65" charset="-120"/>
              </a:rPr>
              <a:t>Session Key</a:t>
            </a:r>
            <a:r>
              <a:rPr lang="zh-TW" altLang="en-US" sz="2400" dirty="0" smtClean="0">
                <a:latin typeface="標楷體" panose="03000509000000000000" pitchFamily="65" charset="-120"/>
              </a:rPr>
              <a:t>）作簽章，一起寄送給收件機構。</a:t>
            </a:r>
            <a:endParaRPr lang="en-US" altLang="zh-TW" sz="2400" dirty="0" smtClean="0">
              <a:latin typeface="標楷體" panose="03000509000000000000" pitchFamily="65" charset="-120"/>
            </a:endParaRPr>
          </a:p>
          <a:p>
            <a:r>
              <a:rPr lang="en-US" altLang="zh-TW" sz="2400" dirty="0" smtClean="0">
                <a:latin typeface="標楷體" panose="03000509000000000000" pitchFamily="65" charset="-120"/>
              </a:rPr>
              <a:t>6.</a:t>
            </a:r>
            <a:r>
              <a:rPr lang="zh-TW" altLang="en-US" sz="2400" dirty="0" smtClean="0">
                <a:solidFill>
                  <a:srgbClr val="0000FF"/>
                </a:solidFill>
                <a:latin typeface="標楷體" panose="03000509000000000000" pitchFamily="65" charset="-120"/>
              </a:rPr>
              <a:t>收件機構</a:t>
            </a:r>
            <a:r>
              <a:rPr lang="en-US" altLang="zh-TW" sz="2400" dirty="0" smtClean="0">
                <a:solidFill>
                  <a:srgbClr val="0000FF"/>
                </a:solidFill>
                <a:latin typeface="標楷體" panose="03000509000000000000" pitchFamily="65" charset="-120"/>
              </a:rPr>
              <a:t>B</a:t>
            </a:r>
            <a:r>
              <a:rPr lang="zh-TW" altLang="en-US" sz="2400" dirty="0" smtClean="0">
                <a:latin typeface="標楷體" panose="03000509000000000000" pitchFamily="65" charset="-120"/>
              </a:rPr>
              <a:t>收件後，先以送信機構Ａ的公鑰驗證簽章值，以確定確實是由Ａ送來的，且未曾被</a:t>
            </a:r>
            <a:r>
              <a:rPr lang="zh-TW" altLang="en-US" sz="2400" dirty="0" smtClean="0"/>
              <a:t>竄</a:t>
            </a:r>
            <a:r>
              <a:rPr lang="zh-TW" altLang="en-US" sz="2400" dirty="0" smtClean="0">
                <a:latin typeface="標楷體" panose="03000509000000000000" pitchFamily="65" charset="-120"/>
              </a:rPr>
              <a:t>改過。</a:t>
            </a:r>
            <a:endParaRPr lang="en-US" altLang="zh-TW" sz="2400" dirty="0" smtClean="0">
              <a:latin typeface="標楷體" panose="03000509000000000000" pitchFamily="65" charset="-120"/>
            </a:endParaRPr>
          </a:p>
          <a:p>
            <a:r>
              <a:rPr lang="en-US" altLang="zh-TW" sz="2400" dirty="0" smtClean="0">
                <a:latin typeface="標楷體" panose="03000509000000000000" pitchFamily="65" charset="-120"/>
              </a:rPr>
              <a:t>7.</a:t>
            </a:r>
            <a:r>
              <a:rPr lang="zh-TW" altLang="en-US" sz="2400" dirty="0" smtClean="0">
                <a:latin typeface="標楷體" panose="03000509000000000000" pitchFamily="65" charset="-120"/>
              </a:rPr>
              <a:t>以自已的私鑰解開信封得到</a:t>
            </a:r>
            <a:r>
              <a:rPr lang="en-US" altLang="zh-TW" sz="2400" dirty="0" smtClean="0">
                <a:latin typeface="標楷體" panose="03000509000000000000" pitchFamily="65" charset="-120"/>
              </a:rPr>
              <a:t>Session Key</a:t>
            </a:r>
            <a:r>
              <a:rPr lang="zh-TW" altLang="en-US" sz="2400" dirty="0" smtClean="0">
                <a:latin typeface="標楷體" panose="03000509000000000000" pitchFamily="65" charset="-120"/>
              </a:rPr>
              <a:t>；再以</a:t>
            </a:r>
            <a:r>
              <a:rPr lang="en-US" altLang="zh-TW" sz="2400" dirty="0" smtClean="0">
                <a:latin typeface="標楷體" panose="03000509000000000000" pitchFamily="65" charset="-120"/>
              </a:rPr>
              <a:t>Session Key</a:t>
            </a:r>
            <a:r>
              <a:rPr lang="zh-TW" altLang="en-US" sz="2400" dirty="0" smtClean="0">
                <a:latin typeface="標楷體" panose="03000509000000000000" pitchFamily="65" charset="-120"/>
              </a:rPr>
              <a:t>對密文解密，還原信件內容。</a:t>
            </a:r>
            <a:endParaRPr lang="en-US" altLang="zh-TW" sz="2400" dirty="0" smtClean="0">
              <a:latin typeface="標楷體" panose="03000509000000000000" pitchFamily="65" charset="-120"/>
            </a:endParaRPr>
          </a:p>
          <a:p>
            <a:endParaRPr lang="zh-TW" altLang="en-US" dirty="0" smtClean="0"/>
          </a:p>
        </p:txBody>
      </p:sp>
    </p:spTree>
    <p:extLst>
      <p:ext uri="{BB962C8B-B14F-4D97-AF65-F5344CB8AC3E}">
        <p14:creationId xmlns:p14="http://schemas.microsoft.com/office/powerpoint/2010/main" val="2573651064"/>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1066800" y="2852936"/>
            <a:ext cx="6255488" cy="1362075"/>
          </a:xfrm>
          <a:solidFill>
            <a:srgbClr val="0000FF"/>
          </a:solidFill>
          <a:ln w="25400">
            <a:solidFill>
              <a:srgbClr val="FF0000"/>
            </a:solidFill>
          </a:ln>
        </p:spPr>
        <p:txBody>
          <a:bodyPr anchor="ctr"/>
          <a:lstStyle/>
          <a:p>
            <a:pPr algn="ctr"/>
            <a:r>
              <a:rPr lang="en-US" altLang="zh-TW" dirty="0" smtClean="0">
                <a:solidFill>
                  <a:schemeClr val="bg1"/>
                </a:solidFill>
                <a:latin typeface="標楷體" panose="03000509000000000000" pitchFamily="65" charset="-120"/>
                <a:ea typeface="標楷體" panose="03000509000000000000" pitchFamily="65" charset="-120"/>
              </a:rPr>
              <a:t>B.6 </a:t>
            </a:r>
            <a:r>
              <a:rPr lang="zh-TW" altLang="en-US" dirty="0">
                <a:solidFill>
                  <a:schemeClr val="bg1"/>
                </a:solidFill>
                <a:latin typeface="標楷體" panose="03000509000000000000" pitchFamily="65" charset="-120"/>
                <a:ea typeface="標楷體" panose="03000509000000000000" pitchFamily="65" charset="-120"/>
              </a:rPr>
              <a:t>對稱式加密的模式 </a:t>
            </a:r>
            <a:r>
              <a:rPr lang="en-US" altLang="zh-TW" dirty="0">
                <a:solidFill>
                  <a:schemeClr val="bg1"/>
                </a:solidFill>
                <a:latin typeface="標楷體" panose="03000509000000000000" pitchFamily="65" charset="-120"/>
                <a:ea typeface="標楷體" panose="03000509000000000000" pitchFamily="65" charset="-120"/>
              </a:rPr>
              <a:t>(mode)</a:t>
            </a:r>
            <a:endParaRPr lang="zh-TW" altLang="en-US" dirty="0">
              <a:solidFill>
                <a:schemeClr val="bg1"/>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98064945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內容版面配置區 4"/>
          <p:cNvSpPr>
            <a:spLocks noGrp="1"/>
          </p:cNvSpPr>
          <p:nvPr>
            <p:ph idx="1"/>
          </p:nvPr>
        </p:nvSpPr>
        <p:spPr>
          <a:xfrm>
            <a:off x="285720" y="1357298"/>
            <a:ext cx="8215370" cy="5143536"/>
          </a:xfrm>
        </p:spPr>
        <p:txBody>
          <a:bodyPr>
            <a:normAutofit lnSpcReduction="10000"/>
          </a:bodyPr>
          <a:lstStyle/>
          <a:p>
            <a:r>
              <a:rPr lang="en-US" altLang="zh-TW" sz="2000" dirty="0" smtClean="0"/>
              <a:t>DES</a:t>
            </a:r>
            <a:r>
              <a:rPr lang="zh-TW" altLang="en-US" sz="2000" dirty="0" smtClean="0"/>
              <a:t> 每一次只能加</a:t>
            </a:r>
            <a:r>
              <a:rPr lang="zh-TW" altLang="en-US" sz="2000" dirty="0" smtClean="0">
                <a:solidFill>
                  <a:srgbClr val="0000FF"/>
                </a:solidFill>
              </a:rPr>
              <a:t>密 </a:t>
            </a:r>
            <a:r>
              <a:rPr lang="en-US" altLang="zh-TW" sz="2000" dirty="0" smtClean="0">
                <a:solidFill>
                  <a:srgbClr val="0000FF"/>
                </a:solidFill>
              </a:rPr>
              <a:t>64</a:t>
            </a:r>
            <a:r>
              <a:rPr lang="zh-TW" altLang="en-US" sz="2000" dirty="0" smtClean="0">
                <a:solidFill>
                  <a:srgbClr val="0000FF"/>
                </a:solidFill>
              </a:rPr>
              <a:t> 位元</a:t>
            </a:r>
            <a:r>
              <a:rPr lang="zh-TW" altLang="en-US" sz="2000" dirty="0" smtClean="0"/>
              <a:t>的訊息，稱為一個</a:t>
            </a:r>
            <a:r>
              <a:rPr lang="zh-TW" altLang="en-US" sz="2000" dirty="0" smtClean="0">
                <a:solidFill>
                  <a:srgbClr val="0000FF"/>
                </a:solidFill>
              </a:rPr>
              <a:t>「區塊 </a:t>
            </a:r>
            <a:r>
              <a:rPr lang="en-US" altLang="zh-TW" sz="2000" dirty="0" smtClean="0">
                <a:solidFill>
                  <a:srgbClr val="0000FF"/>
                </a:solidFill>
              </a:rPr>
              <a:t>(block)</a:t>
            </a:r>
            <a:r>
              <a:rPr lang="zh-TW" altLang="en-US" sz="2000" dirty="0" smtClean="0">
                <a:solidFill>
                  <a:srgbClr val="0000FF"/>
                </a:solidFill>
              </a:rPr>
              <a:t>」。</a:t>
            </a:r>
            <a:r>
              <a:rPr lang="zh-TW" altLang="en-US" sz="2000" dirty="0" smtClean="0">
                <a:solidFill>
                  <a:srgbClr val="FF0000"/>
                </a:solidFill>
                <a:ea typeface="微軟正黑體"/>
              </a:rPr>
              <a:t>當訊息大於</a:t>
            </a:r>
            <a:r>
              <a:rPr lang="en-US" altLang="zh-TW" sz="2000" dirty="0" smtClean="0">
                <a:solidFill>
                  <a:srgbClr val="FF0000"/>
                </a:solidFill>
              </a:rPr>
              <a:t>64</a:t>
            </a:r>
            <a:r>
              <a:rPr lang="zh-TW" altLang="en-US" sz="2000" dirty="0" smtClean="0">
                <a:solidFill>
                  <a:srgbClr val="FF0000"/>
                </a:solidFill>
              </a:rPr>
              <a:t> 位元時，則將之切割為多個區塊，再分別進行</a:t>
            </a:r>
            <a:r>
              <a:rPr lang="en-US" altLang="zh-TW" sz="2000" dirty="0" smtClean="0">
                <a:solidFill>
                  <a:srgbClr val="FF0000"/>
                </a:solidFill>
              </a:rPr>
              <a:t>DES</a:t>
            </a:r>
            <a:r>
              <a:rPr lang="zh-TW" altLang="en-US" sz="2000" dirty="0" smtClean="0">
                <a:solidFill>
                  <a:srgbClr val="FF0000"/>
                </a:solidFill>
              </a:rPr>
              <a:t>加密。</a:t>
            </a:r>
            <a:r>
              <a:rPr lang="zh-TW" altLang="en-US" sz="2000" dirty="0" smtClean="0"/>
              <a:t>這樣的加密方式可以用以下</a:t>
            </a:r>
            <a:r>
              <a:rPr lang="zh-TW" altLang="en-US" sz="2000" i="1" dirty="0" smtClean="0">
                <a:solidFill>
                  <a:srgbClr val="C00000"/>
                </a:solidFill>
                <a:latin typeface="標楷體" panose="03000509000000000000" pitchFamily="65" charset="-120"/>
                <a:ea typeface="標楷體" panose="03000509000000000000" pitchFamily="65" charset="-120"/>
              </a:rPr>
              <a:t>各種模式進行</a:t>
            </a:r>
            <a:r>
              <a:rPr lang="zh-TW" altLang="en-US" sz="2000" dirty="0" smtClean="0"/>
              <a:t>，這些模式彼此並不相容，使用前應加以瞭解。</a:t>
            </a:r>
            <a:r>
              <a:rPr lang="zh-TW" altLang="en-US" sz="2000" dirty="0" smtClean="0">
                <a:ea typeface="微軟正黑體"/>
              </a:rPr>
              <a:t>以下模式亦適用於其它對稱式加密法，如</a:t>
            </a:r>
            <a:r>
              <a:rPr lang="en-US" altLang="zh-TW" sz="2000" dirty="0" smtClean="0">
                <a:ea typeface="微軟正黑體"/>
              </a:rPr>
              <a:t>AES</a:t>
            </a:r>
            <a:r>
              <a:rPr lang="zh-TW" altLang="en-US" sz="2000" dirty="0" smtClean="0">
                <a:ea typeface="微軟正黑體"/>
              </a:rPr>
              <a:t>。</a:t>
            </a:r>
            <a:endParaRPr lang="en-US" altLang="zh-TW" sz="2000" dirty="0" smtClean="0"/>
          </a:p>
          <a:p>
            <a:r>
              <a:rPr lang="zh-TW" altLang="en-US" sz="2000" dirty="0" smtClean="0">
                <a:solidFill>
                  <a:srgbClr val="0000FF"/>
                </a:solidFill>
              </a:rPr>
              <a:t>區塊</a:t>
            </a:r>
            <a:r>
              <a:rPr lang="zh-TW" altLang="en-US" sz="2000" dirty="0" smtClean="0"/>
              <a:t>加密模式 </a:t>
            </a:r>
            <a:r>
              <a:rPr lang="en-US" altLang="zh-TW" sz="2000" dirty="0" smtClean="0">
                <a:solidFill>
                  <a:srgbClr val="0000FF"/>
                </a:solidFill>
              </a:rPr>
              <a:t>(block ciphers)</a:t>
            </a:r>
            <a:r>
              <a:rPr lang="zh-TW" altLang="en-US" sz="2000" dirty="0" smtClean="0">
                <a:solidFill>
                  <a:srgbClr val="0000FF"/>
                </a:solidFill>
              </a:rPr>
              <a:t> </a:t>
            </a:r>
            <a:r>
              <a:rPr lang="zh-TW" altLang="en-US" sz="2000" dirty="0" smtClean="0">
                <a:solidFill>
                  <a:srgbClr val="FF0000"/>
                </a:solidFill>
              </a:rPr>
              <a:t>是依照</a:t>
            </a:r>
            <a:r>
              <a:rPr lang="en-US" altLang="zh-TW" sz="2000" dirty="0" smtClean="0">
                <a:solidFill>
                  <a:srgbClr val="FF0000"/>
                </a:solidFill>
              </a:rPr>
              <a:t>DES</a:t>
            </a:r>
            <a:r>
              <a:rPr lang="zh-TW" altLang="en-US" sz="2000" dirty="0" smtClean="0">
                <a:solidFill>
                  <a:srgbClr val="FF0000"/>
                </a:solidFill>
              </a:rPr>
              <a:t>本質，一塊塊加密</a:t>
            </a:r>
            <a:r>
              <a:rPr lang="zh-TW" altLang="en-US" sz="2000" dirty="0" smtClean="0"/>
              <a:t>。</a:t>
            </a:r>
            <a:endParaRPr lang="en-US" altLang="zh-TW" sz="2000" dirty="0" smtClean="0"/>
          </a:p>
          <a:p>
            <a:pPr lvl="1"/>
            <a:r>
              <a:rPr lang="en-US" altLang="zh-TW" sz="1800" dirty="0" smtClean="0"/>
              <a:t>Electronic Code Book </a:t>
            </a:r>
            <a:r>
              <a:rPr lang="en-US" altLang="zh-TW" sz="1800" dirty="0" smtClean="0">
                <a:solidFill>
                  <a:srgbClr val="0000FF"/>
                </a:solidFill>
              </a:rPr>
              <a:t>(ECB)</a:t>
            </a:r>
          </a:p>
          <a:p>
            <a:pPr lvl="1"/>
            <a:r>
              <a:rPr lang="en-US" altLang="zh-TW" sz="1800" dirty="0" smtClean="0"/>
              <a:t>Cipher Block Chaining </a:t>
            </a:r>
            <a:r>
              <a:rPr lang="en-US" altLang="zh-TW" sz="1800" dirty="0" smtClean="0">
                <a:solidFill>
                  <a:srgbClr val="0000FF"/>
                </a:solidFill>
              </a:rPr>
              <a:t>(CBC)</a:t>
            </a:r>
          </a:p>
          <a:p>
            <a:r>
              <a:rPr lang="zh-TW" altLang="en-US" sz="2000" dirty="0" smtClean="0">
                <a:solidFill>
                  <a:srgbClr val="0000FF"/>
                </a:solidFill>
              </a:rPr>
              <a:t>串流</a:t>
            </a:r>
            <a:r>
              <a:rPr lang="zh-TW" altLang="en-US" sz="2000" dirty="0" smtClean="0"/>
              <a:t>加密模式 </a:t>
            </a:r>
            <a:r>
              <a:rPr lang="en-US" altLang="zh-TW" sz="2000" dirty="0" smtClean="0"/>
              <a:t>(stream ciphers)</a:t>
            </a:r>
            <a:r>
              <a:rPr lang="zh-TW" altLang="en-US" sz="2000" dirty="0" smtClean="0"/>
              <a:t>如下頁所示讓金鑰不停的產生變化，來模擬</a:t>
            </a:r>
            <a:r>
              <a:rPr lang="zh-TW" altLang="en-US" sz="2000" dirty="0" smtClean="0">
                <a:ea typeface="微軟正黑體"/>
              </a:rPr>
              <a:t>「</a:t>
            </a:r>
            <a:r>
              <a:rPr lang="zh-TW" altLang="en-US" sz="2000" dirty="0" smtClean="0"/>
              <a:t>一次性密碼本 </a:t>
            </a:r>
            <a:r>
              <a:rPr lang="en-US" altLang="zh-TW" sz="2000" dirty="0" smtClean="0"/>
              <a:t>(onetime pad)</a:t>
            </a:r>
            <a:r>
              <a:rPr lang="zh-TW" altLang="en-US" sz="2000" dirty="0" smtClean="0">
                <a:ea typeface="微軟正黑體"/>
              </a:rPr>
              <a:t>」</a:t>
            </a:r>
            <a:r>
              <a:rPr lang="zh-TW" altLang="en-US" sz="2000" dirty="0" smtClean="0"/>
              <a:t>的效果。</a:t>
            </a:r>
            <a:endParaRPr lang="en-US" altLang="zh-TW" sz="2000" dirty="0" smtClean="0"/>
          </a:p>
          <a:p>
            <a:pPr lvl="1"/>
            <a:r>
              <a:rPr lang="en-US" altLang="zh-TW" sz="1800" dirty="0" smtClean="0"/>
              <a:t>Cipher Feed Back (CFB)</a:t>
            </a:r>
          </a:p>
          <a:p>
            <a:pPr lvl="1"/>
            <a:r>
              <a:rPr lang="en-US" altLang="zh-TW" sz="1800" dirty="0" smtClean="0"/>
              <a:t>Output Feed Back (OFB)</a:t>
            </a:r>
          </a:p>
          <a:p>
            <a:pPr lvl="1"/>
            <a:r>
              <a:rPr lang="en-US" altLang="zh-TW" sz="1800" dirty="0" smtClean="0"/>
              <a:t>Counter (CTR)</a:t>
            </a:r>
            <a:endParaRPr lang="zh-TW" altLang="en-US" sz="1800" dirty="0"/>
          </a:p>
        </p:txBody>
      </p:sp>
      <p:sp>
        <p:nvSpPr>
          <p:cNvPr id="4" name="標題 3"/>
          <p:cNvSpPr>
            <a:spLocks noGrp="1"/>
          </p:cNvSpPr>
          <p:nvPr>
            <p:ph type="title"/>
          </p:nvPr>
        </p:nvSpPr>
        <p:spPr/>
        <p:txBody>
          <a:bodyPr/>
          <a:lstStyle/>
          <a:p>
            <a:r>
              <a:rPr lang="en-US" altLang="zh-TW" dirty="0" smtClean="0"/>
              <a:t>B6. </a:t>
            </a:r>
            <a:r>
              <a:rPr lang="zh-TW" altLang="en-US" dirty="0" smtClean="0"/>
              <a:t>對稱式加密的應用模式</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矩形 33"/>
          <p:cNvSpPr/>
          <p:nvPr/>
        </p:nvSpPr>
        <p:spPr>
          <a:xfrm>
            <a:off x="4857752" y="1357298"/>
            <a:ext cx="3500462" cy="3143272"/>
          </a:xfrm>
          <a:prstGeom prst="rect">
            <a:avLst/>
          </a:prstGeom>
          <a:solidFill>
            <a:srgbClr val="FF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3" name="標題 2"/>
          <p:cNvSpPr>
            <a:spLocks noGrp="1"/>
          </p:cNvSpPr>
          <p:nvPr>
            <p:ph type="title"/>
          </p:nvPr>
        </p:nvSpPr>
        <p:spPr/>
        <p:txBody>
          <a:bodyPr/>
          <a:lstStyle/>
          <a:p>
            <a:r>
              <a:rPr lang="en-US" altLang="zh-TW" dirty="0" smtClean="0"/>
              <a:t>ECB</a:t>
            </a:r>
            <a:endParaRPr lang="zh-TW" altLang="en-US" dirty="0"/>
          </a:p>
        </p:txBody>
      </p:sp>
      <p:sp>
        <p:nvSpPr>
          <p:cNvPr id="4" name="內容版面配置區 3"/>
          <p:cNvSpPr>
            <a:spLocks noGrp="1"/>
          </p:cNvSpPr>
          <p:nvPr>
            <p:ph sz="half" idx="1"/>
          </p:nvPr>
        </p:nvSpPr>
        <p:spPr>
          <a:xfrm>
            <a:off x="285720" y="1285860"/>
            <a:ext cx="4214842" cy="5214974"/>
          </a:xfrm>
        </p:spPr>
        <p:txBody>
          <a:bodyPr>
            <a:normAutofit/>
          </a:bodyPr>
          <a:lstStyle/>
          <a:p>
            <a:r>
              <a:rPr lang="en-US" altLang="zh-TW" dirty="0" smtClean="0"/>
              <a:t>Electronic Code Book </a:t>
            </a:r>
            <a:r>
              <a:rPr lang="en-US" altLang="zh-TW" dirty="0" smtClean="0">
                <a:solidFill>
                  <a:srgbClr val="FF0000"/>
                </a:solidFill>
              </a:rPr>
              <a:t>(ECB)</a:t>
            </a:r>
            <a:r>
              <a:rPr lang="zh-TW" altLang="en-US" dirty="0" smtClean="0">
                <a:solidFill>
                  <a:srgbClr val="FF0000"/>
                </a:solidFill>
              </a:rPr>
              <a:t> </a:t>
            </a:r>
            <a:r>
              <a:rPr lang="zh-TW" altLang="en-US" dirty="0" smtClean="0"/>
              <a:t>為最基本方式，如右圖訊息切為四塊 </a:t>
            </a:r>
            <a:r>
              <a:rPr lang="en-US" altLang="zh-TW" dirty="0" smtClean="0">
                <a:ea typeface="微軟正黑體"/>
              </a:rPr>
              <a:t>(B1</a:t>
            </a:r>
            <a:r>
              <a:rPr lang="zh-TW" altLang="en-US" dirty="0" smtClean="0">
                <a:ea typeface="微軟正黑體"/>
              </a:rPr>
              <a:t> </a:t>
            </a:r>
            <a:r>
              <a:rPr lang="en-US" altLang="zh-TW" dirty="0" smtClean="0">
                <a:ea typeface="微軟正黑體"/>
              </a:rPr>
              <a:t>- B4)</a:t>
            </a:r>
            <a:r>
              <a:rPr lang="zh-TW" altLang="en-US" dirty="0" smtClean="0">
                <a:ea typeface="微軟正黑體"/>
              </a:rPr>
              <a:t>，每塊都以</a:t>
            </a:r>
            <a:r>
              <a:rPr lang="zh-TW" altLang="en-US" dirty="0" smtClean="0">
                <a:solidFill>
                  <a:srgbClr val="0000FF"/>
                </a:solidFill>
                <a:ea typeface="微軟正黑體"/>
              </a:rPr>
              <a:t>相同的</a:t>
            </a:r>
            <a:r>
              <a:rPr lang="zh-TW" altLang="en-US" dirty="0" smtClean="0">
                <a:ea typeface="微軟正黑體"/>
              </a:rPr>
              <a:t>對稱式金鑰加密 </a:t>
            </a:r>
            <a:r>
              <a:rPr lang="en-US" altLang="zh-TW" dirty="0" smtClean="0">
                <a:ea typeface="微軟正黑體"/>
              </a:rPr>
              <a:t>(E)</a:t>
            </a:r>
            <a:r>
              <a:rPr lang="zh-TW" altLang="en-US" dirty="0" smtClean="0">
                <a:ea typeface="微軟正黑體"/>
              </a:rPr>
              <a:t> 產生密文 </a:t>
            </a:r>
            <a:r>
              <a:rPr lang="en-US" altLang="zh-TW" dirty="0" smtClean="0"/>
              <a:t>(C1 - C4)</a:t>
            </a:r>
            <a:r>
              <a:rPr lang="zh-TW" altLang="en-US" dirty="0" smtClean="0"/>
              <a:t>。</a:t>
            </a:r>
            <a:endParaRPr lang="en-US" altLang="zh-TW" dirty="0" smtClean="0"/>
          </a:p>
          <a:p>
            <a:r>
              <a:rPr lang="en-US" altLang="zh-TW" dirty="0" smtClean="0"/>
              <a:t>ECB</a:t>
            </a:r>
            <a:r>
              <a:rPr lang="zh-TW" altLang="en-US" dirty="0" smtClean="0"/>
              <a:t>的長處是簡單且每塊的運算可以平行處理</a:t>
            </a:r>
            <a:r>
              <a:rPr lang="zh-TW" altLang="en-US" dirty="0" smtClean="0">
                <a:ea typeface="微軟正黑體"/>
              </a:rPr>
              <a:t> </a:t>
            </a:r>
            <a:r>
              <a:rPr lang="en-US" altLang="zh-TW" dirty="0" smtClean="0">
                <a:ea typeface="微軟正黑體"/>
              </a:rPr>
              <a:t>(</a:t>
            </a:r>
            <a:r>
              <a:rPr lang="zh-TW" altLang="en-US" dirty="0" smtClean="0">
                <a:ea typeface="微軟正黑體"/>
              </a:rPr>
              <a:t>下一塊的運算不需等待上一塊的運算結果</a:t>
            </a:r>
            <a:r>
              <a:rPr lang="en-US" altLang="zh-TW" dirty="0" smtClean="0">
                <a:ea typeface="微軟正黑體"/>
              </a:rPr>
              <a:t>)</a:t>
            </a:r>
            <a:r>
              <a:rPr lang="zh-TW" altLang="en-US" dirty="0" smtClean="0">
                <a:ea typeface="微軟正黑體"/>
              </a:rPr>
              <a:t>。另一個長處是當任一區塊發生錯誤時，不會影響其他區塊。</a:t>
            </a:r>
            <a:endParaRPr lang="en-US" altLang="zh-TW" dirty="0" smtClean="0">
              <a:ea typeface="微軟正黑體"/>
            </a:endParaRPr>
          </a:p>
          <a:p>
            <a:r>
              <a:rPr lang="zh-TW" altLang="en-US" dirty="0" smtClean="0">
                <a:ea typeface="微軟正黑體"/>
              </a:rPr>
              <a:t>缺點是它只適合較短之訊息。由於</a:t>
            </a:r>
            <a:r>
              <a:rPr lang="zh-TW" altLang="en-US" dirty="0" smtClean="0">
                <a:solidFill>
                  <a:srgbClr val="0000FF"/>
                </a:solidFill>
                <a:ea typeface="微軟正黑體"/>
              </a:rPr>
              <a:t>每區塊都使用相同金鑰加密</a:t>
            </a:r>
            <a:r>
              <a:rPr lang="zh-TW" altLang="en-US" dirty="0" smtClean="0">
                <a:ea typeface="微軟正黑體"/>
              </a:rPr>
              <a:t>，若訊息塊數太多，則容易發生訊息重複而易被讀破。</a:t>
            </a:r>
            <a:endParaRPr lang="en-US" altLang="zh-TW" dirty="0" smtClean="0">
              <a:ea typeface="微軟正黑體"/>
            </a:endParaRPr>
          </a:p>
          <a:p>
            <a:endParaRPr lang="zh-TW" altLang="en-US" dirty="0"/>
          </a:p>
        </p:txBody>
      </p:sp>
      <p:sp>
        <p:nvSpPr>
          <p:cNvPr id="6" name="流程圖: 文件 5"/>
          <p:cNvSpPr/>
          <p:nvPr/>
        </p:nvSpPr>
        <p:spPr>
          <a:xfrm>
            <a:off x="5072066"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B1</a:t>
            </a:r>
            <a:endParaRPr lang="zh-TW" altLang="en-US" dirty="0">
              <a:latin typeface="Calibri" pitchFamily="34" charset="0"/>
            </a:endParaRPr>
          </a:p>
        </p:txBody>
      </p:sp>
      <p:sp>
        <p:nvSpPr>
          <p:cNvPr id="13" name="橢圓 12"/>
          <p:cNvSpPr/>
          <p:nvPr/>
        </p:nvSpPr>
        <p:spPr>
          <a:xfrm>
            <a:off x="5214942" y="2714620"/>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14" name="矩形 13"/>
          <p:cNvSpPr/>
          <p:nvPr/>
        </p:nvSpPr>
        <p:spPr>
          <a:xfrm>
            <a:off x="5072066" y="3714752"/>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C1</a:t>
            </a:r>
            <a:endParaRPr lang="zh-TW" altLang="en-US" dirty="0">
              <a:latin typeface="Calibri" pitchFamily="34" charset="0"/>
            </a:endParaRPr>
          </a:p>
        </p:txBody>
      </p:sp>
      <p:cxnSp>
        <p:nvCxnSpPr>
          <p:cNvPr id="16" name="直線單箭頭接點 15"/>
          <p:cNvCxnSpPr>
            <a:stCxn id="6" idx="2"/>
            <a:endCxn id="13" idx="0"/>
          </p:cNvCxnSpPr>
          <p:nvPr/>
        </p:nvCxnSpPr>
        <p:spPr>
          <a:xfrm rot="5400000">
            <a:off x="5122251" y="2443334"/>
            <a:ext cx="54257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 name="直線單箭頭接點 17"/>
          <p:cNvCxnSpPr>
            <a:stCxn id="13" idx="4"/>
            <a:endCxn id="14" idx="0"/>
          </p:cNvCxnSpPr>
          <p:nvPr/>
        </p:nvCxnSpPr>
        <p:spPr>
          <a:xfrm rot="5400000">
            <a:off x="5072066" y="3393281"/>
            <a:ext cx="64294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6" name="流程圖: 文件 45"/>
          <p:cNvSpPr/>
          <p:nvPr/>
        </p:nvSpPr>
        <p:spPr>
          <a:xfrm>
            <a:off x="5857884"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B2</a:t>
            </a:r>
            <a:endParaRPr lang="zh-TW" altLang="en-US" dirty="0">
              <a:latin typeface="Calibri" pitchFamily="34" charset="0"/>
            </a:endParaRPr>
          </a:p>
        </p:txBody>
      </p:sp>
      <p:sp>
        <p:nvSpPr>
          <p:cNvPr id="47" name="橢圓 46"/>
          <p:cNvSpPr/>
          <p:nvPr/>
        </p:nvSpPr>
        <p:spPr>
          <a:xfrm>
            <a:off x="6000760" y="2714620"/>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48" name="矩形 47"/>
          <p:cNvSpPr/>
          <p:nvPr/>
        </p:nvSpPr>
        <p:spPr>
          <a:xfrm>
            <a:off x="5857884" y="3714752"/>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C2</a:t>
            </a:r>
            <a:endParaRPr lang="zh-TW" altLang="en-US" dirty="0">
              <a:latin typeface="Calibri" pitchFamily="34" charset="0"/>
            </a:endParaRPr>
          </a:p>
        </p:txBody>
      </p:sp>
      <p:cxnSp>
        <p:nvCxnSpPr>
          <p:cNvPr id="49" name="直線單箭頭接點 48"/>
          <p:cNvCxnSpPr>
            <a:stCxn id="46" idx="2"/>
            <a:endCxn id="47" idx="0"/>
          </p:cNvCxnSpPr>
          <p:nvPr/>
        </p:nvCxnSpPr>
        <p:spPr>
          <a:xfrm rot="5400000">
            <a:off x="5908069" y="2443334"/>
            <a:ext cx="54257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0" name="直線單箭頭接點 49"/>
          <p:cNvCxnSpPr>
            <a:stCxn id="47" idx="4"/>
            <a:endCxn id="48" idx="0"/>
          </p:cNvCxnSpPr>
          <p:nvPr/>
        </p:nvCxnSpPr>
        <p:spPr>
          <a:xfrm rot="5400000">
            <a:off x="5857884" y="3393281"/>
            <a:ext cx="64294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1" name="流程圖: 文件 50"/>
          <p:cNvSpPr/>
          <p:nvPr/>
        </p:nvSpPr>
        <p:spPr>
          <a:xfrm>
            <a:off x="6643702"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B3</a:t>
            </a:r>
            <a:endParaRPr lang="zh-TW" altLang="en-US" dirty="0">
              <a:latin typeface="Calibri" pitchFamily="34" charset="0"/>
            </a:endParaRPr>
          </a:p>
        </p:txBody>
      </p:sp>
      <p:sp>
        <p:nvSpPr>
          <p:cNvPr id="52" name="橢圓 51"/>
          <p:cNvSpPr/>
          <p:nvPr/>
        </p:nvSpPr>
        <p:spPr>
          <a:xfrm>
            <a:off x="6786578" y="2714620"/>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53" name="矩形 52"/>
          <p:cNvSpPr/>
          <p:nvPr/>
        </p:nvSpPr>
        <p:spPr>
          <a:xfrm>
            <a:off x="6643702" y="3714752"/>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C3</a:t>
            </a:r>
            <a:endParaRPr lang="zh-TW" altLang="en-US" dirty="0">
              <a:latin typeface="Calibri" pitchFamily="34" charset="0"/>
            </a:endParaRPr>
          </a:p>
        </p:txBody>
      </p:sp>
      <p:cxnSp>
        <p:nvCxnSpPr>
          <p:cNvPr id="54" name="直線單箭頭接點 53"/>
          <p:cNvCxnSpPr>
            <a:stCxn id="51" idx="2"/>
            <a:endCxn id="52" idx="0"/>
          </p:cNvCxnSpPr>
          <p:nvPr/>
        </p:nvCxnSpPr>
        <p:spPr>
          <a:xfrm rot="5400000">
            <a:off x="6693887" y="2443334"/>
            <a:ext cx="54257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5" name="直線單箭頭接點 54"/>
          <p:cNvCxnSpPr>
            <a:stCxn id="52" idx="4"/>
            <a:endCxn id="53" idx="0"/>
          </p:cNvCxnSpPr>
          <p:nvPr/>
        </p:nvCxnSpPr>
        <p:spPr>
          <a:xfrm rot="5400000">
            <a:off x="6643702" y="3393281"/>
            <a:ext cx="64294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6" name="流程圖: 文件 55"/>
          <p:cNvSpPr/>
          <p:nvPr/>
        </p:nvSpPr>
        <p:spPr>
          <a:xfrm>
            <a:off x="7429520"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B4</a:t>
            </a:r>
            <a:endParaRPr lang="zh-TW" altLang="en-US" dirty="0">
              <a:latin typeface="Calibri" pitchFamily="34" charset="0"/>
            </a:endParaRPr>
          </a:p>
        </p:txBody>
      </p:sp>
      <p:sp>
        <p:nvSpPr>
          <p:cNvPr id="57" name="橢圓 56"/>
          <p:cNvSpPr/>
          <p:nvPr/>
        </p:nvSpPr>
        <p:spPr>
          <a:xfrm>
            <a:off x="7572396" y="2714620"/>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58" name="矩形 57"/>
          <p:cNvSpPr/>
          <p:nvPr/>
        </p:nvSpPr>
        <p:spPr>
          <a:xfrm>
            <a:off x="7429520" y="3714752"/>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C4</a:t>
            </a:r>
            <a:endParaRPr lang="zh-TW" altLang="en-US" dirty="0">
              <a:latin typeface="Calibri" pitchFamily="34" charset="0"/>
            </a:endParaRPr>
          </a:p>
        </p:txBody>
      </p:sp>
      <p:cxnSp>
        <p:nvCxnSpPr>
          <p:cNvPr id="59" name="直線單箭頭接點 58"/>
          <p:cNvCxnSpPr>
            <a:stCxn id="56" idx="2"/>
            <a:endCxn id="57" idx="0"/>
          </p:cNvCxnSpPr>
          <p:nvPr/>
        </p:nvCxnSpPr>
        <p:spPr>
          <a:xfrm rot="5400000">
            <a:off x="7479705" y="2443334"/>
            <a:ext cx="54257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0" name="直線單箭頭接點 59"/>
          <p:cNvCxnSpPr>
            <a:stCxn id="57" idx="4"/>
            <a:endCxn id="58" idx="0"/>
          </p:cNvCxnSpPr>
          <p:nvPr/>
        </p:nvCxnSpPr>
        <p:spPr>
          <a:xfrm rot="5400000">
            <a:off x="7429520" y="3393281"/>
            <a:ext cx="64294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矩形 33"/>
          <p:cNvSpPr/>
          <p:nvPr/>
        </p:nvSpPr>
        <p:spPr>
          <a:xfrm>
            <a:off x="4500562" y="188640"/>
            <a:ext cx="3857652" cy="3714776"/>
          </a:xfrm>
          <a:prstGeom prst="rect">
            <a:avLst/>
          </a:prstGeom>
          <a:solidFill>
            <a:srgbClr val="FF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3" name="標題 2"/>
          <p:cNvSpPr>
            <a:spLocks noGrp="1"/>
          </p:cNvSpPr>
          <p:nvPr>
            <p:ph type="title"/>
          </p:nvPr>
        </p:nvSpPr>
        <p:spPr>
          <a:xfrm>
            <a:off x="285720" y="332656"/>
            <a:ext cx="8215370" cy="680068"/>
          </a:xfrm>
        </p:spPr>
        <p:txBody>
          <a:bodyPr/>
          <a:lstStyle/>
          <a:p>
            <a:r>
              <a:rPr lang="en-US" altLang="zh-TW" dirty="0" smtClean="0"/>
              <a:t>CBC</a:t>
            </a:r>
            <a:endParaRPr lang="zh-TW" altLang="en-US" dirty="0"/>
          </a:p>
        </p:txBody>
      </p:sp>
      <p:sp>
        <p:nvSpPr>
          <p:cNvPr id="4" name="內容版面配置區 3"/>
          <p:cNvSpPr>
            <a:spLocks noGrp="1"/>
          </p:cNvSpPr>
          <p:nvPr>
            <p:ph sz="half" idx="1"/>
          </p:nvPr>
        </p:nvSpPr>
        <p:spPr>
          <a:xfrm>
            <a:off x="285720" y="1285860"/>
            <a:ext cx="4214842" cy="5214974"/>
          </a:xfrm>
        </p:spPr>
        <p:txBody>
          <a:bodyPr>
            <a:normAutofit/>
          </a:bodyPr>
          <a:lstStyle/>
          <a:p>
            <a:r>
              <a:rPr lang="en-US" altLang="zh-TW" dirty="0" smtClean="0"/>
              <a:t>Cipher Block Chaining (CBC)</a:t>
            </a:r>
            <a:r>
              <a:rPr lang="zh-TW" altLang="en-US" dirty="0" smtClean="0"/>
              <a:t> 的第一塊訊息</a:t>
            </a:r>
            <a:r>
              <a:rPr lang="en-US" altLang="zh-TW" dirty="0" smtClean="0"/>
              <a:t>B1</a:t>
            </a:r>
            <a:r>
              <a:rPr lang="zh-TW" altLang="en-US" dirty="0" smtClean="0"/>
              <a:t>與</a:t>
            </a:r>
            <a:r>
              <a:rPr lang="zh-TW" altLang="en-US" dirty="0" smtClean="0">
                <a:solidFill>
                  <a:srgbClr val="FF0000"/>
                </a:solidFill>
              </a:rPr>
              <a:t>初始向量</a:t>
            </a:r>
            <a:r>
              <a:rPr lang="en-US" altLang="zh-TW" dirty="0" smtClean="0">
                <a:solidFill>
                  <a:srgbClr val="FF0000"/>
                </a:solidFill>
              </a:rPr>
              <a:t>IV</a:t>
            </a:r>
            <a:r>
              <a:rPr lang="en-US" altLang="zh-TW" dirty="0" smtClean="0">
                <a:solidFill>
                  <a:srgbClr val="0000FF"/>
                </a:solidFill>
              </a:rPr>
              <a:t>(</a:t>
            </a:r>
            <a:r>
              <a:rPr lang="zh-TW" altLang="en-US" dirty="0" smtClean="0">
                <a:solidFill>
                  <a:srgbClr val="0000FF"/>
                </a:solidFill>
              </a:rPr>
              <a:t>一個隨機亂數</a:t>
            </a:r>
            <a:r>
              <a:rPr lang="en-US" altLang="zh-TW" dirty="0" smtClean="0">
                <a:solidFill>
                  <a:srgbClr val="0000FF"/>
                </a:solidFill>
              </a:rPr>
              <a:t>)</a:t>
            </a:r>
            <a:r>
              <a:rPr lang="zh-TW" altLang="en-US" dirty="0" smtClean="0"/>
              <a:t>做</a:t>
            </a:r>
            <a:r>
              <a:rPr lang="en-US" altLang="zh-TW" dirty="0" smtClean="0"/>
              <a:t>XOR</a:t>
            </a:r>
            <a:r>
              <a:rPr lang="zh-TW" altLang="en-US" dirty="0" smtClean="0">
                <a:ea typeface="微軟正黑體"/>
              </a:rPr>
              <a:t>後再以對稱式金鑰加密產生密文</a:t>
            </a:r>
            <a:r>
              <a:rPr lang="en-US" altLang="zh-TW" dirty="0" smtClean="0"/>
              <a:t>C1</a:t>
            </a:r>
            <a:r>
              <a:rPr lang="zh-TW" altLang="en-US" dirty="0" smtClean="0"/>
              <a:t>。</a:t>
            </a:r>
            <a:r>
              <a:rPr lang="zh-TW" altLang="en-US" dirty="0" smtClean="0">
                <a:solidFill>
                  <a:srgbClr val="0000FF"/>
                </a:solidFill>
              </a:rPr>
              <a:t>之後每塊不再用</a:t>
            </a:r>
            <a:r>
              <a:rPr lang="en-US" altLang="zh-TW" dirty="0" smtClean="0">
                <a:solidFill>
                  <a:srgbClr val="0000FF"/>
                </a:solidFill>
              </a:rPr>
              <a:t>IV</a:t>
            </a:r>
            <a:r>
              <a:rPr lang="zh-TW" altLang="en-US" dirty="0" smtClean="0">
                <a:solidFill>
                  <a:srgbClr val="0000FF"/>
                </a:solidFill>
              </a:rPr>
              <a:t>，而以前一塊密文取代</a:t>
            </a:r>
            <a:r>
              <a:rPr lang="zh-TW" altLang="en-US" dirty="0" smtClean="0"/>
              <a:t>。</a:t>
            </a:r>
            <a:endParaRPr lang="en-US" altLang="zh-TW" dirty="0" smtClean="0"/>
          </a:p>
          <a:p>
            <a:r>
              <a:rPr lang="en-US" altLang="zh-TW" dirty="0" smtClean="0">
                <a:ea typeface="微軟正黑體"/>
              </a:rPr>
              <a:t>CBC</a:t>
            </a:r>
            <a:r>
              <a:rPr lang="zh-TW" altLang="en-US" dirty="0" smtClean="0">
                <a:ea typeface="微軟正黑體"/>
              </a:rPr>
              <a:t>改善</a:t>
            </a:r>
            <a:r>
              <a:rPr lang="en-US" altLang="zh-TW" dirty="0" smtClean="0">
                <a:ea typeface="微軟正黑體"/>
              </a:rPr>
              <a:t>EBC</a:t>
            </a:r>
            <a:r>
              <a:rPr lang="zh-TW" altLang="en-US" dirty="0" smtClean="0">
                <a:ea typeface="微軟正黑體"/>
              </a:rPr>
              <a:t>不適合長訊息的缺點：</a:t>
            </a:r>
            <a:r>
              <a:rPr lang="zh-TW" altLang="en-US" dirty="0" smtClean="0">
                <a:solidFill>
                  <a:srgbClr val="FF0000"/>
                </a:solidFill>
                <a:ea typeface="微軟正黑體"/>
              </a:rPr>
              <a:t>即使有兩塊相同的原文，也會產生不同的密文</a:t>
            </a:r>
            <a:r>
              <a:rPr lang="zh-TW" altLang="en-US" dirty="0" smtClean="0">
                <a:ea typeface="微軟正黑體"/>
              </a:rPr>
              <a:t>。</a:t>
            </a:r>
            <a:endParaRPr lang="en-US" altLang="zh-TW" dirty="0" smtClean="0">
              <a:ea typeface="微軟正黑體"/>
            </a:endParaRPr>
          </a:p>
          <a:p>
            <a:r>
              <a:rPr lang="en-US" altLang="zh-TW" dirty="0" smtClean="0">
                <a:ea typeface="微軟正黑體"/>
              </a:rPr>
              <a:t>CBC</a:t>
            </a:r>
            <a:r>
              <a:rPr lang="zh-TW" altLang="en-US" dirty="0" smtClean="0">
                <a:ea typeface="微軟正黑體"/>
              </a:rPr>
              <a:t>的缺點就是完全</a:t>
            </a:r>
            <a:r>
              <a:rPr lang="zh-TW" altLang="en-US" dirty="0" smtClean="0">
                <a:solidFill>
                  <a:srgbClr val="0000FF"/>
                </a:solidFill>
                <a:ea typeface="微軟正黑體"/>
              </a:rPr>
              <a:t>無法平行處理</a:t>
            </a:r>
            <a:r>
              <a:rPr lang="zh-TW" altLang="en-US" dirty="0" smtClean="0">
                <a:ea typeface="微軟正黑體"/>
              </a:rPr>
              <a:t>，一個區塊運算結束後，才能開始下一區塊。</a:t>
            </a:r>
            <a:endParaRPr lang="en-US" altLang="zh-TW" dirty="0" smtClean="0">
              <a:ea typeface="微軟正黑體"/>
            </a:endParaRPr>
          </a:p>
          <a:p>
            <a:endParaRPr lang="zh-TW" altLang="en-US" dirty="0"/>
          </a:p>
        </p:txBody>
      </p:sp>
      <p:sp>
        <p:nvSpPr>
          <p:cNvPr id="6" name="流程圖: 文件 5"/>
          <p:cNvSpPr/>
          <p:nvPr/>
        </p:nvSpPr>
        <p:spPr>
          <a:xfrm>
            <a:off x="5034246" y="402954"/>
            <a:ext cx="68076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B1</a:t>
            </a:r>
            <a:endParaRPr lang="zh-TW" altLang="en-US" dirty="0">
              <a:latin typeface="Calibri" pitchFamily="34" charset="0"/>
            </a:endParaRPr>
          </a:p>
        </p:txBody>
      </p:sp>
      <p:sp>
        <p:nvSpPr>
          <p:cNvPr id="14" name="矩形 13"/>
          <p:cNvSpPr/>
          <p:nvPr/>
        </p:nvSpPr>
        <p:spPr>
          <a:xfrm>
            <a:off x="5034246" y="3046160"/>
            <a:ext cx="68076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C1</a:t>
            </a:r>
            <a:endParaRPr lang="zh-TW" altLang="en-US" dirty="0">
              <a:latin typeface="Calibri" pitchFamily="34" charset="0"/>
            </a:endParaRPr>
          </a:p>
        </p:txBody>
      </p:sp>
      <p:cxnSp>
        <p:nvCxnSpPr>
          <p:cNvPr id="16" name="直線單箭頭接點 15"/>
          <p:cNvCxnSpPr>
            <a:stCxn id="45" idx="4"/>
            <a:endCxn id="66" idx="0"/>
          </p:cNvCxnSpPr>
          <p:nvPr/>
        </p:nvCxnSpPr>
        <p:spPr>
          <a:xfrm>
            <a:off x="5383032" y="1688838"/>
            <a:ext cx="0" cy="500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 name="直線單箭頭接點 17"/>
          <p:cNvCxnSpPr>
            <a:stCxn id="66" idx="4"/>
            <a:endCxn id="14" idx="0"/>
          </p:cNvCxnSpPr>
          <p:nvPr/>
        </p:nvCxnSpPr>
        <p:spPr>
          <a:xfrm flipH="1">
            <a:off x="5374627" y="2546094"/>
            <a:ext cx="8405" cy="500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6" name="流程圖: 文件 45"/>
          <p:cNvSpPr/>
          <p:nvPr/>
        </p:nvSpPr>
        <p:spPr>
          <a:xfrm>
            <a:off x="5820064" y="402954"/>
            <a:ext cx="68076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B2</a:t>
            </a:r>
            <a:endParaRPr lang="zh-TW" altLang="en-US" dirty="0">
              <a:latin typeface="Calibri" pitchFamily="34" charset="0"/>
            </a:endParaRPr>
          </a:p>
        </p:txBody>
      </p:sp>
      <p:sp>
        <p:nvSpPr>
          <p:cNvPr id="47" name="橢圓 46"/>
          <p:cNvSpPr/>
          <p:nvPr/>
        </p:nvSpPr>
        <p:spPr>
          <a:xfrm>
            <a:off x="5979749" y="2188904"/>
            <a:ext cx="378201"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48" name="矩形 47"/>
          <p:cNvSpPr/>
          <p:nvPr/>
        </p:nvSpPr>
        <p:spPr>
          <a:xfrm>
            <a:off x="5820064" y="3046160"/>
            <a:ext cx="68076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C2</a:t>
            </a:r>
            <a:endParaRPr lang="zh-TW" altLang="en-US" dirty="0">
              <a:latin typeface="Calibri" pitchFamily="34" charset="0"/>
            </a:endParaRPr>
          </a:p>
        </p:txBody>
      </p:sp>
      <p:cxnSp>
        <p:nvCxnSpPr>
          <p:cNvPr id="49" name="直線單箭頭接點 48"/>
          <p:cNvCxnSpPr>
            <a:stCxn id="61" idx="4"/>
            <a:endCxn id="47" idx="0"/>
          </p:cNvCxnSpPr>
          <p:nvPr/>
        </p:nvCxnSpPr>
        <p:spPr>
          <a:xfrm>
            <a:off x="6168850" y="1688838"/>
            <a:ext cx="0" cy="500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0" name="直線單箭頭接點 49"/>
          <p:cNvCxnSpPr>
            <a:stCxn id="47" idx="4"/>
            <a:endCxn id="48" idx="0"/>
          </p:cNvCxnSpPr>
          <p:nvPr/>
        </p:nvCxnSpPr>
        <p:spPr>
          <a:xfrm flipH="1">
            <a:off x="6160445" y="2546094"/>
            <a:ext cx="8405" cy="500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1" name="流程圖: 文件 50"/>
          <p:cNvSpPr/>
          <p:nvPr/>
        </p:nvSpPr>
        <p:spPr>
          <a:xfrm>
            <a:off x="6605882" y="402954"/>
            <a:ext cx="68076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B3</a:t>
            </a:r>
            <a:endParaRPr lang="zh-TW" altLang="en-US" dirty="0">
              <a:latin typeface="Calibri" pitchFamily="34" charset="0"/>
            </a:endParaRPr>
          </a:p>
        </p:txBody>
      </p:sp>
      <p:sp>
        <p:nvSpPr>
          <p:cNvPr id="52" name="橢圓 51"/>
          <p:cNvSpPr/>
          <p:nvPr/>
        </p:nvSpPr>
        <p:spPr>
          <a:xfrm>
            <a:off x="6765567" y="2188904"/>
            <a:ext cx="378201"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53" name="矩形 52"/>
          <p:cNvSpPr/>
          <p:nvPr/>
        </p:nvSpPr>
        <p:spPr>
          <a:xfrm>
            <a:off x="6605882" y="3046160"/>
            <a:ext cx="68076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C3</a:t>
            </a:r>
            <a:endParaRPr lang="zh-TW" altLang="en-US" dirty="0">
              <a:latin typeface="Calibri" pitchFamily="34" charset="0"/>
            </a:endParaRPr>
          </a:p>
        </p:txBody>
      </p:sp>
      <p:cxnSp>
        <p:nvCxnSpPr>
          <p:cNvPr id="54" name="直線單箭頭接點 53"/>
          <p:cNvCxnSpPr>
            <a:stCxn id="62" idx="4"/>
            <a:endCxn id="52" idx="0"/>
          </p:cNvCxnSpPr>
          <p:nvPr/>
        </p:nvCxnSpPr>
        <p:spPr>
          <a:xfrm>
            <a:off x="6954668" y="1688838"/>
            <a:ext cx="0" cy="500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5" name="直線單箭頭接點 54"/>
          <p:cNvCxnSpPr>
            <a:stCxn id="52" idx="4"/>
            <a:endCxn id="53" idx="0"/>
          </p:cNvCxnSpPr>
          <p:nvPr/>
        </p:nvCxnSpPr>
        <p:spPr>
          <a:xfrm flipH="1">
            <a:off x="6946263" y="2546094"/>
            <a:ext cx="8405" cy="500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6" name="流程圖: 文件 55"/>
          <p:cNvSpPr/>
          <p:nvPr/>
        </p:nvSpPr>
        <p:spPr>
          <a:xfrm>
            <a:off x="7391700" y="402954"/>
            <a:ext cx="68076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B4</a:t>
            </a:r>
            <a:endParaRPr lang="zh-TW" altLang="en-US" dirty="0">
              <a:latin typeface="Calibri" pitchFamily="34" charset="0"/>
            </a:endParaRPr>
          </a:p>
        </p:txBody>
      </p:sp>
      <p:sp>
        <p:nvSpPr>
          <p:cNvPr id="57" name="橢圓 56"/>
          <p:cNvSpPr/>
          <p:nvPr/>
        </p:nvSpPr>
        <p:spPr>
          <a:xfrm>
            <a:off x="7551385" y="2188904"/>
            <a:ext cx="378201"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58" name="矩形 57"/>
          <p:cNvSpPr/>
          <p:nvPr/>
        </p:nvSpPr>
        <p:spPr>
          <a:xfrm>
            <a:off x="7391700" y="3046160"/>
            <a:ext cx="68076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C4</a:t>
            </a:r>
            <a:endParaRPr lang="zh-TW" altLang="en-US" dirty="0">
              <a:latin typeface="Calibri" pitchFamily="34" charset="0"/>
            </a:endParaRPr>
          </a:p>
        </p:txBody>
      </p:sp>
      <p:cxnSp>
        <p:nvCxnSpPr>
          <p:cNvPr id="59" name="直線單箭頭接點 58"/>
          <p:cNvCxnSpPr>
            <a:stCxn id="63" idx="4"/>
            <a:endCxn id="57" idx="0"/>
          </p:cNvCxnSpPr>
          <p:nvPr/>
        </p:nvCxnSpPr>
        <p:spPr>
          <a:xfrm>
            <a:off x="7740486" y="1688838"/>
            <a:ext cx="0" cy="500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0" name="直線單箭頭接點 59"/>
          <p:cNvCxnSpPr>
            <a:stCxn id="57" idx="4"/>
            <a:endCxn id="58" idx="0"/>
          </p:cNvCxnSpPr>
          <p:nvPr/>
        </p:nvCxnSpPr>
        <p:spPr>
          <a:xfrm flipH="1">
            <a:off x="7732081" y="2546094"/>
            <a:ext cx="8405" cy="50006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直線單箭頭接點 34"/>
          <p:cNvCxnSpPr>
            <a:stCxn id="6" idx="2"/>
            <a:endCxn id="45" idx="0"/>
          </p:cNvCxnSpPr>
          <p:nvPr/>
        </p:nvCxnSpPr>
        <p:spPr>
          <a:xfrm>
            <a:off x="5374627" y="1003390"/>
            <a:ext cx="8405" cy="3282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直線單箭頭接點 35"/>
          <p:cNvCxnSpPr>
            <a:stCxn id="46" idx="2"/>
            <a:endCxn id="61" idx="0"/>
          </p:cNvCxnSpPr>
          <p:nvPr/>
        </p:nvCxnSpPr>
        <p:spPr>
          <a:xfrm>
            <a:off x="6160445" y="1003390"/>
            <a:ext cx="8405" cy="3282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7" name="直線單箭頭接點 36"/>
          <p:cNvCxnSpPr>
            <a:stCxn id="51" idx="2"/>
            <a:endCxn id="62" idx="0"/>
          </p:cNvCxnSpPr>
          <p:nvPr/>
        </p:nvCxnSpPr>
        <p:spPr>
          <a:xfrm>
            <a:off x="6946263" y="1003390"/>
            <a:ext cx="8405" cy="3282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8" name="直線單箭頭接點 37"/>
          <p:cNvCxnSpPr>
            <a:stCxn id="56" idx="2"/>
            <a:endCxn id="63" idx="0"/>
          </p:cNvCxnSpPr>
          <p:nvPr/>
        </p:nvCxnSpPr>
        <p:spPr>
          <a:xfrm>
            <a:off x="7732081" y="1003390"/>
            <a:ext cx="8405" cy="3282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5" name="流程圖: 或 44"/>
          <p:cNvSpPr/>
          <p:nvPr/>
        </p:nvSpPr>
        <p:spPr>
          <a:xfrm>
            <a:off x="5193931" y="1331648"/>
            <a:ext cx="378201"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1" name="流程圖: 或 60"/>
          <p:cNvSpPr/>
          <p:nvPr/>
        </p:nvSpPr>
        <p:spPr>
          <a:xfrm>
            <a:off x="5979749" y="1331648"/>
            <a:ext cx="378201"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2" name="流程圖: 或 61"/>
          <p:cNvSpPr/>
          <p:nvPr/>
        </p:nvSpPr>
        <p:spPr>
          <a:xfrm>
            <a:off x="6765567" y="1331648"/>
            <a:ext cx="378201"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3" name="流程圖: 或 62"/>
          <p:cNvSpPr/>
          <p:nvPr/>
        </p:nvSpPr>
        <p:spPr>
          <a:xfrm>
            <a:off x="7551385" y="1331648"/>
            <a:ext cx="378201"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6" name="橢圓 65"/>
          <p:cNvSpPr/>
          <p:nvPr/>
        </p:nvSpPr>
        <p:spPr>
          <a:xfrm>
            <a:off x="5193931" y="2188904"/>
            <a:ext cx="378201"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79" name="直線單箭頭接點 78"/>
          <p:cNvCxnSpPr>
            <a:stCxn id="14" idx="0"/>
            <a:endCxn id="61" idx="3"/>
          </p:cNvCxnSpPr>
          <p:nvPr/>
        </p:nvCxnSpPr>
        <p:spPr>
          <a:xfrm flipV="1">
            <a:off x="5374627" y="1636529"/>
            <a:ext cx="660508" cy="140963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1" name="直線單箭頭接點 80"/>
          <p:cNvCxnSpPr>
            <a:stCxn id="48" idx="0"/>
            <a:endCxn id="62" idx="3"/>
          </p:cNvCxnSpPr>
          <p:nvPr/>
        </p:nvCxnSpPr>
        <p:spPr>
          <a:xfrm flipV="1">
            <a:off x="6160445" y="1636529"/>
            <a:ext cx="660508" cy="140963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3" name="直線單箭頭接點 82"/>
          <p:cNvCxnSpPr>
            <a:stCxn id="53" idx="0"/>
            <a:endCxn id="63" idx="3"/>
          </p:cNvCxnSpPr>
          <p:nvPr/>
        </p:nvCxnSpPr>
        <p:spPr>
          <a:xfrm flipV="1">
            <a:off x="6946263" y="1636529"/>
            <a:ext cx="660508" cy="140963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4" name="圓角矩形 83"/>
          <p:cNvSpPr/>
          <p:nvPr/>
        </p:nvSpPr>
        <p:spPr>
          <a:xfrm>
            <a:off x="4572000" y="1331648"/>
            <a:ext cx="428628" cy="357190"/>
          </a:xfrm>
          <a:prstGeom prst="roundRect">
            <a:avLst/>
          </a:prstGeom>
        </p:spPr>
        <p:style>
          <a:lnRef idx="3">
            <a:schemeClr val="lt1"/>
          </a:lnRef>
          <a:fillRef idx="1">
            <a:schemeClr val="accent1"/>
          </a:fillRef>
          <a:effectRef idx="1">
            <a:schemeClr val="accent1"/>
          </a:effectRef>
          <a:fontRef idx="minor">
            <a:schemeClr val="lt1"/>
          </a:fontRef>
        </p:style>
        <p:txBody>
          <a:bodyPr rtlCol="0" anchor="ctr"/>
          <a:lstStyle/>
          <a:p>
            <a:pPr algn="ctr"/>
            <a:r>
              <a:rPr lang="en-US" altLang="zh-TW" dirty="0" smtClean="0">
                <a:latin typeface="Calibri" pitchFamily="34" charset="0"/>
              </a:rPr>
              <a:t>IV</a:t>
            </a:r>
            <a:endParaRPr lang="zh-TW" altLang="en-US" dirty="0">
              <a:latin typeface="Calibri" pitchFamily="34" charset="0"/>
            </a:endParaRPr>
          </a:p>
        </p:txBody>
      </p:sp>
      <p:cxnSp>
        <p:nvCxnSpPr>
          <p:cNvPr id="88" name="直線單箭頭接點 87"/>
          <p:cNvCxnSpPr>
            <a:stCxn id="84" idx="3"/>
            <a:endCxn id="45" idx="2"/>
          </p:cNvCxnSpPr>
          <p:nvPr/>
        </p:nvCxnSpPr>
        <p:spPr>
          <a:xfrm>
            <a:off x="5000628" y="1510243"/>
            <a:ext cx="193303"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9" name="矩形 38"/>
          <p:cNvSpPr/>
          <p:nvPr/>
        </p:nvSpPr>
        <p:spPr>
          <a:xfrm>
            <a:off x="4500562" y="4260606"/>
            <a:ext cx="3857652" cy="2277001"/>
          </a:xfrm>
          <a:prstGeom prst="rect">
            <a:avLst/>
          </a:prstGeom>
          <a:solidFill>
            <a:srgbClr val="0000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defRPr/>
            </a:pPr>
            <a:r>
              <a:rPr lang="en-US" altLang="zh-TW" dirty="0" smtClean="0">
                <a:solidFill>
                  <a:prstClr val="white"/>
                </a:solidFill>
                <a:latin typeface="標楷體" panose="03000509000000000000" pitchFamily="65" charset="-120"/>
                <a:ea typeface="標楷體" panose="03000509000000000000" pitchFamily="65" charset="-120"/>
              </a:rPr>
              <a:t>1.B1~B4</a:t>
            </a:r>
            <a:r>
              <a:rPr lang="zh-TW" altLang="en-US" dirty="0">
                <a:solidFill>
                  <a:prstClr val="white"/>
                </a:solidFill>
                <a:latin typeface="標楷體" panose="03000509000000000000" pitchFamily="65" charset="-120"/>
                <a:ea typeface="標楷體" panose="03000509000000000000" pitchFamily="65" charset="-120"/>
              </a:rPr>
              <a:t>每一區塊都是</a:t>
            </a:r>
            <a:r>
              <a:rPr lang="en-US" altLang="zh-TW" dirty="0">
                <a:solidFill>
                  <a:prstClr val="white"/>
                </a:solidFill>
                <a:latin typeface="標楷體" panose="03000509000000000000" pitchFamily="65" charset="-120"/>
                <a:ea typeface="標楷體" panose="03000509000000000000" pitchFamily="65" charset="-120"/>
              </a:rPr>
              <a:t>64</a:t>
            </a:r>
            <a:r>
              <a:rPr lang="zh-TW" altLang="en-US" dirty="0">
                <a:solidFill>
                  <a:prstClr val="white"/>
                </a:solidFill>
                <a:latin typeface="標楷體" panose="03000509000000000000" pitchFamily="65" charset="-120"/>
                <a:ea typeface="標楷體" panose="03000509000000000000" pitchFamily="65" charset="-120"/>
              </a:rPr>
              <a:t>位元</a:t>
            </a:r>
            <a:r>
              <a:rPr lang="en-US" altLang="zh-TW" dirty="0">
                <a:solidFill>
                  <a:prstClr val="white"/>
                </a:solidFill>
                <a:latin typeface="標楷體" panose="03000509000000000000" pitchFamily="65" charset="-120"/>
                <a:ea typeface="標楷體" panose="03000509000000000000" pitchFamily="65" charset="-120"/>
              </a:rPr>
              <a:t/>
            </a:r>
            <a:br>
              <a:rPr lang="en-US" altLang="zh-TW" dirty="0">
                <a:solidFill>
                  <a:prstClr val="white"/>
                </a:solidFill>
                <a:latin typeface="標楷體" panose="03000509000000000000" pitchFamily="65" charset="-120"/>
                <a:ea typeface="標楷體" panose="03000509000000000000" pitchFamily="65" charset="-120"/>
              </a:rPr>
            </a:br>
            <a:r>
              <a:rPr lang="en-US" altLang="zh-TW" dirty="0">
                <a:solidFill>
                  <a:prstClr val="white"/>
                </a:solidFill>
                <a:latin typeface="標楷體" panose="03000509000000000000" pitchFamily="65" charset="-120"/>
                <a:ea typeface="標楷體" panose="03000509000000000000" pitchFamily="65" charset="-120"/>
              </a:rPr>
              <a:t>2.</a:t>
            </a:r>
            <a:r>
              <a:rPr lang="zh-TW" altLang="en-US" dirty="0">
                <a:solidFill>
                  <a:prstClr val="white"/>
                </a:solidFill>
                <a:latin typeface="標楷體" panose="03000509000000000000" pitchFamily="65" charset="-120"/>
                <a:ea typeface="標楷體" panose="03000509000000000000" pitchFamily="65" charset="-120"/>
              </a:rPr>
              <a:t>解</a:t>
            </a:r>
            <a:r>
              <a:rPr lang="en-US" altLang="zh-TW" dirty="0">
                <a:solidFill>
                  <a:prstClr val="white"/>
                </a:solidFill>
                <a:latin typeface="標楷體" panose="03000509000000000000" pitchFamily="65" charset="-120"/>
                <a:ea typeface="標楷體" panose="03000509000000000000" pitchFamily="65" charset="-120"/>
              </a:rPr>
              <a:t>CBC</a:t>
            </a:r>
            <a:r>
              <a:rPr lang="zh-TW" altLang="en-US" dirty="0">
                <a:solidFill>
                  <a:prstClr val="white"/>
                </a:solidFill>
                <a:latin typeface="標楷體" panose="03000509000000000000" pitchFamily="65" charset="-120"/>
                <a:ea typeface="標楷體" panose="03000509000000000000" pitchFamily="65" charset="-120"/>
              </a:rPr>
              <a:t>必須</a:t>
            </a:r>
            <a:r>
              <a:rPr lang="zh-TW" altLang="en-US" dirty="0">
                <a:solidFill>
                  <a:prstClr val="white"/>
                </a:solidFill>
                <a:latin typeface="標楷體" panose="03000509000000000000" pitchFamily="65" charset="-120"/>
                <a:ea typeface="標楷體" panose="03000509000000000000" pitchFamily="65" charset="-120"/>
              </a:rPr>
              <a:t>知道：</a:t>
            </a:r>
            <a:r>
              <a:rPr lang="en-US" altLang="zh-TW" dirty="0">
                <a:solidFill>
                  <a:prstClr val="white"/>
                </a:solidFill>
                <a:latin typeface="標楷體" panose="03000509000000000000" pitchFamily="65" charset="-120"/>
                <a:ea typeface="標楷體" panose="03000509000000000000" pitchFamily="65" charset="-120"/>
              </a:rPr>
              <a:t>Key + </a:t>
            </a:r>
            <a:r>
              <a:rPr lang="en-US" altLang="zh-TW" dirty="0">
                <a:solidFill>
                  <a:prstClr val="white"/>
                </a:solidFill>
                <a:latin typeface="標楷體" panose="03000509000000000000" pitchFamily="65" charset="-120"/>
                <a:ea typeface="標楷體" panose="03000509000000000000" pitchFamily="65" charset="-120"/>
              </a:rPr>
              <a:t>IV</a:t>
            </a:r>
          </a:p>
          <a:p>
            <a:pPr lvl="0">
              <a:defRPr/>
            </a:pPr>
            <a:r>
              <a:rPr lang="en-US" altLang="zh-TW" dirty="0">
                <a:solidFill>
                  <a:prstClr val="white"/>
                </a:solidFill>
                <a:latin typeface="標楷體" panose="03000509000000000000" pitchFamily="65" charset="-120"/>
                <a:ea typeface="標楷體" panose="03000509000000000000" pitchFamily="65" charset="-120"/>
              </a:rPr>
              <a:t>3.IV </a:t>
            </a:r>
            <a:r>
              <a:rPr lang="zh-TW" altLang="en-US" dirty="0">
                <a:solidFill>
                  <a:prstClr val="white"/>
                </a:solidFill>
                <a:latin typeface="標楷體" panose="03000509000000000000" pitchFamily="65" charset="-120"/>
                <a:ea typeface="標楷體" panose="03000509000000000000" pitchFamily="65" charset="-120"/>
              </a:rPr>
              <a:t>不需保密</a:t>
            </a:r>
            <a:r>
              <a:rPr lang="en-US" altLang="zh-TW" dirty="0">
                <a:solidFill>
                  <a:prstClr val="white"/>
                </a:solidFill>
                <a:latin typeface="標楷體" panose="03000509000000000000" pitchFamily="65" charset="-120"/>
                <a:ea typeface="標楷體" panose="03000509000000000000" pitchFamily="65" charset="-120"/>
              </a:rPr>
              <a:t>IV</a:t>
            </a:r>
            <a:r>
              <a:rPr lang="zh-TW" altLang="en-US" dirty="0">
                <a:solidFill>
                  <a:prstClr val="white"/>
                </a:solidFill>
                <a:latin typeface="標楷體" panose="03000509000000000000" pitchFamily="65" charset="-120"/>
                <a:ea typeface="標楷體" panose="03000509000000000000" pitchFamily="65" charset="-120"/>
              </a:rPr>
              <a:t>常常直接附在密文</a:t>
            </a:r>
            <a:r>
              <a:rPr lang="zh-TW" altLang="en-US" dirty="0" smtClean="0">
                <a:solidFill>
                  <a:prstClr val="white"/>
                </a:solidFill>
                <a:latin typeface="標楷體" panose="03000509000000000000" pitchFamily="65" charset="-120"/>
                <a:ea typeface="標楷體" panose="03000509000000000000" pitchFamily="65" charset="-120"/>
              </a:rPr>
              <a:t>前面以明文傳出</a:t>
            </a:r>
            <a:r>
              <a:rPr lang="zh-TW" altLang="en-US" dirty="0">
                <a:solidFill>
                  <a:prstClr val="white"/>
                </a:solidFill>
                <a:latin typeface="標楷體" panose="03000509000000000000" pitchFamily="65" charset="-120"/>
                <a:ea typeface="標楷體" panose="03000509000000000000" pitchFamily="65" charset="-120"/>
              </a:rPr>
              <a:t>去</a:t>
            </a:r>
            <a:r>
              <a:rPr lang="en-US" altLang="zh-TW" dirty="0">
                <a:solidFill>
                  <a:prstClr val="white"/>
                </a:solidFill>
                <a:latin typeface="標楷體" panose="03000509000000000000" pitchFamily="65" charset="-120"/>
                <a:ea typeface="標楷體" panose="03000509000000000000" pitchFamily="65" charset="-120"/>
              </a:rPr>
              <a:t/>
            </a:r>
            <a:br>
              <a:rPr lang="en-US" altLang="zh-TW" dirty="0">
                <a:solidFill>
                  <a:prstClr val="white"/>
                </a:solidFill>
                <a:latin typeface="標楷體" panose="03000509000000000000" pitchFamily="65" charset="-120"/>
                <a:ea typeface="標楷體" panose="03000509000000000000" pitchFamily="65" charset="-120"/>
              </a:rPr>
            </a:br>
            <a:r>
              <a:rPr lang="en-US" altLang="zh-TW" dirty="0">
                <a:solidFill>
                  <a:prstClr val="white"/>
                </a:solidFill>
                <a:latin typeface="標楷體" panose="03000509000000000000" pitchFamily="65" charset="-120"/>
                <a:ea typeface="標楷體" panose="03000509000000000000" pitchFamily="65" charset="-120"/>
              </a:rPr>
              <a:t>4.</a:t>
            </a:r>
            <a:r>
              <a:rPr lang="zh-TW" altLang="en-US" dirty="0" smtClean="0">
                <a:solidFill>
                  <a:prstClr val="white"/>
                </a:solidFill>
                <a:latin typeface="標楷體" panose="03000509000000000000" pitchFamily="65" charset="-120"/>
                <a:ea typeface="標楷體" panose="03000509000000000000" pitchFamily="65" charset="-120"/>
              </a:rPr>
              <a:t>即使</a:t>
            </a:r>
            <a:r>
              <a:rPr lang="en-US" altLang="zh-TW" dirty="0" smtClean="0">
                <a:solidFill>
                  <a:prstClr val="white"/>
                </a:solidFill>
                <a:latin typeface="標楷體" panose="03000509000000000000" pitchFamily="65" charset="-120"/>
                <a:ea typeface="標楷體" panose="03000509000000000000" pitchFamily="65" charset="-120"/>
              </a:rPr>
              <a:t>IV </a:t>
            </a:r>
            <a:r>
              <a:rPr lang="zh-TW" altLang="en-US" dirty="0">
                <a:solidFill>
                  <a:prstClr val="white"/>
                </a:solidFill>
                <a:latin typeface="標楷體" panose="03000509000000000000" pitchFamily="65" charset="-120"/>
                <a:ea typeface="標楷體" panose="03000509000000000000" pitchFamily="65" charset="-120"/>
              </a:rPr>
              <a:t>是公開的，加密仍然比</a:t>
            </a:r>
            <a:r>
              <a:rPr lang="zh-TW" altLang="en-US" dirty="0" smtClean="0">
                <a:solidFill>
                  <a:prstClr val="white"/>
                </a:solidFill>
                <a:latin typeface="標楷體" panose="03000509000000000000" pitchFamily="65" charset="-120"/>
                <a:ea typeface="標楷體" panose="03000509000000000000" pitchFamily="65" charset="-120"/>
              </a:rPr>
              <a:t>沒  有</a:t>
            </a:r>
            <a:r>
              <a:rPr lang="en-US" altLang="zh-TW" dirty="0" smtClean="0">
                <a:solidFill>
                  <a:prstClr val="white"/>
                </a:solidFill>
                <a:latin typeface="標楷體" panose="03000509000000000000" pitchFamily="65" charset="-120"/>
                <a:ea typeface="標楷體" panose="03000509000000000000" pitchFamily="65" charset="-120"/>
              </a:rPr>
              <a:t>IV </a:t>
            </a:r>
            <a:r>
              <a:rPr lang="zh-TW" altLang="en-US" dirty="0">
                <a:solidFill>
                  <a:prstClr val="white"/>
                </a:solidFill>
                <a:latin typeface="標楷體" panose="03000509000000000000" pitchFamily="65" charset="-120"/>
                <a:ea typeface="標楷體" panose="03000509000000000000" pitchFamily="65" charset="-120"/>
              </a:rPr>
              <a:t>的 </a:t>
            </a:r>
            <a:r>
              <a:rPr lang="en-US" altLang="zh-TW" dirty="0">
                <a:solidFill>
                  <a:prstClr val="white"/>
                </a:solidFill>
                <a:latin typeface="標楷體" panose="03000509000000000000" pitchFamily="65" charset="-120"/>
                <a:ea typeface="標楷體" panose="03000509000000000000" pitchFamily="65" charset="-120"/>
              </a:rPr>
              <a:t>ECB </a:t>
            </a:r>
            <a:r>
              <a:rPr lang="zh-TW" altLang="en-US" dirty="0">
                <a:solidFill>
                  <a:prstClr val="white"/>
                </a:solidFill>
                <a:latin typeface="標楷體" panose="03000509000000000000" pitchFamily="65" charset="-120"/>
                <a:ea typeface="標楷體" panose="03000509000000000000" pitchFamily="65" charset="-120"/>
              </a:rPr>
              <a:t>安全</a:t>
            </a:r>
            <a:r>
              <a:rPr lang="zh-TW" altLang="en-US" dirty="0">
                <a:solidFill>
                  <a:prstClr val="white"/>
                </a:solidFill>
                <a:latin typeface="標楷體" panose="03000509000000000000" pitchFamily="65" charset="-120"/>
                <a:ea typeface="標楷體" panose="03000509000000000000" pitchFamily="65" charset="-120"/>
              </a:rPr>
              <a:t>很多</a:t>
            </a:r>
            <a:endParaRPr lang="en-US" altLang="zh-TW" dirty="0">
              <a:solidFill>
                <a:prstClr val="white"/>
              </a:solidFill>
              <a:latin typeface="標楷體" panose="03000509000000000000" pitchFamily="65" charset="-120"/>
              <a:ea typeface="標楷體" panose="03000509000000000000" pitchFamily="65" charset="-120"/>
            </a:endParaRPr>
          </a:p>
          <a:p>
            <a:pPr lvl="0">
              <a:defRPr/>
            </a:pPr>
            <a:r>
              <a:rPr lang="en-US" altLang="zh-TW" dirty="0" smtClean="0">
                <a:solidFill>
                  <a:prstClr val="white"/>
                </a:solidFill>
                <a:latin typeface="標楷體" panose="03000509000000000000" pitchFamily="65" charset="-120"/>
                <a:ea typeface="標楷體" panose="03000509000000000000" pitchFamily="65" charset="-120"/>
              </a:rPr>
              <a:t>5.</a:t>
            </a:r>
            <a:r>
              <a:rPr lang="zh-TW" altLang="en-US" dirty="0" smtClean="0">
                <a:solidFill>
                  <a:prstClr val="white"/>
                </a:solidFill>
                <a:latin typeface="標楷體" panose="03000509000000000000" pitchFamily="65" charset="-120"/>
                <a:ea typeface="標楷體" panose="03000509000000000000" pitchFamily="65" charset="-120"/>
              </a:rPr>
              <a:t>因為有</a:t>
            </a:r>
            <a:r>
              <a:rPr lang="en-US" altLang="zh-TW" dirty="0" smtClean="0">
                <a:solidFill>
                  <a:prstClr val="white"/>
                </a:solidFill>
                <a:latin typeface="標楷體" panose="03000509000000000000" pitchFamily="65" charset="-120"/>
                <a:ea typeface="標楷體" panose="03000509000000000000" pitchFamily="65" charset="-120"/>
              </a:rPr>
              <a:t>IV </a:t>
            </a:r>
            <a:r>
              <a:rPr lang="zh-TW" altLang="en-US" dirty="0">
                <a:solidFill>
                  <a:prstClr val="white"/>
                </a:solidFill>
                <a:latin typeface="標楷體" panose="03000509000000000000" pitchFamily="65" charset="-120"/>
                <a:ea typeface="標楷體" panose="03000509000000000000" pitchFamily="65" charset="-120"/>
              </a:rPr>
              <a:t>可以</a:t>
            </a:r>
            <a:r>
              <a:rPr lang="zh-TW" altLang="en-US" dirty="0">
                <a:solidFill>
                  <a:prstClr val="white"/>
                </a:solidFill>
                <a:latin typeface="標楷體" panose="03000509000000000000" pitchFamily="65" charset="-120"/>
                <a:ea typeface="標楷體" panose="03000509000000000000" pitchFamily="65" charset="-120"/>
              </a:rPr>
              <a:t>讓</a:t>
            </a:r>
            <a:r>
              <a:rPr lang="en-US" altLang="zh-TW" dirty="0">
                <a:solidFill>
                  <a:prstClr val="white"/>
                </a:solidFill>
                <a:latin typeface="標楷體" panose="03000509000000000000" pitchFamily="65" charset="-120"/>
                <a:ea typeface="標楷體" panose="03000509000000000000" pitchFamily="65" charset="-120"/>
              </a:rPr>
              <a:t>:</a:t>
            </a:r>
            <a:r>
              <a:rPr lang="zh-TW" altLang="en-US" dirty="0">
                <a:solidFill>
                  <a:schemeClr val="bg1"/>
                </a:solidFill>
                <a:latin typeface="標楷體" panose="03000509000000000000" pitchFamily="65" charset="-120"/>
                <a:ea typeface="標楷體" panose="03000509000000000000" pitchFamily="65" charset="-120"/>
              </a:rPr>
              <a:t>一段相同</a:t>
            </a:r>
            <a:r>
              <a:rPr lang="zh-TW" altLang="en-US" dirty="0">
                <a:solidFill>
                  <a:schemeClr val="bg1"/>
                </a:solidFill>
                <a:latin typeface="標楷體" panose="03000509000000000000" pitchFamily="65" charset="-120"/>
                <a:ea typeface="標楷體" panose="03000509000000000000" pitchFamily="65" charset="-120"/>
              </a:rPr>
              <a:t>重複</a:t>
            </a:r>
            <a:r>
              <a:rPr lang="zh-TW" altLang="en-US" dirty="0">
                <a:solidFill>
                  <a:schemeClr val="bg1"/>
                </a:solidFill>
                <a:latin typeface="標楷體" panose="03000509000000000000" pitchFamily="65" charset="-120"/>
                <a:ea typeface="標楷體" panose="03000509000000000000" pitchFamily="65" charset="-120"/>
              </a:rPr>
              <a:t>的明文 </a:t>
            </a:r>
            <a:r>
              <a:rPr lang="zh-TW" altLang="en-US" dirty="0">
                <a:solidFill>
                  <a:schemeClr val="bg1"/>
                </a:solidFill>
                <a:latin typeface="標楷體" panose="03000509000000000000" pitchFamily="65" charset="-120"/>
                <a:ea typeface="標楷體" panose="03000509000000000000" pitchFamily="65" charset="-120"/>
              </a:rPr>
              <a:t>→ 加密結果仍不同</a:t>
            </a:r>
            <a:endParaRPr lang="en-US" altLang="zh-TW" dirty="0">
              <a:solidFill>
                <a:schemeClr val="bg1"/>
              </a:solidFill>
              <a:latin typeface="標楷體" panose="03000509000000000000" pitchFamily="65" charset="-120"/>
              <a:ea typeface="標楷體" panose="03000509000000000000" pitchFamily="65" charset="-120"/>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矩形 33"/>
          <p:cNvSpPr/>
          <p:nvPr/>
        </p:nvSpPr>
        <p:spPr>
          <a:xfrm>
            <a:off x="4714876" y="1357298"/>
            <a:ext cx="3643338" cy="3714776"/>
          </a:xfrm>
          <a:prstGeom prst="rect">
            <a:avLst/>
          </a:prstGeom>
          <a:solidFill>
            <a:srgbClr val="FF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3" name="標題 2"/>
          <p:cNvSpPr>
            <a:spLocks noGrp="1"/>
          </p:cNvSpPr>
          <p:nvPr>
            <p:ph type="title"/>
          </p:nvPr>
        </p:nvSpPr>
        <p:spPr/>
        <p:txBody>
          <a:bodyPr/>
          <a:lstStyle/>
          <a:p>
            <a:r>
              <a:rPr lang="en-US" altLang="zh-TW" dirty="0" smtClean="0"/>
              <a:t>CFB</a:t>
            </a:r>
            <a:endParaRPr lang="zh-TW" altLang="en-US" dirty="0"/>
          </a:p>
        </p:txBody>
      </p:sp>
      <p:sp>
        <p:nvSpPr>
          <p:cNvPr id="4" name="內容版面配置區 3"/>
          <p:cNvSpPr>
            <a:spLocks noGrp="1"/>
          </p:cNvSpPr>
          <p:nvPr>
            <p:ph sz="half" idx="1"/>
          </p:nvPr>
        </p:nvSpPr>
        <p:spPr>
          <a:xfrm>
            <a:off x="285720" y="1285860"/>
            <a:ext cx="4214842" cy="5214974"/>
          </a:xfrm>
        </p:spPr>
        <p:txBody>
          <a:bodyPr>
            <a:normAutofit/>
          </a:bodyPr>
          <a:lstStyle/>
          <a:p>
            <a:r>
              <a:rPr lang="en-US" altLang="zh-TW" dirty="0" smtClean="0"/>
              <a:t>Cipher Feed Back (CFB)</a:t>
            </a:r>
            <a:r>
              <a:rPr lang="zh-TW" altLang="en-US" dirty="0" smtClean="0"/>
              <a:t>類似</a:t>
            </a:r>
            <a:r>
              <a:rPr lang="en-US" altLang="zh-TW" dirty="0" smtClean="0"/>
              <a:t>CBC</a:t>
            </a:r>
            <a:r>
              <a:rPr lang="zh-TW" altLang="en-US" dirty="0" smtClean="0"/>
              <a:t>，但初始向量</a:t>
            </a:r>
            <a:r>
              <a:rPr lang="en-US" altLang="zh-TW" dirty="0" smtClean="0"/>
              <a:t>IV</a:t>
            </a:r>
            <a:r>
              <a:rPr lang="zh-TW" altLang="en-US" dirty="0" smtClean="0"/>
              <a:t>與</a:t>
            </a:r>
            <a:r>
              <a:rPr lang="en-US" altLang="zh-TW" dirty="0" smtClean="0"/>
              <a:t>B1</a:t>
            </a:r>
            <a:r>
              <a:rPr lang="zh-TW" altLang="en-US" dirty="0" smtClean="0"/>
              <a:t>做</a:t>
            </a:r>
            <a:r>
              <a:rPr lang="en-US" altLang="zh-TW" dirty="0" smtClean="0"/>
              <a:t>XOR</a:t>
            </a:r>
            <a:r>
              <a:rPr lang="zh-TW" altLang="en-US" dirty="0" smtClean="0"/>
              <a:t>前</a:t>
            </a:r>
            <a:r>
              <a:rPr lang="zh-TW" altLang="en-US" dirty="0" smtClean="0">
                <a:solidFill>
                  <a:srgbClr val="0000FF"/>
                </a:solidFill>
              </a:rPr>
              <a:t>先以對稱式金鑰加密</a:t>
            </a:r>
            <a:r>
              <a:rPr lang="zh-TW" altLang="en-US" dirty="0" smtClean="0"/>
              <a:t>。之後每塊密文與下一塊原文做</a:t>
            </a:r>
            <a:r>
              <a:rPr lang="en-US" altLang="zh-TW" dirty="0" smtClean="0"/>
              <a:t>XOR</a:t>
            </a:r>
            <a:r>
              <a:rPr lang="zh-TW" altLang="en-US" dirty="0" smtClean="0"/>
              <a:t>也都先加密。</a:t>
            </a:r>
            <a:endParaRPr lang="en-US" altLang="zh-TW" dirty="0" smtClean="0"/>
          </a:p>
          <a:p>
            <a:r>
              <a:rPr lang="en-US" altLang="zh-TW" dirty="0" smtClean="0">
                <a:ea typeface="微軟正黑體"/>
              </a:rPr>
              <a:t>CFB</a:t>
            </a:r>
            <a:r>
              <a:rPr lang="zh-TW" altLang="en-US" dirty="0" smtClean="0">
                <a:ea typeface="微軟正黑體"/>
              </a:rPr>
              <a:t>是一種串流</a:t>
            </a:r>
            <a:r>
              <a:rPr lang="zh-TW" altLang="en-US" dirty="0" smtClean="0"/>
              <a:t>加密模式，想法類似一次性密碼本：每塊訊息都與</a:t>
            </a:r>
            <a:r>
              <a:rPr lang="zh-TW" altLang="en-US" dirty="0" smtClean="0">
                <a:ea typeface="微軟正黑體"/>
              </a:rPr>
              <a:t>「密碼本」中不同部分做</a:t>
            </a:r>
            <a:r>
              <a:rPr lang="en-US" altLang="zh-TW" dirty="0" smtClean="0">
                <a:ea typeface="微軟正黑體"/>
              </a:rPr>
              <a:t>XOR</a:t>
            </a:r>
            <a:r>
              <a:rPr lang="zh-TW" altLang="en-US" dirty="0" smtClean="0">
                <a:ea typeface="微軟正黑體"/>
              </a:rPr>
              <a:t>，且每次運算使用不同密碼本（因</a:t>
            </a:r>
            <a:r>
              <a:rPr lang="en-US" altLang="zh-TW" dirty="0" smtClean="0">
                <a:ea typeface="微軟正黑體"/>
              </a:rPr>
              <a:t>IV</a:t>
            </a:r>
            <a:r>
              <a:rPr lang="zh-TW" altLang="en-US" dirty="0" smtClean="0">
                <a:ea typeface="微軟正黑體"/>
              </a:rPr>
              <a:t>不同）。</a:t>
            </a:r>
            <a:endParaRPr lang="en-US" altLang="zh-TW" dirty="0" smtClean="0">
              <a:ea typeface="微軟正黑體"/>
            </a:endParaRPr>
          </a:p>
          <a:p>
            <a:r>
              <a:rPr lang="en-US" altLang="zh-TW" dirty="0" smtClean="0">
                <a:ea typeface="微軟正黑體"/>
              </a:rPr>
              <a:t>CFB</a:t>
            </a:r>
            <a:r>
              <a:rPr lang="zh-TW" altLang="en-US" dirty="0" smtClean="0">
                <a:ea typeface="微軟正黑體"/>
              </a:rPr>
              <a:t>之優缺點與</a:t>
            </a:r>
            <a:r>
              <a:rPr lang="en-US" altLang="zh-TW" dirty="0" smtClean="0">
                <a:ea typeface="微軟正黑體"/>
              </a:rPr>
              <a:t>CBC</a:t>
            </a:r>
            <a:r>
              <a:rPr lang="zh-TW" altLang="en-US" dirty="0" smtClean="0">
                <a:ea typeface="微軟正黑體"/>
              </a:rPr>
              <a:t>幾乎相同。</a:t>
            </a:r>
            <a:endParaRPr lang="zh-TW" altLang="en-US" dirty="0"/>
          </a:p>
        </p:txBody>
      </p:sp>
      <p:sp>
        <p:nvSpPr>
          <p:cNvPr id="6" name="流程圖: 文件 5"/>
          <p:cNvSpPr/>
          <p:nvPr/>
        </p:nvSpPr>
        <p:spPr>
          <a:xfrm>
            <a:off x="5214942"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B1</a:t>
            </a:r>
            <a:endParaRPr lang="zh-TW" altLang="en-US" dirty="0">
              <a:latin typeface="Calibri" pitchFamily="34" charset="0"/>
            </a:endParaRPr>
          </a:p>
        </p:txBody>
      </p:sp>
      <p:sp>
        <p:nvSpPr>
          <p:cNvPr id="14" name="矩形 13"/>
          <p:cNvSpPr/>
          <p:nvPr/>
        </p:nvSpPr>
        <p:spPr>
          <a:xfrm>
            <a:off x="5214942" y="4214818"/>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C1</a:t>
            </a:r>
            <a:endParaRPr lang="zh-TW" altLang="en-US" dirty="0">
              <a:latin typeface="Calibri" pitchFamily="34" charset="0"/>
            </a:endParaRPr>
          </a:p>
        </p:txBody>
      </p:sp>
      <p:cxnSp>
        <p:nvCxnSpPr>
          <p:cNvPr id="16" name="直線單箭頭接點 15"/>
          <p:cNvCxnSpPr>
            <a:stCxn id="45" idx="4"/>
            <a:endCxn id="14" idx="0"/>
          </p:cNvCxnSpPr>
          <p:nvPr/>
        </p:nvCxnSpPr>
        <p:spPr>
          <a:xfrm rot="5400000">
            <a:off x="4857752" y="3536157"/>
            <a:ext cx="135732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6" name="流程圖: 文件 45"/>
          <p:cNvSpPr/>
          <p:nvPr/>
        </p:nvSpPr>
        <p:spPr>
          <a:xfrm>
            <a:off x="6000760"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B2</a:t>
            </a:r>
            <a:endParaRPr lang="zh-TW" altLang="en-US" dirty="0">
              <a:latin typeface="Calibri" pitchFamily="34" charset="0"/>
            </a:endParaRPr>
          </a:p>
        </p:txBody>
      </p:sp>
      <p:sp>
        <p:nvSpPr>
          <p:cNvPr id="48" name="矩形 47"/>
          <p:cNvSpPr/>
          <p:nvPr/>
        </p:nvSpPr>
        <p:spPr>
          <a:xfrm>
            <a:off x="6000760" y="4214818"/>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C2</a:t>
            </a:r>
            <a:endParaRPr lang="zh-TW" altLang="en-US" dirty="0">
              <a:latin typeface="Calibri" pitchFamily="34" charset="0"/>
            </a:endParaRPr>
          </a:p>
        </p:txBody>
      </p:sp>
      <p:cxnSp>
        <p:nvCxnSpPr>
          <p:cNvPr id="49" name="直線單箭頭接點 48"/>
          <p:cNvCxnSpPr>
            <a:stCxn id="61" idx="4"/>
            <a:endCxn id="48" idx="0"/>
          </p:cNvCxnSpPr>
          <p:nvPr/>
        </p:nvCxnSpPr>
        <p:spPr>
          <a:xfrm rot="5400000">
            <a:off x="5643570" y="3536157"/>
            <a:ext cx="135732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1" name="流程圖: 文件 50"/>
          <p:cNvSpPr/>
          <p:nvPr/>
        </p:nvSpPr>
        <p:spPr>
          <a:xfrm>
            <a:off x="6786578"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B3</a:t>
            </a:r>
            <a:endParaRPr lang="zh-TW" altLang="en-US" dirty="0">
              <a:latin typeface="Calibri" pitchFamily="34" charset="0"/>
            </a:endParaRPr>
          </a:p>
        </p:txBody>
      </p:sp>
      <p:sp>
        <p:nvSpPr>
          <p:cNvPr id="53" name="矩形 52"/>
          <p:cNvSpPr/>
          <p:nvPr/>
        </p:nvSpPr>
        <p:spPr>
          <a:xfrm>
            <a:off x="6786578" y="4214818"/>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C3</a:t>
            </a:r>
            <a:endParaRPr lang="zh-TW" altLang="en-US" dirty="0">
              <a:latin typeface="Calibri" pitchFamily="34" charset="0"/>
            </a:endParaRPr>
          </a:p>
        </p:txBody>
      </p:sp>
      <p:cxnSp>
        <p:nvCxnSpPr>
          <p:cNvPr id="54" name="直線單箭頭接點 53"/>
          <p:cNvCxnSpPr>
            <a:stCxn id="62" idx="4"/>
            <a:endCxn id="53" idx="0"/>
          </p:cNvCxnSpPr>
          <p:nvPr/>
        </p:nvCxnSpPr>
        <p:spPr>
          <a:xfrm rot="5400000">
            <a:off x="6429388" y="3536157"/>
            <a:ext cx="135732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6" name="流程圖: 文件 55"/>
          <p:cNvSpPr/>
          <p:nvPr/>
        </p:nvSpPr>
        <p:spPr>
          <a:xfrm>
            <a:off x="7572396"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B4</a:t>
            </a:r>
            <a:endParaRPr lang="zh-TW" altLang="en-US" dirty="0">
              <a:latin typeface="Calibri" pitchFamily="34" charset="0"/>
            </a:endParaRPr>
          </a:p>
        </p:txBody>
      </p:sp>
      <p:sp>
        <p:nvSpPr>
          <p:cNvPr id="58" name="矩形 57"/>
          <p:cNvSpPr/>
          <p:nvPr/>
        </p:nvSpPr>
        <p:spPr>
          <a:xfrm>
            <a:off x="7572396" y="4214818"/>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C4</a:t>
            </a:r>
            <a:endParaRPr lang="zh-TW" altLang="en-US" dirty="0">
              <a:latin typeface="Calibri" pitchFamily="34" charset="0"/>
            </a:endParaRPr>
          </a:p>
        </p:txBody>
      </p:sp>
      <p:cxnSp>
        <p:nvCxnSpPr>
          <p:cNvPr id="59" name="直線單箭頭接點 58"/>
          <p:cNvCxnSpPr>
            <a:stCxn id="63" idx="4"/>
            <a:endCxn id="58" idx="0"/>
          </p:cNvCxnSpPr>
          <p:nvPr/>
        </p:nvCxnSpPr>
        <p:spPr>
          <a:xfrm rot="5400000">
            <a:off x="7215206" y="3536157"/>
            <a:ext cx="135732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直線單箭頭接點 34"/>
          <p:cNvCxnSpPr>
            <a:stCxn id="6" idx="2"/>
            <a:endCxn id="45" idx="0"/>
          </p:cNvCxnSpPr>
          <p:nvPr/>
        </p:nvCxnSpPr>
        <p:spPr>
          <a:xfrm rot="5400000">
            <a:off x="5372284"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直線單箭頭接點 35"/>
          <p:cNvCxnSpPr>
            <a:stCxn id="46" idx="2"/>
            <a:endCxn id="61" idx="0"/>
          </p:cNvCxnSpPr>
          <p:nvPr/>
        </p:nvCxnSpPr>
        <p:spPr>
          <a:xfrm rot="5400000">
            <a:off x="6158102"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7" name="直線單箭頭接點 36"/>
          <p:cNvCxnSpPr>
            <a:stCxn id="51" idx="2"/>
            <a:endCxn id="62" idx="0"/>
          </p:cNvCxnSpPr>
          <p:nvPr/>
        </p:nvCxnSpPr>
        <p:spPr>
          <a:xfrm rot="5400000">
            <a:off x="6943920"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8" name="直線單箭頭接點 37"/>
          <p:cNvCxnSpPr>
            <a:stCxn id="56" idx="2"/>
            <a:endCxn id="63" idx="0"/>
          </p:cNvCxnSpPr>
          <p:nvPr/>
        </p:nvCxnSpPr>
        <p:spPr>
          <a:xfrm rot="5400000">
            <a:off x="7729738"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5" name="流程圖: 或 44"/>
          <p:cNvSpPr/>
          <p:nvPr/>
        </p:nvSpPr>
        <p:spPr>
          <a:xfrm>
            <a:off x="5357818"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1" name="流程圖: 或 60"/>
          <p:cNvSpPr/>
          <p:nvPr/>
        </p:nvSpPr>
        <p:spPr>
          <a:xfrm>
            <a:off x="6143636"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2" name="流程圖: 或 61"/>
          <p:cNvSpPr/>
          <p:nvPr/>
        </p:nvSpPr>
        <p:spPr>
          <a:xfrm>
            <a:off x="6929454"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3" name="流程圖: 或 62"/>
          <p:cNvSpPr/>
          <p:nvPr/>
        </p:nvSpPr>
        <p:spPr>
          <a:xfrm>
            <a:off x="7715272"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6" name="橢圓 65"/>
          <p:cNvSpPr/>
          <p:nvPr/>
        </p:nvSpPr>
        <p:spPr>
          <a:xfrm>
            <a:off x="5786446" y="3286124"/>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84" name="圓角矩形 83"/>
          <p:cNvSpPr/>
          <p:nvPr/>
        </p:nvSpPr>
        <p:spPr>
          <a:xfrm>
            <a:off x="4572000" y="3929066"/>
            <a:ext cx="428628" cy="357190"/>
          </a:xfrm>
          <a:prstGeom prst="roundRect">
            <a:avLst/>
          </a:prstGeom>
        </p:spPr>
        <p:style>
          <a:lnRef idx="3">
            <a:schemeClr val="lt1"/>
          </a:lnRef>
          <a:fillRef idx="1">
            <a:schemeClr val="accent1"/>
          </a:fillRef>
          <a:effectRef idx="1">
            <a:schemeClr val="accent1"/>
          </a:effectRef>
          <a:fontRef idx="minor">
            <a:schemeClr val="lt1"/>
          </a:fontRef>
        </p:style>
        <p:txBody>
          <a:bodyPr rtlCol="0" anchor="ctr"/>
          <a:lstStyle/>
          <a:p>
            <a:pPr algn="ctr"/>
            <a:r>
              <a:rPr lang="en-US" altLang="zh-TW" dirty="0" smtClean="0">
                <a:latin typeface="Calibri" pitchFamily="34" charset="0"/>
              </a:rPr>
              <a:t>IV</a:t>
            </a:r>
            <a:endParaRPr lang="zh-TW" altLang="en-US" dirty="0">
              <a:latin typeface="Calibri" pitchFamily="34" charset="0"/>
            </a:endParaRPr>
          </a:p>
        </p:txBody>
      </p:sp>
      <p:cxnSp>
        <p:nvCxnSpPr>
          <p:cNvPr id="72" name="直線單箭頭接點 71"/>
          <p:cNvCxnSpPr>
            <a:stCxn id="66" idx="0"/>
            <a:endCxn id="61" idx="3"/>
          </p:cNvCxnSpPr>
          <p:nvPr/>
        </p:nvCxnSpPr>
        <p:spPr>
          <a:xfrm rot="5400000" flipH="1" flipV="1">
            <a:off x="5840025" y="2930204"/>
            <a:ext cx="480937"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6" name="直線單箭頭接點 75"/>
          <p:cNvCxnSpPr>
            <a:stCxn id="14" idx="0"/>
            <a:endCxn id="66" idx="3"/>
          </p:cNvCxnSpPr>
          <p:nvPr/>
        </p:nvCxnSpPr>
        <p:spPr>
          <a:xfrm rot="5400000" flipH="1" flipV="1">
            <a:off x="5375678" y="3751741"/>
            <a:ext cx="623813" cy="3023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7" name="橢圓 86"/>
          <p:cNvSpPr/>
          <p:nvPr/>
        </p:nvSpPr>
        <p:spPr>
          <a:xfrm>
            <a:off x="6572264" y="3286124"/>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89" name="直線單箭頭接點 88"/>
          <p:cNvCxnSpPr>
            <a:stCxn id="87" idx="0"/>
            <a:endCxn id="62" idx="3"/>
          </p:cNvCxnSpPr>
          <p:nvPr/>
        </p:nvCxnSpPr>
        <p:spPr>
          <a:xfrm rot="5400000" flipH="1" flipV="1">
            <a:off x="6625843" y="2930204"/>
            <a:ext cx="480937"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0" name="直線單箭頭接點 89"/>
          <p:cNvCxnSpPr>
            <a:stCxn id="48" idx="0"/>
            <a:endCxn id="87" idx="3"/>
          </p:cNvCxnSpPr>
          <p:nvPr/>
        </p:nvCxnSpPr>
        <p:spPr>
          <a:xfrm rot="5400000" flipH="1" flipV="1">
            <a:off x="6161496" y="3751741"/>
            <a:ext cx="623813" cy="3023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4" name="橢圓 93"/>
          <p:cNvSpPr/>
          <p:nvPr/>
        </p:nvSpPr>
        <p:spPr>
          <a:xfrm>
            <a:off x="7358082" y="3286124"/>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95" name="直線單箭頭接點 94"/>
          <p:cNvCxnSpPr>
            <a:stCxn id="94" idx="0"/>
            <a:endCxn id="63" idx="3"/>
          </p:cNvCxnSpPr>
          <p:nvPr/>
        </p:nvCxnSpPr>
        <p:spPr>
          <a:xfrm rot="5400000" flipH="1" flipV="1">
            <a:off x="7411661" y="2930204"/>
            <a:ext cx="480937"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9" name="直線單箭頭接點 98"/>
          <p:cNvCxnSpPr>
            <a:stCxn id="53" idx="0"/>
            <a:endCxn id="94" idx="3"/>
          </p:cNvCxnSpPr>
          <p:nvPr/>
        </p:nvCxnSpPr>
        <p:spPr>
          <a:xfrm rot="5400000" flipH="1" flipV="1">
            <a:off x="6947314" y="3751741"/>
            <a:ext cx="623813" cy="3023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1" name="橢圓 100"/>
          <p:cNvSpPr/>
          <p:nvPr/>
        </p:nvSpPr>
        <p:spPr>
          <a:xfrm>
            <a:off x="4929190" y="3286124"/>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102" name="直線單箭頭接點 101"/>
          <p:cNvCxnSpPr>
            <a:stCxn id="101" idx="0"/>
            <a:endCxn id="45" idx="3"/>
          </p:cNvCxnSpPr>
          <p:nvPr/>
        </p:nvCxnSpPr>
        <p:spPr>
          <a:xfrm rot="5400000" flipH="1" flipV="1">
            <a:off x="5018488" y="2894485"/>
            <a:ext cx="480937" cy="3023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06" name="直線單箭頭接點 105"/>
          <p:cNvCxnSpPr>
            <a:stCxn id="84" idx="0"/>
            <a:endCxn id="101" idx="3"/>
          </p:cNvCxnSpPr>
          <p:nvPr/>
        </p:nvCxnSpPr>
        <p:spPr>
          <a:xfrm rot="5400000" flipH="1" flipV="1">
            <a:off x="4714876" y="3662444"/>
            <a:ext cx="338061" cy="19518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矩形 33"/>
          <p:cNvSpPr/>
          <p:nvPr/>
        </p:nvSpPr>
        <p:spPr>
          <a:xfrm>
            <a:off x="4714876" y="1357298"/>
            <a:ext cx="3643338" cy="3786214"/>
          </a:xfrm>
          <a:prstGeom prst="rect">
            <a:avLst/>
          </a:prstGeom>
          <a:solidFill>
            <a:srgbClr val="FF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3" name="標題 2"/>
          <p:cNvSpPr>
            <a:spLocks noGrp="1"/>
          </p:cNvSpPr>
          <p:nvPr>
            <p:ph type="title"/>
          </p:nvPr>
        </p:nvSpPr>
        <p:spPr/>
        <p:txBody>
          <a:bodyPr/>
          <a:lstStyle/>
          <a:p>
            <a:r>
              <a:rPr lang="en-US" altLang="zh-TW" dirty="0" smtClean="0"/>
              <a:t>OFB</a:t>
            </a:r>
            <a:endParaRPr lang="zh-TW" altLang="en-US" dirty="0"/>
          </a:p>
        </p:txBody>
      </p:sp>
      <p:sp>
        <p:nvSpPr>
          <p:cNvPr id="4" name="內容版面配置區 3"/>
          <p:cNvSpPr>
            <a:spLocks noGrp="1"/>
          </p:cNvSpPr>
          <p:nvPr>
            <p:ph sz="half" idx="1"/>
          </p:nvPr>
        </p:nvSpPr>
        <p:spPr>
          <a:xfrm>
            <a:off x="285720" y="1285860"/>
            <a:ext cx="4214842" cy="5214974"/>
          </a:xfrm>
        </p:spPr>
        <p:txBody>
          <a:bodyPr>
            <a:normAutofit/>
          </a:bodyPr>
          <a:lstStyle/>
          <a:p>
            <a:r>
              <a:rPr lang="en-US" altLang="zh-TW" dirty="0" smtClean="0"/>
              <a:t>Output Feed Back (OFB)</a:t>
            </a:r>
            <a:r>
              <a:rPr lang="zh-TW" altLang="en-US" dirty="0" smtClean="0"/>
              <a:t> 很類似 </a:t>
            </a:r>
            <a:r>
              <a:rPr lang="en-US" altLang="zh-TW" dirty="0" smtClean="0"/>
              <a:t>CFB</a:t>
            </a:r>
            <a:r>
              <a:rPr lang="zh-TW" altLang="en-US" dirty="0" smtClean="0"/>
              <a:t>，只是與原文做</a:t>
            </a:r>
            <a:r>
              <a:rPr lang="en-US" altLang="zh-TW" dirty="0" smtClean="0"/>
              <a:t>XOR</a:t>
            </a:r>
            <a:r>
              <a:rPr lang="zh-TW" altLang="en-US" dirty="0" smtClean="0"/>
              <a:t>的不是加密後的前一塊密文；而是</a:t>
            </a:r>
            <a:r>
              <a:rPr lang="zh-TW" altLang="en-US" dirty="0" smtClean="0">
                <a:solidFill>
                  <a:srgbClr val="0000FF"/>
                </a:solidFill>
              </a:rPr>
              <a:t>由</a:t>
            </a:r>
            <a:r>
              <a:rPr lang="en-US" altLang="zh-TW" dirty="0" smtClean="0">
                <a:solidFill>
                  <a:srgbClr val="0000FF"/>
                </a:solidFill>
              </a:rPr>
              <a:t>IV</a:t>
            </a:r>
            <a:r>
              <a:rPr lang="zh-TW" altLang="en-US" dirty="0" smtClean="0">
                <a:solidFill>
                  <a:srgbClr val="0000FF"/>
                </a:solidFill>
              </a:rPr>
              <a:t>一級級以對稱金鑰加密產生</a:t>
            </a:r>
            <a:r>
              <a:rPr lang="zh-TW" altLang="en-US" dirty="0" smtClean="0"/>
              <a:t>。</a:t>
            </a:r>
            <a:endParaRPr lang="en-US" altLang="zh-TW" dirty="0" smtClean="0"/>
          </a:p>
          <a:p>
            <a:r>
              <a:rPr lang="en-US" altLang="zh-TW" dirty="0" smtClean="0"/>
              <a:t>OFB</a:t>
            </a:r>
            <a:r>
              <a:rPr lang="zh-TW" altLang="en-US" dirty="0" smtClean="0"/>
              <a:t>也是一次性密碼本的觀念：每塊訊息都與「密碼本」中不同部分做</a:t>
            </a:r>
            <a:r>
              <a:rPr lang="en-US" altLang="zh-TW" dirty="0" smtClean="0"/>
              <a:t>XOR</a:t>
            </a:r>
            <a:r>
              <a:rPr lang="zh-TW" altLang="en-US" dirty="0" smtClean="0"/>
              <a:t>，且每次運算使用不同密碼本 </a:t>
            </a:r>
            <a:r>
              <a:rPr lang="en-US" altLang="zh-TW" dirty="0" smtClean="0"/>
              <a:t>(</a:t>
            </a:r>
            <a:r>
              <a:rPr lang="zh-TW" altLang="en-US" dirty="0" smtClean="0"/>
              <a:t>因</a:t>
            </a:r>
            <a:r>
              <a:rPr lang="en-US" altLang="zh-TW" dirty="0" smtClean="0"/>
              <a:t>IV</a:t>
            </a:r>
            <a:r>
              <a:rPr lang="zh-TW" altLang="en-US" dirty="0" smtClean="0"/>
              <a:t>不同</a:t>
            </a:r>
            <a:r>
              <a:rPr lang="en-US" altLang="zh-TW" dirty="0" smtClean="0"/>
              <a:t>)</a:t>
            </a:r>
            <a:r>
              <a:rPr lang="zh-TW" altLang="en-US" dirty="0" smtClean="0"/>
              <a:t>。</a:t>
            </a:r>
            <a:endParaRPr lang="en-US" altLang="zh-TW" dirty="0" smtClean="0"/>
          </a:p>
          <a:p>
            <a:r>
              <a:rPr lang="en-US" altLang="zh-TW" dirty="0" smtClean="0"/>
              <a:t>OFB</a:t>
            </a:r>
            <a:r>
              <a:rPr lang="zh-TW" altLang="en-US" dirty="0" smtClean="0"/>
              <a:t>有</a:t>
            </a:r>
            <a:r>
              <a:rPr lang="en-US" altLang="zh-TW" dirty="0" smtClean="0"/>
              <a:t>CFB</a:t>
            </a:r>
            <a:r>
              <a:rPr lang="zh-TW" altLang="en-US" dirty="0" smtClean="0"/>
              <a:t>的所有好處，由於一個區塊運算不需以靠上一區塊的結果，所以有平行運算的可能。</a:t>
            </a:r>
            <a:endParaRPr lang="en-US" altLang="zh-TW" dirty="0" smtClean="0"/>
          </a:p>
          <a:p>
            <a:r>
              <a:rPr lang="zh-TW" altLang="en-US" dirty="0" smtClean="0"/>
              <a:t>缺點是對稱式加密過程中若發生錯誤，錯誤會往下擴散。</a:t>
            </a:r>
            <a:endParaRPr lang="en-US" altLang="zh-TW" dirty="0" smtClean="0"/>
          </a:p>
          <a:p>
            <a:endParaRPr lang="en-US" altLang="zh-TW" dirty="0" smtClean="0"/>
          </a:p>
        </p:txBody>
      </p:sp>
      <p:sp>
        <p:nvSpPr>
          <p:cNvPr id="6" name="流程圖: 文件 5"/>
          <p:cNvSpPr/>
          <p:nvPr/>
        </p:nvSpPr>
        <p:spPr>
          <a:xfrm>
            <a:off x="5214942"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B1</a:t>
            </a:r>
            <a:endParaRPr lang="zh-TW" altLang="en-US" dirty="0">
              <a:latin typeface="Calibri" pitchFamily="34" charset="0"/>
            </a:endParaRPr>
          </a:p>
        </p:txBody>
      </p:sp>
      <p:sp>
        <p:nvSpPr>
          <p:cNvPr id="14" name="矩形 13"/>
          <p:cNvSpPr/>
          <p:nvPr/>
        </p:nvSpPr>
        <p:spPr>
          <a:xfrm>
            <a:off x="5214942" y="4357694"/>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C1</a:t>
            </a:r>
            <a:endParaRPr lang="zh-TW" altLang="en-US" dirty="0">
              <a:latin typeface="Calibri" pitchFamily="34" charset="0"/>
            </a:endParaRPr>
          </a:p>
        </p:txBody>
      </p:sp>
      <p:cxnSp>
        <p:nvCxnSpPr>
          <p:cNvPr id="16" name="直線單箭頭接點 15"/>
          <p:cNvCxnSpPr>
            <a:stCxn id="45" idx="4"/>
            <a:endCxn id="14" idx="0"/>
          </p:cNvCxnSpPr>
          <p:nvPr/>
        </p:nvCxnSpPr>
        <p:spPr>
          <a:xfrm rot="5400000">
            <a:off x="4786314" y="3607595"/>
            <a:ext cx="150019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6" name="流程圖: 文件 45"/>
          <p:cNvSpPr/>
          <p:nvPr/>
        </p:nvSpPr>
        <p:spPr>
          <a:xfrm>
            <a:off x="6000760"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B2</a:t>
            </a:r>
            <a:endParaRPr lang="zh-TW" altLang="en-US" dirty="0">
              <a:latin typeface="Calibri" pitchFamily="34" charset="0"/>
            </a:endParaRPr>
          </a:p>
        </p:txBody>
      </p:sp>
      <p:sp>
        <p:nvSpPr>
          <p:cNvPr id="48" name="矩形 47"/>
          <p:cNvSpPr/>
          <p:nvPr/>
        </p:nvSpPr>
        <p:spPr>
          <a:xfrm>
            <a:off x="6000760" y="4357694"/>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C2</a:t>
            </a:r>
            <a:endParaRPr lang="zh-TW" altLang="en-US" dirty="0">
              <a:latin typeface="Calibri" pitchFamily="34" charset="0"/>
            </a:endParaRPr>
          </a:p>
        </p:txBody>
      </p:sp>
      <p:cxnSp>
        <p:nvCxnSpPr>
          <p:cNvPr id="49" name="直線單箭頭接點 48"/>
          <p:cNvCxnSpPr>
            <a:stCxn id="61" idx="4"/>
            <a:endCxn id="48" idx="0"/>
          </p:cNvCxnSpPr>
          <p:nvPr/>
        </p:nvCxnSpPr>
        <p:spPr>
          <a:xfrm rot="5400000">
            <a:off x="5572132" y="3607595"/>
            <a:ext cx="150019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1" name="流程圖: 文件 50"/>
          <p:cNvSpPr/>
          <p:nvPr/>
        </p:nvSpPr>
        <p:spPr>
          <a:xfrm>
            <a:off x="6786578"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B3</a:t>
            </a:r>
            <a:endParaRPr lang="zh-TW" altLang="en-US" dirty="0">
              <a:latin typeface="Calibri" pitchFamily="34" charset="0"/>
            </a:endParaRPr>
          </a:p>
        </p:txBody>
      </p:sp>
      <p:sp>
        <p:nvSpPr>
          <p:cNvPr id="53" name="矩形 52"/>
          <p:cNvSpPr/>
          <p:nvPr/>
        </p:nvSpPr>
        <p:spPr>
          <a:xfrm>
            <a:off x="6786578" y="4357694"/>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C3</a:t>
            </a:r>
            <a:endParaRPr lang="zh-TW" altLang="en-US" dirty="0">
              <a:latin typeface="Calibri" pitchFamily="34" charset="0"/>
            </a:endParaRPr>
          </a:p>
        </p:txBody>
      </p:sp>
      <p:cxnSp>
        <p:nvCxnSpPr>
          <p:cNvPr id="54" name="直線單箭頭接點 53"/>
          <p:cNvCxnSpPr>
            <a:stCxn id="62" idx="4"/>
            <a:endCxn id="53" idx="0"/>
          </p:cNvCxnSpPr>
          <p:nvPr/>
        </p:nvCxnSpPr>
        <p:spPr>
          <a:xfrm rot="5400000">
            <a:off x="6357950" y="3607595"/>
            <a:ext cx="150019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6" name="流程圖: 文件 55"/>
          <p:cNvSpPr/>
          <p:nvPr/>
        </p:nvSpPr>
        <p:spPr>
          <a:xfrm>
            <a:off x="7572396"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B4</a:t>
            </a:r>
            <a:endParaRPr lang="zh-TW" altLang="en-US" dirty="0">
              <a:latin typeface="Calibri" pitchFamily="34" charset="0"/>
            </a:endParaRPr>
          </a:p>
        </p:txBody>
      </p:sp>
      <p:sp>
        <p:nvSpPr>
          <p:cNvPr id="58" name="矩形 57"/>
          <p:cNvSpPr/>
          <p:nvPr/>
        </p:nvSpPr>
        <p:spPr>
          <a:xfrm>
            <a:off x="7572396" y="4357694"/>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C4</a:t>
            </a:r>
            <a:endParaRPr lang="zh-TW" altLang="en-US" dirty="0">
              <a:latin typeface="Calibri" pitchFamily="34" charset="0"/>
            </a:endParaRPr>
          </a:p>
        </p:txBody>
      </p:sp>
      <p:cxnSp>
        <p:nvCxnSpPr>
          <p:cNvPr id="59" name="直線單箭頭接點 58"/>
          <p:cNvCxnSpPr>
            <a:stCxn id="63" idx="4"/>
            <a:endCxn id="58" idx="0"/>
          </p:cNvCxnSpPr>
          <p:nvPr/>
        </p:nvCxnSpPr>
        <p:spPr>
          <a:xfrm rot="5400000">
            <a:off x="7143768" y="3607595"/>
            <a:ext cx="150019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直線單箭頭接點 34"/>
          <p:cNvCxnSpPr>
            <a:stCxn id="6" idx="2"/>
            <a:endCxn id="45" idx="0"/>
          </p:cNvCxnSpPr>
          <p:nvPr/>
        </p:nvCxnSpPr>
        <p:spPr>
          <a:xfrm rot="5400000">
            <a:off x="5372284"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直線單箭頭接點 35"/>
          <p:cNvCxnSpPr>
            <a:stCxn id="46" idx="2"/>
            <a:endCxn id="61" idx="0"/>
          </p:cNvCxnSpPr>
          <p:nvPr/>
        </p:nvCxnSpPr>
        <p:spPr>
          <a:xfrm rot="5400000">
            <a:off x="6158102"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7" name="直線單箭頭接點 36"/>
          <p:cNvCxnSpPr>
            <a:stCxn id="51" idx="2"/>
            <a:endCxn id="62" idx="0"/>
          </p:cNvCxnSpPr>
          <p:nvPr/>
        </p:nvCxnSpPr>
        <p:spPr>
          <a:xfrm rot="5400000">
            <a:off x="6943920"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8" name="直線單箭頭接點 37"/>
          <p:cNvCxnSpPr>
            <a:stCxn id="56" idx="2"/>
            <a:endCxn id="63" idx="0"/>
          </p:cNvCxnSpPr>
          <p:nvPr/>
        </p:nvCxnSpPr>
        <p:spPr>
          <a:xfrm rot="5400000">
            <a:off x="7729738"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5" name="流程圖: 或 44"/>
          <p:cNvSpPr/>
          <p:nvPr/>
        </p:nvSpPr>
        <p:spPr>
          <a:xfrm>
            <a:off x="5357818"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1" name="流程圖: 或 60"/>
          <p:cNvSpPr/>
          <p:nvPr/>
        </p:nvSpPr>
        <p:spPr>
          <a:xfrm>
            <a:off x="6143636"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2" name="流程圖: 或 61"/>
          <p:cNvSpPr/>
          <p:nvPr/>
        </p:nvSpPr>
        <p:spPr>
          <a:xfrm>
            <a:off x="6929454"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3" name="流程圖: 或 62"/>
          <p:cNvSpPr/>
          <p:nvPr/>
        </p:nvSpPr>
        <p:spPr>
          <a:xfrm>
            <a:off x="7715272"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66" name="橢圓 65"/>
          <p:cNvSpPr/>
          <p:nvPr/>
        </p:nvSpPr>
        <p:spPr>
          <a:xfrm>
            <a:off x="5786446" y="3143248"/>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sp>
        <p:nvSpPr>
          <p:cNvPr id="84" name="圓角矩形 83"/>
          <p:cNvSpPr/>
          <p:nvPr/>
        </p:nvSpPr>
        <p:spPr>
          <a:xfrm>
            <a:off x="4857752" y="3714752"/>
            <a:ext cx="500066" cy="357190"/>
          </a:xfrm>
          <a:prstGeom prst="roundRect">
            <a:avLst/>
          </a:prstGeom>
        </p:spPr>
        <p:style>
          <a:lnRef idx="3">
            <a:schemeClr val="lt1"/>
          </a:lnRef>
          <a:fillRef idx="1">
            <a:schemeClr val="accent1"/>
          </a:fillRef>
          <a:effectRef idx="1">
            <a:schemeClr val="accent1"/>
          </a:effectRef>
          <a:fontRef idx="minor">
            <a:schemeClr val="lt1"/>
          </a:fontRef>
        </p:style>
        <p:txBody>
          <a:bodyPr rtlCol="0" anchor="ctr"/>
          <a:lstStyle/>
          <a:p>
            <a:pPr algn="ctr"/>
            <a:r>
              <a:rPr lang="en-US" altLang="zh-TW" dirty="0" smtClean="0">
                <a:latin typeface="Calibri" pitchFamily="34" charset="0"/>
              </a:rPr>
              <a:t>IV</a:t>
            </a:r>
            <a:endParaRPr lang="zh-TW" altLang="en-US" dirty="0">
              <a:latin typeface="Calibri" pitchFamily="34" charset="0"/>
            </a:endParaRPr>
          </a:p>
        </p:txBody>
      </p:sp>
      <p:cxnSp>
        <p:nvCxnSpPr>
          <p:cNvPr id="72" name="直線單箭頭接點 71"/>
          <p:cNvCxnSpPr>
            <a:stCxn id="66" idx="0"/>
            <a:endCxn id="61" idx="3"/>
          </p:cNvCxnSpPr>
          <p:nvPr/>
        </p:nvCxnSpPr>
        <p:spPr>
          <a:xfrm rot="5400000" flipH="1" flipV="1">
            <a:off x="5911463" y="2858766"/>
            <a:ext cx="338061"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7" name="橢圓 86"/>
          <p:cNvSpPr/>
          <p:nvPr/>
        </p:nvSpPr>
        <p:spPr>
          <a:xfrm>
            <a:off x="6572264" y="3143248"/>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89" name="直線單箭頭接點 88"/>
          <p:cNvCxnSpPr>
            <a:stCxn id="87" idx="0"/>
            <a:endCxn id="62" idx="3"/>
          </p:cNvCxnSpPr>
          <p:nvPr/>
        </p:nvCxnSpPr>
        <p:spPr>
          <a:xfrm rot="5400000" flipH="1" flipV="1">
            <a:off x="6697281" y="2858766"/>
            <a:ext cx="338061"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4" name="橢圓 93"/>
          <p:cNvSpPr/>
          <p:nvPr/>
        </p:nvSpPr>
        <p:spPr>
          <a:xfrm>
            <a:off x="7358082" y="3143248"/>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95" name="直線單箭頭接點 94"/>
          <p:cNvCxnSpPr>
            <a:stCxn id="94" idx="0"/>
            <a:endCxn id="63" idx="3"/>
          </p:cNvCxnSpPr>
          <p:nvPr/>
        </p:nvCxnSpPr>
        <p:spPr>
          <a:xfrm rot="5400000" flipH="1" flipV="1">
            <a:off x="7483099" y="2858766"/>
            <a:ext cx="338061"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1" name="橢圓 100"/>
          <p:cNvSpPr/>
          <p:nvPr/>
        </p:nvSpPr>
        <p:spPr>
          <a:xfrm>
            <a:off x="4929190" y="3143248"/>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102" name="直線單箭頭接點 101"/>
          <p:cNvCxnSpPr>
            <a:stCxn id="101" idx="0"/>
            <a:endCxn id="45" idx="3"/>
          </p:cNvCxnSpPr>
          <p:nvPr/>
        </p:nvCxnSpPr>
        <p:spPr>
          <a:xfrm rot="5400000" flipH="1" flipV="1">
            <a:off x="5089926" y="2823047"/>
            <a:ext cx="338061" cy="3023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0" name="直線單箭頭接點 39"/>
          <p:cNvCxnSpPr>
            <a:stCxn id="101" idx="6"/>
            <a:endCxn id="66" idx="2"/>
          </p:cNvCxnSpPr>
          <p:nvPr/>
        </p:nvCxnSpPr>
        <p:spPr>
          <a:xfrm>
            <a:off x="5286380" y="3321843"/>
            <a:ext cx="500066"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2" name="直線單箭頭接點 41"/>
          <p:cNvCxnSpPr>
            <a:stCxn id="66" idx="6"/>
            <a:endCxn id="87" idx="2"/>
          </p:cNvCxnSpPr>
          <p:nvPr/>
        </p:nvCxnSpPr>
        <p:spPr>
          <a:xfrm>
            <a:off x="6143636" y="3321843"/>
            <a:ext cx="42862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4" name="直線單箭頭接點 43"/>
          <p:cNvCxnSpPr>
            <a:stCxn id="87" idx="6"/>
            <a:endCxn id="94" idx="2"/>
          </p:cNvCxnSpPr>
          <p:nvPr/>
        </p:nvCxnSpPr>
        <p:spPr>
          <a:xfrm>
            <a:off x="6929454" y="3321843"/>
            <a:ext cx="42862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0" name="直線單箭頭接點 59"/>
          <p:cNvCxnSpPr>
            <a:stCxn id="84" idx="0"/>
            <a:endCxn id="101" idx="4"/>
          </p:cNvCxnSpPr>
          <p:nvPr/>
        </p:nvCxnSpPr>
        <p:spPr>
          <a:xfrm rot="5400000" flipH="1" flipV="1">
            <a:off x="5000628" y="3607595"/>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smtClean="0"/>
              <a:t>CTR</a:t>
            </a:r>
            <a:endParaRPr lang="zh-TW" altLang="en-US" dirty="0"/>
          </a:p>
        </p:txBody>
      </p:sp>
      <p:sp>
        <p:nvSpPr>
          <p:cNvPr id="4" name="內容版面配置區 3"/>
          <p:cNvSpPr>
            <a:spLocks noGrp="1"/>
          </p:cNvSpPr>
          <p:nvPr>
            <p:ph sz="half" idx="1"/>
          </p:nvPr>
        </p:nvSpPr>
        <p:spPr>
          <a:xfrm>
            <a:off x="285720" y="1285860"/>
            <a:ext cx="4214842" cy="5214974"/>
          </a:xfrm>
        </p:spPr>
        <p:txBody>
          <a:bodyPr>
            <a:normAutofit/>
          </a:bodyPr>
          <a:lstStyle/>
          <a:p>
            <a:r>
              <a:rPr lang="en-US" altLang="zh-TW" dirty="0" smtClean="0"/>
              <a:t>Counter</a:t>
            </a:r>
            <a:r>
              <a:rPr lang="zh-TW" altLang="en-US" dirty="0" smtClean="0"/>
              <a:t> </a:t>
            </a:r>
            <a:r>
              <a:rPr lang="en-US" altLang="zh-TW" dirty="0" smtClean="0"/>
              <a:t>(CTR)</a:t>
            </a:r>
            <a:r>
              <a:rPr lang="zh-TW" altLang="en-US" dirty="0" smtClean="0"/>
              <a:t> 模式又類似</a:t>
            </a:r>
            <a:r>
              <a:rPr lang="en-US" altLang="zh-TW" dirty="0" smtClean="0"/>
              <a:t>OFB</a:t>
            </a:r>
            <a:r>
              <a:rPr lang="zh-TW" altLang="en-US" dirty="0" smtClean="0"/>
              <a:t>，只是與每塊原文做</a:t>
            </a:r>
            <a:r>
              <a:rPr lang="en-US" altLang="zh-TW" dirty="0" smtClean="0"/>
              <a:t>XOR</a:t>
            </a:r>
            <a:r>
              <a:rPr lang="zh-TW" altLang="en-US" dirty="0" smtClean="0"/>
              <a:t>的是</a:t>
            </a:r>
            <a:r>
              <a:rPr lang="zh-TW" altLang="en-US" dirty="0" smtClean="0">
                <a:solidFill>
                  <a:srgbClr val="0000FF"/>
                </a:solidFill>
              </a:rPr>
              <a:t>由計數器 </a:t>
            </a:r>
            <a:r>
              <a:rPr lang="en-US" altLang="zh-TW" dirty="0" smtClean="0">
                <a:solidFill>
                  <a:srgbClr val="0000FF"/>
                </a:solidFill>
              </a:rPr>
              <a:t>(counter)</a:t>
            </a:r>
            <a:r>
              <a:rPr lang="zh-TW" altLang="en-US" dirty="0" smtClean="0">
                <a:solidFill>
                  <a:srgbClr val="0000FF"/>
                </a:solidFill>
              </a:rPr>
              <a:t>產生的新</a:t>
            </a:r>
            <a:r>
              <a:rPr lang="en-US" altLang="zh-TW" dirty="0" smtClean="0">
                <a:solidFill>
                  <a:srgbClr val="0000FF"/>
                </a:solidFill>
              </a:rPr>
              <a:t>IV</a:t>
            </a:r>
            <a:r>
              <a:rPr lang="zh-TW" altLang="en-US" dirty="0" smtClean="0">
                <a:solidFill>
                  <a:srgbClr val="FF0000"/>
                </a:solidFill>
              </a:rPr>
              <a:t>以對稱金鑰加密後的值</a:t>
            </a:r>
            <a:r>
              <a:rPr lang="zh-TW" altLang="en-US" dirty="0" smtClean="0"/>
              <a:t>。</a:t>
            </a:r>
            <a:endParaRPr lang="en-US" altLang="zh-TW" dirty="0" smtClean="0"/>
          </a:p>
          <a:p>
            <a:r>
              <a:rPr lang="en-US" altLang="zh-TW" dirty="0" smtClean="0"/>
              <a:t>CTR</a:t>
            </a:r>
            <a:r>
              <a:rPr lang="zh-TW" altLang="en-US" dirty="0" smtClean="0"/>
              <a:t>當然也是一次性密碼本的觀念。但每一區塊所需的密碼都是獨立產生，因此整本密碼本都可以一次先算出來。</a:t>
            </a:r>
            <a:endParaRPr lang="en-US" altLang="zh-TW" dirty="0" smtClean="0"/>
          </a:p>
          <a:p>
            <a:r>
              <a:rPr lang="en-US" altLang="zh-TW" dirty="0" smtClean="0"/>
              <a:t>CTR</a:t>
            </a:r>
            <a:r>
              <a:rPr lang="zh-TW" altLang="en-US" dirty="0" smtClean="0"/>
              <a:t>可以做到完全的平行運算，且擁有許多其它模式的好處。它的風險在</a:t>
            </a:r>
            <a:r>
              <a:rPr lang="en-US" altLang="zh-TW" dirty="0" smtClean="0"/>
              <a:t>counter</a:t>
            </a:r>
            <a:r>
              <a:rPr lang="zh-TW" altLang="en-US" dirty="0" smtClean="0"/>
              <a:t>的設計，若過度呆板、可預料，那麼</a:t>
            </a:r>
            <a:r>
              <a:rPr lang="en-US" altLang="zh-TW" dirty="0" smtClean="0"/>
              <a:t>CTR</a:t>
            </a:r>
            <a:r>
              <a:rPr lang="zh-TW" altLang="en-US" dirty="0" smtClean="0"/>
              <a:t>又與最基本的</a:t>
            </a:r>
            <a:r>
              <a:rPr lang="en-US" altLang="zh-TW" dirty="0" smtClean="0"/>
              <a:t>ECB</a:t>
            </a:r>
            <a:r>
              <a:rPr lang="zh-TW" altLang="en-US" dirty="0" smtClean="0"/>
              <a:t>類似了。</a:t>
            </a:r>
            <a:endParaRPr lang="en-US" altLang="zh-TW" dirty="0" smtClean="0"/>
          </a:p>
        </p:txBody>
      </p:sp>
      <p:sp>
        <p:nvSpPr>
          <p:cNvPr id="39" name="矩形 38"/>
          <p:cNvSpPr/>
          <p:nvPr/>
        </p:nvSpPr>
        <p:spPr>
          <a:xfrm>
            <a:off x="4714876" y="1357298"/>
            <a:ext cx="3643338" cy="3786214"/>
          </a:xfrm>
          <a:prstGeom prst="rect">
            <a:avLst/>
          </a:prstGeom>
          <a:solidFill>
            <a:srgbClr val="FF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41" name="流程圖: 文件 40"/>
          <p:cNvSpPr/>
          <p:nvPr/>
        </p:nvSpPr>
        <p:spPr>
          <a:xfrm>
            <a:off x="5214942"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B1</a:t>
            </a:r>
            <a:endParaRPr lang="zh-TW" altLang="en-US" dirty="0">
              <a:latin typeface="Calibri" pitchFamily="34" charset="0"/>
            </a:endParaRPr>
          </a:p>
        </p:txBody>
      </p:sp>
      <p:sp>
        <p:nvSpPr>
          <p:cNvPr id="43" name="矩形 42"/>
          <p:cNvSpPr/>
          <p:nvPr/>
        </p:nvSpPr>
        <p:spPr>
          <a:xfrm>
            <a:off x="5214942" y="4357694"/>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C1</a:t>
            </a:r>
            <a:endParaRPr lang="zh-TW" altLang="en-US" dirty="0">
              <a:latin typeface="Calibri" pitchFamily="34" charset="0"/>
            </a:endParaRPr>
          </a:p>
        </p:txBody>
      </p:sp>
      <p:cxnSp>
        <p:nvCxnSpPr>
          <p:cNvPr id="47" name="直線單箭頭接點 46"/>
          <p:cNvCxnSpPr>
            <a:stCxn id="74" idx="4"/>
            <a:endCxn id="43" idx="0"/>
          </p:cNvCxnSpPr>
          <p:nvPr/>
        </p:nvCxnSpPr>
        <p:spPr>
          <a:xfrm rot="5400000">
            <a:off x="4786314" y="3607595"/>
            <a:ext cx="150019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0" name="流程圖: 文件 49"/>
          <p:cNvSpPr/>
          <p:nvPr/>
        </p:nvSpPr>
        <p:spPr>
          <a:xfrm>
            <a:off x="6000760"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B2</a:t>
            </a:r>
            <a:endParaRPr lang="zh-TW" altLang="en-US" dirty="0">
              <a:latin typeface="Calibri" pitchFamily="34" charset="0"/>
            </a:endParaRPr>
          </a:p>
        </p:txBody>
      </p:sp>
      <p:sp>
        <p:nvSpPr>
          <p:cNvPr id="52" name="矩形 51"/>
          <p:cNvSpPr/>
          <p:nvPr/>
        </p:nvSpPr>
        <p:spPr>
          <a:xfrm>
            <a:off x="6000760" y="4357694"/>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C2</a:t>
            </a:r>
            <a:endParaRPr lang="zh-TW" altLang="en-US" dirty="0">
              <a:latin typeface="Calibri" pitchFamily="34" charset="0"/>
            </a:endParaRPr>
          </a:p>
        </p:txBody>
      </p:sp>
      <p:cxnSp>
        <p:nvCxnSpPr>
          <p:cNvPr id="55" name="直線單箭頭接點 54"/>
          <p:cNvCxnSpPr>
            <a:stCxn id="75" idx="4"/>
            <a:endCxn id="52" idx="0"/>
          </p:cNvCxnSpPr>
          <p:nvPr/>
        </p:nvCxnSpPr>
        <p:spPr>
          <a:xfrm rot="5400000">
            <a:off x="5572132" y="3607595"/>
            <a:ext cx="150019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7" name="流程圖: 文件 56"/>
          <p:cNvSpPr/>
          <p:nvPr/>
        </p:nvSpPr>
        <p:spPr>
          <a:xfrm>
            <a:off x="6786578"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B3</a:t>
            </a:r>
            <a:endParaRPr lang="zh-TW" altLang="en-US" dirty="0">
              <a:latin typeface="Calibri" pitchFamily="34" charset="0"/>
            </a:endParaRPr>
          </a:p>
        </p:txBody>
      </p:sp>
      <p:sp>
        <p:nvSpPr>
          <p:cNvPr id="60" name="矩形 59"/>
          <p:cNvSpPr/>
          <p:nvPr/>
        </p:nvSpPr>
        <p:spPr>
          <a:xfrm>
            <a:off x="6786578" y="4357694"/>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C3</a:t>
            </a:r>
            <a:endParaRPr lang="zh-TW" altLang="en-US" dirty="0">
              <a:latin typeface="Calibri" pitchFamily="34" charset="0"/>
            </a:endParaRPr>
          </a:p>
        </p:txBody>
      </p:sp>
      <p:cxnSp>
        <p:nvCxnSpPr>
          <p:cNvPr id="64" name="直線單箭頭接點 63"/>
          <p:cNvCxnSpPr>
            <a:stCxn id="76" idx="4"/>
            <a:endCxn id="60" idx="0"/>
          </p:cNvCxnSpPr>
          <p:nvPr/>
        </p:nvCxnSpPr>
        <p:spPr>
          <a:xfrm rot="5400000">
            <a:off x="6357950" y="3607595"/>
            <a:ext cx="150019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5" name="流程圖: 文件 64"/>
          <p:cNvSpPr/>
          <p:nvPr/>
        </p:nvSpPr>
        <p:spPr>
          <a:xfrm>
            <a:off x="7572396" y="1571612"/>
            <a:ext cx="642942" cy="642942"/>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B4</a:t>
            </a:r>
            <a:endParaRPr lang="zh-TW" altLang="en-US" dirty="0">
              <a:latin typeface="Calibri" pitchFamily="34" charset="0"/>
            </a:endParaRPr>
          </a:p>
        </p:txBody>
      </p:sp>
      <p:sp>
        <p:nvSpPr>
          <p:cNvPr id="67" name="矩形 66"/>
          <p:cNvSpPr/>
          <p:nvPr/>
        </p:nvSpPr>
        <p:spPr>
          <a:xfrm>
            <a:off x="7572396" y="4357694"/>
            <a:ext cx="642942" cy="5715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C4</a:t>
            </a:r>
            <a:endParaRPr lang="zh-TW" altLang="en-US" dirty="0">
              <a:latin typeface="Calibri" pitchFamily="34" charset="0"/>
            </a:endParaRPr>
          </a:p>
        </p:txBody>
      </p:sp>
      <p:cxnSp>
        <p:nvCxnSpPr>
          <p:cNvPr id="68" name="直線單箭頭接點 67"/>
          <p:cNvCxnSpPr>
            <a:stCxn id="77" idx="4"/>
            <a:endCxn id="67" idx="0"/>
          </p:cNvCxnSpPr>
          <p:nvPr/>
        </p:nvCxnSpPr>
        <p:spPr>
          <a:xfrm rot="5400000">
            <a:off x="7143768" y="3607595"/>
            <a:ext cx="150019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9" name="直線單箭頭接點 68"/>
          <p:cNvCxnSpPr>
            <a:stCxn id="41" idx="2"/>
            <a:endCxn id="74" idx="0"/>
          </p:cNvCxnSpPr>
          <p:nvPr/>
        </p:nvCxnSpPr>
        <p:spPr>
          <a:xfrm rot="5400000">
            <a:off x="5372284"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0" name="直線單箭頭接點 69"/>
          <p:cNvCxnSpPr>
            <a:stCxn id="50" idx="2"/>
            <a:endCxn id="75" idx="0"/>
          </p:cNvCxnSpPr>
          <p:nvPr/>
        </p:nvCxnSpPr>
        <p:spPr>
          <a:xfrm rot="5400000">
            <a:off x="6158102"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1" name="直線單箭頭接點 70"/>
          <p:cNvCxnSpPr>
            <a:stCxn id="57" idx="2"/>
            <a:endCxn id="76" idx="0"/>
          </p:cNvCxnSpPr>
          <p:nvPr/>
        </p:nvCxnSpPr>
        <p:spPr>
          <a:xfrm rot="5400000">
            <a:off x="6943920"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3" name="直線單箭頭接點 72"/>
          <p:cNvCxnSpPr>
            <a:stCxn id="65" idx="2"/>
            <a:endCxn id="77" idx="0"/>
          </p:cNvCxnSpPr>
          <p:nvPr/>
        </p:nvCxnSpPr>
        <p:spPr>
          <a:xfrm rot="5400000">
            <a:off x="7729738" y="2336177"/>
            <a:ext cx="32825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74" name="流程圖: 或 73"/>
          <p:cNvSpPr/>
          <p:nvPr/>
        </p:nvSpPr>
        <p:spPr>
          <a:xfrm>
            <a:off x="5357818"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75" name="流程圖: 或 74"/>
          <p:cNvSpPr/>
          <p:nvPr/>
        </p:nvSpPr>
        <p:spPr>
          <a:xfrm>
            <a:off x="6143636"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76" name="流程圖: 或 75"/>
          <p:cNvSpPr/>
          <p:nvPr/>
        </p:nvSpPr>
        <p:spPr>
          <a:xfrm>
            <a:off x="6929454"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77" name="流程圖: 或 76"/>
          <p:cNvSpPr/>
          <p:nvPr/>
        </p:nvSpPr>
        <p:spPr>
          <a:xfrm>
            <a:off x="7715272" y="2500306"/>
            <a:ext cx="357190" cy="357190"/>
          </a:xfrm>
          <a:prstGeom prst="flowChartOr">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a:latin typeface="Calibri" pitchFamily="34" charset="0"/>
            </a:endParaRPr>
          </a:p>
        </p:txBody>
      </p:sp>
      <p:sp>
        <p:nvSpPr>
          <p:cNvPr id="78" name="橢圓 77"/>
          <p:cNvSpPr/>
          <p:nvPr/>
        </p:nvSpPr>
        <p:spPr>
          <a:xfrm>
            <a:off x="5786446" y="3143248"/>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80" name="直線單箭頭接點 79"/>
          <p:cNvCxnSpPr>
            <a:stCxn id="78" idx="0"/>
            <a:endCxn id="75" idx="3"/>
          </p:cNvCxnSpPr>
          <p:nvPr/>
        </p:nvCxnSpPr>
        <p:spPr>
          <a:xfrm rot="5400000" flipH="1" flipV="1">
            <a:off x="5911463" y="2858766"/>
            <a:ext cx="338061"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1" name="橢圓 80"/>
          <p:cNvSpPr/>
          <p:nvPr/>
        </p:nvSpPr>
        <p:spPr>
          <a:xfrm>
            <a:off x="6572264" y="3143248"/>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82" name="直線單箭頭接點 81"/>
          <p:cNvCxnSpPr>
            <a:stCxn id="81" idx="0"/>
            <a:endCxn id="76" idx="3"/>
          </p:cNvCxnSpPr>
          <p:nvPr/>
        </p:nvCxnSpPr>
        <p:spPr>
          <a:xfrm rot="5400000" flipH="1" flipV="1">
            <a:off x="6697281" y="2858766"/>
            <a:ext cx="338061"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3" name="橢圓 82"/>
          <p:cNvSpPr/>
          <p:nvPr/>
        </p:nvSpPr>
        <p:spPr>
          <a:xfrm>
            <a:off x="7358082" y="3143248"/>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85" name="直線單箭頭接點 84"/>
          <p:cNvCxnSpPr>
            <a:stCxn id="83" idx="0"/>
            <a:endCxn id="77" idx="3"/>
          </p:cNvCxnSpPr>
          <p:nvPr/>
        </p:nvCxnSpPr>
        <p:spPr>
          <a:xfrm rot="5400000" flipH="1" flipV="1">
            <a:off x="7483099" y="2858766"/>
            <a:ext cx="338061" cy="2309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6" name="橢圓 85"/>
          <p:cNvSpPr/>
          <p:nvPr/>
        </p:nvSpPr>
        <p:spPr>
          <a:xfrm>
            <a:off x="4929190" y="3143248"/>
            <a:ext cx="357190" cy="35719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latin typeface="Calibri" pitchFamily="34" charset="0"/>
              </a:rPr>
              <a:t>E</a:t>
            </a:r>
            <a:endParaRPr lang="zh-TW" altLang="en-US" dirty="0">
              <a:latin typeface="Calibri" pitchFamily="34" charset="0"/>
            </a:endParaRPr>
          </a:p>
        </p:txBody>
      </p:sp>
      <p:cxnSp>
        <p:nvCxnSpPr>
          <p:cNvPr id="88" name="直線單箭頭接點 87"/>
          <p:cNvCxnSpPr>
            <a:stCxn id="86" idx="0"/>
            <a:endCxn id="74" idx="3"/>
          </p:cNvCxnSpPr>
          <p:nvPr/>
        </p:nvCxnSpPr>
        <p:spPr>
          <a:xfrm rot="5400000" flipH="1" flipV="1">
            <a:off x="5089926" y="2823047"/>
            <a:ext cx="338061" cy="3023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3" name="直線單箭頭接點 92"/>
          <p:cNvCxnSpPr>
            <a:stCxn id="111" idx="0"/>
            <a:endCxn id="86" idx="4"/>
          </p:cNvCxnSpPr>
          <p:nvPr/>
        </p:nvCxnSpPr>
        <p:spPr>
          <a:xfrm rot="5400000" flipH="1" flipV="1">
            <a:off x="5000628" y="3607595"/>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6" name="圓角矩形 95"/>
          <p:cNvSpPr/>
          <p:nvPr/>
        </p:nvSpPr>
        <p:spPr>
          <a:xfrm>
            <a:off x="5643570" y="3713958"/>
            <a:ext cx="642942" cy="357190"/>
          </a:xfrm>
          <a:prstGeom prst="roundRect">
            <a:avLst/>
          </a:prstGeom>
        </p:spPr>
        <p:style>
          <a:lnRef idx="3">
            <a:schemeClr val="lt1"/>
          </a:lnRef>
          <a:fillRef idx="1">
            <a:schemeClr val="accent1"/>
          </a:fillRef>
          <a:effectRef idx="1">
            <a:schemeClr val="accent1"/>
          </a:effectRef>
          <a:fontRef idx="minor">
            <a:schemeClr val="lt1"/>
          </a:fontRef>
        </p:style>
        <p:txBody>
          <a:bodyPr rtlCol="0" anchor="ctr"/>
          <a:lstStyle/>
          <a:p>
            <a:pPr algn="ctr"/>
            <a:r>
              <a:rPr lang="en-US" altLang="zh-TW" sz="1100" dirty="0" smtClean="0">
                <a:latin typeface="Calibri" pitchFamily="34" charset="0"/>
              </a:rPr>
              <a:t>CTR+1</a:t>
            </a:r>
            <a:endParaRPr lang="zh-TW" altLang="en-US" sz="1100" dirty="0">
              <a:latin typeface="Calibri" pitchFamily="34" charset="0"/>
            </a:endParaRPr>
          </a:p>
        </p:txBody>
      </p:sp>
      <p:cxnSp>
        <p:nvCxnSpPr>
          <p:cNvPr id="97" name="直線單箭頭接點 96"/>
          <p:cNvCxnSpPr>
            <a:stCxn id="96" idx="0"/>
            <a:endCxn id="78" idx="4"/>
          </p:cNvCxnSpPr>
          <p:nvPr/>
        </p:nvCxnSpPr>
        <p:spPr>
          <a:xfrm rot="5400000" flipH="1" flipV="1">
            <a:off x="5858281" y="3607198"/>
            <a:ext cx="21352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9" name="直線單箭頭接點 98"/>
          <p:cNvCxnSpPr>
            <a:stCxn id="112" idx="0"/>
            <a:endCxn id="81" idx="4"/>
          </p:cNvCxnSpPr>
          <p:nvPr/>
        </p:nvCxnSpPr>
        <p:spPr>
          <a:xfrm rot="5400000" flipH="1" flipV="1">
            <a:off x="6643702" y="3607595"/>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03" name="直線單箭頭接點 102"/>
          <p:cNvCxnSpPr>
            <a:stCxn id="113" idx="0"/>
            <a:endCxn id="83" idx="4"/>
          </p:cNvCxnSpPr>
          <p:nvPr/>
        </p:nvCxnSpPr>
        <p:spPr>
          <a:xfrm rot="5400000" flipH="1" flipV="1">
            <a:off x="7429520" y="3607595"/>
            <a:ext cx="21431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1" name="圓角矩形 110"/>
          <p:cNvSpPr/>
          <p:nvPr/>
        </p:nvSpPr>
        <p:spPr>
          <a:xfrm>
            <a:off x="4786314" y="3714752"/>
            <a:ext cx="642942" cy="357190"/>
          </a:xfrm>
          <a:prstGeom prst="roundRect">
            <a:avLst/>
          </a:prstGeom>
        </p:spPr>
        <p:style>
          <a:lnRef idx="3">
            <a:schemeClr val="lt1"/>
          </a:lnRef>
          <a:fillRef idx="1">
            <a:schemeClr val="accent1"/>
          </a:fillRef>
          <a:effectRef idx="1">
            <a:schemeClr val="accent1"/>
          </a:effectRef>
          <a:fontRef idx="minor">
            <a:schemeClr val="lt1"/>
          </a:fontRef>
        </p:style>
        <p:txBody>
          <a:bodyPr rtlCol="0" anchor="ctr"/>
          <a:lstStyle/>
          <a:p>
            <a:pPr algn="ctr"/>
            <a:r>
              <a:rPr lang="en-US" altLang="zh-TW" sz="1100" dirty="0" smtClean="0">
                <a:latin typeface="Calibri" pitchFamily="34" charset="0"/>
              </a:rPr>
              <a:t>CTR</a:t>
            </a:r>
            <a:endParaRPr lang="zh-TW" altLang="en-US" sz="1100" dirty="0">
              <a:latin typeface="Calibri" pitchFamily="34" charset="0"/>
            </a:endParaRPr>
          </a:p>
        </p:txBody>
      </p:sp>
      <p:sp>
        <p:nvSpPr>
          <p:cNvPr id="112" name="圓角矩形 111"/>
          <p:cNvSpPr/>
          <p:nvPr/>
        </p:nvSpPr>
        <p:spPr>
          <a:xfrm>
            <a:off x="6429388" y="3714752"/>
            <a:ext cx="642942" cy="357190"/>
          </a:xfrm>
          <a:prstGeom prst="roundRect">
            <a:avLst/>
          </a:prstGeom>
        </p:spPr>
        <p:style>
          <a:lnRef idx="3">
            <a:schemeClr val="lt1"/>
          </a:lnRef>
          <a:fillRef idx="1">
            <a:schemeClr val="accent1"/>
          </a:fillRef>
          <a:effectRef idx="1">
            <a:schemeClr val="accent1"/>
          </a:effectRef>
          <a:fontRef idx="minor">
            <a:schemeClr val="lt1"/>
          </a:fontRef>
        </p:style>
        <p:txBody>
          <a:bodyPr rtlCol="0" anchor="ctr"/>
          <a:lstStyle/>
          <a:p>
            <a:pPr algn="ctr"/>
            <a:r>
              <a:rPr lang="en-US" altLang="zh-TW" sz="1100" dirty="0" smtClean="0">
                <a:latin typeface="Calibri" pitchFamily="34" charset="0"/>
              </a:rPr>
              <a:t>CTR+2</a:t>
            </a:r>
            <a:endParaRPr lang="zh-TW" altLang="en-US" sz="1100" dirty="0">
              <a:latin typeface="Calibri" pitchFamily="34" charset="0"/>
            </a:endParaRPr>
          </a:p>
        </p:txBody>
      </p:sp>
      <p:sp>
        <p:nvSpPr>
          <p:cNvPr id="113" name="圓角矩形 112"/>
          <p:cNvSpPr/>
          <p:nvPr/>
        </p:nvSpPr>
        <p:spPr>
          <a:xfrm>
            <a:off x="7215206" y="3714752"/>
            <a:ext cx="642942" cy="357190"/>
          </a:xfrm>
          <a:prstGeom prst="roundRect">
            <a:avLst/>
          </a:prstGeom>
        </p:spPr>
        <p:style>
          <a:lnRef idx="3">
            <a:schemeClr val="lt1"/>
          </a:lnRef>
          <a:fillRef idx="1">
            <a:schemeClr val="accent1"/>
          </a:fillRef>
          <a:effectRef idx="1">
            <a:schemeClr val="accent1"/>
          </a:effectRef>
          <a:fontRef idx="minor">
            <a:schemeClr val="lt1"/>
          </a:fontRef>
        </p:style>
        <p:txBody>
          <a:bodyPr rtlCol="0" anchor="ctr"/>
          <a:lstStyle/>
          <a:p>
            <a:pPr algn="ctr"/>
            <a:r>
              <a:rPr lang="en-US" altLang="zh-TW" sz="1100" dirty="0" smtClean="0">
                <a:latin typeface="Calibri" pitchFamily="34" charset="0"/>
              </a:rPr>
              <a:t>CTR+3</a:t>
            </a:r>
            <a:endParaRPr lang="zh-TW" altLang="en-US" sz="1100" dirty="0">
              <a:latin typeface="Calibri"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smtClean="0">
                <a:solidFill>
                  <a:srgbClr val="FF0000"/>
                </a:solidFill>
              </a:rPr>
              <a:t>Triple DES</a:t>
            </a:r>
            <a:endParaRPr lang="zh-TW" altLang="en-US" dirty="0">
              <a:solidFill>
                <a:srgbClr val="FF0000"/>
              </a:solidFill>
            </a:endParaRPr>
          </a:p>
        </p:txBody>
      </p:sp>
      <p:sp>
        <p:nvSpPr>
          <p:cNvPr id="4" name="內容版面配置區 3"/>
          <p:cNvSpPr>
            <a:spLocks noGrp="1"/>
          </p:cNvSpPr>
          <p:nvPr>
            <p:ph sz="half" idx="1"/>
          </p:nvPr>
        </p:nvSpPr>
        <p:spPr>
          <a:xfrm>
            <a:off x="285720" y="1285860"/>
            <a:ext cx="3638208" cy="5286412"/>
          </a:xfrm>
        </p:spPr>
        <p:txBody>
          <a:bodyPr>
            <a:normAutofit/>
          </a:bodyPr>
          <a:lstStyle/>
          <a:p>
            <a:r>
              <a:rPr lang="en-US" altLang="zh-TW" dirty="0" smtClean="0"/>
              <a:t>Triple DES (TDES </a:t>
            </a:r>
            <a:r>
              <a:rPr lang="zh-TW" altLang="en-US" dirty="0" smtClean="0"/>
              <a:t>或稱 </a:t>
            </a:r>
            <a:r>
              <a:rPr lang="en-US" altLang="zh-TW" dirty="0" smtClean="0">
                <a:solidFill>
                  <a:srgbClr val="FF0000"/>
                </a:solidFill>
              </a:rPr>
              <a:t>3DES</a:t>
            </a:r>
            <a:r>
              <a:rPr lang="en-US" altLang="zh-TW" dirty="0" smtClean="0"/>
              <a:t>)</a:t>
            </a:r>
            <a:r>
              <a:rPr lang="zh-TW" altLang="en-US" dirty="0" smtClean="0"/>
              <a:t>是將標準的</a:t>
            </a:r>
            <a:r>
              <a:rPr lang="en-US" altLang="zh-TW" dirty="0" smtClean="0"/>
              <a:t>DES</a:t>
            </a:r>
            <a:r>
              <a:rPr lang="zh-TW" altLang="en-US" dirty="0" smtClean="0"/>
              <a:t>運算三次，</a:t>
            </a:r>
            <a:r>
              <a:rPr lang="zh-TW" altLang="en-US" dirty="0" smtClean="0">
                <a:solidFill>
                  <a:srgbClr val="FF0000"/>
                </a:solidFill>
              </a:rPr>
              <a:t>每次使用不同的金鑰</a:t>
            </a:r>
            <a:r>
              <a:rPr lang="zh-TW" altLang="en-US" dirty="0" smtClean="0"/>
              <a:t>。其目的在解決</a:t>
            </a:r>
            <a:r>
              <a:rPr lang="en-US" altLang="zh-TW" dirty="0" smtClean="0"/>
              <a:t>56-bit</a:t>
            </a:r>
            <a:r>
              <a:rPr lang="zh-TW" altLang="en-US" dirty="0" smtClean="0"/>
              <a:t>金鑰長度不足的問題。</a:t>
            </a:r>
            <a:endParaRPr lang="en-US" altLang="zh-TW" dirty="0" smtClean="0"/>
          </a:p>
          <a:p>
            <a:r>
              <a:rPr lang="en-US" altLang="zh-TW" dirty="0" smtClean="0">
                <a:solidFill>
                  <a:srgbClr val="0000FF"/>
                </a:solidFill>
              </a:rPr>
              <a:t>TDES</a:t>
            </a:r>
            <a:r>
              <a:rPr lang="zh-TW" altLang="en-US" dirty="0" smtClean="0">
                <a:solidFill>
                  <a:srgbClr val="0000FF"/>
                </a:solidFill>
              </a:rPr>
              <a:t>已使用近三十年，正逐步被</a:t>
            </a:r>
            <a:r>
              <a:rPr lang="en-US" altLang="zh-TW" dirty="0" smtClean="0">
                <a:solidFill>
                  <a:srgbClr val="0000FF"/>
                </a:solidFill>
              </a:rPr>
              <a:t>AES</a:t>
            </a:r>
            <a:r>
              <a:rPr lang="zh-TW" altLang="en-US" dirty="0" smtClean="0">
                <a:solidFill>
                  <a:srgbClr val="0000FF"/>
                </a:solidFill>
              </a:rPr>
              <a:t>取代。</a:t>
            </a:r>
            <a:endParaRPr lang="en-US" altLang="zh-TW" dirty="0" smtClean="0">
              <a:solidFill>
                <a:srgbClr val="0000FF"/>
              </a:solidFill>
            </a:endParaRPr>
          </a:p>
          <a:p>
            <a:r>
              <a:rPr lang="en-US" altLang="zh-TW" dirty="0" smtClean="0">
                <a:solidFill>
                  <a:srgbClr val="FF0000"/>
                </a:solidFill>
              </a:rPr>
              <a:t>TDES</a:t>
            </a:r>
            <a:r>
              <a:rPr lang="zh-TW" altLang="en-US" dirty="0" smtClean="0">
                <a:solidFill>
                  <a:srgbClr val="FF0000"/>
                </a:solidFill>
              </a:rPr>
              <a:t>的金鑰長度為</a:t>
            </a:r>
            <a:r>
              <a:rPr lang="en-US" altLang="zh-TW" dirty="0" smtClean="0">
                <a:solidFill>
                  <a:srgbClr val="FF0000"/>
                </a:solidFill>
              </a:rPr>
              <a:t>168</a:t>
            </a:r>
            <a:r>
              <a:rPr lang="zh-TW" altLang="en-US" dirty="0" smtClean="0">
                <a:solidFill>
                  <a:srgbClr val="FF0000"/>
                </a:solidFill>
              </a:rPr>
              <a:t>位元</a:t>
            </a:r>
            <a:r>
              <a:rPr lang="en-US" altLang="zh-TW" dirty="0" smtClean="0"/>
              <a:t>(3X56)</a:t>
            </a:r>
            <a:r>
              <a:rPr lang="zh-TW" altLang="en-US" dirty="0" smtClean="0"/>
              <a:t>，但安全強度約當</a:t>
            </a:r>
            <a:r>
              <a:rPr lang="en-US" altLang="zh-TW" dirty="0" smtClean="0"/>
              <a:t>112</a:t>
            </a:r>
            <a:r>
              <a:rPr lang="zh-TW" altLang="en-US" dirty="0" smtClean="0"/>
              <a:t>位元。</a:t>
            </a:r>
            <a:endParaRPr lang="en-US" altLang="zh-TW" dirty="0" smtClean="0"/>
          </a:p>
        </p:txBody>
      </p:sp>
      <p:grpSp>
        <p:nvGrpSpPr>
          <p:cNvPr id="2" name="群組 177"/>
          <p:cNvGrpSpPr/>
          <p:nvPr/>
        </p:nvGrpSpPr>
        <p:grpSpPr>
          <a:xfrm>
            <a:off x="4529062" y="1428736"/>
            <a:ext cx="3643338" cy="4714908"/>
            <a:chOff x="4786314" y="1428736"/>
            <a:chExt cx="3643338" cy="4714908"/>
          </a:xfrm>
        </p:grpSpPr>
        <p:sp>
          <p:nvSpPr>
            <p:cNvPr id="59" name="矩形 58"/>
            <p:cNvSpPr/>
            <p:nvPr/>
          </p:nvSpPr>
          <p:spPr>
            <a:xfrm>
              <a:off x="4857752" y="2500306"/>
              <a:ext cx="857256" cy="2714644"/>
            </a:xfrm>
            <a:prstGeom prst="rect">
              <a:avLst/>
            </a:prstGeom>
            <a:solidFill>
              <a:srgbClr val="FFFFCC"/>
            </a:solidFill>
            <a:ln>
              <a:solidFill>
                <a:srgbClr val="9F37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7" name="矩形 6"/>
            <p:cNvSpPr/>
            <p:nvPr/>
          </p:nvSpPr>
          <p:spPr>
            <a:xfrm>
              <a:off x="4911331" y="2600848"/>
              <a:ext cx="750099" cy="1675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dirty="0" smtClean="0">
                  <a:latin typeface="Calibri" pitchFamily="34" charset="0"/>
                </a:rPr>
                <a:t>IP</a:t>
              </a:r>
              <a:endParaRPr lang="zh-TW" altLang="en-US" sz="1400" dirty="0">
                <a:latin typeface="Calibri" pitchFamily="34" charset="0"/>
              </a:endParaRPr>
            </a:p>
          </p:txBody>
        </p:sp>
        <p:sp>
          <p:nvSpPr>
            <p:cNvPr id="8" name="矩形 7"/>
            <p:cNvSpPr/>
            <p:nvPr/>
          </p:nvSpPr>
          <p:spPr>
            <a:xfrm>
              <a:off x="5105800" y="2868961"/>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9" name="矩形 8"/>
            <p:cNvSpPr/>
            <p:nvPr/>
          </p:nvSpPr>
          <p:spPr>
            <a:xfrm>
              <a:off x="5105800" y="3304645"/>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10" name="流程圖: 或 9"/>
            <p:cNvSpPr/>
            <p:nvPr/>
          </p:nvSpPr>
          <p:spPr>
            <a:xfrm>
              <a:off x="4911331" y="2902476"/>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sp>
          <p:nvSpPr>
            <p:cNvPr id="11" name="流程圖: 或 10"/>
            <p:cNvSpPr/>
            <p:nvPr/>
          </p:nvSpPr>
          <p:spPr>
            <a:xfrm>
              <a:off x="4911331" y="3338159"/>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cxnSp>
          <p:nvCxnSpPr>
            <p:cNvPr id="12" name="直線單箭頭接點 11"/>
            <p:cNvCxnSpPr>
              <a:endCxn id="10" idx="0"/>
            </p:cNvCxnSpPr>
            <p:nvPr/>
          </p:nvCxnSpPr>
          <p:spPr>
            <a:xfrm rot="5400000">
              <a:off x="4899865" y="2835511"/>
              <a:ext cx="134056"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 name="直線接點 12"/>
            <p:cNvCxnSpPr/>
            <p:nvPr/>
          </p:nvCxnSpPr>
          <p:spPr>
            <a:xfrm rot="5400000">
              <a:off x="5437987" y="2936053"/>
              <a:ext cx="335141"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直線接點 13"/>
            <p:cNvCxnSpPr/>
            <p:nvPr/>
          </p:nvCxnSpPr>
          <p:spPr>
            <a:xfrm rot="10800000" flipV="1">
              <a:off x="4966894" y="3103560"/>
              <a:ext cx="638973"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直線單箭頭接點 14"/>
            <p:cNvCxnSpPr>
              <a:endCxn id="11" idx="0"/>
            </p:cNvCxnSpPr>
            <p:nvPr/>
          </p:nvCxnSpPr>
          <p:spPr>
            <a:xfrm rot="5400000">
              <a:off x="4916622" y="3287952"/>
              <a:ext cx="100542"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線單箭頭接點 15"/>
            <p:cNvCxnSpPr>
              <a:endCxn id="8" idx="3"/>
            </p:cNvCxnSpPr>
            <p:nvPr/>
          </p:nvCxnSpPr>
          <p:spPr>
            <a:xfrm rot="10800000">
              <a:off x="5439178" y="2969504"/>
              <a:ext cx="166689"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 name="直線單箭頭接點 16"/>
            <p:cNvCxnSpPr>
              <a:stCxn id="8" idx="1"/>
              <a:endCxn id="10" idx="6"/>
            </p:cNvCxnSpPr>
            <p:nvPr/>
          </p:nvCxnSpPr>
          <p:spPr>
            <a:xfrm rot="10800000">
              <a:off x="5022457" y="2969504"/>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 name="直線接點 17"/>
            <p:cNvCxnSpPr>
              <a:stCxn id="10" idx="4"/>
            </p:cNvCxnSpPr>
            <p:nvPr/>
          </p:nvCxnSpPr>
          <p:spPr>
            <a:xfrm rot="5400000">
              <a:off x="4933379" y="3070110"/>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直線接點 18"/>
            <p:cNvCxnSpPr/>
            <p:nvPr/>
          </p:nvCxnSpPr>
          <p:spPr>
            <a:xfrm>
              <a:off x="4966894" y="3539244"/>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直線接點 19"/>
            <p:cNvCxnSpPr/>
            <p:nvPr/>
          </p:nvCxnSpPr>
          <p:spPr>
            <a:xfrm rot="5400000">
              <a:off x="5427613" y="3388462"/>
              <a:ext cx="301255" cy="3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直線接點 20"/>
            <p:cNvCxnSpPr/>
            <p:nvPr/>
          </p:nvCxnSpPr>
          <p:spPr>
            <a:xfrm rot="10800000" flipV="1">
              <a:off x="4966894" y="3539244"/>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直線接點 21"/>
            <p:cNvCxnSpPr/>
            <p:nvPr/>
          </p:nvCxnSpPr>
          <p:spPr>
            <a:xfrm rot="5400000">
              <a:off x="4933688" y="3505421"/>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直線接點 22"/>
            <p:cNvCxnSpPr/>
            <p:nvPr/>
          </p:nvCxnSpPr>
          <p:spPr>
            <a:xfrm>
              <a:off x="4966894" y="3103560"/>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直線單箭頭接點 23"/>
            <p:cNvCxnSpPr>
              <a:endCxn id="9" idx="3"/>
            </p:cNvCxnSpPr>
            <p:nvPr/>
          </p:nvCxnSpPr>
          <p:spPr>
            <a:xfrm rot="10800000">
              <a:off x="5439178" y="3405187"/>
              <a:ext cx="138908"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 name="直線單箭頭接點 24"/>
            <p:cNvCxnSpPr>
              <a:stCxn id="9" idx="1"/>
              <a:endCxn id="11" idx="6"/>
            </p:cNvCxnSpPr>
            <p:nvPr/>
          </p:nvCxnSpPr>
          <p:spPr>
            <a:xfrm rot="10800000">
              <a:off x="5022457" y="3405187"/>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 name="直線接點 25"/>
            <p:cNvCxnSpPr/>
            <p:nvPr/>
          </p:nvCxnSpPr>
          <p:spPr>
            <a:xfrm rot="5400000">
              <a:off x="5544571" y="3706878"/>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直線接點 26"/>
            <p:cNvCxnSpPr/>
            <p:nvPr/>
          </p:nvCxnSpPr>
          <p:spPr>
            <a:xfrm rot="5400000">
              <a:off x="4933688" y="3706506"/>
              <a:ext cx="67029" cy="617"/>
            </a:xfrm>
            <a:prstGeom prst="line">
              <a:avLst/>
            </a:prstGeom>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4911331" y="4946837"/>
              <a:ext cx="750099" cy="1675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dirty="0" smtClean="0">
                  <a:latin typeface="Calibri" pitchFamily="34" charset="0"/>
                </a:rPr>
                <a:t>FP</a:t>
              </a:r>
              <a:endParaRPr lang="zh-TW" altLang="en-US" sz="1400" dirty="0">
                <a:latin typeface="Calibri" pitchFamily="34" charset="0"/>
              </a:endParaRPr>
            </a:p>
          </p:txBody>
        </p:sp>
        <p:sp>
          <p:nvSpPr>
            <p:cNvPr id="29" name="矩形 28"/>
            <p:cNvSpPr/>
            <p:nvPr/>
          </p:nvSpPr>
          <p:spPr>
            <a:xfrm>
              <a:off x="5105800" y="4645210"/>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30" name="矩形 29"/>
            <p:cNvSpPr/>
            <p:nvPr/>
          </p:nvSpPr>
          <p:spPr>
            <a:xfrm>
              <a:off x="5105800" y="4209526"/>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31" name="流程圖: 或 30"/>
            <p:cNvSpPr/>
            <p:nvPr/>
          </p:nvSpPr>
          <p:spPr>
            <a:xfrm flipV="1">
              <a:off x="4911331" y="4678724"/>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sp>
          <p:nvSpPr>
            <p:cNvPr id="32" name="流程圖: 或 31"/>
            <p:cNvSpPr/>
            <p:nvPr/>
          </p:nvSpPr>
          <p:spPr>
            <a:xfrm flipV="1">
              <a:off x="4911331" y="4243040"/>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cxnSp>
          <p:nvCxnSpPr>
            <p:cNvPr id="33" name="直線單箭頭接點 32"/>
            <p:cNvCxnSpPr/>
            <p:nvPr/>
          </p:nvCxnSpPr>
          <p:spPr>
            <a:xfrm rot="5400000">
              <a:off x="4899865" y="4879128"/>
              <a:ext cx="134056"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4" name="直線接點 33"/>
            <p:cNvCxnSpPr/>
            <p:nvPr/>
          </p:nvCxnSpPr>
          <p:spPr>
            <a:xfrm rot="10800000">
              <a:off x="4966894" y="4477639"/>
              <a:ext cx="638973"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直線單箭頭接點 34"/>
            <p:cNvCxnSpPr>
              <a:endCxn id="29" idx="3"/>
            </p:cNvCxnSpPr>
            <p:nvPr/>
          </p:nvCxnSpPr>
          <p:spPr>
            <a:xfrm rot="10800000" flipV="1">
              <a:off x="5439178" y="4745007"/>
              <a:ext cx="166689"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直線單箭頭接點 35"/>
            <p:cNvCxnSpPr>
              <a:stCxn id="29" idx="1"/>
              <a:endCxn id="31" idx="6"/>
            </p:cNvCxnSpPr>
            <p:nvPr/>
          </p:nvCxnSpPr>
          <p:spPr>
            <a:xfrm rot="10800000">
              <a:off x="5022457" y="4745752"/>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7" name="直線接點 36"/>
            <p:cNvCxnSpPr/>
            <p:nvPr/>
          </p:nvCxnSpPr>
          <p:spPr>
            <a:xfrm flipV="1">
              <a:off x="4966894" y="4041956"/>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線接點 37"/>
            <p:cNvCxnSpPr/>
            <p:nvPr/>
          </p:nvCxnSpPr>
          <p:spPr>
            <a:xfrm rot="16200000" flipV="1">
              <a:off x="5427613" y="4326485"/>
              <a:ext cx="301255" cy="309"/>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線接點 38"/>
            <p:cNvCxnSpPr/>
            <p:nvPr/>
          </p:nvCxnSpPr>
          <p:spPr>
            <a:xfrm rot="10800000">
              <a:off x="4966894" y="4041956"/>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線接點 39"/>
            <p:cNvCxnSpPr/>
            <p:nvPr/>
          </p:nvCxnSpPr>
          <p:spPr>
            <a:xfrm flipV="1">
              <a:off x="4966894" y="4477639"/>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線單箭頭接點 40"/>
            <p:cNvCxnSpPr>
              <a:endCxn id="30" idx="3"/>
            </p:cNvCxnSpPr>
            <p:nvPr/>
          </p:nvCxnSpPr>
          <p:spPr>
            <a:xfrm rot="10800000" flipV="1">
              <a:off x="5439178" y="4309324"/>
              <a:ext cx="138908"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2" name="直線單箭頭接點 41"/>
            <p:cNvCxnSpPr>
              <a:stCxn id="30" idx="1"/>
              <a:endCxn id="32" idx="6"/>
            </p:cNvCxnSpPr>
            <p:nvPr/>
          </p:nvCxnSpPr>
          <p:spPr>
            <a:xfrm rot="10800000">
              <a:off x="5022457" y="4310069"/>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3" name="直線接點 42"/>
            <p:cNvCxnSpPr/>
            <p:nvPr/>
          </p:nvCxnSpPr>
          <p:spPr>
            <a:xfrm rot="16200000" flipV="1">
              <a:off x="5544571" y="4007760"/>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直線接點 43"/>
            <p:cNvCxnSpPr/>
            <p:nvPr/>
          </p:nvCxnSpPr>
          <p:spPr>
            <a:xfrm rot="16200000" flipV="1">
              <a:off x="4933688" y="4008133"/>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直線接點 44"/>
            <p:cNvCxnSpPr/>
            <p:nvPr/>
          </p:nvCxnSpPr>
          <p:spPr>
            <a:xfrm rot="5400000">
              <a:off x="4849594" y="3857692"/>
              <a:ext cx="234599" cy="6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46" name="直線接點 45"/>
            <p:cNvCxnSpPr/>
            <p:nvPr/>
          </p:nvCxnSpPr>
          <p:spPr>
            <a:xfrm rot="5400000">
              <a:off x="5460477" y="3857319"/>
              <a:ext cx="234599" cy="6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53" name="直線單箭頭接點 52"/>
            <p:cNvCxnSpPr/>
            <p:nvPr/>
          </p:nvCxnSpPr>
          <p:spPr>
            <a:xfrm rot="5400000">
              <a:off x="4933070" y="4209590"/>
              <a:ext cx="67029"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4" name="直線單箭頭接點 53"/>
            <p:cNvCxnSpPr>
              <a:endCxn id="31" idx="4"/>
            </p:cNvCxnSpPr>
            <p:nvPr/>
          </p:nvCxnSpPr>
          <p:spPr>
            <a:xfrm rot="5400000">
              <a:off x="4933379" y="4645274"/>
              <a:ext cx="67029"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5" name="直線單箭頭接點 54"/>
            <p:cNvCxnSpPr/>
            <p:nvPr/>
          </p:nvCxnSpPr>
          <p:spPr>
            <a:xfrm rot="5400000">
              <a:off x="5438296" y="4779330"/>
              <a:ext cx="335141"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6" name="直線接點 55"/>
            <p:cNvCxnSpPr>
              <a:stCxn id="32" idx="0"/>
            </p:cNvCxnSpPr>
            <p:nvPr/>
          </p:nvCxnSpPr>
          <p:spPr>
            <a:xfrm rot="5400000">
              <a:off x="4916622" y="4427432"/>
              <a:ext cx="100542" cy="617"/>
            </a:xfrm>
            <a:prstGeom prst="line">
              <a:avLst/>
            </a:prstGeom>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6215074" y="2500306"/>
              <a:ext cx="857256" cy="2714644"/>
            </a:xfrm>
            <a:prstGeom prst="rect">
              <a:avLst/>
            </a:prstGeom>
            <a:solidFill>
              <a:srgbClr val="FFFFCC"/>
            </a:solidFill>
            <a:ln>
              <a:solidFill>
                <a:srgbClr val="9F37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63" name="矩形 62"/>
            <p:cNvSpPr/>
            <p:nvPr/>
          </p:nvSpPr>
          <p:spPr>
            <a:xfrm>
              <a:off x="6268653" y="2600848"/>
              <a:ext cx="750099" cy="1675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dirty="0" smtClean="0">
                  <a:latin typeface="Calibri" pitchFamily="34" charset="0"/>
                </a:rPr>
                <a:t>IP</a:t>
              </a:r>
              <a:endParaRPr lang="zh-TW" altLang="en-US" sz="1400" dirty="0">
                <a:latin typeface="Calibri" pitchFamily="34" charset="0"/>
              </a:endParaRPr>
            </a:p>
          </p:txBody>
        </p:sp>
        <p:sp>
          <p:nvSpPr>
            <p:cNvPr id="64" name="矩形 63"/>
            <p:cNvSpPr/>
            <p:nvPr/>
          </p:nvSpPr>
          <p:spPr>
            <a:xfrm>
              <a:off x="6463122" y="2868961"/>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65" name="矩形 64"/>
            <p:cNvSpPr/>
            <p:nvPr/>
          </p:nvSpPr>
          <p:spPr>
            <a:xfrm>
              <a:off x="6463122" y="3304645"/>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66" name="流程圖: 或 65"/>
            <p:cNvSpPr/>
            <p:nvPr/>
          </p:nvSpPr>
          <p:spPr>
            <a:xfrm>
              <a:off x="6268653" y="2902476"/>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sp>
          <p:nvSpPr>
            <p:cNvPr id="67" name="流程圖: 或 66"/>
            <p:cNvSpPr/>
            <p:nvPr/>
          </p:nvSpPr>
          <p:spPr>
            <a:xfrm>
              <a:off x="6268653" y="3338159"/>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cxnSp>
          <p:nvCxnSpPr>
            <p:cNvPr id="68" name="直線單箭頭接點 67"/>
            <p:cNvCxnSpPr>
              <a:endCxn id="66" idx="0"/>
            </p:cNvCxnSpPr>
            <p:nvPr/>
          </p:nvCxnSpPr>
          <p:spPr>
            <a:xfrm rot="5400000">
              <a:off x="6257187" y="2835511"/>
              <a:ext cx="134056"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9" name="直線接點 68"/>
            <p:cNvCxnSpPr/>
            <p:nvPr/>
          </p:nvCxnSpPr>
          <p:spPr>
            <a:xfrm rot="5400000">
              <a:off x="6795309" y="2936053"/>
              <a:ext cx="335141"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直線接點 69"/>
            <p:cNvCxnSpPr/>
            <p:nvPr/>
          </p:nvCxnSpPr>
          <p:spPr>
            <a:xfrm rot="10800000" flipV="1">
              <a:off x="6324216" y="3103560"/>
              <a:ext cx="638973"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直線單箭頭接點 70"/>
            <p:cNvCxnSpPr>
              <a:endCxn id="67" idx="0"/>
            </p:cNvCxnSpPr>
            <p:nvPr/>
          </p:nvCxnSpPr>
          <p:spPr>
            <a:xfrm rot="5400000">
              <a:off x="6273944" y="3287952"/>
              <a:ext cx="100542"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2" name="直線單箭頭接點 71"/>
            <p:cNvCxnSpPr>
              <a:endCxn id="64" idx="3"/>
            </p:cNvCxnSpPr>
            <p:nvPr/>
          </p:nvCxnSpPr>
          <p:spPr>
            <a:xfrm rot="10800000">
              <a:off x="6796500" y="2969504"/>
              <a:ext cx="166689"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3" name="直線單箭頭接點 72"/>
            <p:cNvCxnSpPr>
              <a:stCxn id="64" idx="1"/>
              <a:endCxn id="66" idx="6"/>
            </p:cNvCxnSpPr>
            <p:nvPr/>
          </p:nvCxnSpPr>
          <p:spPr>
            <a:xfrm rot="10800000">
              <a:off x="6379779" y="2969504"/>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4" name="直線接點 73"/>
            <p:cNvCxnSpPr>
              <a:stCxn id="66" idx="4"/>
            </p:cNvCxnSpPr>
            <p:nvPr/>
          </p:nvCxnSpPr>
          <p:spPr>
            <a:xfrm rot="5400000">
              <a:off x="6290701" y="3070110"/>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直線接點 74"/>
            <p:cNvCxnSpPr/>
            <p:nvPr/>
          </p:nvCxnSpPr>
          <p:spPr>
            <a:xfrm>
              <a:off x="6324216" y="3539244"/>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直線接點 75"/>
            <p:cNvCxnSpPr/>
            <p:nvPr/>
          </p:nvCxnSpPr>
          <p:spPr>
            <a:xfrm rot="5400000">
              <a:off x="6784935" y="3388462"/>
              <a:ext cx="301255" cy="309"/>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直線接點 76"/>
            <p:cNvCxnSpPr/>
            <p:nvPr/>
          </p:nvCxnSpPr>
          <p:spPr>
            <a:xfrm rot="10800000" flipV="1">
              <a:off x="6324216" y="3539244"/>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78" name="直線接點 77"/>
            <p:cNvCxnSpPr/>
            <p:nvPr/>
          </p:nvCxnSpPr>
          <p:spPr>
            <a:xfrm rot="5400000">
              <a:off x="6291010" y="3505421"/>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9" name="直線接點 78"/>
            <p:cNvCxnSpPr/>
            <p:nvPr/>
          </p:nvCxnSpPr>
          <p:spPr>
            <a:xfrm>
              <a:off x="6324216" y="3103560"/>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直線單箭頭接點 79"/>
            <p:cNvCxnSpPr>
              <a:endCxn id="65" idx="3"/>
            </p:cNvCxnSpPr>
            <p:nvPr/>
          </p:nvCxnSpPr>
          <p:spPr>
            <a:xfrm rot="10800000">
              <a:off x="6796500" y="3405187"/>
              <a:ext cx="138908"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1" name="直線單箭頭接點 80"/>
            <p:cNvCxnSpPr>
              <a:stCxn id="65" idx="1"/>
              <a:endCxn id="67" idx="6"/>
            </p:cNvCxnSpPr>
            <p:nvPr/>
          </p:nvCxnSpPr>
          <p:spPr>
            <a:xfrm rot="10800000">
              <a:off x="6379779" y="3405187"/>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2" name="直線接點 81"/>
            <p:cNvCxnSpPr/>
            <p:nvPr/>
          </p:nvCxnSpPr>
          <p:spPr>
            <a:xfrm rot="5400000">
              <a:off x="6901893" y="3706878"/>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接點 82"/>
            <p:cNvCxnSpPr/>
            <p:nvPr/>
          </p:nvCxnSpPr>
          <p:spPr>
            <a:xfrm rot="5400000">
              <a:off x="6291010" y="3706506"/>
              <a:ext cx="67029" cy="617"/>
            </a:xfrm>
            <a:prstGeom prst="line">
              <a:avLst/>
            </a:prstGeom>
          </p:spPr>
          <p:style>
            <a:lnRef idx="1">
              <a:schemeClr val="accent1"/>
            </a:lnRef>
            <a:fillRef idx="0">
              <a:schemeClr val="accent1"/>
            </a:fillRef>
            <a:effectRef idx="0">
              <a:schemeClr val="accent1"/>
            </a:effectRef>
            <a:fontRef idx="minor">
              <a:schemeClr val="tx1"/>
            </a:fontRef>
          </p:style>
        </p:cxnSp>
        <p:sp>
          <p:nvSpPr>
            <p:cNvPr id="84" name="矩形 83"/>
            <p:cNvSpPr/>
            <p:nvPr/>
          </p:nvSpPr>
          <p:spPr>
            <a:xfrm>
              <a:off x="6268653" y="4946837"/>
              <a:ext cx="750099" cy="1675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dirty="0" smtClean="0">
                  <a:latin typeface="Calibri" pitchFamily="34" charset="0"/>
                </a:rPr>
                <a:t>FP</a:t>
              </a:r>
              <a:endParaRPr lang="zh-TW" altLang="en-US" sz="1400" dirty="0">
                <a:latin typeface="Calibri" pitchFamily="34" charset="0"/>
              </a:endParaRPr>
            </a:p>
          </p:txBody>
        </p:sp>
        <p:sp>
          <p:nvSpPr>
            <p:cNvPr id="85" name="矩形 84"/>
            <p:cNvSpPr/>
            <p:nvPr/>
          </p:nvSpPr>
          <p:spPr>
            <a:xfrm>
              <a:off x="6463122" y="4645210"/>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86" name="矩形 85"/>
            <p:cNvSpPr/>
            <p:nvPr/>
          </p:nvSpPr>
          <p:spPr>
            <a:xfrm>
              <a:off x="6463122" y="4209526"/>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87" name="流程圖: 或 86"/>
            <p:cNvSpPr/>
            <p:nvPr/>
          </p:nvSpPr>
          <p:spPr>
            <a:xfrm flipV="1">
              <a:off x="6268653" y="4678724"/>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sp>
          <p:nvSpPr>
            <p:cNvPr id="88" name="流程圖: 或 87"/>
            <p:cNvSpPr/>
            <p:nvPr/>
          </p:nvSpPr>
          <p:spPr>
            <a:xfrm flipV="1">
              <a:off x="6268653" y="4243040"/>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cxnSp>
          <p:nvCxnSpPr>
            <p:cNvPr id="89" name="直線單箭頭接點 88"/>
            <p:cNvCxnSpPr/>
            <p:nvPr/>
          </p:nvCxnSpPr>
          <p:spPr>
            <a:xfrm rot="5400000">
              <a:off x="6257187" y="4879128"/>
              <a:ext cx="134056"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0" name="直線接點 89"/>
            <p:cNvCxnSpPr/>
            <p:nvPr/>
          </p:nvCxnSpPr>
          <p:spPr>
            <a:xfrm rot="10800000">
              <a:off x="6324216" y="4477639"/>
              <a:ext cx="638973"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直線單箭頭接點 90"/>
            <p:cNvCxnSpPr>
              <a:endCxn id="85" idx="3"/>
            </p:cNvCxnSpPr>
            <p:nvPr/>
          </p:nvCxnSpPr>
          <p:spPr>
            <a:xfrm rot="10800000" flipV="1">
              <a:off x="6796500" y="4745007"/>
              <a:ext cx="166689"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2" name="直線單箭頭接點 91"/>
            <p:cNvCxnSpPr>
              <a:stCxn id="85" idx="1"/>
              <a:endCxn id="87" idx="6"/>
            </p:cNvCxnSpPr>
            <p:nvPr/>
          </p:nvCxnSpPr>
          <p:spPr>
            <a:xfrm rot="10800000">
              <a:off x="6379779" y="4745752"/>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3" name="直線接點 92"/>
            <p:cNvCxnSpPr/>
            <p:nvPr/>
          </p:nvCxnSpPr>
          <p:spPr>
            <a:xfrm flipV="1">
              <a:off x="6324216" y="4041956"/>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直線接點 93"/>
            <p:cNvCxnSpPr/>
            <p:nvPr/>
          </p:nvCxnSpPr>
          <p:spPr>
            <a:xfrm rot="16200000" flipV="1">
              <a:off x="6784935" y="4326485"/>
              <a:ext cx="301255" cy="309"/>
            </a:xfrm>
            <a:prstGeom prst="line">
              <a:avLst/>
            </a:prstGeom>
          </p:spPr>
          <p:style>
            <a:lnRef idx="1">
              <a:schemeClr val="accent1"/>
            </a:lnRef>
            <a:fillRef idx="0">
              <a:schemeClr val="accent1"/>
            </a:fillRef>
            <a:effectRef idx="0">
              <a:schemeClr val="accent1"/>
            </a:effectRef>
            <a:fontRef idx="minor">
              <a:schemeClr val="tx1"/>
            </a:fontRef>
          </p:style>
        </p:cxnSp>
        <p:cxnSp>
          <p:nvCxnSpPr>
            <p:cNvPr id="95" name="直線接點 94"/>
            <p:cNvCxnSpPr/>
            <p:nvPr/>
          </p:nvCxnSpPr>
          <p:spPr>
            <a:xfrm rot="10800000">
              <a:off x="6324216" y="4041956"/>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直線接點 95"/>
            <p:cNvCxnSpPr/>
            <p:nvPr/>
          </p:nvCxnSpPr>
          <p:spPr>
            <a:xfrm flipV="1">
              <a:off x="6324216" y="4477639"/>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直線單箭頭接點 96"/>
            <p:cNvCxnSpPr>
              <a:endCxn id="86" idx="3"/>
            </p:cNvCxnSpPr>
            <p:nvPr/>
          </p:nvCxnSpPr>
          <p:spPr>
            <a:xfrm rot="10800000" flipV="1">
              <a:off x="6796500" y="4309324"/>
              <a:ext cx="138908"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8" name="直線單箭頭接點 97"/>
            <p:cNvCxnSpPr>
              <a:stCxn id="86" idx="1"/>
              <a:endCxn id="88" idx="6"/>
            </p:cNvCxnSpPr>
            <p:nvPr/>
          </p:nvCxnSpPr>
          <p:spPr>
            <a:xfrm rot="10800000">
              <a:off x="6379779" y="4310069"/>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9" name="直線接點 98"/>
            <p:cNvCxnSpPr/>
            <p:nvPr/>
          </p:nvCxnSpPr>
          <p:spPr>
            <a:xfrm rot="16200000" flipV="1">
              <a:off x="6901893" y="4007760"/>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0" name="直線接點 99"/>
            <p:cNvCxnSpPr/>
            <p:nvPr/>
          </p:nvCxnSpPr>
          <p:spPr>
            <a:xfrm rot="16200000" flipV="1">
              <a:off x="6291010" y="4008133"/>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1" name="直線接點 100"/>
            <p:cNvCxnSpPr/>
            <p:nvPr/>
          </p:nvCxnSpPr>
          <p:spPr>
            <a:xfrm rot="5400000">
              <a:off x="6206916" y="3857692"/>
              <a:ext cx="234599" cy="6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02" name="直線接點 101"/>
            <p:cNvCxnSpPr/>
            <p:nvPr/>
          </p:nvCxnSpPr>
          <p:spPr>
            <a:xfrm rot="5400000">
              <a:off x="6817799" y="3857319"/>
              <a:ext cx="234599" cy="6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03" name="直線單箭頭接點 102"/>
            <p:cNvCxnSpPr/>
            <p:nvPr/>
          </p:nvCxnSpPr>
          <p:spPr>
            <a:xfrm rot="5400000">
              <a:off x="6290392" y="4209590"/>
              <a:ext cx="67029"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04" name="直線單箭頭接點 103"/>
            <p:cNvCxnSpPr>
              <a:endCxn id="87" idx="4"/>
            </p:cNvCxnSpPr>
            <p:nvPr/>
          </p:nvCxnSpPr>
          <p:spPr>
            <a:xfrm rot="5400000">
              <a:off x="6290701" y="4645274"/>
              <a:ext cx="67029"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05" name="直線單箭頭接點 104"/>
            <p:cNvCxnSpPr/>
            <p:nvPr/>
          </p:nvCxnSpPr>
          <p:spPr>
            <a:xfrm rot="5400000">
              <a:off x="6795618" y="4779330"/>
              <a:ext cx="335141"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06" name="直線接點 105"/>
            <p:cNvCxnSpPr>
              <a:stCxn id="88" idx="0"/>
            </p:cNvCxnSpPr>
            <p:nvPr/>
          </p:nvCxnSpPr>
          <p:spPr>
            <a:xfrm rot="5400000">
              <a:off x="6273944" y="4427432"/>
              <a:ext cx="100542" cy="617"/>
            </a:xfrm>
            <a:prstGeom prst="line">
              <a:avLst/>
            </a:prstGeom>
          </p:spPr>
          <p:style>
            <a:lnRef idx="1">
              <a:schemeClr val="accent1"/>
            </a:lnRef>
            <a:fillRef idx="0">
              <a:schemeClr val="accent1"/>
            </a:fillRef>
            <a:effectRef idx="0">
              <a:schemeClr val="accent1"/>
            </a:effectRef>
            <a:fontRef idx="minor">
              <a:schemeClr val="tx1"/>
            </a:fontRef>
          </p:style>
        </p:cxnSp>
        <p:sp>
          <p:nvSpPr>
            <p:cNvPr id="108" name="矩形 107"/>
            <p:cNvSpPr/>
            <p:nvPr/>
          </p:nvSpPr>
          <p:spPr>
            <a:xfrm>
              <a:off x="7572396" y="2500306"/>
              <a:ext cx="857256" cy="2714644"/>
            </a:xfrm>
            <a:prstGeom prst="rect">
              <a:avLst/>
            </a:prstGeom>
            <a:solidFill>
              <a:srgbClr val="FFFFCC"/>
            </a:solidFill>
            <a:ln>
              <a:solidFill>
                <a:srgbClr val="9F37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sp>
          <p:nvSpPr>
            <p:cNvPr id="109" name="矩形 108"/>
            <p:cNvSpPr/>
            <p:nvPr/>
          </p:nvSpPr>
          <p:spPr>
            <a:xfrm>
              <a:off x="7625975" y="2600848"/>
              <a:ext cx="750099" cy="1675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dirty="0" smtClean="0">
                  <a:latin typeface="Calibri" pitchFamily="34" charset="0"/>
                </a:rPr>
                <a:t>IP</a:t>
              </a:r>
              <a:endParaRPr lang="zh-TW" altLang="en-US" sz="1400" dirty="0">
                <a:latin typeface="Calibri" pitchFamily="34" charset="0"/>
              </a:endParaRPr>
            </a:p>
          </p:txBody>
        </p:sp>
        <p:sp>
          <p:nvSpPr>
            <p:cNvPr id="110" name="矩形 109"/>
            <p:cNvSpPr/>
            <p:nvPr/>
          </p:nvSpPr>
          <p:spPr>
            <a:xfrm>
              <a:off x="7820444" y="2868961"/>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111" name="矩形 110"/>
            <p:cNvSpPr/>
            <p:nvPr/>
          </p:nvSpPr>
          <p:spPr>
            <a:xfrm>
              <a:off x="7820444" y="3304645"/>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112" name="流程圖: 或 111"/>
            <p:cNvSpPr/>
            <p:nvPr/>
          </p:nvSpPr>
          <p:spPr>
            <a:xfrm>
              <a:off x="7625975" y="2902476"/>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sp>
          <p:nvSpPr>
            <p:cNvPr id="113" name="流程圖: 或 112"/>
            <p:cNvSpPr/>
            <p:nvPr/>
          </p:nvSpPr>
          <p:spPr>
            <a:xfrm>
              <a:off x="7625975" y="3338159"/>
              <a:ext cx="111126" cy="134056"/>
            </a:xfrm>
            <a:prstGeom prst="flowChartOr">
              <a:avLst/>
            </a:prstGeom>
            <a:ln w="12700">
              <a:solidFill>
                <a:srgbClr val="9F3789"/>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cxnSp>
          <p:nvCxnSpPr>
            <p:cNvPr id="114" name="直線單箭頭接點 113"/>
            <p:cNvCxnSpPr>
              <a:endCxn id="112" idx="0"/>
            </p:cNvCxnSpPr>
            <p:nvPr/>
          </p:nvCxnSpPr>
          <p:spPr>
            <a:xfrm rot="5400000">
              <a:off x="7614509" y="2835511"/>
              <a:ext cx="134056"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15" name="直線接點 114"/>
            <p:cNvCxnSpPr/>
            <p:nvPr/>
          </p:nvCxnSpPr>
          <p:spPr>
            <a:xfrm rot="5400000">
              <a:off x="8152631" y="2936053"/>
              <a:ext cx="335141"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直線接點 115"/>
            <p:cNvCxnSpPr/>
            <p:nvPr/>
          </p:nvCxnSpPr>
          <p:spPr>
            <a:xfrm rot="10800000" flipV="1">
              <a:off x="7681538" y="3103560"/>
              <a:ext cx="638973"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直線單箭頭接點 116"/>
            <p:cNvCxnSpPr>
              <a:endCxn id="113" idx="0"/>
            </p:cNvCxnSpPr>
            <p:nvPr/>
          </p:nvCxnSpPr>
          <p:spPr>
            <a:xfrm rot="5400000">
              <a:off x="7631266" y="3287952"/>
              <a:ext cx="100542"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18" name="直線單箭頭接點 117"/>
            <p:cNvCxnSpPr>
              <a:endCxn id="110" idx="3"/>
            </p:cNvCxnSpPr>
            <p:nvPr/>
          </p:nvCxnSpPr>
          <p:spPr>
            <a:xfrm rot="10800000">
              <a:off x="8153822" y="2969504"/>
              <a:ext cx="166689"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19" name="直線單箭頭接點 118"/>
            <p:cNvCxnSpPr>
              <a:stCxn id="110" idx="1"/>
              <a:endCxn id="112" idx="6"/>
            </p:cNvCxnSpPr>
            <p:nvPr/>
          </p:nvCxnSpPr>
          <p:spPr>
            <a:xfrm rot="10800000">
              <a:off x="7737101" y="2969504"/>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20" name="直線接點 119"/>
            <p:cNvCxnSpPr>
              <a:stCxn id="112" idx="4"/>
            </p:cNvCxnSpPr>
            <p:nvPr/>
          </p:nvCxnSpPr>
          <p:spPr>
            <a:xfrm rot="5400000">
              <a:off x="7648023" y="3070110"/>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21" name="直線接點 120"/>
            <p:cNvCxnSpPr/>
            <p:nvPr/>
          </p:nvCxnSpPr>
          <p:spPr>
            <a:xfrm>
              <a:off x="7681538" y="3539244"/>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直線接點 121"/>
            <p:cNvCxnSpPr/>
            <p:nvPr/>
          </p:nvCxnSpPr>
          <p:spPr>
            <a:xfrm rot="5400000">
              <a:off x="8142257" y="3388462"/>
              <a:ext cx="301255" cy="30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直線接點 122"/>
            <p:cNvCxnSpPr/>
            <p:nvPr/>
          </p:nvCxnSpPr>
          <p:spPr>
            <a:xfrm rot="10800000" flipV="1">
              <a:off x="7681538" y="3539244"/>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24" name="直線接點 123"/>
            <p:cNvCxnSpPr/>
            <p:nvPr/>
          </p:nvCxnSpPr>
          <p:spPr>
            <a:xfrm rot="5400000">
              <a:off x="7648332" y="3505421"/>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25" name="直線接點 124"/>
            <p:cNvCxnSpPr/>
            <p:nvPr/>
          </p:nvCxnSpPr>
          <p:spPr>
            <a:xfrm>
              <a:off x="7681538" y="3103560"/>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26" name="直線單箭頭接點 125"/>
            <p:cNvCxnSpPr>
              <a:endCxn id="111" idx="3"/>
            </p:cNvCxnSpPr>
            <p:nvPr/>
          </p:nvCxnSpPr>
          <p:spPr>
            <a:xfrm rot="10800000">
              <a:off x="8153822" y="3405187"/>
              <a:ext cx="138908"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27" name="直線單箭頭接點 126"/>
            <p:cNvCxnSpPr>
              <a:stCxn id="111" idx="1"/>
              <a:endCxn id="113" idx="6"/>
            </p:cNvCxnSpPr>
            <p:nvPr/>
          </p:nvCxnSpPr>
          <p:spPr>
            <a:xfrm rot="10800000">
              <a:off x="7737101" y="3405187"/>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28" name="直線接點 127"/>
            <p:cNvCxnSpPr/>
            <p:nvPr/>
          </p:nvCxnSpPr>
          <p:spPr>
            <a:xfrm rot="5400000">
              <a:off x="8259215" y="3706878"/>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29" name="直線接點 128"/>
            <p:cNvCxnSpPr/>
            <p:nvPr/>
          </p:nvCxnSpPr>
          <p:spPr>
            <a:xfrm rot="5400000">
              <a:off x="7648332" y="3706506"/>
              <a:ext cx="67029" cy="617"/>
            </a:xfrm>
            <a:prstGeom prst="line">
              <a:avLst/>
            </a:prstGeom>
          </p:spPr>
          <p:style>
            <a:lnRef idx="1">
              <a:schemeClr val="accent1"/>
            </a:lnRef>
            <a:fillRef idx="0">
              <a:schemeClr val="accent1"/>
            </a:fillRef>
            <a:effectRef idx="0">
              <a:schemeClr val="accent1"/>
            </a:effectRef>
            <a:fontRef idx="minor">
              <a:schemeClr val="tx1"/>
            </a:fontRef>
          </p:style>
        </p:cxnSp>
        <p:sp>
          <p:nvSpPr>
            <p:cNvPr id="130" name="矩形 129"/>
            <p:cNvSpPr/>
            <p:nvPr/>
          </p:nvSpPr>
          <p:spPr>
            <a:xfrm>
              <a:off x="7625975" y="4946837"/>
              <a:ext cx="750099" cy="1675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dirty="0" smtClean="0">
                  <a:latin typeface="Calibri" pitchFamily="34" charset="0"/>
                </a:rPr>
                <a:t>FP</a:t>
              </a:r>
              <a:endParaRPr lang="zh-TW" altLang="en-US" sz="1400" dirty="0">
                <a:latin typeface="Calibri" pitchFamily="34" charset="0"/>
              </a:endParaRPr>
            </a:p>
          </p:txBody>
        </p:sp>
        <p:sp>
          <p:nvSpPr>
            <p:cNvPr id="131" name="矩形 130"/>
            <p:cNvSpPr/>
            <p:nvPr/>
          </p:nvSpPr>
          <p:spPr>
            <a:xfrm>
              <a:off x="7820444" y="4645210"/>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132" name="矩形 131"/>
            <p:cNvSpPr/>
            <p:nvPr/>
          </p:nvSpPr>
          <p:spPr>
            <a:xfrm>
              <a:off x="7820444" y="4209526"/>
              <a:ext cx="333377" cy="201085"/>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1400" dirty="0" smtClean="0">
                  <a:latin typeface="Calibri" pitchFamily="34" charset="0"/>
                </a:rPr>
                <a:t>F</a:t>
              </a:r>
              <a:endParaRPr lang="zh-TW" altLang="en-US" sz="1400" dirty="0">
                <a:latin typeface="Calibri" pitchFamily="34" charset="0"/>
              </a:endParaRPr>
            </a:p>
          </p:txBody>
        </p:sp>
        <p:sp>
          <p:nvSpPr>
            <p:cNvPr id="133" name="流程圖: 或 132"/>
            <p:cNvSpPr/>
            <p:nvPr/>
          </p:nvSpPr>
          <p:spPr>
            <a:xfrm flipV="1">
              <a:off x="7625975" y="4678724"/>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sp>
          <p:nvSpPr>
            <p:cNvPr id="134" name="流程圖: 或 133"/>
            <p:cNvSpPr/>
            <p:nvPr/>
          </p:nvSpPr>
          <p:spPr>
            <a:xfrm flipV="1">
              <a:off x="7625975" y="4243040"/>
              <a:ext cx="111126" cy="134056"/>
            </a:xfrm>
            <a:prstGeom prst="flowChartOr">
              <a:avLst/>
            </a:prstGeom>
            <a:ln w="12700"/>
          </p:spPr>
          <p:style>
            <a:lnRef idx="2">
              <a:schemeClr val="accent1"/>
            </a:lnRef>
            <a:fillRef idx="1">
              <a:schemeClr val="lt1"/>
            </a:fillRef>
            <a:effectRef idx="0">
              <a:schemeClr val="accent1"/>
            </a:effectRef>
            <a:fontRef idx="minor">
              <a:schemeClr val="dk1"/>
            </a:fontRef>
          </p:style>
          <p:txBody>
            <a:bodyPr rtlCol="0" anchor="ctr"/>
            <a:lstStyle/>
            <a:p>
              <a:pPr algn="ctr"/>
              <a:endParaRPr lang="zh-TW" altLang="en-US" sz="1400">
                <a:latin typeface="Calibri" pitchFamily="34" charset="0"/>
              </a:endParaRPr>
            </a:p>
          </p:txBody>
        </p:sp>
        <p:cxnSp>
          <p:nvCxnSpPr>
            <p:cNvPr id="135" name="直線單箭頭接點 134"/>
            <p:cNvCxnSpPr/>
            <p:nvPr/>
          </p:nvCxnSpPr>
          <p:spPr>
            <a:xfrm rot="5400000">
              <a:off x="7614509" y="4879128"/>
              <a:ext cx="134056"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6" name="直線接點 135"/>
            <p:cNvCxnSpPr/>
            <p:nvPr/>
          </p:nvCxnSpPr>
          <p:spPr>
            <a:xfrm rot="10800000">
              <a:off x="7681538" y="4477639"/>
              <a:ext cx="638973"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37" name="直線單箭頭接點 136"/>
            <p:cNvCxnSpPr>
              <a:endCxn id="131" idx="3"/>
            </p:cNvCxnSpPr>
            <p:nvPr/>
          </p:nvCxnSpPr>
          <p:spPr>
            <a:xfrm rot="10800000" flipV="1">
              <a:off x="8153822" y="4745007"/>
              <a:ext cx="166689"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8" name="直線單箭頭接點 137"/>
            <p:cNvCxnSpPr>
              <a:stCxn id="131" idx="1"/>
              <a:endCxn id="133" idx="6"/>
            </p:cNvCxnSpPr>
            <p:nvPr/>
          </p:nvCxnSpPr>
          <p:spPr>
            <a:xfrm rot="10800000">
              <a:off x="7737101" y="4745752"/>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9" name="直線接點 138"/>
            <p:cNvCxnSpPr/>
            <p:nvPr/>
          </p:nvCxnSpPr>
          <p:spPr>
            <a:xfrm flipV="1">
              <a:off x="7681538" y="4041956"/>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40" name="直線接點 139"/>
            <p:cNvCxnSpPr/>
            <p:nvPr/>
          </p:nvCxnSpPr>
          <p:spPr>
            <a:xfrm rot="16200000" flipV="1">
              <a:off x="8142257" y="4326485"/>
              <a:ext cx="301255" cy="309"/>
            </a:xfrm>
            <a:prstGeom prst="line">
              <a:avLst/>
            </a:prstGeom>
          </p:spPr>
          <p:style>
            <a:lnRef idx="1">
              <a:schemeClr val="accent1"/>
            </a:lnRef>
            <a:fillRef idx="0">
              <a:schemeClr val="accent1"/>
            </a:fillRef>
            <a:effectRef idx="0">
              <a:schemeClr val="accent1"/>
            </a:effectRef>
            <a:fontRef idx="minor">
              <a:schemeClr val="tx1"/>
            </a:fontRef>
          </p:style>
        </p:cxnSp>
        <p:cxnSp>
          <p:nvCxnSpPr>
            <p:cNvPr id="141" name="直線接點 140"/>
            <p:cNvCxnSpPr/>
            <p:nvPr/>
          </p:nvCxnSpPr>
          <p:spPr>
            <a:xfrm rot="10800000">
              <a:off x="7681538" y="4041956"/>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42" name="直線接點 141"/>
            <p:cNvCxnSpPr/>
            <p:nvPr/>
          </p:nvCxnSpPr>
          <p:spPr>
            <a:xfrm flipV="1">
              <a:off x="7681538" y="4477639"/>
              <a:ext cx="611192" cy="1340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直線單箭頭接點 142"/>
            <p:cNvCxnSpPr>
              <a:endCxn id="132" idx="3"/>
            </p:cNvCxnSpPr>
            <p:nvPr/>
          </p:nvCxnSpPr>
          <p:spPr>
            <a:xfrm rot="10800000" flipV="1">
              <a:off x="8153822" y="4309324"/>
              <a:ext cx="138908"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4" name="直線單箭頭接點 143"/>
            <p:cNvCxnSpPr>
              <a:stCxn id="132" idx="1"/>
              <a:endCxn id="134" idx="6"/>
            </p:cNvCxnSpPr>
            <p:nvPr/>
          </p:nvCxnSpPr>
          <p:spPr>
            <a:xfrm rot="10800000">
              <a:off x="7737101" y="4310069"/>
              <a:ext cx="83345" cy="74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5" name="直線接點 144"/>
            <p:cNvCxnSpPr/>
            <p:nvPr/>
          </p:nvCxnSpPr>
          <p:spPr>
            <a:xfrm rot="16200000" flipV="1">
              <a:off x="8259215" y="4007760"/>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直線接點 145"/>
            <p:cNvCxnSpPr/>
            <p:nvPr/>
          </p:nvCxnSpPr>
          <p:spPr>
            <a:xfrm rot="16200000" flipV="1">
              <a:off x="7648332" y="4008133"/>
              <a:ext cx="67029" cy="6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7" name="直線接點 146"/>
            <p:cNvCxnSpPr/>
            <p:nvPr/>
          </p:nvCxnSpPr>
          <p:spPr>
            <a:xfrm rot="5400000">
              <a:off x="7564238" y="3857692"/>
              <a:ext cx="234599" cy="6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48" name="直線接點 147"/>
            <p:cNvCxnSpPr/>
            <p:nvPr/>
          </p:nvCxnSpPr>
          <p:spPr>
            <a:xfrm rot="5400000">
              <a:off x="8175121" y="3857319"/>
              <a:ext cx="234599" cy="6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49" name="直線單箭頭接點 148"/>
            <p:cNvCxnSpPr/>
            <p:nvPr/>
          </p:nvCxnSpPr>
          <p:spPr>
            <a:xfrm rot="5400000">
              <a:off x="7647714" y="4209590"/>
              <a:ext cx="67029"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0" name="直線單箭頭接點 149"/>
            <p:cNvCxnSpPr>
              <a:endCxn id="133" idx="4"/>
            </p:cNvCxnSpPr>
            <p:nvPr/>
          </p:nvCxnSpPr>
          <p:spPr>
            <a:xfrm rot="5400000">
              <a:off x="7648023" y="4645274"/>
              <a:ext cx="67029"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1" name="直線單箭頭接點 150"/>
            <p:cNvCxnSpPr/>
            <p:nvPr/>
          </p:nvCxnSpPr>
          <p:spPr>
            <a:xfrm rot="5400000">
              <a:off x="8152940" y="4779330"/>
              <a:ext cx="335141" cy="6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2" name="直線接點 151"/>
            <p:cNvCxnSpPr>
              <a:stCxn id="134" idx="0"/>
            </p:cNvCxnSpPr>
            <p:nvPr/>
          </p:nvCxnSpPr>
          <p:spPr>
            <a:xfrm rot="5400000">
              <a:off x="7631266" y="4427432"/>
              <a:ext cx="100542" cy="617"/>
            </a:xfrm>
            <a:prstGeom prst="line">
              <a:avLst/>
            </a:prstGeom>
          </p:spPr>
          <p:style>
            <a:lnRef idx="1">
              <a:schemeClr val="accent1"/>
            </a:lnRef>
            <a:fillRef idx="0">
              <a:schemeClr val="accent1"/>
            </a:fillRef>
            <a:effectRef idx="0">
              <a:schemeClr val="accent1"/>
            </a:effectRef>
            <a:fontRef idx="minor">
              <a:schemeClr val="tx1"/>
            </a:fontRef>
          </p:style>
        </p:cxnSp>
        <p:sp>
          <p:nvSpPr>
            <p:cNvPr id="153" name="流程圖: 文件 152"/>
            <p:cNvSpPr/>
            <p:nvPr/>
          </p:nvSpPr>
          <p:spPr>
            <a:xfrm>
              <a:off x="5000628" y="1428736"/>
              <a:ext cx="571504" cy="500066"/>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dirty="0" smtClean="0">
                  <a:latin typeface="Calibri" pitchFamily="34" charset="0"/>
                </a:rPr>
                <a:t>原文</a:t>
              </a:r>
              <a:endParaRPr lang="zh-TW" altLang="en-US" sz="1400" dirty="0">
                <a:latin typeface="Calibri" pitchFamily="34" charset="0"/>
              </a:endParaRPr>
            </a:p>
          </p:txBody>
        </p:sp>
        <p:sp>
          <p:nvSpPr>
            <p:cNvPr id="154" name="矩形 153"/>
            <p:cNvSpPr/>
            <p:nvPr/>
          </p:nvSpPr>
          <p:spPr>
            <a:xfrm>
              <a:off x="7715272" y="5643578"/>
              <a:ext cx="571504" cy="5000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400" dirty="0" smtClean="0">
                  <a:latin typeface="Calibri" pitchFamily="34" charset="0"/>
                </a:rPr>
                <a:t>密文</a:t>
              </a:r>
              <a:endParaRPr lang="zh-TW" altLang="en-US" sz="1400" dirty="0">
                <a:latin typeface="Calibri" pitchFamily="34" charset="0"/>
              </a:endParaRPr>
            </a:p>
          </p:txBody>
        </p:sp>
        <p:cxnSp>
          <p:nvCxnSpPr>
            <p:cNvPr id="156" name="直線單箭頭接點 155"/>
            <p:cNvCxnSpPr>
              <a:stCxn id="153" idx="2"/>
              <a:endCxn id="59" idx="0"/>
            </p:cNvCxnSpPr>
            <p:nvPr/>
          </p:nvCxnSpPr>
          <p:spPr>
            <a:xfrm rot="5400000">
              <a:off x="4984098" y="2198024"/>
              <a:ext cx="604564"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57" name="文字方塊 156"/>
            <p:cNvSpPr txBox="1"/>
            <p:nvPr/>
          </p:nvSpPr>
          <p:spPr>
            <a:xfrm>
              <a:off x="4786314" y="1928802"/>
              <a:ext cx="378630" cy="307777"/>
            </a:xfrm>
            <a:prstGeom prst="rect">
              <a:avLst/>
            </a:prstGeom>
            <a:noFill/>
          </p:spPr>
          <p:txBody>
            <a:bodyPr wrap="none" rtlCol="0">
              <a:spAutoFit/>
            </a:bodyPr>
            <a:lstStyle/>
            <a:p>
              <a:r>
                <a:rPr lang="en-US" altLang="zh-TW" sz="1400" dirty="0" smtClean="0">
                  <a:latin typeface="Calibri" pitchFamily="34" charset="0"/>
                </a:rPr>
                <a:t>K</a:t>
              </a:r>
              <a:r>
                <a:rPr lang="zh-TW" altLang="en-US" sz="1400" dirty="0" smtClean="0">
                  <a:latin typeface="Calibri" pitchFamily="34" charset="0"/>
                </a:rPr>
                <a:t> </a:t>
              </a:r>
              <a:r>
                <a:rPr lang="en-US" altLang="zh-TW" sz="1400" baseline="-25000" dirty="0" smtClean="0">
                  <a:latin typeface="Calibri" pitchFamily="34" charset="0"/>
                </a:rPr>
                <a:t>1</a:t>
              </a:r>
              <a:endParaRPr lang="zh-TW" altLang="en-US" sz="1400" baseline="-25000" dirty="0">
                <a:latin typeface="Calibri" pitchFamily="34" charset="0"/>
              </a:endParaRPr>
            </a:p>
          </p:txBody>
        </p:sp>
        <p:cxnSp>
          <p:nvCxnSpPr>
            <p:cNvPr id="159" name="直線單箭頭接點 158"/>
            <p:cNvCxnSpPr>
              <a:stCxn id="157" idx="2"/>
            </p:cNvCxnSpPr>
            <p:nvPr/>
          </p:nvCxnSpPr>
          <p:spPr>
            <a:xfrm rot="16200000" flipH="1">
              <a:off x="4856265" y="2355942"/>
              <a:ext cx="263726" cy="24999"/>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0" name="文字方塊 159"/>
            <p:cNvSpPr txBox="1"/>
            <p:nvPr/>
          </p:nvSpPr>
          <p:spPr>
            <a:xfrm>
              <a:off x="6143636" y="1928802"/>
              <a:ext cx="378630" cy="307777"/>
            </a:xfrm>
            <a:prstGeom prst="rect">
              <a:avLst/>
            </a:prstGeom>
            <a:noFill/>
          </p:spPr>
          <p:txBody>
            <a:bodyPr wrap="none" rtlCol="0">
              <a:spAutoFit/>
            </a:bodyPr>
            <a:lstStyle/>
            <a:p>
              <a:r>
                <a:rPr lang="en-US" altLang="zh-TW" sz="1400" dirty="0" smtClean="0">
                  <a:latin typeface="Calibri" pitchFamily="34" charset="0"/>
                </a:rPr>
                <a:t>K</a:t>
              </a:r>
              <a:r>
                <a:rPr lang="zh-TW" altLang="en-US" sz="1400" dirty="0" smtClean="0">
                  <a:latin typeface="Calibri" pitchFamily="34" charset="0"/>
                </a:rPr>
                <a:t> </a:t>
              </a:r>
              <a:r>
                <a:rPr lang="en-US" altLang="zh-TW" sz="1400" baseline="-25000" dirty="0" smtClean="0">
                  <a:latin typeface="Calibri" pitchFamily="34" charset="0"/>
                </a:rPr>
                <a:t>2</a:t>
              </a:r>
              <a:endParaRPr lang="zh-TW" altLang="en-US" sz="1400" baseline="-25000" dirty="0">
                <a:latin typeface="Calibri" pitchFamily="34" charset="0"/>
              </a:endParaRPr>
            </a:p>
          </p:txBody>
        </p:sp>
        <p:cxnSp>
          <p:nvCxnSpPr>
            <p:cNvPr id="161" name="直線單箭頭接點 160"/>
            <p:cNvCxnSpPr>
              <a:stCxn id="160" idx="2"/>
            </p:cNvCxnSpPr>
            <p:nvPr/>
          </p:nvCxnSpPr>
          <p:spPr>
            <a:xfrm rot="16200000" flipH="1">
              <a:off x="6213587" y="2355943"/>
              <a:ext cx="263726" cy="2499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2" name="文字方塊 161"/>
            <p:cNvSpPr txBox="1"/>
            <p:nvPr/>
          </p:nvSpPr>
          <p:spPr>
            <a:xfrm>
              <a:off x="7525308" y="1928803"/>
              <a:ext cx="378630" cy="307777"/>
            </a:xfrm>
            <a:prstGeom prst="rect">
              <a:avLst/>
            </a:prstGeom>
            <a:noFill/>
          </p:spPr>
          <p:txBody>
            <a:bodyPr wrap="none" rtlCol="0">
              <a:spAutoFit/>
            </a:bodyPr>
            <a:lstStyle/>
            <a:p>
              <a:r>
                <a:rPr lang="en-US" altLang="zh-TW" sz="1400" dirty="0" smtClean="0">
                  <a:latin typeface="Calibri" pitchFamily="34" charset="0"/>
                </a:rPr>
                <a:t>K</a:t>
              </a:r>
              <a:r>
                <a:rPr lang="zh-TW" altLang="en-US" sz="1400" dirty="0" smtClean="0">
                  <a:latin typeface="Calibri" pitchFamily="34" charset="0"/>
                </a:rPr>
                <a:t> </a:t>
              </a:r>
              <a:r>
                <a:rPr lang="en-US" altLang="zh-TW" sz="1400" baseline="-25000" dirty="0" smtClean="0">
                  <a:latin typeface="Calibri" pitchFamily="34" charset="0"/>
                </a:rPr>
                <a:t>3</a:t>
              </a:r>
              <a:endParaRPr lang="zh-TW" altLang="en-US" sz="1400" baseline="-25000" dirty="0">
                <a:latin typeface="Calibri" pitchFamily="34" charset="0"/>
              </a:endParaRPr>
            </a:p>
          </p:txBody>
        </p:sp>
        <p:cxnSp>
          <p:nvCxnSpPr>
            <p:cNvPr id="163" name="直線單箭頭接點 162"/>
            <p:cNvCxnSpPr>
              <a:stCxn id="162" idx="2"/>
            </p:cNvCxnSpPr>
            <p:nvPr/>
          </p:nvCxnSpPr>
          <p:spPr>
            <a:xfrm rot="16200000" flipH="1">
              <a:off x="7595259" y="2355944"/>
              <a:ext cx="263726" cy="2499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5" name="圖案 164"/>
            <p:cNvCxnSpPr>
              <a:stCxn id="59" idx="2"/>
              <a:endCxn id="62" idx="0"/>
            </p:cNvCxnSpPr>
            <p:nvPr/>
          </p:nvCxnSpPr>
          <p:spPr>
            <a:xfrm rot="5400000" flipH="1" flipV="1">
              <a:off x="4607719" y="3178967"/>
              <a:ext cx="2714644" cy="1357322"/>
            </a:xfrm>
            <a:prstGeom prst="bentConnector5">
              <a:avLst>
                <a:gd name="adj1" fmla="val -8909"/>
                <a:gd name="adj2" fmla="val 50000"/>
                <a:gd name="adj3" fmla="val 130389"/>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9" name="圖案 168"/>
            <p:cNvCxnSpPr>
              <a:stCxn id="62" idx="2"/>
              <a:endCxn id="108" idx="0"/>
            </p:cNvCxnSpPr>
            <p:nvPr/>
          </p:nvCxnSpPr>
          <p:spPr>
            <a:xfrm rot="5400000" flipH="1" flipV="1">
              <a:off x="5965041" y="3178967"/>
              <a:ext cx="2714644" cy="1357322"/>
            </a:xfrm>
            <a:prstGeom prst="bentConnector5">
              <a:avLst>
                <a:gd name="adj1" fmla="val -8421"/>
                <a:gd name="adj2" fmla="val 50000"/>
                <a:gd name="adj3" fmla="val 130388"/>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7" name="直線單箭頭接點 176"/>
            <p:cNvCxnSpPr>
              <a:stCxn id="108" idx="2"/>
              <a:endCxn id="154" idx="0"/>
            </p:cNvCxnSpPr>
            <p:nvPr/>
          </p:nvCxnSpPr>
          <p:spPr>
            <a:xfrm rot="5400000">
              <a:off x="7786710" y="5429264"/>
              <a:ext cx="428628"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827584" y="2852936"/>
            <a:ext cx="7033592" cy="1362075"/>
          </a:xfrm>
          <a:solidFill>
            <a:srgbClr val="0000FF"/>
          </a:solidFill>
          <a:ln w="25400">
            <a:solidFill>
              <a:srgbClr val="FF0000"/>
            </a:solidFill>
          </a:ln>
        </p:spPr>
        <p:txBody>
          <a:bodyPr anchor="ctr"/>
          <a:lstStyle/>
          <a:p>
            <a:pPr algn="ctr"/>
            <a:r>
              <a:rPr lang="en-US" altLang="zh-TW" dirty="0" smtClean="0">
                <a:solidFill>
                  <a:schemeClr val="bg1"/>
                </a:solidFill>
                <a:latin typeface="標楷體" panose="03000509000000000000" pitchFamily="65" charset="-120"/>
                <a:ea typeface="標楷體" panose="03000509000000000000" pitchFamily="65" charset="-120"/>
              </a:rPr>
              <a:t>B.7 </a:t>
            </a:r>
            <a:r>
              <a:rPr lang="en-US" altLang="zh-TW" dirty="0">
                <a:solidFill>
                  <a:schemeClr val="bg1"/>
                </a:solidFill>
                <a:latin typeface="標楷體" panose="03000509000000000000" pitchFamily="65" charset="-120"/>
                <a:ea typeface="標楷體" panose="03000509000000000000" pitchFamily="65" charset="-120"/>
              </a:rPr>
              <a:t>PKI</a:t>
            </a:r>
            <a:r>
              <a:rPr lang="zh-TW" altLang="en-US" dirty="0">
                <a:solidFill>
                  <a:schemeClr val="bg1"/>
                </a:solidFill>
                <a:latin typeface="標楷體" panose="03000509000000000000" pitchFamily="65" charset="-120"/>
                <a:ea typeface="標楷體" panose="03000509000000000000" pitchFamily="65" charset="-120"/>
              </a:rPr>
              <a:t>的架構及其它的應用 </a:t>
            </a:r>
            <a:r>
              <a:rPr lang="en-US" altLang="zh-TW" dirty="0">
                <a:solidFill>
                  <a:schemeClr val="bg1"/>
                </a:solidFill>
                <a:latin typeface="標楷體" panose="03000509000000000000" pitchFamily="65" charset="-120"/>
                <a:ea typeface="標楷體" panose="03000509000000000000" pitchFamily="65" charset="-120"/>
              </a:rPr>
              <a:t>(Architecture)</a:t>
            </a:r>
            <a:endParaRPr lang="zh-TW" altLang="en-US" dirty="0">
              <a:solidFill>
                <a:schemeClr val="bg1"/>
              </a:solidFill>
              <a:latin typeface="標楷體" panose="03000509000000000000" pitchFamily="65" charset="-120"/>
              <a:ea typeface="標楷體" panose="03000509000000000000" pitchFamily="65" charset="-120"/>
            </a:endParaRPr>
          </a:p>
        </p:txBody>
      </p:sp>
      <p:sp>
        <p:nvSpPr>
          <p:cNvPr id="4" name="文字版面配置區 2"/>
          <p:cNvSpPr>
            <a:spLocks noGrp="1"/>
          </p:cNvSpPr>
          <p:nvPr>
            <p:ph type="body" idx="1"/>
          </p:nvPr>
        </p:nvSpPr>
        <p:spPr>
          <a:xfrm>
            <a:off x="1099572" y="4437112"/>
            <a:ext cx="6255488" cy="1296144"/>
          </a:xfrm>
        </p:spPr>
        <p:txBody>
          <a:bodyPr/>
          <a:lstStyle/>
          <a:p>
            <a:pPr algn="ctr"/>
            <a:r>
              <a:rPr lang="zh-TW" altLang="en-US" dirty="0" smtClean="0">
                <a:latin typeface="標楷體" panose="03000509000000000000" pitchFamily="65" charset="-120"/>
                <a:ea typeface="標楷體" panose="03000509000000000000" pitchFamily="65" charset="-120"/>
              </a:rPr>
              <a:t>公開金鑰基礎建設</a:t>
            </a:r>
            <a:endParaRPr lang="en-US" altLang="zh-TW" dirty="0" smtClean="0">
              <a:latin typeface="標楷體" panose="03000509000000000000" pitchFamily="65" charset="-120"/>
              <a:ea typeface="標楷體" panose="03000509000000000000" pitchFamily="65" charset="-120"/>
            </a:endParaRPr>
          </a:p>
          <a:p>
            <a:pPr algn="ctr"/>
            <a:r>
              <a:rPr lang="en-US" altLang="zh-TW" dirty="0" smtClean="0">
                <a:latin typeface="標楷體" panose="03000509000000000000" pitchFamily="65" charset="-120"/>
                <a:ea typeface="標楷體" panose="03000509000000000000" pitchFamily="65" charset="-120"/>
              </a:rPr>
              <a:t>(Public Key </a:t>
            </a:r>
            <a:r>
              <a:rPr lang="en-US" altLang="zh-TW" b="1" dirty="0" smtClean="0">
                <a:solidFill>
                  <a:srgbClr val="FF0000"/>
                </a:solidFill>
                <a:latin typeface="標楷體" panose="03000509000000000000" pitchFamily="65" charset="-120"/>
                <a:ea typeface="標楷體" panose="03000509000000000000" pitchFamily="65" charset="-120"/>
              </a:rPr>
              <a:t>Infrastructure</a:t>
            </a:r>
            <a:r>
              <a:rPr lang="en-US" altLang="zh-TW" dirty="0" smtClean="0">
                <a:latin typeface="標楷體" panose="03000509000000000000" pitchFamily="65" charset="-120"/>
                <a:ea typeface="標楷體" panose="03000509000000000000" pitchFamily="65" charset="-120"/>
              </a:rPr>
              <a:t>)</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4181079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sz="2000" dirty="0" smtClean="0"/>
              <a:t>公開金鑰基礎建設 </a:t>
            </a:r>
            <a:r>
              <a:rPr lang="en-US" altLang="zh-TW" sz="2000" dirty="0" smtClean="0"/>
              <a:t>(</a:t>
            </a:r>
            <a:r>
              <a:rPr lang="en-US" altLang="zh-TW" sz="2000" dirty="0" smtClean="0">
                <a:solidFill>
                  <a:srgbClr val="FF0000"/>
                </a:solidFill>
              </a:rPr>
              <a:t>Public Key Infrastructure, PKI</a:t>
            </a:r>
            <a:r>
              <a:rPr lang="en-US" altLang="zh-TW" sz="2000" dirty="0" smtClean="0"/>
              <a:t>)</a:t>
            </a:r>
            <a:r>
              <a:rPr lang="zh-TW" altLang="en-US" sz="2000" dirty="0" smtClean="0"/>
              <a:t> 的基本機制為複合式加密系統。</a:t>
            </a:r>
            <a:endParaRPr lang="en-US" altLang="zh-TW" sz="2000" dirty="0" smtClean="0"/>
          </a:p>
          <a:p>
            <a:r>
              <a:rPr lang="en-US" altLang="zh-TW" sz="2000" dirty="0" smtClean="0"/>
              <a:t>PKI</a:t>
            </a:r>
            <a:r>
              <a:rPr lang="zh-TW" altLang="en-US" sz="2000" dirty="0" smtClean="0"/>
              <a:t> 定義一種規範，通用於不同的產品、系統、及網路。雖然目前不同企業仍有彼此不相容的</a:t>
            </a:r>
            <a:r>
              <a:rPr lang="en-US" altLang="zh-TW" sz="2000" dirty="0" smtClean="0"/>
              <a:t>PKI</a:t>
            </a:r>
            <a:r>
              <a:rPr lang="zh-TW" altLang="en-US" sz="2000" dirty="0" smtClean="0"/>
              <a:t>建置方式；但未來數年會在多數人的需求下更趨統一。</a:t>
            </a:r>
            <a:endParaRPr lang="en-US" altLang="zh-TW" sz="2000" dirty="0" smtClean="0"/>
          </a:p>
          <a:p>
            <a:r>
              <a:rPr lang="en-US" altLang="zh-TW" sz="2000" dirty="0" smtClean="0">
                <a:solidFill>
                  <a:srgbClr val="FF0000"/>
                </a:solidFill>
              </a:rPr>
              <a:t>PKI</a:t>
            </a:r>
            <a:r>
              <a:rPr lang="zh-TW" altLang="en-US" sz="2000" dirty="0" smtClean="0">
                <a:solidFill>
                  <a:srgbClr val="FF0000"/>
                </a:solidFill>
              </a:rPr>
              <a:t> 包括以下四個主要部分：</a:t>
            </a:r>
            <a:endParaRPr lang="en-US" altLang="zh-TW" sz="2000" dirty="0" smtClean="0">
              <a:solidFill>
                <a:srgbClr val="FF0000"/>
              </a:solidFill>
            </a:endParaRPr>
          </a:p>
          <a:p>
            <a:pPr lvl="1"/>
            <a:r>
              <a:rPr lang="zh-TW" altLang="en-US" sz="1800" b="1" dirty="0" smtClean="0">
                <a:solidFill>
                  <a:srgbClr val="0000FF"/>
                </a:solidFill>
              </a:rPr>
              <a:t>憑證管理</a:t>
            </a:r>
            <a:r>
              <a:rPr lang="zh-TW" altLang="en-US" sz="1800" dirty="0" smtClean="0"/>
              <a:t>中心 </a:t>
            </a:r>
            <a:r>
              <a:rPr lang="en-US" altLang="zh-TW" sz="1800" dirty="0" smtClean="0"/>
              <a:t>(certificate authority, </a:t>
            </a:r>
            <a:r>
              <a:rPr lang="en-US" altLang="zh-TW" sz="1800" b="1" dirty="0" smtClean="0">
                <a:solidFill>
                  <a:srgbClr val="0000FF"/>
                </a:solidFill>
              </a:rPr>
              <a:t>CA</a:t>
            </a:r>
            <a:r>
              <a:rPr lang="en-US" altLang="zh-TW" sz="1800" dirty="0" smtClean="0"/>
              <a:t>)</a:t>
            </a:r>
          </a:p>
          <a:p>
            <a:pPr lvl="1"/>
            <a:r>
              <a:rPr lang="zh-TW" altLang="en-US" sz="1800" dirty="0" smtClean="0">
                <a:solidFill>
                  <a:schemeClr val="tx1"/>
                </a:solidFill>
              </a:rPr>
              <a:t>註冊</a:t>
            </a:r>
            <a:r>
              <a:rPr lang="zh-TW" altLang="en-US" sz="1800" dirty="0" smtClean="0"/>
              <a:t>管理中心 </a:t>
            </a:r>
            <a:r>
              <a:rPr lang="en-US" altLang="zh-TW" sz="1800" dirty="0" smtClean="0"/>
              <a:t>(registration authority, RA)</a:t>
            </a:r>
          </a:p>
          <a:p>
            <a:pPr lvl="1"/>
            <a:r>
              <a:rPr lang="en-US" altLang="zh-TW" sz="1800" dirty="0" smtClean="0"/>
              <a:t>RSA</a:t>
            </a:r>
            <a:r>
              <a:rPr lang="zh-TW" altLang="en-US" sz="1800" dirty="0" smtClean="0"/>
              <a:t> 公開金鑰加密法</a:t>
            </a:r>
            <a:endParaRPr lang="en-US" altLang="zh-TW" sz="1800" dirty="0" smtClean="0"/>
          </a:p>
          <a:p>
            <a:pPr lvl="1"/>
            <a:r>
              <a:rPr lang="zh-TW" altLang="en-US" sz="1800" b="1" dirty="0" smtClean="0">
                <a:solidFill>
                  <a:srgbClr val="0000FF"/>
                </a:solidFill>
              </a:rPr>
              <a:t>數位憑證 </a:t>
            </a:r>
            <a:r>
              <a:rPr lang="en-US" altLang="zh-TW" sz="1800" dirty="0" smtClean="0"/>
              <a:t>(digital certificate)</a:t>
            </a:r>
            <a:endParaRPr lang="zh-TW" altLang="en-US" sz="1800" dirty="0"/>
          </a:p>
        </p:txBody>
      </p:sp>
      <p:sp>
        <p:nvSpPr>
          <p:cNvPr id="3" name="標題 2"/>
          <p:cNvSpPr>
            <a:spLocks noGrp="1"/>
          </p:cNvSpPr>
          <p:nvPr>
            <p:ph type="title"/>
          </p:nvPr>
        </p:nvSpPr>
        <p:spPr/>
        <p:txBody>
          <a:bodyPr>
            <a:normAutofit/>
          </a:bodyPr>
          <a:lstStyle/>
          <a:p>
            <a:r>
              <a:rPr lang="zh-TW" altLang="en-US" dirty="0" smtClean="0"/>
              <a:t> </a:t>
            </a:r>
            <a:r>
              <a:rPr lang="en-US" altLang="zh-TW" dirty="0" smtClean="0"/>
              <a:t>B7. </a:t>
            </a:r>
            <a:r>
              <a:rPr lang="en-US" altLang="zh-TW" dirty="0" smtClean="0">
                <a:solidFill>
                  <a:srgbClr val="FF0000"/>
                </a:solidFill>
              </a:rPr>
              <a:t>PKI </a:t>
            </a:r>
            <a:r>
              <a:rPr lang="en-US" altLang="zh-TW" dirty="0">
                <a:latin typeface="標楷體" panose="03000509000000000000" pitchFamily="65" charset="-120"/>
                <a:ea typeface="標楷體" panose="03000509000000000000" pitchFamily="65" charset="-120"/>
              </a:rPr>
              <a:t>(Public Key Infrastructure</a:t>
            </a:r>
            <a:r>
              <a:rPr lang="en-US" altLang="zh-TW" dirty="0" smtClean="0">
                <a:latin typeface="標楷體" panose="03000509000000000000" pitchFamily="65" charset="-120"/>
                <a:ea typeface="標楷體" panose="03000509000000000000" pitchFamily="65" charset="-120"/>
              </a:rPr>
              <a:t>)</a:t>
            </a:r>
            <a:endParaRPr lang="zh-TW" altLang="en-US" dirty="0">
              <a:solidFill>
                <a:srgbClr val="FF0000"/>
              </a:solidFill>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dirty="0" smtClean="0"/>
              <a:t>憑證管理中心 </a:t>
            </a:r>
            <a:endParaRPr lang="zh-TW" altLang="en-US" dirty="0"/>
          </a:p>
        </p:txBody>
      </p:sp>
      <p:sp>
        <p:nvSpPr>
          <p:cNvPr id="2" name="內容版面配置區 1"/>
          <p:cNvSpPr>
            <a:spLocks noGrp="1"/>
          </p:cNvSpPr>
          <p:nvPr>
            <p:ph sz="half" idx="1"/>
          </p:nvPr>
        </p:nvSpPr>
        <p:spPr>
          <a:xfrm>
            <a:off x="285720" y="1285860"/>
            <a:ext cx="4000528" cy="5286412"/>
          </a:xfrm>
        </p:spPr>
        <p:txBody>
          <a:bodyPr>
            <a:noAutofit/>
          </a:bodyPr>
          <a:lstStyle/>
          <a:p>
            <a:r>
              <a:rPr lang="zh-TW" altLang="en-US" dirty="0" smtClean="0"/>
              <a:t>電子商務要求資訊的安全機制，所以需要依靠一個可靠的第三方認証機構，就是憑證管理中心</a:t>
            </a:r>
            <a:r>
              <a:rPr lang="en-US" altLang="zh-TW" dirty="0" smtClean="0"/>
              <a:t>(CA)</a:t>
            </a:r>
            <a:r>
              <a:rPr lang="zh-TW" altLang="en-US" dirty="0" smtClean="0"/>
              <a:t>。</a:t>
            </a:r>
            <a:endParaRPr lang="en-US" altLang="zh-TW" dirty="0" smtClean="0"/>
          </a:p>
          <a:p>
            <a:r>
              <a:rPr lang="en-US" altLang="zh-TW" dirty="0" smtClean="0"/>
              <a:t>CA</a:t>
            </a:r>
            <a:r>
              <a:rPr lang="zh-TW" altLang="en-US" dirty="0" smtClean="0"/>
              <a:t>負責</a:t>
            </a:r>
            <a:r>
              <a:rPr lang="zh-TW" altLang="en-US" dirty="0" smtClean="0">
                <a:solidFill>
                  <a:srgbClr val="0000FF"/>
                </a:solidFill>
              </a:rPr>
              <a:t>發行、撤銷、配送數位憑證</a:t>
            </a:r>
            <a:r>
              <a:rPr lang="zh-TW" altLang="en-US" dirty="0" smtClean="0"/>
              <a:t>。數位憑證簡單說就是連結公開金鑰與個體的機制。</a:t>
            </a:r>
            <a:endParaRPr lang="en-US" altLang="zh-TW" dirty="0" smtClean="0"/>
          </a:p>
          <a:p>
            <a:r>
              <a:rPr lang="zh-TW" altLang="en-US" dirty="0" smtClean="0"/>
              <a:t>右圖通話雙方都信任</a:t>
            </a:r>
            <a:r>
              <a:rPr lang="en-US" altLang="zh-TW" dirty="0" smtClean="0"/>
              <a:t>CA</a:t>
            </a:r>
            <a:r>
              <a:rPr lang="zh-TW" altLang="en-US" dirty="0" smtClean="0"/>
              <a:t>。</a:t>
            </a:r>
            <a:r>
              <a:rPr lang="en-US" altLang="zh-TW" dirty="0" smtClean="0">
                <a:solidFill>
                  <a:srgbClr val="FF0000"/>
                </a:solidFill>
              </a:rPr>
              <a:t>CA</a:t>
            </a:r>
            <a:r>
              <a:rPr lang="zh-TW" altLang="en-US" dirty="0" smtClean="0">
                <a:solidFill>
                  <a:srgbClr val="FF0000"/>
                </a:solidFill>
              </a:rPr>
              <a:t>發給各人一張包括持有人公開金鑰的憑證</a:t>
            </a:r>
            <a:r>
              <a:rPr lang="zh-TW" altLang="en-US" dirty="0" smtClean="0"/>
              <a:t>，雙方通訊時就以憑證來證明自己的身分。</a:t>
            </a:r>
            <a:r>
              <a:rPr lang="zh-TW" altLang="en-US" dirty="0" smtClean="0">
                <a:solidFill>
                  <a:srgbClr val="0000FF"/>
                </a:solidFill>
              </a:rPr>
              <a:t>收到憑證的一方會要求</a:t>
            </a:r>
            <a:r>
              <a:rPr lang="en-US" altLang="zh-TW" dirty="0" smtClean="0">
                <a:solidFill>
                  <a:srgbClr val="0000FF"/>
                </a:solidFill>
              </a:rPr>
              <a:t>CA</a:t>
            </a:r>
            <a:r>
              <a:rPr lang="zh-TW" altLang="en-US" dirty="0" smtClean="0">
                <a:solidFill>
                  <a:srgbClr val="0000FF"/>
                </a:solidFill>
              </a:rPr>
              <a:t>認證對方身分</a:t>
            </a:r>
            <a:r>
              <a:rPr lang="zh-TW" altLang="en-US" dirty="0" smtClean="0"/>
              <a:t>，才開始安全通訊。</a:t>
            </a:r>
            <a:endParaRPr lang="en-US" altLang="zh-TW" dirty="0" smtClean="0"/>
          </a:p>
        </p:txBody>
      </p:sp>
      <p:pic>
        <p:nvPicPr>
          <p:cNvPr id="1026" name="Picture 2"/>
          <p:cNvPicPr>
            <a:picLocks noChangeAspect="1" noChangeArrowheads="1"/>
          </p:cNvPicPr>
          <p:nvPr/>
        </p:nvPicPr>
        <p:blipFill>
          <a:blip r:embed="rId2" cstate="print"/>
          <a:srcRect/>
          <a:stretch>
            <a:fillRect/>
          </a:stretch>
        </p:blipFill>
        <p:spPr bwMode="auto">
          <a:xfrm>
            <a:off x="4714876" y="4857760"/>
            <a:ext cx="1522603" cy="1136633"/>
          </a:xfrm>
          <a:prstGeom prst="rect">
            <a:avLst/>
          </a:prstGeom>
          <a:noFill/>
          <a:ln w="9525">
            <a:noFill/>
            <a:miter lim="800000"/>
            <a:headEnd/>
            <a:tailEnd/>
          </a:ln>
          <a:effectLst/>
        </p:spPr>
      </p:pic>
      <p:pic>
        <p:nvPicPr>
          <p:cNvPr id="1027" name="Picture 3"/>
          <p:cNvPicPr>
            <a:picLocks noChangeAspect="1" noChangeArrowheads="1"/>
          </p:cNvPicPr>
          <p:nvPr/>
        </p:nvPicPr>
        <p:blipFill>
          <a:blip r:embed="rId3" cstate="print"/>
          <a:srcRect/>
          <a:stretch>
            <a:fillRect/>
          </a:stretch>
        </p:blipFill>
        <p:spPr bwMode="auto">
          <a:xfrm>
            <a:off x="7000892" y="3000372"/>
            <a:ext cx="1857388" cy="1393041"/>
          </a:xfrm>
          <a:prstGeom prst="rect">
            <a:avLst/>
          </a:prstGeom>
          <a:noFill/>
          <a:ln w="9525">
            <a:noFill/>
            <a:miter lim="800000"/>
            <a:headEnd/>
            <a:tailEnd/>
          </a:ln>
          <a:effectLst/>
        </p:spPr>
      </p:pic>
      <p:sp>
        <p:nvSpPr>
          <p:cNvPr id="8" name="文字方塊 7"/>
          <p:cNvSpPr txBox="1"/>
          <p:nvPr/>
        </p:nvSpPr>
        <p:spPr>
          <a:xfrm>
            <a:off x="7299632" y="4662082"/>
            <a:ext cx="1415772" cy="584775"/>
          </a:xfrm>
          <a:prstGeom prst="rect">
            <a:avLst/>
          </a:prstGeom>
          <a:noFill/>
        </p:spPr>
        <p:txBody>
          <a:bodyPr wrap="none" rtlCol="0">
            <a:spAutoFit/>
          </a:bodyPr>
          <a:lstStyle/>
          <a:p>
            <a:pPr algn="ctr"/>
            <a:r>
              <a:rPr lang="zh-TW" altLang="en-US" sz="1600" dirty="0" smtClean="0">
                <a:latin typeface="Calibri" pitchFamily="34" charset="0"/>
              </a:rPr>
              <a:t>憑證管理中心</a:t>
            </a:r>
            <a:endParaRPr lang="en-US" altLang="zh-TW" sz="1600" dirty="0" smtClean="0">
              <a:latin typeface="Calibri" pitchFamily="34" charset="0"/>
            </a:endParaRPr>
          </a:p>
          <a:p>
            <a:pPr algn="ctr"/>
            <a:r>
              <a:rPr lang="en-US" altLang="zh-TW" sz="1600" dirty="0" smtClean="0">
                <a:latin typeface="Calibri" pitchFamily="34" charset="0"/>
              </a:rPr>
              <a:t>(CA)</a:t>
            </a:r>
            <a:endParaRPr lang="zh-TW" altLang="en-US" sz="1600" dirty="0">
              <a:latin typeface="Calibri" pitchFamily="34" charset="0"/>
            </a:endParaRPr>
          </a:p>
        </p:txBody>
      </p:sp>
      <p:sp>
        <p:nvSpPr>
          <p:cNvPr id="11" name="流程圖: 文件 10"/>
          <p:cNvSpPr/>
          <p:nvPr/>
        </p:nvSpPr>
        <p:spPr>
          <a:xfrm>
            <a:off x="4572000" y="3857628"/>
            <a:ext cx="785818" cy="508996"/>
          </a:xfrm>
          <a:prstGeom prst="flowChartDocumen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zh-TW" altLang="en-US" sz="1400" dirty="0" smtClean="0">
                <a:latin typeface="Calibri" pitchFamily="34" charset="0"/>
              </a:rPr>
              <a:t>憑證</a:t>
            </a:r>
            <a:endParaRPr lang="zh-TW" altLang="en-US" sz="1400" dirty="0">
              <a:latin typeface="Calibri" pitchFamily="34" charset="0"/>
            </a:endParaRPr>
          </a:p>
        </p:txBody>
      </p:sp>
      <p:sp>
        <p:nvSpPr>
          <p:cNvPr id="12" name="流程圖: 預設處理作業 11"/>
          <p:cNvSpPr/>
          <p:nvPr/>
        </p:nvSpPr>
        <p:spPr>
          <a:xfrm>
            <a:off x="4572000" y="3214686"/>
            <a:ext cx="785818" cy="581709"/>
          </a:xfrm>
          <a:prstGeom prst="flowChartPredefinedProcess">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TW" altLang="en-US" sz="1400" dirty="0" smtClean="0">
                <a:latin typeface="Calibri" pitchFamily="34" charset="0"/>
              </a:rPr>
              <a:t>訊息</a:t>
            </a:r>
            <a:endParaRPr lang="zh-TW" altLang="en-US" sz="1400" dirty="0">
              <a:latin typeface="Calibri" pitchFamily="34" charset="0"/>
            </a:endParaRPr>
          </a:p>
        </p:txBody>
      </p:sp>
      <p:pic>
        <p:nvPicPr>
          <p:cNvPr id="23" name="Picture 2"/>
          <p:cNvPicPr>
            <a:picLocks noChangeAspect="1" noChangeArrowheads="1"/>
          </p:cNvPicPr>
          <p:nvPr/>
        </p:nvPicPr>
        <p:blipFill>
          <a:blip r:embed="rId2" cstate="print"/>
          <a:srcRect/>
          <a:stretch>
            <a:fillRect/>
          </a:stretch>
        </p:blipFill>
        <p:spPr bwMode="auto">
          <a:xfrm>
            <a:off x="4714876" y="1571612"/>
            <a:ext cx="1522603" cy="1136633"/>
          </a:xfrm>
          <a:prstGeom prst="rect">
            <a:avLst/>
          </a:prstGeom>
          <a:noFill/>
          <a:ln w="9525">
            <a:noFill/>
            <a:miter lim="800000"/>
            <a:headEnd/>
            <a:tailEnd/>
          </a:ln>
          <a:effectLst/>
        </p:spPr>
      </p:pic>
      <p:cxnSp>
        <p:nvCxnSpPr>
          <p:cNvPr id="39" name="直線單箭頭接點 38"/>
          <p:cNvCxnSpPr>
            <a:stCxn id="23" idx="2"/>
            <a:endCxn id="1026" idx="0"/>
          </p:cNvCxnSpPr>
          <p:nvPr/>
        </p:nvCxnSpPr>
        <p:spPr>
          <a:xfrm rot="5400000">
            <a:off x="4401421" y="3783002"/>
            <a:ext cx="2149515" cy="158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41" name="直線單箭頭接點 40"/>
          <p:cNvCxnSpPr>
            <a:stCxn id="1026" idx="3"/>
            <a:endCxn id="1027" idx="2"/>
          </p:cNvCxnSpPr>
          <p:nvPr/>
        </p:nvCxnSpPr>
        <p:spPr>
          <a:xfrm flipV="1">
            <a:off x="6237479" y="4393413"/>
            <a:ext cx="1692107" cy="1032664"/>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46" name="直線單箭頭接點 45"/>
          <p:cNvCxnSpPr>
            <a:stCxn id="23" idx="3"/>
            <a:endCxn id="1027" idx="0"/>
          </p:cNvCxnSpPr>
          <p:nvPr/>
        </p:nvCxnSpPr>
        <p:spPr>
          <a:xfrm>
            <a:off x="6237479" y="2139929"/>
            <a:ext cx="1692107" cy="860443"/>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dirty="0" smtClean="0"/>
              <a:t>註冊管理中心</a:t>
            </a:r>
            <a:endParaRPr lang="zh-TW" altLang="en-US" dirty="0"/>
          </a:p>
        </p:txBody>
      </p:sp>
      <p:sp>
        <p:nvSpPr>
          <p:cNvPr id="2" name="內容版面配置區 1"/>
          <p:cNvSpPr>
            <a:spLocks noGrp="1"/>
          </p:cNvSpPr>
          <p:nvPr>
            <p:ph sz="half" idx="1"/>
          </p:nvPr>
        </p:nvSpPr>
        <p:spPr/>
        <p:txBody>
          <a:bodyPr>
            <a:normAutofit/>
          </a:bodyPr>
          <a:lstStyle/>
          <a:p>
            <a:r>
              <a:rPr lang="zh-TW" altLang="en-US" dirty="0" smtClean="0"/>
              <a:t>註冊管理中心</a:t>
            </a:r>
            <a:r>
              <a:rPr lang="en-US" altLang="zh-TW" dirty="0" smtClean="0"/>
              <a:t>(RA)</a:t>
            </a:r>
            <a:r>
              <a:rPr lang="zh-TW" altLang="en-US" dirty="0" smtClean="0"/>
              <a:t>是數位憑證的註冊審批組織。</a:t>
            </a:r>
            <a:r>
              <a:rPr lang="en-US" altLang="zh-TW" dirty="0" smtClean="0"/>
              <a:t>RA</a:t>
            </a:r>
            <a:r>
              <a:rPr lang="zh-TW" altLang="en-US" dirty="0" smtClean="0"/>
              <a:t>系統是</a:t>
            </a:r>
            <a:r>
              <a:rPr lang="en-US" altLang="zh-TW" dirty="0" smtClean="0"/>
              <a:t>CA</a:t>
            </a:r>
            <a:r>
              <a:rPr lang="zh-TW" altLang="en-US" dirty="0" smtClean="0"/>
              <a:t>的憑證發行與管理的延伸。它負責憑證申請人的訊息登入、審核以及憑證發放等工作；同時，對發放的憑證完成相應的管理功能。</a:t>
            </a:r>
            <a:endParaRPr lang="en-US" altLang="zh-TW" dirty="0" smtClean="0"/>
          </a:p>
          <a:p>
            <a:r>
              <a:rPr lang="zh-TW" altLang="en-US" dirty="0" smtClean="0"/>
              <a:t>右圖顯示</a:t>
            </a:r>
            <a:r>
              <a:rPr lang="en-US" altLang="zh-TW" dirty="0" smtClean="0"/>
              <a:t>RA</a:t>
            </a:r>
            <a:r>
              <a:rPr lang="zh-TW" altLang="en-US" dirty="0" smtClean="0"/>
              <a:t>可以協助減輕</a:t>
            </a:r>
            <a:r>
              <a:rPr lang="en-US" altLang="zh-TW" dirty="0" smtClean="0"/>
              <a:t>CA</a:t>
            </a:r>
            <a:r>
              <a:rPr lang="zh-TW" altLang="en-US" dirty="0" smtClean="0"/>
              <a:t>的工作負擔，</a:t>
            </a:r>
            <a:r>
              <a:rPr lang="zh-TW" altLang="en-US" dirty="0" smtClean="0">
                <a:solidFill>
                  <a:srgbClr val="0000FF"/>
                </a:solidFill>
              </a:rPr>
              <a:t>一位遠端使用者可與就近的</a:t>
            </a:r>
            <a:r>
              <a:rPr lang="en-US" altLang="zh-TW" dirty="0" smtClean="0">
                <a:solidFill>
                  <a:srgbClr val="0000FF"/>
                </a:solidFill>
              </a:rPr>
              <a:t>RA</a:t>
            </a:r>
            <a:r>
              <a:rPr lang="zh-TW" altLang="en-US" dirty="0" smtClean="0">
                <a:solidFill>
                  <a:srgbClr val="0000FF"/>
                </a:solidFill>
              </a:rPr>
              <a:t>接洽憑證事務</a:t>
            </a:r>
            <a:r>
              <a:rPr lang="zh-TW" altLang="en-US" dirty="0" smtClean="0"/>
              <a:t>，而不需每件事都要求</a:t>
            </a:r>
            <a:r>
              <a:rPr lang="en-US" altLang="zh-TW" dirty="0" smtClean="0"/>
              <a:t>CA</a:t>
            </a:r>
            <a:r>
              <a:rPr lang="zh-TW" altLang="en-US" dirty="0" smtClean="0"/>
              <a:t>處理。</a:t>
            </a:r>
            <a:endParaRPr lang="en-US" altLang="zh-TW" dirty="0" smtClean="0"/>
          </a:p>
        </p:txBody>
      </p:sp>
      <p:pic>
        <p:nvPicPr>
          <p:cNvPr id="5" name="Picture 3"/>
          <p:cNvPicPr>
            <a:picLocks noChangeAspect="1" noChangeArrowheads="1"/>
          </p:cNvPicPr>
          <p:nvPr/>
        </p:nvPicPr>
        <p:blipFill>
          <a:blip r:embed="rId2" cstate="print"/>
          <a:srcRect/>
          <a:stretch>
            <a:fillRect/>
          </a:stretch>
        </p:blipFill>
        <p:spPr bwMode="auto">
          <a:xfrm>
            <a:off x="4643437" y="4500570"/>
            <a:ext cx="1524011" cy="1143008"/>
          </a:xfrm>
          <a:prstGeom prst="rect">
            <a:avLst/>
          </a:prstGeom>
          <a:noFill/>
          <a:ln w="9525">
            <a:noFill/>
            <a:miter lim="800000"/>
            <a:headEnd/>
            <a:tailEnd/>
          </a:ln>
          <a:effectLst/>
        </p:spPr>
      </p:pic>
      <p:pic>
        <p:nvPicPr>
          <p:cNvPr id="6" name="Picture 3"/>
          <p:cNvPicPr>
            <a:picLocks noChangeAspect="1" noChangeArrowheads="1"/>
          </p:cNvPicPr>
          <p:nvPr/>
        </p:nvPicPr>
        <p:blipFill>
          <a:blip r:embed="rId2" cstate="print"/>
          <a:srcRect/>
          <a:stretch>
            <a:fillRect/>
          </a:stretch>
        </p:blipFill>
        <p:spPr bwMode="auto">
          <a:xfrm>
            <a:off x="7143768" y="1821645"/>
            <a:ext cx="1381134" cy="1035851"/>
          </a:xfrm>
          <a:prstGeom prst="rect">
            <a:avLst/>
          </a:prstGeom>
          <a:noFill/>
          <a:ln w="9525">
            <a:noFill/>
            <a:miter lim="800000"/>
            <a:headEnd/>
            <a:tailEnd/>
          </a:ln>
          <a:effectLst/>
        </p:spPr>
      </p:pic>
      <p:pic>
        <p:nvPicPr>
          <p:cNvPr id="7" name="Picture 2"/>
          <p:cNvPicPr>
            <a:picLocks noChangeAspect="1" noChangeArrowheads="1"/>
          </p:cNvPicPr>
          <p:nvPr/>
        </p:nvPicPr>
        <p:blipFill>
          <a:blip r:embed="rId3" cstate="print"/>
          <a:srcRect/>
          <a:stretch>
            <a:fillRect/>
          </a:stretch>
        </p:blipFill>
        <p:spPr bwMode="auto">
          <a:xfrm>
            <a:off x="4857752" y="1827520"/>
            <a:ext cx="1379727" cy="1029975"/>
          </a:xfrm>
          <a:prstGeom prst="rect">
            <a:avLst/>
          </a:prstGeom>
          <a:noFill/>
          <a:ln w="9525">
            <a:noFill/>
            <a:miter lim="800000"/>
            <a:headEnd/>
            <a:tailEnd/>
          </a:ln>
          <a:effectLst/>
        </p:spPr>
      </p:pic>
      <p:pic>
        <p:nvPicPr>
          <p:cNvPr id="8" name="Picture 2"/>
          <p:cNvPicPr>
            <a:picLocks noChangeAspect="1" noChangeArrowheads="1"/>
          </p:cNvPicPr>
          <p:nvPr/>
        </p:nvPicPr>
        <p:blipFill>
          <a:blip r:embed="rId3" cstate="print"/>
          <a:srcRect/>
          <a:stretch>
            <a:fillRect/>
          </a:stretch>
        </p:blipFill>
        <p:spPr bwMode="auto">
          <a:xfrm>
            <a:off x="7192285" y="4572008"/>
            <a:ext cx="1331210" cy="993757"/>
          </a:xfrm>
          <a:prstGeom prst="rect">
            <a:avLst/>
          </a:prstGeom>
          <a:noFill/>
          <a:ln w="9525">
            <a:noFill/>
            <a:miter lim="800000"/>
            <a:headEnd/>
            <a:tailEnd/>
          </a:ln>
          <a:effectLst/>
        </p:spPr>
      </p:pic>
      <p:sp>
        <p:nvSpPr>
          <p:cNvPr id="9" name="文字方塊 8"/>
          <p:cNvSpPr txBox="1"/>
          <p:nvPr/>
        </p:nvSpPr>
        <p:spPr>
          <a:xfrm>
            <a:off x="7831202" y="1357298"/>
            <a:ext cx="455574" cy="369332"/>
          </a:xfrm>
          <a:prstGeom prst="rect">
            <a:avLst/>
          </a:prstGeom>
          <a:noFill/>
        </p:spPr>
        <p:txBody>
          <a:bodyPr wrap="none" rtlCol="0">
            <a:spAutoFit/>
          </a:bodyPr>
          <a:lstStyle/>
          <a:p>
            <a:r>
              <a:rPr lang="en-US" altLang="zh-TW" dirty="0" smtClean="0">
                <a:latin typeface="Calibri" pitchFamily="34" charset="0"/>
              </a:rPr>
              <a:t>RA</a:t>
            </a:r>
            <a:endParaRPr lang="zh-TW" altLang="en-US" dirty="0">
              <a:latin typeface="Calibri" pitchFamily="34" charset="0"/>
            </a:endParaRPr>
          </a:p>
        </p:txBody>
      </p:sp>
      <p:sp>
        <p:nvSpPr>
          <p:cNvPr id="10" name="文字方塊 9"/>
          <p:cNvSpPr txBox="1"/>
          <p:nvPr/>
        </p:nvSpPr>
        <p:spPr>
          <a:xfrm>
            <a:off x="4970476" y="4131238"/>
            <a:ext cx="441146" cy="369332"/>
          </a:xfrm>
          <a:prstGeom prst="rect">
            <a:avLst/>
          </a:prstGeom>
          <a:noFill/>
        </p:spPr>
        <p:txBody>
          <a:bodyPr wrap="none" rtlCol="0">
            <a:spAutoFit/>
          </a:bodyPr>
          <a:lstStyle/>
          <a:p>
            <a:r>
              <a:rPr lang="en-US" altLang="zh-TW" dirty="0" smtClean="0">
                <a:latin typeface="Calibri" pitchFamily="34" charset="0"/>
              </a:rPr>
              <a:t>CA</a:t>
            </a:r>
            <a:endParaRPr lang="zh-TW" altLang="en-US" dirty="0">
              <a:latin typeface="Calibri" pitchFamily="34" charset="0"/>
            </a:endParaRPr>
          </a:p>
        </p:txBody>
      </p:sp>
      <p:sp>
        <p:nvSpPr>
          <p:cNvPr id="11" name="文字方塊 10"/>
          <p:cNvSpPr txBox="1"/>
          <p:nvPr/>
        </p:nvSpPr>
        <p:spPr>
          <a:xfrm>
            <a:off x="4786314" y="1285860"/>
            <a:ext cx="1338828" cy="369332"/>
          </a:xfrm>
          <a:prstGeom prst="rect">
            <a:avLst/>
          </a:prstGeom>
          <a:noFill/>
        </p:spPr>
        <p:txBody>
          <a:bodyPr wrap="none" rtlCol="0">
            <a:spAutoFit/>
          </a:bodyPr>
          <a:lstStyle/>
          <a:p>
            <a:r>
              <a:rPr lang="zh-TW" altLang="en-US" dirty="0" smtClean="0">
                <a:latin typeface="Calibri" pitchFamily="34" charset="0"/>
              </a:rPr>
              <a:t>遠端使用者</a:t>
            </a:r>
            <a:endParaRPr lang="zh-TW" altLang="en-US" dirty="0">
              <a:latin typeface="Calibri" pitchFamily="34" charset="0"/>
            </a:endParaRPr>
          </a:p>
        </p:txBody>
      </p:sp>
      <p:cxnSp>
        <p:nvCxnSpPr>
          <p:cNvPr id="13" name="直線單箭頭接點 12"/>
          <p:cNvCxnSpPr>
            <a:stCxn id="7" idx="2"/>
            <a:endCxn id="8" idx="0"/>
          </p:cNvCxnSpPr>
          <p:nvPr/>
        </p:nvCxnSpPr>
        <p:spPr>
          <a:xfrm rot="16200000" flipH="1">
            <a:off x="5845497" y="2559614"/>
            <a:ext cx="1714513" cy="2310274"/>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直線單箭頭接點 14"/>
          <p:cNvCxnSpPr>
            <a:stCxn id="8" idx="1"/>
            <a:endCxn id="5" idx="3"/>
          </p:cNvCxnSpPr>
          <p:nvPr/>
        </p:nvCxnSpPr>
        <p:spPr>
          <a:xfrm rot="10800000" flipV="1">
            <a:off x="6167449" y="5068886"/>
            <a:ext cx="1024837" cy="3187"/>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直線單箭頭接點 16"/>
          <p:cNvCxnSpPr>
            <a:stCxn id="6" idx="2"/>
            <a:endCxn id="5" idx="0"/>
          </p:cNvCxnSpPr>
          <p:nvPr/>
        </p:nvCxnSpPr>
        <p:spPr>
          <a:xfrm rot="5400000">
            <a:off x="5798352" y="2464587"/>
            <a:ext cx="1643074" cy="2428892"/>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20" name="直線單箭頭接點 19"/>
          <p:cNvCxnSpPr>
            <a:stCxn id="7" idx="3"/>
            <a:endCxn id="6" idx="1"/>
          </p:cNvCxnSpPr>
          <p:nvPr/>
        </p:nvCxnSpPr>
        <p:spPr>
          <a:xfrm flipV="1">
            <a:off x="6237479" y="2339571"/>
            <a:ext cx="906289" cy="2937"/>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sz="2000" dirty="0" smtClean="0"/>
              <a:t>數位憑證是個體</a:t>
            </a:r>
            <a:r>
              <a:rPr lang="zh-TW" altLang="en-US" sz="2000" dirty="0" smtClean="0">
                <a:latin typeface="微軟正黑體"/>
                <a:ea typeface="微軟正黑體"/>
              </a:rPr>
              <a:t> </a:t>
            </a:r>
            <a:r>
              <a:rPr lang="en-US" altLang="zh-TW" sz="2000" dirty="0" smtClean="0">
                <a:latin typeface="微軟正黑體"/>
                <a:ea typeface="微軟正黑體"/>
              </a:rPr>
              <a:t>(</a:t>
            </a:r>
            <a:r>
              <a:rPr lang="zh-TW" altLang="en-US" sz="2000" dirty="0" smtClean="0">
                <a:latin typeface="微軟正黑體"/>
                <a:ea typeface="微軟正黑體"/>
              </a:rPr>
              <a:t>如</a:t>
            </a:r>
            <a:r>
              <a:rPr lang="zh-TW" altLang="en-US" sz="2000" dirty="0" smtClean="0"/>
              <a:t>持卡人、企業、銀行等</a:t>
            </a:r>
            <a:r>
              <a:rPr lang="en-US" altLang="zh-TW" sz="2000" dirty="0" smtClean="0">
                <a:latin typeface="微軟正黑體"/>
                <a:ea typeface="微軟正黑體"/>
              </a:rPr>
              <a:t>)</a:t>
            </a:r>
            <a:r>
              <a:rPr lang="zh-TW" altLang="en-US" sz="2000" dirty="0" smtClean="0">
                <a:latin typeface="微軟正黑體"/>
                <a:ea typeface="微軟正黑體"/>
              </a:rPr>
              <a:t> </a:t>
            </a:r>
            <a:r>
              <a:rPr lang="zh-TW" altLang="en-US" sz="2000" dirty="0" smtClean="0"/>
              <a:t>在網路上進行資訊交流及商務活動的身份證明。在電子交易諸多環節裡，各方都需要認證對方憑證的有效性，從而解決相互間的信任問題。</a:t>
            </a:r>
            <a:r>
              <a:rPr lang="zh-TW" altLang="en-US" sz="2000" dirty="0" smtClean="0">
                <a:solidFill>
                  <a:srgbClr val="FF0000"/>
                </a:solidFill>
              </a:rPr>
              <a:t>憑證</a:t>
            </a:r>
            <a:r>
              <a:rPr lang="zh-TW" altLang="en-US" sz="2000" dirty="0" smtClean="0"/>
              <a:t>是一個經憑證管理中心數位簽章的文件，</a:t>
            </a:r>
            <a:r>
              <a:rPr lang="zh-TW" altLang="en-US" sz="2000" dirty="0" smtClean="0">
                <a:solidFill>
                  <a:srgbClr val="FF0000"/>
                </a:solidFill>
              </a:rPr>
              <a:t>裡面包含公開金鑰與擁有者的資訊。</a:t>
            </a:r>
            <a:endParaRPr lang="en-US" altLang="zh-TW" sz="2000" dirty="0" smtClean="0">
              <a:solidFill>
                <a:srgbClr val="FF0000"/>
              </a:solidFill>
            </a:endParaRPr>
          </a:p>
          <a:p>
            <a:r>
              <a:rPr lang="zh-TW" altLang="en-US" sz="2000" dirty="0" smtClean="0"/>
              <a:t>從用途來看，數位憑證可分為簽章憑證和加密憑證：</a:t>
            </a:r>
            <a:endParaRPr lang="en-US" altLang="zh-TW" sz="2000" dirty="0" smtClean="0"/>
          </a:p>
          <a:p>
            <a:pPr lvl="1"/>
            <a:r>
              <a:rPr lang="zh-TW" altLang="en-US" sz="1800" dirty="0" smtClean="0"/>
              <a:t>簽章憑證的用途是對訊息進行數位簽章，以保証訊息的不可否認性。</a:t>
            </a:r>
            <a:endParaRPr lang="en-US" altLang="zh-TW" sz="1800" dirty="0" smtClean="0"/>
          </a:p>
          <a:p>
            <a:pPr lvl="1"/>
            <a:r>
              <a:rPr lang="zh-TW" altLang="en-US" sz="1800" dirty="0" smtClean="0"/>
              <a:t>加密憑證的用途是對訊息進行加密，以保証訊息的真實性與正確性。</a:t>
            </a:r>
            <a:endParaRPr lang="en-US" altLang="zh-TW" sz="1800" dirty="0" smtClean="0"/>
          </a:p>
          <a:p>
            <a:r>
              <a:rPr lang="zh-TW" altLang="en-US" sz="2000" dirty="0" smtClean="0">
                <a:solidFill>
                  <a:srgbClr val="0000FF"/>
                </a:solidFill>
              </a:rPr>
              <a:t>數位憑證包含</a:t>
            </a:r>
            <a:r>
              <a:rPr lang="zh-TW" altLang="en-US" sz="2000" dirty="0" smtClean="0"/>
              <a:t>使用者身份資訊、</a:t>
            </a:r>
            <a:r>
              <a:rPr lang="zh-TW" altLang="en-US" sz="2000" dirty="0" smtClean="0">
                <a:solidFill>
                  <a:srgbClr val="FF0000"/>
                </a:solidFill>
              </a:rPr>
              <a:t>使用者公開金鑰</a:t>
            </a:r>
            <a:r>
              <a:rPr lang="zh-TW" altLang="en-US" sz="2000" dirty="0" smtClean="0"/>
              <a:t>資訊以及憑證管理中心</a:t>
            </a:r>
            <a:r>
              <a:rPr lang="zh-TW" altLang="en-US" sz="2000" dirty="0" smtClean="0">
                <a:solidFill>
                  <a:srgbClr val="FF0000"/>
                </a:solidFill>
              </a:rPr>
              <a:t>數位簽章</a:t>
            </a:r>
            <a:r>
              <a:rPr lang="zh-TW" altLang="en-US" sz="2000" dirty="0" smtClean="0"/>
              <a:t>的數據，該數據可以確保憑證的真實性。憑證格式及內容遵循</a:t>
            </a:r>
            <a:r>
              <a:rPr lang="en-US" altLang="zh-TW" sz="2000" dirty="0" smtClean="0"/>
              <a:t>X.509</a:t>
            </a:r>
            <a:r>
              <a:rPr lang="zh-TW" altLang="en-US" sz="2000" dirty="0" smtClean="0"/>
              <a:t>標準。</a:t>
            </a:r>
            <a:endParaRPr lang="zh-TW" altLang="en-US" sz="2000" dirty="0"/>
          </a:p>
        </p:txBody>
      </p:sp>
      <p:sp>
        <p:nvSpPr>
          <p:cNvPr id="3" name="標題 2"/>
          <p:cNvSpPr>
            <a:spLocks noGrp="1"/>
          </p:cNvSpPr>
          <p:nvPr>
            <p:ph type="title"/>
          </p:nvPr>
        </p:nvSpPr>
        <p:spPr/>
        <p:txBody>
          <a:bodyPr/>
          <a:lstStyle/>
          <a:p>
            <a:r>
              <a:rPr lang="zh-TW" altLang="en-US" dirty="0" smtClean="0">
                <a:solidFill>
                  <a:srgbClr val="0000FF"/>
                </a:solidFill>
              </a:rPr>
              <a:t>數位憑證</a:t>
            </a:r>
            <a:endParaRPr lang="zh-TW" altLang="en-US" dirty="0">
              <a:solidFill>
                <a:srgbClr val="0000FF"/>
              </a:solidFill>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smtClean="0">
                <a:solidFill>
                  <a:srgbClr val="0000FF"/>
                </a:solidFill>
              </a:rPr>
              <a:t>X.509</a:t>
            </a:r>
            <a:endParaRPr lang="zh-TW" altLang="en-US" dirty="0">
              <a:solidFill>
                <a:srgbClr val="0000FF"/>
              </a:solidFill>
            </a:endParaRPr>
          </a:p>
        </p:txBody>
      </p:sp>
      <p:sp>
        <p:nvSpPr>
          <p:cNvPr id="4" name="內容版面配置區 3"/>
          <p:cNvSpPr>
            <a:spLocks noGrp="1"/>
          </p:cNvSpPr>
          <p:nvPr>
            <p:ph sz="half" idx="1"/>
          </p:nvPr>
        </p:nvSpPr>
        <p:spPr>
          <a:xfrm>
            <a:off x="285720" y="1285860"/>
            <a:ext cx="2414072" cy="5357850"/>
          </a:xfrm>
        </p:spPr>
        <p:txBody>
          <a:bodyPr>
            <a:normAutofit/>
          </a:bodyPr>
          <a:lstStyle/>
          <a:p>
            <a:r>
              <a:rPr lang="zh-TW" altLang="en-US" dirty="0" smtClean="0"/>
              <a:t>最常被使用的憑證是 </a:t>
            </a:r>
            <a:r>
              <a:rPr lang="en-US" altLang="zh-TW" dirty="0" smtClean="0"/>
              <a:t>X.509</a:t>
            </a:r>
            <a:r>
              <a:rPr lang="zh-TW" altLang="en-US" dirty="0" smtClean="0"/>
              <a:t> </a:t>
            </a:r>
            <a:r>
              <a:rPr lang="zh-TW" altLang="en-US" dirty="0" smtClean="0">
                <a:solidFill>
                  <a:srgbClr val="FF0000"/>
                </a:solidFill>
              </a:rPr>
              <a:t>其格式</a:t>
            </a:r>
            <a:r>
              <a:rPr lang="zh-TW" altLang="en-US" dirty="0" smtClean="0"/>
              <a:t>如右圖。</a:t>
            </a:r>
            <a:endParaRPr lang="en-US" altLang="zh-TW" dirty="0" smtClean="0"/>
          </a:p>
          <a:p>
            <a:r>
              <a:rPr lang="zh-TW" altLang="en-US" dirty="0" smtClean="0"/>
              <a:t>目前</a:t>
            </a:r>
            <a:r>
              <a:rPr lang="en-US" altLang="zh-TW" dirty="0" smtClean="0"/>
              <a:t>X.509</a:t>
            </a:r>
            <a:r>
              <a:rPr lang="zh-TW" altLang="en-US" dirty="0" smtClean="0"/>
              <a:t> </a:t>
            </a:r>
            <a:r>
              <a:rPr lang="en-US" altLang="zh-TW" dirty="0" smtClean="0"/>
              <a:t>v3</a:t>
            </a:r>
            <a:r>
              <a:rPr lang="zh-TW" altLang="en-US" dirty="0" smtClean="0"/>
              <a:t>用在多數的新憑證；而</a:t>
            </a:r>
            <a:r>
              <a:rPr lang="en-US" altLang="zh-TW" dirty="0" smtClean="0"/>
              <a:t>v2</a:t>
            </a:r>
            <a:r>
              <a:rPr lang="zh-TW" altLang="en-US" dirty="0" smtClean="0"/>
              <a:t>則用於憑證撤銷清單 </a:t>
            </a:r>
            <a:r>
              <a:rPr lang="en-US" altLang="zh-TW" dirty="0" smtClean="0"/>
              <a:t>Certificate Revocation List (CRL)</a:t>
            </a:r>
            <a:r>
              <a:rPr lang="zh-TW" altLang="en-US" dirty="0" smtClean="0"/>
              <a:t> 的公布。</a:t>
            </a:r>
            <a:endParaRPr lang="en-US" altLang="zh-TW" dirty="0" smtClean="0"/>
          </a:p>
          <a:p>
            <a:endParaRPr lang="en-US" altLang="zh-TW" dirty="0" smtClean="0"/>
          </a:p>
          <a:p>
            <a:endParaRPr lang="zh-TW" altLang="en-US" dirty="0"/>
          </a:p>
        </p:txBody>
      </p:sp>
      <p:graphicFrame>
        <p:nvGraphicFramePr>
          <p:cNvPr id="6" name="內容版面配置區 5"/>
          <p:cNvGraphicFramePr>
            <a:graphicFrameLocks noGrp="1"/>
          </p:cNvGraphicFramePr>
          <p:nvPr>
            <p:ph sz="half" idx="2"/>
            <p:extLst>
              <p:ext uri="{D42A27DB-BD31-4B8C-83A1-F6EECF244321}">
                <p14:modId xmlns:p14="http://schemas.microsoft.com/office/powerpoint/2010/main" val="3939604056"/>
              </p:ext>
            </p:extLst>
          </p:nvPr>
        </p:nvGraphicFramePr>
        <p:xfrm>
          <a:off x="2987824" y="1071546"/>
          <a:ext cx="5357850" cy="5365035"/>
        </p:xfrm>
        <a:graphic>
          <a:graphicData uri="http://schemas.openxmlformats.org/drawingml/2006/table">
            <a:tbl>
              <a:tblPr firstRow="1" bandRow="1">
                <a:tableStyleId>{69CF1AB2-1976-4502-BF36-3FF5EA218861}</a:tableStyleId>
              </a:tblPr>
              <a:tblGrid>
                <a:gridCol w="1357322">
                  <a:extLst>
                    <a:ext uri="{9D8B030D-6E8A-4147-A177-3AD203B41FA5}">
                      <a16:colId xmlns:a16="http://schemas.microsoft.com/office/drawing/2014/main" val="20000"/>
                    </a:ext>
                  </a:extLst>
                </a:gridCol>
                <a:gridCol w="1500198">
                  <a:extLst>
                    <a:ext uri="{9D8B030D-6E8A-4147-A177-3AD203B41FA5}">
                      <a16:colId xmlns:a16="http://schemas.microsoft.com/office/drawing/2014/main" val="20001"/>
                    </a:ext>
                  </a:extLst>
                </a:gridCol>
                <a:gridCol w="2500330">
                  <a:extLst>
                    <a:ext uri="{9D8B030D-6E8A-4147-A177-3AD203B41FA5}">
                      <a16:colId xmlns:a16="http://schemas.microsoft.com/office/drawing/2014/main" val="20002"/>
                    </a:ext>
                  </a:extLst>
                </a:gridCol>
              </a:tblGrid>
              <a:tr h="488235">
                <a:tc>
                  <a:txBody>
                    <a:bodyPr/>
                    <a:lstStyle/>
                    <a:p>
                      <a:r>
                        <a:rPr lang="zh-TW" altLang="en-US" sz="1400" b="0" dirty="0" smtClean="0">
                          <a:latin typeface="Calibri" pitchFamily="34" charset="0"/>
                        </a:rPr>
                        <a:t>版本 </a:t>
                      </a:r>
                      <a:r>
                        <a:rPr lang="en-US" altLang="zh-TW" sz="1400" b="0" dirty="0" smtClean="0">
                          <a:latin typeface="Calibri" pitchFamily="34" charset="0"/>
                        </a:rPr>
                        <a:t>(version)</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V3</a:t>
                      </a:r>
                      <a:endParaRPr lang="zh-TW" altLang="en-US" sz="1400" b="0" dirty="0">
                        <a:latin typeface="Calibri" pitchFamily="34" charset="0"/>
                      </a:endParaRPr>
                    </a:p>
                  </a:txBody>
                  <a:tcPr anchor="ctr"/>
                </a:tc>
                <a:tc>
                  <a:txBody>
                    <a:bodyPr/>
                    <a:lstStyle/>
                    <a:p>
                      <a:r>
                        <a:rPr lang="en-US" sz="1400" b="0" dirty="0" smtClean="0">
                          <a:latin typeface="Calibri" pitchFamily="34" charset="0"/>
                        </a:rPr>
                        <a:t>X.509 </a:t>
                      </a:r>
                      <a:r>
                        <a:rPr lang="zh-TW" altLang="en-US" sz="1400" b="0" dirty="0" smtClean="0">
                          <a:latin typeface="Calibri" pitchFamily="34" charset="0"/>
                        </a:rPr>
                        <a:t>版本編號</a:t>
                      </a:r>
                      <a:endParaRPr lang="zh-TW" altLang="en-US" sz="1400" b="0" dirty="0">
                        <a:latin typeface="Calibri" pitchFamily="34" charset="0"/>
                      </a:endParaRPr>
                    </a:p>
                  </a:txBody>
                  <a:tcPr anchor="ctr"/>
                </a:tc>
                <a:extLst>
                  <a:ext uri="{0D108BD9-81ED-4DB2-BD59-A6C34878D82A}">
                    <a16:rowId xmlns:a16="http://schemas.microsoft.com/office/drawing/2014/main" val="10000"/>
                  </a:ext>
                </a:extLst>
              </a:tr>
              <a:tr h="488235">
                <a:tc>
                  <a:txBody>
                    <a:bodyPr/>
                    <a:lstStyle/>
                    <a:p>
                      <a:r>
                        <a:rPr lang="zh-TW" altLang="en-US" sz="1400" b="0" dirty="0" smtClean="0">
                          <a:latin typeface="Calibri" pitchFamily="34" charset="0"/>
                        </a:rPr>
                        <a:t>序號 </a:t>
                      </a:r>
                      <a:r>
                        <a:rPr lang="en-US" altLang="zh-TW" sz="1400" b="0" dirty="0" smtClean="0">
                          <a:latin typeface="Calibri" pitchFamily="34" charset="0"/>
                        </a:rPr>
                        <a:t>(serial number)</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18 </a:t>
                      </a:r>
                      <a:r>
                        <a:rPr lang="en-US" altLang="zh-TW" sz="1400" b="0" dirty="0" err="1" smtClean="0">
                          <a:latin typeface="Calibri" pitchFamily="34" charset="0"/>
                        </a:rPr>
                        <a:t>da</a:t>
                      </a:r>
                      <a:r>
                        <a:rPr lang="en-US" altLang="zh-TW" sz="1400" b="0" baseline="0" dirty="0" smtClean="0">
                          <a:latin typeface="Calibri" pitchFamily="34" charset="0"/>
                        </a:rPr>
                        <a:t> de 91 …</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CA</a:t>
                      </a:r>
                      <a:r>
                        <a:rPr lang="zh-TW" altLang="en-US" sz="1400" b="0" dirty="0" smtClean="0">
                          <a:latin typeface="Calibri" pitchFamily="34" charset="0"/>
                        </a:rPr>
                        <a:t>指派給憑證的唯一序號</a:t>
                      </a:r>
                      <a:endParaRPr lang="zh-TW" altLang="en-US" sz="1400" b="0" dirty="0">
                        <a:latin typeface="Calibri" pitchFamily="34" charset="0"/>
                      </a:endParaRPr>
                    </a:p>
                  </a:txBody>
                  <a:tcPr anchor="ctr"/>
                </a:tc>
                <a:extLst>
                  <a:ext uri="{0D108BD9-81ED-4DB2-BD59-A6C34878D82A}">
                    <a16:rowId xmlns:a16="http://schemas.microsoft.com/office/drawing/2014/main" val="10001"/>
                  </a:ext>
                </a:extLst>
              </a:tr>
              <a:tr h="606541">
                <a:tc>
                  <a:txBody>
                    <a:bodyPr/>
                    <a:lstStyle/>
                    <a:p>
                      <a:r>
                        <a:rPr lang="zh-TW" altLang="en-US" sz="1400" b="0" dirty="0" smtClean="0">
                          <a:latin typeface="Calibri" pitchFamily="34" charset="0"/>
                        </a:rPr>
                        <a:t>簽章算法 </a:t>
                      </a:r>
                      <a:r>
                        <a:rPr lang="en-US" altLang="zh-TW" sz="1400" b="0" dirty="0" smtClean="0">
                          <a:latin typeface="Calibri" pitchFamily="34" charset="0"/>
                        </a:rPr>
                        <a:t>(signature algorithm)</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sha1RSA</a:t>
                      </a:r>
                      <a:endParaRPr lang="zh-TW" altLang="en-US" sz="1400" b="0" dirty="0">
                        <a:latin typeface="Calibri" pitchFamily="34" charset="0"/>
                      </a:endParaRPr>
                    </a:p>
                  </a:txBody>
                  <a:tcPr anchor="ctr"/>
                </a:tc>
                <a:tc>
                  <a:txBody>
                    <a:bodyPr/>
                    <a:lstStyle/>
                    <a:p>
                      <a:r>
                        <a:rPr lang="en-US" altLang="zh-TW" sz="1400" dirty="0" smtClean="0">
                          <a:latin typeface="Calibri" pitchFamily="34" charset="0"/>
                        </a:rPr>
                        <a:t>CA</a:t>
                      </a:r>
                      <a:r>
                        <a:rPr lang="zh-TW" altLang="en-US" sz="1400" dirty="0" smtClean="0">
                          <a:latin typeface="Calibri" pitchFamily="34" charset="0"/>
                        </a:rPr>
                        <a:t>用來數位簽署憑證的雜湊演算法</a:t>
                      </a:r>
                      <a:endParaRPr lang="zh-TW" altLang="en-US" sz="1400" b="0" dirty="0">
                        <a:latin typeface="Calibri" pitchFamily="34" charset="0"/>
                      </a:endParaRPr>
                    </a:p>
                  </a:txBody>
                  <a:tcPr anchor="ctr"/>
                </a:tc>
                <a:extLst>
                  <a:ext uri="{0D108BD9-81ED-4DB2-BD59-A6C34878D82A}">
                    <a16:rowId xmlns:a16="http://schemas.microsoft.com/office/drawing/2014/main" val="10002"/>
                  </a:ext>
                </a:extLst>
              </a:tr>
              <a:tr h="488235">
                <a:tc>
                  <a:txBody>
                    <a:bodyPr/>
                    <a:lstStyle/>
                    <a:p>
                      <a:r>
                        <a:rPr lang="zh-TW" altLang="en-US" sz="1400" b="0" dirty="0" smtClean="0">
                          <a:latin typeface="Calibri" pitchFamily="34" charset="0"/>
                        </a:rPr>
                        <a:t>發行者 </a:t>
                      </a:r>
                      <a:r>
                        <a:rPr lang="en-US" altLang="zh-TW" sz="1400" b="0" dirty="0" smtClean="0">
                          <a:latin typeface="Calibri" pitchFamily="34" charset="0"/>
                        </a:rPr>
                        <a:t>(issuer)</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VeriSign Class 3 Public Primary CA</a:t>
                      </a:r>
                      <a:endParaRPr lang="zh-TW" altLang="en-US" sz="1400" b="0" dirty="0">
                        <a:latin typeface="Calibri" pitchFamily="34" charset="0"/>
                      </a:endParaRPr>
                    </a:p>
                  </a:txBody>
                  <a:tcPr anchor="ctr"/>
                </a:tc>
                <a:tc>
                  <a:txBody>
                    <a:bodyPr/>
                    <a:lstStyle/>
                    <a:p>
                      <a:r>
                        <a:rPr lang="zh-TW" altLang="en-US" sz="1400" dirty="0" smtClean="0">
                          <a:latin typeface="Calibri" pitchFamily="34" charset="0"/>
                        </a:rPr>
                        <a:t>關於</a:t>
                      </a:r>
                      <a:r>
                        <a:rPr lang="en-US" altLang="zh-TW" sz="1400" dirty="0" smtClean="0">
                          <a:latin typeface="Calibri" pitchFamily="34" charset="0"/>
                        </a:rPr>
                        <a:t>CA</a:t>
                      </a:r>
                      <a:r>
                        <a:rPr lang="zh-TW" altLang="en-US" sz="1400" dirty="0" smtClean="0">
                          <a:latin typeface="Calibri" pitchFamily="34" charset="0"/>
                        </a:rPr>
                        <a:t>的資訊</a:t>
                      </a:r>
                      <a:endParaRPr lang="zh-TW" altLang="en-US" sz="1400" b="0" dirty="0">
                        <a:latin typeface="Calibri" pitchFamily="34" charset="0"/>
                      </a:endParaRPr>
                    </a:p>
                  </a:txBody>
                  <a:tcPr anchor="ctr"/>
                </a:tc>
                <a:extLst>
                  <a:ext uri="{0D108BD9-81ED-4DB2-BD59-A6C34878D82A}">
                    <a16:rowId xmlns:a16="http://schemas.microsoft.com/office/drawing/2014/main" val="10003"/>
                  </a:ext>
                </a:extLst>
              </a:tr>
              <a:tr h="488235">
                <a:tc>
                  <a:txBody>
                    <a:bodyPr/>
                    <a:lstStyle/>
                    <a:p>
                      <a:r>
                        <a:rPr lang="zh-TW" altLang="en-US" sz="1400" b="0" dirty="0" smtClean="0">
                          <a:latin typeface="Calibri" pitchFamily="34" charset="0"/>
                        </a:rPr>
                        <a:t>有效期自 </a:t>
                      </a:r>
                      <a:r>
                        <a:rPr lang="en-US" altLang="zh-TW" sz="1400" b="0" dirty="0" smtClean="0">
                          <a:latin typeface="Calibri" pitchFamily="34" charset="0"/>
                        </a:rPr>
                        <a:t>(valid from)</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2006/11/8</a:t>
                      </a:r>
                      <a:endParaRPr lang="zh-TW" altLang="en-US" sz="1400" b="0" dirty="0">
                        <a:latin typeface="Calibri" pitchFamily="34" charset="0"/>
                      </a:endParaRPr>
                    </a:p>
                  </a:txBody>
                  <a:tcPr anchor="ctr"/>
                </a:tc>
                <a:tc>
                  <a:txBody>
                    <a:bodyPr/>
                    <a:lstStyle/>
                    <a:p>
                      <a:r>
                        <a:rPr lang="zh-TW" altLang="en-US" sz="1400" dirty="0" smtClean="0">
                          <a:latin typeface="Calibri" pitchFamily="34" charset="0"/>
                        </a:rPr>
                        <a:t>憑證有效期間的開始日期</a:t>
                      </a:r>
                      <a:endParaRPr lang="zh-TW" altLang="en-US" sz="1400" b="0" dirty="0">
                        <a:latin typeface="Calibri" pitchFamily="34" charset="0"/>
                      </a:endParaRPr>
                    </a:p>
                  </a:txBody>
                  <a:tcPr anchor="ctr"/>
                </a:tc>
                <a:extLst>
                  <a:ext uri="{0D108BD9-81ED-4DB2-BD59-A6C34878D82A}">
                    <a16:rowId xmlns:a16="http://schemas.microsoft.com/office/drawing/2014/main" val="10004"/>
                  </a:ext>
                </a:extLst>
              </a:tr>
              <a:tr h="488235">
                <a:tc>
                  <a:txBody>
                    <a:bodyPr/>
                    <a:lstStyle/>
                    <a:p>
                      <a:r>
                        <a:rPr lang="zh-TW" altLang="en-US" sz="1400" b="0" dirty="0" smtClean="0">
                          <a:latin typeface="Calibri" pitchFamily="34" charset="0"/>
                        </a:rPr>
                        <a:t>有效期至 </a:t>
                      </a:r>
                      <a:r>
                        <a:rPr lang="en-US" altLang="zh-TW" sz="1400" b="0" dirty="0" smtClean="0">
                          <a:latin typeface="Calibri" pitchFamily="34" charset="0"/>
                        </a:rPr>
                        <a:t>(valid to)</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2036/7/1</a:t>
                      </a:r>
                      <a:endParaRPr lang="zh-TW" altLang="en-US" sz="1400" b="0" dirty="0">
                        <a:latin typeface="Calibri" pitchFamily="34" charset="0"/>
                      </a:endParaRPr>
                    </a:p>
                  </a:txBody>
                  <a:tcPr anchor="ctr"/>
                </a:tc>
                <a:tc>
                  <a:txBody>
                    <a:bodyPr/>
                    <a:lstStyle/>
                    <a:p>
                      <a:r>
                        <a:rPr lang="zh-TW" altLang="en-US" sz="1400" dirty="0" smtClean="0">
                          <a:latin typeface="Calibri" pitchFamily="34" charset="0"/>
                        </a:rPr>
                        <a:t>憑證有效期間的最後日期</a:t>
                      </a:r>
                      <a:endParaRPr lang="zh-TW" altLang="en-US" sz="1400" b="0" dirty="0">
                        <a:latin typeface="Calibri" pitchFamily="34" charset="0"/>
                      </a:endParaRPr>
                    </a:p>
                  </a:txBody>
                  <a:tcPr anchor="ctr"/>
                </a:tc>
                <a:extLst>
                  <a:ext uri="{0D108BD9-81ED-4DB2-BD59-A6C34878D82A}">
                    <a16:rowId xmlns:a16="http://schemas.microsoft.com/office/drawing/2014/main" val="10005"/>
                  </a:ext>
                </a:extLst>
              </a:tr>
              <a:tr h="488235">
                <a:tc>
                  <a:txBody>
                    <a:bodyPr/>
                    <a:lstStyle/>
                    <a:p>
                      <a:r>
                        <a:rPr lang="zh-TW" altLang="en-US" sz="1400" b="0" dirty="0" smtClean="0">
                          <a:latin typeface="Calibri" pitchFamily="34" charset="0"/>
                        </a:rPr>
                        <a:t>主體 </a:t>
                      </a:r>
                      <a:r>
                        <a:rPr lang="en-US" altLang="zh-TW" sz="1400" b="0" dirty="0" smtClean="0">
                          <a:latin typeface="Calibri" pitchFamily="34" charset="0"/>
                        </a:rPr>
                        <a:t>(subject)</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Bank</a:t>
                      </a:r>
                      <a:r>
                        <a:rPr lang="en-US" altLang="zh-TW" sz="1400" b="0" baseline="0" dirty="0" smtClean="0">
                          <a:latin typeface="Calibri" pitchFamily="34" charset="0"/>
                        </a:rPr>
                        <a:t> of ABC</a:t>
                      </a:r>
                      <a:endParaRPr lang="zh-TW" altLang="en-US" sz="1400" b="0" dirty="0">
                        <a:latin typeface="Calibri" pitchFamily="34" charset="0"/>
                      </a:endParaRPr>
                    </a:p>
                  </a:txBody>
                  <a:tcPr anchor="ctr"/>
                </a:tc>
                <a:tc>
                  <a:txBody>
                    <a:bodyPr/>
                    <a:lstStyle/>
                    <a:p>
                      <a:r>
                        <a:rPr lang="zh-TW" altLang="en-US" sz="1400" dirty="0" smtClean="0">
                          <a:latin typeface="Calibri" pitchFamily="34" charset="0"/>
                        </a:rPr>
                        <a:t>發給憑證的目標個人、電腦、裝置或憑證授權單位名稱</a:t>
                      </a:r>
                      <a:endParaRPr lang="zh-TW" altLang="en-US" sz="1400" b="0" dirty="0">
                        <a:latin typeface="Calibri" pitchFamily="34" charset="0"/>
                      </a:endParaRPr>
                    </a:p>
                  </a:txBody>
                  <a:tcPr anchor="ctr"/>
                </a:tc>
                <a:extLst>
                  <a:ext uri="{0D108BD9-81ED-4DB2-BD59-A6C34878D82A}">
                    <a16:rowId xmlns:a16="http://schemas.microsoft.com/office/drawing/2014/main" val="10006"/>
                  </a:ext>
                </a:extLst>
              </a:tr>
              <a:tr h="488235">
                <a:tc>
                  <a:txBody>
                    <a:bodyPr/>
                    <a:lstStyle/>
                    <a:p>
                      <a:r>
                        <a:rPr lang="zh-TW" altLang="en-US" sz="1400" b="1" dirty="0" smtClean="0">
                          <a:solidFill>
                            <a:srgbClr val="FF0000"/>
                          </a:solidFill>
                          <a:latin typeface="Calibri" pitchFamily="34" charset="0"/>
                        </a:rPr>
                        <a:t>公開金鑰 </a:t>
                      </a:r>
                      <a:r>
                        <a:rPr lang="en-US" altLang="zh-TW" sz="1400" b="0" dirty="0" smtClean="0">
                          <a:latin typeface="Calibri" pitchFamily="34" charset="0"/>
                        </a:rPr>
                        <a:t>(public key)</a:t>
                      </a:r>
                      <a:endParaRPr lang="zh-TW" altLang="en-US" sz="1400" b="0" dirty="0">
                        <a:latin typeface="Calibri" pitchFamily="34" charset="0"/>
                      </a:endParaRPr>
                    </a:p>
                  </a:txBody>
                  <a:tcPr anchor="ctr"/>
                </a:tc>
                <a:tc>
                  <a:txBody>
                    <a:bodyPr/>
                    <a:lstStyle/>
                    <a:p>
                      <a:r>
                        <a:rPr lang="en-US" altLang="zh-TW" sz="1400" b="0" dirty="0" smtClean="0">
                          <a:latin typeface="Calibri" pitchFamily="34" charset="0"/>
                        </a:rPr>
                        <a:t>RSA (2048)</a:t>
                      </a:r>
                    </a:p>
                    <a:p>
                      <a:r>
                        <a:rPr lang="en-US" altLang="zh-TW" sz="1400" b="0" dirty="0" smtClean="0">
                          <a:latin typeface="Calibri" pitchFamily="34" charset="0"/>
                        </a:rPr>
                        <a:t>2a 14 5c 70 …</a:t>
                      </a:r>
                      <a:endParaRPr lang="zh-TW" altLang="en-US" sz="1400" b="0" dirty="0">
                        <a:latin typeface="Calibri" pitchFamily="34" charset="0"/>
                      </a:endParaRP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400" dirty="0" smtClean="0">
                          <a:latin typeface="Calibri" pitchFamily="34" charset="0"/>
                        </a:rPr>
                        <a:t>與憑證相關的公開金鑰類型及長度，與金鑰數據</a:t>
                      </a:r>
                      <a:endParaRPr lang="zh-TW" altLang="en-US" sz="1400" b="0" dirty="0" smtClean="0">
                        <a:latin typeface="Calibri" pitchFamily="34" charset="0"/>
                      </a:endParaRPr>
                    </a:p>
                  </a:txBody>
                  <a:tcPr anchor="ctr"/>
                </a:tc>
                <a:extLst>
                  <a:ext uri="{0D108BD9-81ED-4DB2-BD59-A6C34878D82A}">
                    <a16:rowId xmlns:a16="http://schemas.microsoft.com/office/drawing/2014/main" val="10007"/>
                  </a:ext>
                </a:extLst>
              </a:tr>
              <a:tr h="488235">
                <a:tc>
                  <a:txBody>
                    <a:bodyPr/>
                    <a:lstStyle/>
                    <a:p>
                      <a:r>
                        <a:rPr lang="zh-TW" altLang="en-US" sz="1400" b="0" dirty="0" smtClean="0">
                          <a:latin typeface="Calibri" pitchFamily="34" charset="0"/>
                        </a:rPr>
                        <a:t>延展資訊 </a:t>
                      </a:r>
                      <a:r>
                        <a:rPr lang="en-US" altLang="zh-TW" sz="1400" b="0" dirty="0" smtClean="0">
                          <a:latin typeface="Calibri" pitchFamily="34" charset="0"/>
                        </a:rPr>
                        <a:t>(extension)</a:t>
                      </a:r>
                      <a:endParaRPr lang="zh-TW" altLang="en-US" sz="1400" b="0" dirty="0">
                        <a:latin typeface="Calibri" pitchFamily="34" charset="0"/>
                      </a:endParaRPr>
                    </a:p>
                  </a:txBody>
                  <a:tcPr anchor="ctr"/>
                </a:tc>
                <a:tc gridSpan="2">
                  <a:txBody>
                    <a:bodyPr/>
                    <a:lstStyle/>
                    <a:p>
                      <a:r>
                        <a:rPr lang="en-US" altLang="zh-TW" sz="1400" b="0" dirty="0" smtClean="0">
                          <a:latin typeface="Calibri" pitchFamily="34" charset="0"/>
                        </a:rPr>
                        <a:t>V3 </a:t>
                      </a:r>
                      <a:r>
                        <a:rPr lang="zh-TW" altLang="en-US" sz="1400" b="0" dirty="0" smtClean="0">
                          <a:latin typeface="Calibri" pitchFamily="34" charset="0"/>
                        </a:rPr>
                        <a:t>定義的諸多延伸欄位</a:t>
                      </a:r>
                      <a:endParaRPr lang="zh-TW" altLang="en-US" sz="1400" b="0" dirty="0">
                        <a:latin typeface="Calibri" pitchFamily="34" charset="0"/>
                      </a:endParaRPr>
                    </a:p>
                  </a:txBody>
                  <a:tcPr anchor="ctr"/>
                </a:tc>
                <a:tc hMerge="1">
                  <a:txBody>
                    <a:bodyPr/>
                    <a:lstStyle/>
                    <a:p>
                      <a:endParaRPr lang="zh-TW" altLang="en-US" sz="1400" b="0" dirty="0">
                        <a:latin typeface="+mn-lt"/>
                      </a:endParaRPr>
                    </a:p>
                  </a:txBody>
                  <a:tcPr anchor="ctr"/>
                </a:tc>
                <a:extLst>
                  <a:ext uri="{0D108BD9-81ED-4DB2-BD59-A6C34878D82A}">
                    <a16:rowId xmlns:a16="http://schemas.microsoft.com/office/drawing/2014/main" val="10008"/>
                  </a:ext>
                </a:extLst>
              </a:tr>
              <a:tr h="488235">
                <a:tc>
                  <a:txBody>
                    <a:bodyPr/>
                    <a:lstStyle/>
                    <a:p>
                      <a:r>
                        <a:rPr lang="en-US" altLang="zh-TW" sz="1400" b="1" dirty="0" smtClean="0">
                          <a:solidFill>
                            <a:srgbClr val="FF0000"/>
                          </a:solidFill>
                          <a:latin typeface="Calibri" pitchFamily="34" charset="0"/>
                        </a:rPr>
                        <a:t>CA</a:t>
                      </a:r>
                      <a:r>
                        <a:rPr lang="en-US" altLang="zh-TW" sz="1400" b="1" baseline="0" dirty="0" smtClean="0">
                          <a:solidFill>
                            <a:srgbClr val="FF0000"/>
                          </a:solidFill>
                          <a:latin typeface="Calibri" pitchFamily="34" charset="0"/>
                        </a:rPr>
                        <a:t> </a:t>
                      </a:r>
                      <a:r>
                        <a:rPr lang="zh-TW" altLang="en-US" sz="1400" b="1" dirty="0" smtClean="0">
                          <a:solidFill>
                            <a:srgbClr val="FF0000"/>
                          </a:solidFill>
                          <a:latin typeface="Calibri" pitchFamily="34" charset="0"/>
                        </a:rPr>
                        <a:t>簽章 </a:t>
                      </a:r>
                      <a:r>
                        <a:rPr lang="en-US" altLang="zh-TW" sz="1400" b="0" dirty="0" smtClean="0">
                          <a:latin typeface="Calibri" pitchFamily="34" charset="0"/>
                        </a:rPr>
                        <a:t>(CA signature)</a:t>
                      </a:r>
                      <a:endParaRPr lang="zh-TW" altLang="en-US" sz="1400" b="0" dirty="0">
                        <a:latin typeface="Calibri" pitchFamily="34" charset="0"/>
                      </a:endParaRPr>
                    </a:p>
                  </a:txBody>
                  <a:tcPr anchor="ctr"/>
                </a:tc>
                <a:tc gridSpan="2">
                  <a:txBody>
                    <a:bodyPr/>
                    <a:lstStyle/>
                    <a:p>
                      <a:r>
                        <a:rPr lang="zh-TW" altLang="en-US" sz="1400" dirty="0" smtClean="0">
                          <a:latin typeface="Calibri" pitchFamily="34" charset="0"/>
                        </a:rPr>
                        <a:t>使用</a:t>
                      </a:r>
                      <a:r>
                        <a:rPr lang="en-US" altLang="zh-TW" sz="1400" dirty="0" smtClean="0">
                          <a:latin typeface="Calibri" pitchFamily="34" charset="0"/>
                        </a:rPr>
                        <a:t>CA</a:t>
                      </a:r>
                      <a:r>
                        <a:rPr lang="zh-TW" altLang="en-US" sz="1400" dirty="0" smtClean="0">
                          <a:latin typeface="Calibri" pitchFamily="34" charset="0"/>
                        </a:rPr>
                        <a:t>私密金鑰，透過憑證演算法識別項欄位中所指定的演算法，所做出的實際數位簽章</a:t>
                      </a:r>
                      <a:endParaRPr lang="zh-TW" altLang="en-US" sz="1400" b="0" dirty="0">
                        <a:latin typeface="Calibri" pitchFamily="34" charset="0"/>
                      </a:endParaRPr>
                    </a:p>
                  </a:txBody>
                  <a:tcPr anchor="ctr"/>
                </a:tc>
                <a:tc hMerge="1">
                  <a:txBody>
                    <a:bodyPr/>
                    <a:lstStyle/>
                    <a:p>
                      <a:endParaRPr lang="zh-TW" altLang="en-US" sz="1400" b="0" dirty="0">
                        <a:latin typeface="+mn-lt"/>
                      </a:endParaRPr>
                    </a:p>
                  </a:txBody>
                  <a:tcPr anchor="ctr"/>
                </a:tc>
                <a:extLst>
                  <a:ext uri="{0D108BD9-81ED-4DB2-BD59-A6C34878D82A}">
                    <a16:rowId xmlns:a16="http://schemas.microsoft.com/office/drawing/2014/main" val="10009"/>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9358" y="1340768"/>
            <a:ext cx="8215370" cy="5098438"/>
          </a:xfrm>
        </p:spPr>
        <p:txBody>
          <a:bodyPr>
            <a:normAutofit fontScale="77500" lnSpcReduction="20000"/>
          </a:bodyPr>
          <a:lstStyle/>
          <a:p>
            <a:r>
              <a:rPr lang="en-US" altLang="zh-TW" sz="2000" b="1" dirty="0" smtClean="0">
                <a:solidFill>
                  <a:srgbClr val="FF0000"/>
                </a:solidFill>
              </a:rPr>
              <a:t>Secure Sockets Layer (SSL)</a:t>
            </a:r>
            <a:r>
              <a:rPr lang="zh-TW" altLang="en-US" sz="2000" dirty="0">
                <a:solidFill>
                  <a:srgbClr val="0000FF"/>
                </a:solidFill>
              </a:rPr>
              <a:t>網頁伺服</a:t>
            </a:r>
            <a:r>
              <a:rPr lang="zh-TW" altLang="en-US" sz="2000" dirty="0" smtClean="0">
                <a:solidFill>
                  <a:srgbClr val="0000FF"/>
                </a:solidFill>
              </a:rPr>
              <a:t>器需先安裝</a:t>
            </a:r>
            <a:r>
              <a:rPr lang="en-US" altLang="zh-TW" sz="2000" dirty="0" smtClean="0">
                <a:solidFill>
                  <a:srgbClr val="0000FF"/>
                </a:solidFill>
              </a:rPr>
              <a:t>SSL</a:t>
            </a:r>
            <a:r>
              <a:rPr lang="zh-TW" altLang="en-US" sz="2000" dirty="0" smtClean="0">
                <a:solidFill>
                  <a:srgbClr val="0000FF"/>
                </a:solidFill>
              </a:rPr>
              <a:t>憑證</a:t>
            </a:r>
            <a:r>
              <a:rPr lang="en-US" altLang="zh-TW" sz="2000" dirty="0" smtClean="0">
                <a:solidFill>
                  <a:srgbClr val="0000FF"/>
                </a:solidFill>
              </a:rPr>
              <a:t>, </a:t>
            </a:r>
            <a:r>
              <a:rPr lang="zh-TW" altLang="en-US" sz="2000" dirty="0" smtClean="0">
                <a:solidFill>
                  <a:srgbClr val="0000FF"/>
                </a:solidFill>
              </a:rPr>
              <a:t>在網頁伺服器與用戶端之間</a:t>
            </a:r>
            <a:r>
              <a:rPr lang="en-US" altLang="zh-TW" sz="2000" dirty="0" smtClean="0">
                <a:solidFill>
                  <a:srgbClr val="0000FF"/>
                </a:solidFill>
              </a:rPr>
              <a:t>, </a:t>
            </a:r>
            <a:r>
              <a:rPr lang="zh-TW" altLang="en-US" sz="2000" dirty="0" smtClean="0">
                <a:solidFill>
                  <a:srgbClr val="0000FF"/>
                </a:solidFill>
              </a:rPr>
              <a:t>使</a:t>
            </a:r>
            <a:r>
              <a:rPr lang="zh-TW" altLang="en-US" sz="2000" dirty="0">
                <a:solidFill>
                  <a:srgbClr val="0000FF"/>
                </a:solidFill>
              </a:rPr>
              <a:t>用非對稱式加密</a:t>
            </a:r>
            <a:r>
              <a:rPr lang="zh-TW" altLang="en-US" sz="2000" dirty="0" smtClean="0">
                <a:solidFill>
                  <a:srgbClr val="0000FF"/>
                </a:solidFill>
              </a:rPr>
              <a:t>法 </a:t>
            </a:r>
            <a:r>
              <a:rPr lang="en-US" altLang="zh-TW" sz="2000" dirty="0" smtClean="0">
                <a:solidFill>
                  <a:srgbClr val="0000FF"/>
                </a:solidFill>
              </a:rPr>
              <a:t>- </a:t>
            </a:r>
            <a:r>
              <a:rPr lang="zh-TW" altLang="en-US" sz="2000" dirty="0" smtClean="0">
                <a:solidFill>
                  <a:srgbClr val="0000FF"/>
                </a:solidFill>
              </a:rPr>
              <a:t>建立安全的會談</a:t>
            </a:r>
            <a:r>
              <a:rPr lang="en-US" altLang="zh-TW" sz="2000" dirty="0" smtClean="0">
                <a:solidFill>
                  <a:srgbClr val="0000FF"/>
                </a:solidFill>
              </a:rPr>
              <a:t>, </a:t>
            </a:r>
            <a:r>
              <a:rPr lang="zh-TW" altLang="en-US" sz="2000" dirty="0" smtClean="0">
                <a:solidFill>
                  <a:srgbClr val="0000FF"/>
                </a:solidFill>
              </a:rPr>
              <a:t>網址會是</a:t>
            </a:r>
            <a:r>
              <a:rPr lang="en-US" altLang="zh-TW" sz="2000" dirty="0" smtClean="0">
                <a:solidFill>
                  <a:srgbClr val="0000FF"/>
                </a:solidFill>
              </a:rPr>
              <a:t>https://</a:t>
            </a:r>
            <a:r>
              <a:rPr lang="zh-TW" altLang="en-US" sz="2000" dirty="0" smtClean="0">
                <a:solidFill>
                  <a:srgbClr val="0000FF"/>
                </a:solidFill>
              </a:rPr>
              <a:t>開頭</a:t>
            </a:r>
            <a:r>
              <a:rPr lang="zh-TW" altLang="en-US" sz="2000" dirty="0" smtClean="0"/>
              <a:t>。</a:t>
            </a:r>
            <a:r>
              <a:rPr lang="en-US" altLang="zh-TW" sz="2000" dirty="0" smtClean="0">
                <a:solidFill>
                  <a:srgbClr val="FF0000"/>
                </a:solidFill>
              </a:rPr>
              <a:t>SSL</a:t>
            </a:r>
            <a:r>
              <a:rPr lang="zh-TW" altLang="en-US" sz="2000" dirty="0" smtClean="0">
                <a:solidFill>
                  <a:srgbClr val="FF0000"/>
                </a:solidFill>
              </a:rPr>
              <a:t> 已被整合進</a:t>
            </a:r>
            <a:r>
              <a:rPr lang="en-US" altLang="zh-TW" sz="2000" dirty="0" smtClean="0">
                <a:solidFill>
                  <a:srgbClr val="FF0000"/>
                </a:solidFill>
              </a:rPr>
              <a:t>IE</a:t>
            </a:r>
            <a:r>
              <a:rPr lang="zh-TW" altLang="en-US" sz="2000" dirty="0" smtClean="0">
                <a:solidFill>
                  <a:srgbClr val="FF0000"/>
                </a:solidFill>
              </a:rPr>
              <a:t>與其它主流瀏覽器，以及大部分的網站伺服器產品中</a:t>
            </a:r>
            <a:r>
              <a:rPr lang="zh-TW" altLang="en-US" sz="2000" dirty="0" smtClean="0"/>
              <a:t>。</a:t>
            </a:r>
            <a:endParaRPr lang="en-US" altLang="zh-TW" sz="2000" dirty="0" smtClean="0"/>
          </a:p>
          <a:p>
            <a:r>
              <a:rPr lang="en-US" altLang="zh-TW" sz="2000" dirty="0" smtClean="0"/>
              <a:t>SSL</a:t>
            </a:r>
            <a:r>
              <a:rPr lang="zh-TW" altLang="en-US" sz="2000" dirty="0" smtClean="0"/>
              <a:t>連結建立的方式如下：</a:t>
            </a:r>
            <a:endParaRPr lang="en-US" altLang="zh-TW" sz="2000" dirty="0" smtClean="0"/>
          </a:p>
          <a:p>
            <a:pPr lvl="1"/>
            <a:r>
              <a:rPr lang="en-US" altLang="zh-TW" dirty="0" smtClean="0">
                <a:solidFill>
                  <a:srgbClr val="FF0000"/>
                </a:solidFill>
              </a:rPr>
              <a:t>1</a:t>
            </a:r>
            <a:r>
              <a:rPr lang="en-US" altLang="zh-TW" dirty="0" smtClean="0"/>
              <a:t>.</a:t>
            </a:r>
            <a:r>
              <a:rPr lang="zh-TW" altLang="en-US" dirty="0" smtClean="0"/>
              <a:t>客戶端送出一個</a:t>
            </a:r>
            <a:r>
              <a:rPr lang="en-US" altLang="zh-TW" dirty="0" err="1" smtClean="0"/>
              <a:t>client_Hello</a:t>
            </a:r>
            <a:r>
              <a:rPr lang="zh-TW" altLang="en-US" dirty="0" smtClean="0"/>
              <a:t>給伺服器</a:t>
            </a:r>
            <a:endParaRPr lang="en-US" altLang="zh-TW" dirty="0" smtClean="0"/>
          </a:p>
          <a:p>
            <a:pPr lvl="1"/>
            <a:r>
              <a:rPr lang="en-US" altLang="zh-TW" dirty="0" smtClean="0">
                <a:solidFill>
                  <a:srgbClr val="FF0000"/>
                </a:solidFill>
              </a:rPr>
              <a:t>2</a:t>
            </a:r>
            <a:r>
              <a:rPr lang="en-US" altLang="zh-TW" dirty="0" smtClean="0"/>
              <a:t>.</a:t>
            </a:r>
            <a:r>
              <a:rPr lang="zh-TW" altLang="en-US" dirty="0" smtClean="0"/>
              <a:t>伺服器</a:t>
            </a:r>
            <a:r>
              <a:rPr lang="zh-TW" altLang="en-US" dirty="0"/>
              <a:t>傳送自己</a:t>
            </a:r>
            <a:r>
              <a:rPr lang="zh-TW" altLang="en-US" dirty="0" smtClean="0"/>
              <a:t>的</a:t>
            </a:r>
            <a:r>
              <a:rPr lang="zh-TW" altLang="en-US" dirty="0" smtClean="0">
                <a:solidFill>
                  <a:schemeClr val="tx1"/>
                </a:solidFill>
              </a:rPr>
              <a:t>非對稱</a:t>
            </a:r>
            <a:r>
              <a:rPr lang="zh-TW" altLang="en-US" dirty="0">
                <a:solidFill>
                  <a:schemeClr val="tx1"/>
                </a:solidFill>
              </a:rPr>
              <a:t>式</a:t>
            </a:r>
            <a:r>
              <a:rPr lang="zh-TW" altLang="en-US" dirty="0">
                <a:solidFill>
                  <a:srgbClr val="FF0000"/>
                </a:solidFill>
              </a:rPr>
              <a:t>公開金</a:t>
            </a:r>
            <a:r>
              <a:rPr lang="zh-TW" altLang="en-US" dirty="0" smtClean="0">
                <a:solidFill>
                  <a:srgbClr val="FF0000"/>
                </a:solidFill>
              </a:rPr>
              <a:t>鑰</a:t>
            </a:r>
            <a:r>
              <a:rPr lang="en-US" altLang="zh-TW" dirty="0" smtClean="0">
                <a:solidFill>
                  <a:srgbClr val="FF0000"/>
                </a:solidFill>
              </a:rPr>
              <a:t>(</a:t>
            </a:r>
            <a:r>
              <a:rPr lang="zh-TW" altLang="en-US" dirty="0" smtClean="0">
                <a:solidFill>
                  <a:srgbClr val="FF0000"/>
                </a:solidFill>
              </a:rPr>
              <a:t>憑證</a:t>
            </a:r>
            <a:r>
              <a:rPr lang="en-US" altLang="zh-TW" dirty="0" smtClean="0">
                <a:solidFill>
                  <a:srgbClr val="FF0000"/>
                </a:solidFill>
              </a:rPr>
              <a:t>)</a:t>
            </a:r>
            <a:r>
              <a:rPr lang="zh-TW" altLang="en-US" dirty="0" smtClean="0"/>
              <a:t>發送</a:t>
            </a:r>
            <a:r>
              <a:rPr lang="zh-TW" altLang="en-US" dirty="0"/>
              <a:t>給瀏覽器。</a:t>
            </a:r>
          </a:p>
          <a:p>
            <a:pPr lvl="1"/>
            <a:r>
              <a:rPr lang="en-US" altLang="zh-TW" dirty="0" smtClean="0">
                <a:solidFill>
                  <a:srgbClr val="FF0000"/>
                </a:solidFill>
              </a:rPr>
              <a:t>3</a:t>
            </a:r>
            <a:r>
              <a:rPr lang="en-US" altLang="zh-TW" dirty="0" smtClean="0"/>
              <a:t>.</a:t>
            </a:r>
            <a:r>
              <a:rPr lang="zh-TW" altLang="en-US" dirty="0" smtClean="0"/>
              <a:t>瀏覽器</a:t>
            </a:r>
            <a:r>
              <a:rPr lang="zh-TW" altLang="en-US" dirty="0"/>
              <a:t>創造一個</a:t>
            </a:r>
            <a:r>
              <a:rPr lang="zh-TW" altLang="en-US" dirty="0">
                <a:solidFill>
                  <a:srgbClr val="0000FF"/>
                </a:solidFill>
              </a:rPr>
              <a:t>對稱會話金鑰</a:t>
            </a:r>
            <a:r>
              <a:rPr lang="zh-TW" altLang="en-US" dirty="0"/>
              <a:t>，並以伺服器的對稱式公開金鑰加密，然後發送給伺服器。</a:t>
            </a:r>
          </a:p>
          <a:p>
            <a:pPr lvl="1"/>
            <a:r>
              <a:rPr lang="en-US" altLang="zh-TW" dirty="0" smtClean="0">
                <a:solidFill>
                  <a:srgbClr val="FF0000"/>
                </a:solidFill>
              </a:rPr>
              <a:t>4</a:t>
            </a:r>
            <a:r>
              <a:rPr lang="en-US" altLang="zh-TW" dirty="0" smtClean="0"/>
              <a:t>.</a:t>
            </a:r>
            <a:r>
              <a:rPr lang="zh-TW" altLang="en-US" dirty="0" smtClean="0"/>
              <a:t>伺服器</a:t>
            </a:r>
            <a:r>
              <a:rPr lang="zh-TW" altLang="en-US" dirty="0"/>
              <a:t>用自己</a:t>
            </a:r>
            <a:r>
              <a:rPr lang="zh-TW" altLang="en-US" dirty="0" smtClean="0"/>
              <a:t>的</a:t>
            </a:r>
            <a:r>
              <a:rPr lang="zh-TW" altLang="en-US" dirty="0" smtClean="0">
                <a:solidFill>
                  <a:srgbClr val="FF0000"/>
                </a:solidFill>
              </a:rPr>
              <a:t>非對稱</a:t>
            </a:r>
            <a:r>
              <a:rPr lang="zh-TW" altLang="en-US" dirty="0">
                <a:solidFill>
                  <a:srgbClr val="FF0000"/>
                </a:solidFill>
              </a:rPr>
              <a:t>式私密金鑰</a:t>
            </a:r>
            <a:r>
              <a:rPr lang="zh-TW" altLang="en-US" dirty="0"/>
              <a:t>解密加密的會話金鑰，以便取得對稱式會話金鑰。</a:t>
            </a:r>
          </a:p>
          <a:p>
            <a:pPr lvl="1"/>
            <a:r>
              <a:rPr lang="en-US" altLang="zh-TW" dirty="0" smtClean="0">
                <a:solidFill>
                  <a:srgbClr val="FF0000"/>
                </a:solidFill>
              </a:rPr>
              <a:t>5</a:t>
            </a:r>
            <a:r>
              <a:rPr lang="en-US" altLang="zh-TW" dirty="0" smtClean="0"/>
              <a:t>.</a:t>
            </a:r>
            <a:r>
              <a:rPr lang="zh-TW" altLang="en-US" dirty="0" smtClean="0"/>
              <a:t>伺服器</a:t>
            </a:r>
            <a:r>
              <a:rPr lang="zh-TW" altLang="en-US" dirty="0"/>
              <a:t>和瀏覽器現在都以</a:t>
            </a:r>
            <a:r>
              <a:rPr lang="zh-TW" altLang="en-US" dirty="0">
                <a:solidFill>
                  <a:srgbClr val="0000FF"/>
                </a:solidFill>
              </a:rPr>
              <a:t>對稱式會話金鑰</a:t>
            </a:r>
            <a:r>
              <a:rPr lang="zh-TW" altLang="en-US" dirty="0"/>
              <a:t>加密並解密所有傳輸的資料。這個程序可以保障通道安全，因為只有這對瀏覽器和伺服器知道它們的對稱式會話金鑰，而這組會話金鑰只可用於這一段會話。若是瀏覽器隔日再連接同一部伺服器，則需要再產生一副新的會話金鑰。</a:t>
            </a:r>
          </a:p>
          <a:p>
            <a:r>
              <a:rPr lang="en-US" altLang="zh-TW" sz="2000" dirty="0" smtClean="0"/>
              <a:t>Transport Layer Security (TLS)</a:t>
            </a:r>
            <a:r>
              <a:rPr lang="zh-TW" altLang="en-US" sz="2000" dirty="0" smtClean="0"/>
              <a:t>是</a:t>
            </a:r>
            <a:r>
              <a:rPr lang="en-US" altLang="zh-TW" sz="2000" dirty="0" smtClean="0"/>
              <a:t>SSL</a:t>
            </a:r>
            <a:r>
              <a:rPr lang="zh-TW" altLang="en-US" sz="2000" dirty="0" smtClean="0"/>
              <a:t>的演進設計，正逐步取代</a:t>
            </a:r>
            <a:r>
              <a:rPr lang="en-US" altLang="zh-TW" sz="2000" dirty="0" smtClean="0"/>
              <a:t>SSL 3.0</a:t>
            </a:r>
            <a:r>
              <a:rPr lang="zh-TW" altLang="en-US" sz="2000" dirty="0" smtClean="0"/>
              <a:t>。</a:t>
            </a:r>
            <a:r>
              <a:rPr lang="en-US" altLang="zh-TW" sz="2000" dirty="0" smtClean="0"/>
              <a:t>TLS</a:t>
            </a:r>
            <a:r>
              <a:rPr lang="zh-TW" altLang="en-US" sz="2000" dirty="0" smtClean="0"/>
              <a:t>與</a:t>
            </a:r>
            <a:r>
              <a:rPr lang="en-US" altLang="zh-TW" sz="2000" dirty="0" smtClean="0"/>
              <a:t>SSL</a:t>
            </a:r>
            <a:r>
              <a:rPr lang="zh-TW" altLang="en-US" sz="2000" dirty="0" smtClean="0"/>
              <a:t>非常類似，但彼此並不相容。</a:t>
            </a:r>
            <a:endParaRPr lang="zh-TW" altLang="en-US" sz="2000" dirty="0"/>
          </a:p>
        </p:txBody>
      </p:sp>
      <p:sp>
        <p:nvSpPr>
          <p:cNvPr id="3" name="標題 2"/>
          <p:cNvSpPr>
            <a:spLocks noGrp="1"/>
          </p:cNvSpPr>
          <p:nvPr>
            <p:ph type="title"/>
          </p:nvPr>
        </p:nvSpPr>
        <p:spPr/>
        <p:txBody>
          <a:bodyPr/>
          <a:lstStyle/>
          <a:p>
            <a:r>
              <a:rPr lang="en-US" altLang="zh-TW" dirty="0" smtClean="0">
                <a:solidFill>
                  <a:srgbClr val="0000FF"/>
                </a:solidFill>
              </a:rPr>
              <a:t>SSL</a:t>
            </a:r>
            <a:r>
              <a:rPr lang="en-US" altLang="zh-TW" dirty="0" smtClean="0"/>
              <a:t> &amp; TLS</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en-US" altLang="zh-TW" sz="2000" dirty="0" smtClean="0"/>
              <a:t>Certificate Management Protocol (CMP) </a:t>
            </a:r>
            <a:r>
              <a:rPr lang="zh-TW" altLang="en-US" sz="2000" dirty="0" smtClean="0"/>
              <a:t>是一種在</a:t>
            </a:r>
            <a:r>
              <a:rPr lang="en-US" altLang="zh-TW" sz="2000" dirty="0" smtClean="0"/>
              <a:t>PKI</a:t>
            </a:r>
            <a:r>
              <a:rPr lang="zh-TW" altLang="en-US" sz="2000" dirty="0" smtClean="0"/>
              <a:t>環境中各實體間溝通訊息的協定。</a:t>
            </a:r>
            <a:r>
              <a:rPr lang="en-US" altLang="zh-TW" sz="2000" dirty="0" smtClean="0">
                <a:solidFill>
                  <a:srgbClr val="0000FF"/>
                </a:solidFill>
              </a:rPr>
              <a:t>CMP</a:t>
            </a:r>
            <a:r>
              <a:rPr lang="zh-TW" altLang="en-US" sz="2000" dirty="0" smtClean="0">
                <a:solidFill>
                  <a:srgbClr val="0000FF"/>
                </a:solidFill>
              </a:rPr>
              <a:t>目前較少用</a:t>
            </a:r>
            <a:r>
              <a:rPr lang="zh-TW" altLang="en-US" sz="2000" dirty="0" smtClean="0"/>
              <a:t>，但應該會快速成長。</a:t>
            </a:r>
            <a:endParaRPr lang="en-US" altLang="zh-TW" sz="2000" dirty="0" smtClean="0"/>
          </a:p>
          <a:p>
            <a:pPr lvl="1"/>
            <a:r>
              <a:rPr lang="en-US" altLang="zh-TW" dirty="0" smtClean="0"/>
              <a:t>CA</a:t>
            </a:r>
            <a:r>
              <a:rPr lang="zh-TW" altLang="en-US" dirty="0" smtClean="0"/>
              <a:t>負責發行憑證，在使用</a:t>
            </a:r>
            <a:r>
              <a:rPr lang="en-US" altLang="zh-TW" dirty="0" smtClean="0"/>
              <a:t>CMP</a:t>
            </a:r>
            <a:r>
              <a:rPr lang="zh-TW" altLang="en-US" dirty="0" smtClean="0"/>
              <a:t>的</a:t>
            </a:r>
            <a:r>
              <a:rPr lang="en-US" altLang="zh-TW" dirty="0" smtClean="0"/>
              <a:t>PKI</a:t>
            </a:r>
            <a:r>
              <a:rPr lang="zh-TW" altLang="en-US" dirty="0" smtClean="0"/>
              <a:t>裡扮演伺服器的角色；以這種協定取得數位憑證的用戶端稱為 </a:t>
            </a:r>
            <a:r>
              <a:rPr lang="en-US" altLang="zh-TW" dirty="0" smtClean="0"/>
              <a:t>end entity (EE)</a:t>
            </a:r>
            <a:r>
              <a:rPr lang="zh-TW" altLang="en-US" dirty="0" smtClean="0"/>
              <a:t>。</a:t>
            </a:r>
            <a:endParaRPr lang="en-US" altLang="zh-TW" dirty="0" smtClean="0"/>
          </a:p>
          <a:p>
            <a:pPr lvl="1"/>
            <a:r>
              <a:rPr lang="en-US" altLang="zh-TW" dirty="0" smtClean="0"/>
              <a:t>CMP</a:t>
            </a:r>
            <a:r>
              <a:rPr lang="zh-TW" altLang="en-US" dirty="0" smtClean="0"/>
              <a:t>定義各種協定指令，讓</a:t>
            </a:r>
            <a:r>
              <a:rPr lang="en-US" altLang="zh-TW" dirty="0" smtClean="0"/>
              <a:t>EE</a:t>
            </a:r>
            <a:r>
              <a:rPr lang="zh-TW" altLang="en-US" dirty="0" smtClean="0"/>
              <a:t>可以從</a:t>
            </a:r>
            <a:r>
              <a:rPr lang="en-US" altLang="zh-TW" dirty="0" smtClean="0"/>
              <a:t>CA</a:t>
            </a:r>
            <a:r>
              <a:rPr lang="zh-TW" altLang="en-US" dirty="0" smtClean="0"/>
              <a:t>取得憑證，也可以要求撤銷自己的憑證；若</a:t>
            </a:r>
            <a:r>
              <a:rPr lang="en-US" altLang="zh-TW" dirty="0" smtClean="0"/>
              <a:t>EE</a:t>
            </a:r>
            <a:r>
              <a:rPr lang="zh-TW" altLang="en-US" dirty="0" smtClean="0"/>
              <a:t>遺失了憑證，也可要求</a:t>
            </a:r>
            <a:r>
              <a:rPr lang="en-US" altLang="zh-TW" dirty="0" smtClean="0"/>
              <a:t>CA</a:t>
            </a:r>
            <a:r>
              <a:rPr lang="zh-TW" altLang="en-US" dirty="0" smtClean="0"/>
              <a:t>補發。另外，用</a:t>
            </a:r>
            <a:r>
              <a:rPr lang="en-US" dirty="0" smtClean="0"/>
              <a:t> “cross-certification request”</a:t>
            </a:r>
            <a:r>
              <a:rPr lang="zh-TW" altLang="en-US" dirty="0" smtClean="0"/>
              <a:t>  這種要求，可讓一個 </a:t>
            </a:r>
            <a:r>
              <a:rPr lang="en-US" dirty="0" smtClean="0"/>
              <a:t>CA </a:t>
            </a:r>
            <a:r>
              <a:rPr lang="zh-TW" altLang="en-US" dirty="0" smtClean="0"/>
              <a:t>取得另一個</a:t>
            </a:r>
            <a:r>
              <a:rPr lang="en-US" altLang="zh-TW" dirty="0" smtClean="0"/>
              <a:t>CA</a:t>
            </a:r>
            <a:r>
              <a:rPr lang="zh-TW" altLang="en-US" dirty="0" smtClean="0"/>
              <a:t>所簽發的憑證。</a:t>
            </a:r>
            <a:endParaRPr lang="en-US" altLang="zh-TW" dirty="0" smtClean="0"/>
          </a:p>
          <a:p>
            <a:r>
              <a:rPr lang="en-US" sz="2000" dirty="0" smtClean="0">
                <a:solidFill>
                  <a:srgbClr val="FF0000"/>
                </a:solidFill>
              </a:rPr>
              <a:t>MIME</a:t>
            </a:r>
            <a:r>
              <a:rPr lang="zh-TW" altLang="en-US" sz="2000" dirty="0" smtClean="0">
                <a:solidFill>
                  <a:srgbClr val="FF0000"/>
                </a:solidFill>
              </a:rPr>
              <a:t>是傳遞電子郵件訊息的標準</a:t>
            </a:r>
            <a:r>
              <a:rPr lang="zh-TW" altLang="en-US" sz="2000" dirty="0" smtClean="0"/>
              <a:t>，</a:t>
            </a:r>
            <a:r>
              <a:rPr lang="en-US" altLang="zh-TW" sz="2000" dirty="0" smtClean="0"/>
              <a:t>S/MIME</a:t>
            </a:r>
            <a:r>
              <a:rPr lang="zh-TW" altLang="en-US" sz="2000" dirty="0" smtClean="0"/>
              <a:t>則是安全版的</a:t>
            </a:r>
            <a:r>
              <a:rPr lang="en-US" altLang="zh-TW" sz="2000" dirty="0" smtClean="0"/>
              <a:t>MIME</a:t>
            </a:r>
            <a:r>
              <a:rPr lang="zh-TW" altLang="en-US" sz="2000" dirty="0" smtClean="0"/>
              <a:t>，用以加密電子郵件。它在</a:t>
            </a:r>
            <a:r>
              <a:rPr lang="en-US" altLang="zh-TW" sz="2000" dirty="0" smtClean="0"/>
              <a:t>PKI</a:t>
            </a:r>
            <a:r>
              <a:rPr lang="zh-TW" altLang="en-US" sz="2000" dirty="0" smtClean="0"/>
              <a:t>的環境中可以為電子郵件加密、確保完整性、並且做認證。</a:t>
            </a:r>
            <a:endParaRPr lang="en-US" sz="2000" dirty="0" smtClean="0"/>
          </a:p>
        </p:txBody>
      </p:sp>
      <p:sp>
        <p:nvSpPr>
          <p:cNvPr id="3" name="標題 2"/>
          <p:cNvSpPr>
            <a:spLocks noGrp="1"/>
          </p:cNvSpPr>
          <p:nvPr>
            <p:ph type="title"/>
          </p:nvPr>
        </p:nvSpPr>
        <p:spPr/>
        <p:txBody>
          <a:bodyPr/>
          <a:lstStyle/>
          <a:p>
            <a:r>
              <a:rPr lang="en-US" altLang="zh-TW" dirty="0" smtClean="0"/>
              <a:t>CMP &amp; S/MIME</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smtClean="0"/>
              <a:t>SET</a:t>
            </a:r>
            <a:endParaRPr lang="zh-TW" altLang="en-US" dirty="0"/>
          </a:p>
        </p:txBody>
      </p:sp>
      <p:sp>
        <p:nvSpPr>
          <p:cNvPr id="4" name="內容版面配置區 3"/>
          <p:cNvSpPr>
            <a:spLocks noGrp="1"/>
          </p:cNvSpPr>
          <p:nvPr>
            <p:ph sz="half" idx="1"/>
          </p:nvPr>
        </p:nvSpPr>
        <p:spPr>
          <a:xfrm>
            <a:off x="285720" y="1285860"/>
            <a:ext cx="3926240" cy="5214974"/>
          </a:xfrm>
        </p:spPr>
        <p:txBody>
          <a:bodyPr>
            <a:normAutofit/>
          </a:bodyPr>
          <a:lstStyle/>
          <a:p>
            <a:pPr>
              <a:lnSpc>
                <a:spcPct val="110000"/>
              </a:lnSpc>
              <a:spcBef>
                <a:spcPts val="1200"/>
              </a:spcBef>
            </a:pPr>
            <a:r>
              <a:rPr lang="en-US" dirty="0" smtClean="0"/>
              <a:t>Secure Electronic Transaction (SET) </a:t>
            </a:r>
            <a:r>
              <a:rPr lang="zh-TW" altLang="en-US" dirty="0" smtClean="0"/>
              <a:t>是由</a:t>
            </a:r>
            <a:r>
              <a:rPr lang="en-US" altLang="zh-TW" dirty="0" smtClean="0"/>
              <a:t>Visa</a:t>
            </a:r>
            <a:r>
              <a:rPr lang="zh-TW" altLang="en-US" dirty="0" smtClean="0"/>
              <a:t>與</a:t>
            </a:r>
            <a:r>
              <a:rPr lang="en-US" altLang="zh-TW" dirty="0" smtClean="0"/>
              <a:t>MasterCard</a:t>
            </a:r>
            <a:r>
              <a:rPr lang="zh-TW" altLang="en-US" dirty="0" smtClean="0"/>
              <a:t>於</a:t>
            </a:r>
            <a:r>
              <a:rPr lang="en-US" altLang="zh-TW" dirty="0" smtClean="0"/>
              <a:t>1996</a:t>
            </a:r>
            <a:r>
              <a:rPr lang="zh-TW" altLang="en-US" dirty="0" smtClean="0"/>
              <a:t>年開始的一個標準協定，讓信用卡得以在不安全的網路上安全交易。</a:t>
            </a:r>
            <a:endParaRPr lang="en-US" altLang="zh-TW" dirty="0" smtClean="0"/>
          </a:p>
          <a:p>
            <a:pPr>
              <a:lnSpc>
                <a:spcPct val="110000"/>
              </a:lnSpc>
              <a:spcBef>
                <a:spcPts val="1200"/>
              </a:spcBef>
            </a:pPr>
            <a:r>
              <a:rPr lang="en-US" altLang="zh-TW" dirty="0" smtClean="0"/>
              <a:t>SET</a:t>
            </a:r>
            <a:r>
              <a:rPr lang="zh-TW" altLang="en-US" dirty="0" smtClean="0"/>
              <a:t>也是以</a:t>
            </a:r>
            <a:r>
              <a:rPr lang="en-US" altLang="zh-TW" dirty="0" smtClean="0"/>
              <a:t>PKI</a:t>
            </a:r>
            <a:r>
              <a:rPr lang="zh-TW" altLang="en-US" dirty="0" smtClean="0"/>
              <a:t>與</a:t>
            </a:r>
            <a:r>
              <a:rPr lang="en-US" altLang="zh-TW" dirty="0" smtClean="0"/>
              <a:t>X.509</a:t>
            </a:r>
            <a:r>
              <a:rPr lang="zh-TW" altLang="en-US" dirty="0" smtClean="0"/>
              <a:t>為基礎，在</a:t>
            </a:r>
            <a:r>
              <a:rPr lang="zh-TW" altLang="en-US" dirty="0" smtClean="0">
                <a:ea typeface="微軟正黑體"/>
              </a:rPr>
              <a:t>「持卡人」、 「商店」、與 「銀行」三者間建立互信的通訊，如右圖。</a:t>
            </a:r>
            <a:endParaRPr lang="en-US" altLang="zh-TW" dirty="0" smtClean="0">
              <a:ea typeface="微軟正黑體"/>
            </a:endParaRPr>
          </a:p>
          <a:p>
            <a:pPr>
              <a:lnSpc>
                <a:spcPct val="110000"/>
              </a:lnSpc>
              <a:spcBef>
                <a:spcPts val="1200"/>
              </a:spcBef>
            </a:pPr>
            <a:r>
              <a:rPr lang="zh-TW" altLang="en-US" dirty="0" smtClean="0">
                <a:solidFill>
                  <a:srgbClr val="0000FF"/>
                </a:solidFill>
                <a:ea typeface="微軟正黑體"/>
              </a:rPr>
              <a:t>在</a:t>
            </a:r>
            <a:r>
              <a:rPr lang="en-US" altLang="zh-TW" dirty="0" smtClean="0">
                <a:solidFill>
                  <a:srgbClr val="0000FF"/>
                </a:solidFill>
                <a:ea typeface="微軟正黑體"/>
              </a:rPr>
              <a:t>SET</a:t>
            </a:r>
            <a:r>
              <a:rPr lang="zh-TW" altLang="en-US" dirty="0" smtClean="0">
                <a:solidFill>
                  <a:srgbClr val="0000FF"/>
                </a:solidFill>
                <a:ea typeface="微軟正黑體"/>
              </a:rPr>
              <a:t>架構中，信用卡必須是電子錢包 </a:t>
            </a:r>
            <a:r>
              <a:rPr lang="en-US" altLang="zh-TW" dirty="0" smtClean="0">
                <a:solidFill>
                  <a:srgbClr val="0000FF"/>
                </a:solidFill>
                <a:ea typeface="微軟正黑體"/>
              </a:rPr>
              <a:t>(</a:t>
            </a:r>
            <a:r>
              <a:rPr lang="zh-TW" altLang="en-US" dirty="0" smtClean="0">
                <a:solidFill>
                  <a:srgbClr val="0000FF"/>
                </a:solidFill>
                <a:ea typeface="微軟正黑體"/>
              </a:rPr>
              <a:t>如智慧卡</a:t>
            </a:r>
            <a:r>
              <a:rPr lang="en-US" altLang="zh-TW" dirty="0" smtClean="0">
                <a:solidFill>
                  <a:srgbClr val="0000FF"/>
                </a:solidFill>
                <a:ea typeface="微軟正黑體"/>
              </a:rPr>
              <a:t>)</a:t>
            </a:r>
            <a:r>
              <a:rPr lang="zh-TW" altLang="en-US" dirty="0" smtClean="0">
                <a:ea typeface="微軟正黑體"/>
              </a:rPr>
              <a:t> 方能儲存電子憑證。</a:t>
            </a:r>
            <a:r>
              <a:rPr lang="zh-TW" altLang="en-US" dirty="0" smtClean="0">
                <a:solidFill>
                  <a:srgbClr val="FF0000"/>
                </a:solidFill>
                <a:ea typeface="微軟正黑體"/>
              </a:rPr>
              <a:t>由於信用卡晶片化速度不如預期</a:t>
            </a:r>
            <a:r>
              <a:rPr lang="en-US" altLang="zh-TW" dirty="0" smtClean="0">
                <a:solidFill>
                  <a:srgbClr val="FF0000"/>
                </a:solidFill>
                <a:ea typeface="微軟正黑體"/>
              </a:rPr>
              <a:t>, SET</a:t>
            </a:r>
            <a:r>
              <a:rPr lang="zh-TW" altLang="en-US" dirty="0" smtClean="0">
                <a:solidFill>
                  <a:srgbClr val="FF0000"/>
                </a:solidFill>
                <a:ea typeface="微軟正黑體"/>
              </a:rPr>
              <a:t>未被廣泛</a:t>
            </a:r>
            <a:r>
              <a:rPr lang="zh-TW" altLang="en-US" dirty="0">
                <a:solidFill>
                  <a:srgbClr val="FF0000"/>
                </a:solidFill>
                <a:ea typeface="微軟正黑體"/>
              </a:rPr>
              <a:t>使用</a:t>
            </a:r>
            <a:r>
              <a:rPr lang="zh-TW" altLang="en-US" dirty="0">
                <a:ea typeface="微軟正黑體"/>
              </a:rPr>
              <a:t>。</a:t>
            </a:r>
            <a:endParaRPr lang="en-US" altLang="zh-TW" dirty="0" smtClean="0"/>
          </a:p>
        </p:txBody>
      </p:sp>
      <p:pic>
        <p:nvPicPr>
          <p:cNvPr id="1026" name="Picture 2" descr="C:\Users\timpan\AppData\Local\Microsoft\Windows\Temporary Internet Files\Content.IE5\L5VOCJKM\MCj02345260000[1].wmf"/>
          <p:cNvPicPr>
            <a:picLocks noChangeAspect="1" noChangeArrowheads="1"/>
          </p:cNvPicPr>
          <p:nvPr/>
        </p:nvPicPr>
        <p:blipFill>
          <a:blip r:embed="rId2" cstate="print"/>
          <a:srcRect/>
          <a:stretch>
            <a:fillRect/>
          </a:stretch>
        </p:blipFill>
        <p:spPr bwMode="auto">
          <a:xfrm>
            <a:off x="4625291" y="1451891"/>
            <a:ext cx="952918" cy="905539"/>
          </a:xfrm>
          <a:prstGeom prst="rect">
            <a:avLst/>
          </a:prstGeom>
          <a:noFill/>
        </p:spPr>
      </p:pic>
      <p:pic>
        <p:nvPicPr>
          <p:cNvPr id="7" name="Picture 2" descr="C:\Users\timpan\AppData\Local\Microsoft\Windows\Temporary Internet Files\Content.IE5\L5VOCJKM\MCj02345260000[1].wmf"/>
          <p:cNvPicPr>
            <a:picLocks noChangeAspect="1" noChangeArrowheads="1"/>
          </p:cNvPicPr>
          <p:nvPr/>
        </p:nvPicPr>
        <p:blipFill>
          <a:blip r:embed="rId2" cstate="print"/>
          <a:srcRect/>
          <a:stretch>
            <a:fillRect/>
          </a:stretch>
        </p:blipFill>
        <p:spPr bwMode="auto">
          <a:xfrm>
            <a:off x="7315711" y="1451891"/>
            <a:ext cx="952918" cy="905539"/>
          </a:xfrm>
          <a:prstGeom prst="rect">
            <a:avLst/>
          </a:prstGeom>
          <a:noFill/>
        </p:spPr>
      </p:pic>
      <p:pic>
        <p:nvPicPr>
          <p:cNvPr id="1027" name="Picture 3" descr="C:\Users\timpan\AppData\Local\Microsoft\Windows\Temporary Internet Files\Content.IE5\ZBS3KS2Z\MCBL00195_0000[1].wmf"/>
          <p:cNvPicPr>
            <a:picLocks noChangeAspect="1" noChangeArrowheads="1"/>
          </p:cNvPicPr>
          <p:nvPr/>
        </p:nvPicPr>
        <p:blipFill>
          <a:blip r:embed="rId3" cstate="print"/>
          <a:srcRect/>
          <a:stretch>
            <a:fillRect/>
          </a:stretch>
        </p:blipFill>
        <p:spPr bwMode="auto">
          <a:xfrm>
            <a:off x="7411373" y="4500570"/>
            <a:ext cx="785818" cy="1000132"/>
          </a:xfrm>
          <a:prstGeom prst="rect">
            <a:avLst/>
          </a:prstGeom>
          <a:noFill/>
        </p:spPr>
      </p:pic>
      <p:sp>
        <p:nvSpPr>
          <p:cNvPr id="9" name="文字方塊 8"/>
          <p:cNvSpPr txBox="1"/>
          <p:nvPr/>
        </p:nvSpPr>
        <p:spPr>
          <a:xfrm>
            <a:off x="4625291" y="2428868"/>
            <a:ext cx="1005403" cy="338554"/>
          </a:xfrm>
          <a:prstGeom prst="rect">
            <a:avLst/>
          </a:prstGeom>
          <a:noFill/>
        </p:spPr>
        <p:txBody>
          <a:bodyPr wrap="none" rtlCol="0">
            <a:spAutoFit/>
          </a:bodyPr>
          <a:lstStyle/>
          <a:p>
            <a:r>
              <a:rPr lang="zh-TW" altLang="en-US" sz="1600" dirty="0" smtClean="0">
                <a:latin typeface="Calibri" pitchFamily="34" charset="0"/>
              </a:rPr>
              <a:t>發卡銀行</a:t>
            </a:r>
            <a:endParaRPr lang="zh-TW" altLang="en-US" sz="1600" dirty="0">
              <a:latin typeface="Calibri" pitchFamily="34" charset="0"/>
            </a:endParaRPr>
          </a:p>
        </p:txBody>
      </p:sp>
      <p:sp>
        <p:nvSpPr>
          <p:cNvPr id="10" name="文字方塊 9"/>
          <p:cNvSpPr txBox="1"/>
          <p:nvPr/>
        </p:nvSpPr>
        <p:spPr>
          <a:xfrm>
            <a:off x="7268497" y="2428868"/>
            <a:ext cx="1005403" cy="338554"/>
          </a:xfrm>
          <a:prstGeom prst="rect">
            <a:avLst/>
          </a:prstGeom>
          <a:noFill/>
        </p:spPr>
        <p:txBody>
          <a:bodyPr wrap="none" rtlCol="0">
            <a:spAutoFit/>
          </a:bodyPr>
          <a:lstStyle/>
          <a:p>
            <a:r>
              <a:rPr lang="zh-TW" altLang="en-US" sz="1600" dirty="0" smtClean="0">
                <a:latin typeface="Calibri" pitchFamily="34" charset="0"/>
              </a:rPr>
              <a:t>清算銀行</a:t>
            </a:r>
            <a:endParaRPr lang="zh-TW" altLang="en-US" sz="1600" dirty="0">
              <a:latin typeface="Calibri" pitchFamily="34" charset="0"/>
            </a:endParaRPr>
          </a:p>
        </p:txBody>
      </p:sp>
      <p:cxnSp>
        <p:nvCxnSpPr>
          <p:cNvPr id="12" name="直線單箭頭接點 11"/>
          <p:cNvCxnSpPr>
            <a:stCxn id="1026" idx="3"/>
            <a:endCxn id="7" idx="1"/>
          </p:cNvCxnSpPr>
          <p:nvPr/>
        </p:nvCxnSpPr>
        <p:spPr>
          <a:xfrm>
            <a:off x="5578209" y="1904661"/>
            <a:ext cx="1737502" cy="158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13" name="文字方塊 12"/>
          <p:cNvSpPr txBox="1"/>
          <p:nvPr/>
        </p:nvSpPr>
        <p:spPr>
          <a:xfrm>
            <a:off x="5911175" y="1500174"/>
            <a:ext cx="1210588" cy="338554"/>
          </a:xfrm>
          <a:prstGeom prst="rect">
            <a:avLst/>
          </a:prstGeom>
          <a:noFill/>
        </p:spPr>
        <p:txBody>
          <a:bodyPr wrap="none" rtlCol="0">
            <a:spAutoFit/>
          </a:bodyPr>
          <a:lstStyle/>
          <a:p>
            <a:r>
              <a:rPr lang="zh-TW" altLang="en-US" sz="1600" dirty="0" smtClean="0">
                <a:latin typeface="Calibri" pitchFamily="34" charset="0"/>
              </a:rPr>
              <a:t>信用卡網路</a:t>
            </a:r>
            <a:endParaRPr lang="zh-TW" altLang="en-US" sz="1600" dirty="0">
              <a:latin typeface="Calibri" pitchFamily="34" charset="0"/>
            </a:endParaRPr>
          </a:p>
        </p:txBody>
      </p:sp>
      <p:sp>
        <p:nvSpPr>
          <p:cNvPr id="15" name="文字方塊 14"/>
          <p:cNvSpPr txBox="1"/>
          <p:nvPr/>
        </p:nvSpPr>
        <p:spPr>
          <a:xfrm>
            <a:off x="7268497" y="5572140"/>
            <a:ext cx="1005403" cy="584775"/>
          </a:xfrm>
          <a:prstGeom prst="rect">
            <a:avLst/>
          </a:prstGeom>
          <a:noFill/>
        </p:spPr>
        <p:txBody>
          <a:bodyPr wrap="square" rtlCol="0">
            <a:spAutoFit/>
          </a:bodyPr>
          <a:lstStyle/>
          <a:p>
            <a:r>
              <a:rPr lang="zh-TW" altLang="en-US" sz="1600" dirty="0" smtClean="0">
                <a:latin typeface="Calibri" pitchFamily="34" charset="0"/>
              </a:rPr>
              <a:t>實體或網路商店</a:t>
            </a:r>
            <a:endParaRPr lang="zh-TW" altLang="en-US" sz="1600" dirty="0">
              <a:latin typeface="Calibri" pitchFamily="34" charset="0"/>
            </a:endParaRPr>
          </a:p>
        </p:txBody>
      </p:sp>
      <p:pic>
        <p:nvPicPr>
          <p:cNvPr id="1029" name="Picture 5" descr="C:\Users\timpan\AppData\Local\Microsoft\Windows\Temporary Internet Files\Content.IE5\L5VOCJKM\MCj03392900000[1].wmf"/>
          <p:cNvPicPr>
            <a:picLocks noChangeAspect="1" noChangeArrowheads="1"/>
          </p:cNvPicPr>
          <p:nvPr/>
        </p:nvPicPr>
        <p:blipFill>
          <a:blip r:embed="rId4" cstate="print"/>
          <a:srcRect/>
          <a:stretch>
            <a:fillRect/>
          </a:stretch>
        </p:blipFill>
        <p:spPr bwMode="auto">
          <a:xfrm>
            <a:off x="4625291" y="4500570"/>
            <a:ext cx="1000132" cy="1000132"/>
          </a:xfrm>
          <a:prstGeom prst="rect">
            <a:avLst/>
          </a:prstGeom>
          <a:noFill/>
        </p:spPr>
      </p:pic>
      <p:sp>
        <p:nvSpPr>
          <p:cNvPr id="18" name="文字方塊 17"/>
          <p:cNvSpPr txBox="1"/>
          <p:nvPr/>
        </p:nvSpPr>
        <p:spPr>
          <a:xfrm>
            <a:off x="4625291" y="5590776"/>
            <a:ext cx="943095" cy="584775"/>
          </a:xfrm>
          <a:prstGeom prst="rect">
            <a:avLst/>
          </a:prstGeom>
          <a:noFill/>
        </p:spPr>
        <p:txBody>
          <a:bodyPr wrap="square" rtlCol="0">
            <a:spAutoFit/>
          </a:bodyPr>
          <a:lstStyle/>
          <a:p>
            <a:r>
              <a:rPr lang="zh-TW" altLang="en-US" sz="1600" dirty="0" smtClean="0">
                <a:latin typeface="Calibri" pitchFamily="34" charset="0"/>
              </a:rPr>
              <a:t>消費者</a:t>
            </a:r>
            <a:r>
              <a:rPr lang="en-US" altLang="zh-TW" sz="1600" dirty="0" smtClean="0">
                <a:latin typeface="Calibri" pitchFamily="34" charset="0"/>
              </a:rPr>
              <a:t>/</a:t>
            </a:r>
            <a:r>
              <a:rPr lang="zh-TW" altLang="en-US" sz="1600" dirty="0" smtClean="0">
                <a:latin typeface="Calibri" pitchFamily="34" charset="0"/>
              </a:rPr>
              <a:t>持卡人</a:t>
            </a:r>
            <a:endParaRPr lang="zh-TW" altLang="en-US" sz="1600" dirty="0">
              <a:latin typeface="Calibri" pitchFamily="34" charset="0"/>
            </a:endParaRPr>
          </a:p>
        </p:txBody>
      </p:sp>
      <p:cxnSp>
        <p:nvCxnSpPr>
          <p:cNvPr id="20" name="直線單箭頭接點 19"/>
          <p:cNvCxnSpPr>
            <a:stCxn id="9" idx="2"/>
            <a:endCxn id="1029" idx="0"/>
          </p:cNvCxnSpPr>
          <p:nvPr/>
        </p:nvCxnSpPr>
        <p:spPr>
          <a:xfrm rot="5400000">
            <a:off x="4260101" y="3632678"/>
            <a:ext cx="1733148" cy="2636"/>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202198" y="3000372"/>
            <a:ext cx="1143007" cy="357190"/>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sz="1600" dirty="0" smtClean="0">
                <a:latin typeface="Calibri" pitchFamily="34" charset="0"/>
              </a:rPr>
              <a:t>信用處理</a:t>
            </a:r>
            <a:endParaRPr lang="zh-TW" altLang="en-US" sz="1600" dirty="0">
              <a:latin typeface="Calibri" pitchFamily="34" charset="0"/>
            </a:endParaRPr>
          </a:p>
        </p:txBody>
      </p:sp>
      <p:cxnSp>
        <p:nvCxnSpPr>
          <p:cNvPr id="25" name="肘形接點 24"/>
          <p:cNvCxnSpPr>
            <a:stCxn id="1027" idx="0"/>
            <a:endCxn id="23" idx="2"/>
          </p:cNvCxnSpPr>
          <p:nvPr/>
        </p:nvCxnSpPr>
        <p:spPr>
          <a:xfrm rot="16200000" flipV="1">
            <a:off x="6717488" y="3413776"/>
            <a:ext cx="1143008" cy="1030580"/>
          </a:xfrm>
          <a:prstGeom prst="bentConnector3">
            <a:avLst>
              <a:gd name="adj1" fmla="val 50000"/>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7" name="直線單箭頭接點 26"/>
          <p:cNvCxnSpPr>
            <a:endCxn id="23" idx="0"/>
          </p:cNvCxnSpPr>
          <p:nvPr/>
        </p:nvCxnSpPr>
        <p:spPr>
          <a:xfrm rot="5400000">
            <a:off x="6237917" y="2464587"/>
            <a:ext cx="107157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2" name="直線單箭頭接點 31"/>
          <p:cNvCxnSpPr>
            <a:stCxn id="1029" idx="3"/>
            <a:endCxn id="1027" idx="1"/>
          </p:cNvCxnSpPr>
          <p:nvPr/>
        </p:nvCxnSpPr>
        <p:spPr>
          <a:xfrm>
            <a:off x="5625423" y="5000636"/>
            <a:ext cx="17859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3" name="文字方塊 42"/>
          <p:cNvSpPr txBox="1"/>
          <p:nvPr/>
        </p:nvSpPr>
        <p:spPr>
          <a:xfrm>
            <a:off x="4572000" y="3559734"/>
            <a:ext cx="479618" cy="338554"/>
          </a:xfrm>
          <a:prstGeom prst="rect">
            <a:avLst/>
          </a:prstGeom>
          <a:noFill/>
        </p:spPr>
        <p:txBody>
          <a:bodyPr wrap="none" rtlCol="0">
            <a:spAutoFit/>
          </a:bodyPr>
          <a:lstStyle/>
          <a:p>
            <a:r>
              <a:rPr lang="en-US" altLang="zh-TW" sz="1600" dirty="0" smtClean="0">
                <a:latin typeface="Calibri" pitchFamily="34" charset="0"/>
              </a:rPr>
              <a:t>SET</a:t>
            </a:r>
            <a:endParaRPr lang="zh-TW" altLang="en-US" sz="1600" dirty="0">
              <a:latin typeface="Calibri" pitchFamily="34" charset="0"/>
            </a:endParaRPr>
          </a:p>
        </p:txBody>
      </p:sp>
      <p:sp>
        <p:nvSpPr>
          <p:cNvPr id="44" name="文字方塊 43"/>
          <p:cNvSpPr txBox="1"/>
          <p:nvPr/>
        </p:nvSpPr>
        <p:spPr>
          <a:xfrm>
            <a:off x="6215074" y="4631304"/>
            <a:ext cx="479618" cy="338554"/>
          </a:xfrm>
          <a:prstGeom prst="rect">
            <a:avLst/>
          </a:prstGeom>
          <a:noFill/>
        </p:spPr>
        <p:txBody>
          <a:bodyPr wrap="none" rtlCol="0">
            <a:spAutoFit/>
          </a:bodyPr>
          <a:lstStyle/>
          <a:p>
            <a:r>
              <a:rPr lang="en-US" altLang="zh-TW" sz="1600" dirty="0" smtClean="0">
                <a:latin typeface="Calibri" pitchFamily="34" charset="0"/>
              </a:rPr>
              <a:t>SET</a:t>
            </a:r>
            <a:endParaRPr lang="zh-TW" altLang="en-US" sz="1600" dirty="0">
              <a:latin typeface="Calibri" pitchFamily="34" charset="0"/>
            </a:endParaRPr>
          </a:p>
        </p:txBody>
      </p:sp>
      <p:sp>
        <p:nvSpPr>
          <p:cNvPr id="45" name="文字方塊 44"/>
          <p:cNvSpPr txBox="1"/>
          <p:nvPr/>
        </p:nvSpPr>
        <p:spPr>
          <a:xfrm>
            <a:off x="6982745" y="3571876"/>
            <a:ext cx="479618" cy="338554"/>
          </a:xfrm>
          <a:prstGeom prst="rect">
            <a:avLst/>
          </a:prstGeom>
          <a:noFill/>
        </p:spPr>
        <p:txBody>
          <a:bodyPr wrap="none" rtlCol="0">
            <a:spAutoFit/>
          </a:bodyPr>
          <a:lstStyle/>
          <a:p>
            <a:r>
              <a:rPr lang="en-US" altLang="zh-TW" sz="1600" dirty="0" smtClean="0">
                <a:latin typeface="Calibri" pitchFamily="34" charset="0"/>
              </a:rPr>
              <a:t>SET</a:t>
            </a:r>
            <a:endParaRPr lang="zh-TW" altLang="en-US" sz="1600" dirty="0">
              <a:latin typeface="Calibri" pitchFamily="34" charset="0"/>
            </a:endParaRPr>
          </a:p>
        </p:txBody>
      </p:sp>
      <p:sp>
        <p:nvSpPr>
          <p:cNvPr id="46" name="文字方塊 45"/>
          <p:cNvSpPr txBox="1"/>
          <p:nvPr/>
        </p:nvSpPr>
        <p:spPr>
          <a:xfrm>
            <a:off x="5125357" y="3333278"/>
            <a:ext cx="933965" cy="830997"/>
          </a:xfrm>
          <a:prstGeom prst="rect">
            <a:avLst/>
          </a:prstGeom>
          <a:noFill/>
        </p:spPr>
        <p:txBody>
          <a:bodyPr wrap="square" rtlCol="0">
            <a:spAutoFit/>
          </a:bodyPr>
          <a:lstStyle/>
          <a:p>
            <a:r>
              <a:rPr lang="zh-TW" altLang="en-US" sz="1600" dirty="0" smtClean="0">
                <a:latin typeface="Calibri" pitchFamily="34" charset="0"/>
              </a:rPr>
              <a:t>消費者取得電子錢包</a:t>
            </a:r>
            <a:endParaRPr lang="zh-TW" altLang="en-US" sz="1600" dirty="0">
              <a:latin typeface="Calibri" pitchFamily="34" charset="0"/>
            </a:endParaRPr>
          </a:p>
        </p:txBody>
      </p:sp>
      <p:sp>
        <p:nvSpPr>
          <p:cNvPr id="47" name="文字方塊 46"/>
          <p:cNvSpPr txBox="1"/>
          <p:nvPr/>
        </p:nvSpPr>
        <p:spPr>
          <a:xfrm>
            <a:off x="6125489" y="5000636"/>
            <a:ext cx="933965" cy="830997"/>
          </a:xfrm>
          <a:prstGeom prst="rect">
            <a:avLst/>
          </a:prstGeom>
          <a:noFill/>
        </p:spPr>
        <p:txBody>
          <a:bodyPr wrap="square" rtlCol="0">
            <a:spAutoFit/>
          </a:bodyPr>
          <a:lstStyle/>
          <a:p>
            <a:r>
              <a:rPr lang="zh-TW" altLang="en-US" sz="1600" dirty="0" smtClean="0">
                <a:latin typeface="Calibri" pitchFamily="34" charset="0"/>
              </a:rPr>
              <a:t>消費者以電子錢購物</a:t>
            </a:r>
            <a:endParaRPr lang="zh-TW" altLang="en-US" sz="1600" dirty="0">
              <a:latin typeface="Calibri" pitchFamily="34" charset="0"/>
            </a:endParaRPr>
          </a:p>
        </p:txBody>
      </p:sp>
      <p:sp>
        <p:nvSpPr>
          <p:cNvPr id="48" name="文字方塊 47"/>
          <p:cNvSpPr txBox="1"/>
          <p:nvPr/>
        </p:nvSpPr>
        <p:spPr>
          <a:xfrm>
            <a:off x="6845140" y="3929066"/>
            <a:ext cx="851985" cy="584775"/>
          </a:xfrm>
          <a:prstGeom prst="rect">
            <a:avLst/>
          </a:prstGeom>
          <a:noFill/>
        </p:spPr>
        <p:txBody>
          <a:bodyPr wrap="square" rtlCol="0">
            <a:spAutoFit/>
          </a:bodyPr>
          <a:lstStyle/>
          <a:p>
            <a:r>
              <a:rPr lang="zh-TW" altLang="en-US" sz="1600" dirty="0" smtClean="0">
                <a:latin typeface="Calibri" pitchFamily="34" charset="0"/>
              </a:rPr>
              <a:t>商店處理交易</a:t>
            </a:r>
            <a:endParaRPr lang="zh-TW" altLang="en-US" sz="1600" dirty="0">
              <a:latin typeface="Calibri"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3" descr="C:\Program Files\Microsoft Office\MEDIA\CAGCAT10\j0285750.wmf"/>
          <p:cNvPicPr>
            <a:picLocks noChangeAspect="1" noChangeArrowheads="1"/>
          </p:cNvPicPr>
          <p:nvPr/>
        </p:nvPicPr>
        <p:blipFill>
          <a:blip r:embed="rId2" cstate="print"/>
          <a:srcRect/>
          <a:stretch>
            <a:fillRect/>
          </a:stretch>
        </p:blipFill>
        <p:spPr bwMode="auto">
          <a:xfrm>
            <a:off x="935511" y="4754108"/>
            <a:ext cx="1279035" cy="786013"/>
          </a:xfrm>
          <a:prstGeom prst="rect">
            <a:avLst/>
          </a:prstGeom>
          <a:noFill/>
        </p:spPr>
      </p:pic>
      <p:sp>
        <p:nvSpPr>
          <p:cNvPr id="57" name="雲朵形 56"/>
          <p:cNvSpPr/>
          <p:nvPr/>
        </p:nvSpPr>
        <p:spPr>
          <a:xfrm>
            <a:off x="2643174" y="4682865"/>
            <a:ext cx="2571768" cy="1000132"/>
          </a:xfrm>
          <a:prstGeom prst="cloud">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TW" altLang="en-US" sz="1600">
              <a:latin typeface="Calibri" pitchFamily="34" charset="0"/>
            </a:endParaRPr>
          </a:p>
        </p:txBody>
      </p:sp>
      <p:sp>
        <p:nvSpPr>
          <p:cNvPr id="2" name="內容版面配置區 1"/>
          <p:cNvSpPr>
            <a:spLocks noGrp="1"/>
          </p:cNvSpPr>
          <p:nvPr>
            <p:ph idx="1"/>
          </p:nvPr>
        </p:nvSpPr>
        <p:spPr>
          <a:xfrm>
            <a:off x="285720" y="1357298"/>
            <a:ext cx="8215370" cy="2643206"/>
          </a:xfrm>
        </p:spPr>
        <p:txBody>
          <a:bodyPr>
            <a:normAutofit/>
          </a:bodyPr>
          <a:lstStyle/>
          <a:p>
            <a:r>
              <a:rPr lang="en-US" altLang="zh-TW" sz="2000" dirty="0" smtClean="0"/>
              <a:t>Secure Shell (SSH) </a:t>
            </a:r>
            <a:r>
              <a:rPr lang="zh-TW" altLang="en-US" sz="2000" dirty="0" smtClean="0">
                <a:solidFill>
                  <a:srgbClr val="FF0000"/>
                </a:solidFill>
              </a:rPr>
              <a:t>是一種通道 </a:t>
            </a:r>
            <a:r>
              <a:rPr lang="en-US" altLang="zh-TW" sz="2000" dirty="0" smtClean="0">
                <a:solidFill>
                  <a:srgbClr val="FF0000"/>
                </a:solidFill>
              </a:rPr>
              <a:t>(tunneling)</a:t>
            </a:r>
            <a:r>
              <a:rPr lang="zh-TW" altLang="en-US" sz="2000" dirty="0" smtClean="0">
                <a:solidFill>
                  <a:srgbClr val="FF0000"/>
                </a:solidFill>
              </a:rPr>
              <a:t> 協定</a:t>
            </a:r>
            <a:r>
              <a:rPr lang="zh-TW" altLang="en-US" sz="2000" dirty="0" smtClean="0"/>
              <a:t>，起初用於</a:t>
            </a:r>
            <a:r>
              <a:rPr lang="en-US" altLang="zh-TW" sz="2000" dirty="0" smtClean="0"/>
              <a:t>Unix</a:t>
            </a:r>
            <a:r>
              <a:rPr lang="zh-TW" altLang="en-US" sz="2000" dirty="0" smtClean="0"/>
              <a:t>系統，現在</a:t>
            </a:r>
            <a:r>
              <a:rPr lang="en-US" altLang="zh-TW" sz="2000" dirty="0" smtClean="0"/>
              <a:t>Windows</a:t>
            </a:r>
            <a:r>
              <a:rPr lang="zh-TW" altLang="en-US" sz="2000" dirty="0" smtClean="0"/>
              <a:t>也使用。我們曾在第一章提過</a:t>
            </a:r>
            <a:r>
              <a:rPr lang="en-US" altLang="zh-TW" sz="2000" dirty="0" smtClean="0"/>
              <a:t>tunneling</a:t>
            </a:r>
            <a:r>
              <a:rPr lang="zh-TW" altLang="en-US" sz="2000" dirty="0" smtClean="0"/>
              <a:t>，是指在兩個系統或網路間建立一條虛擬的專屬通道。雖然還是在公開網路上，但通道兩端使用彼此同意的方法來封包信息。</a:t>
            </a:r>
            <a:endParaRPr lang="en-US" altLang="zh-TW" sz="2000" dirty="0" smtClean="0"/>
          </a:p>
          <a:p>
            <a:r>
              <a:rPr lang="en-US" altLang="zh-TW" sz="2000" dirty="0" smtClean="0">
                <a:solidFill>
                  <a:srgbClr val="FF0000"/>
                </a:solidFill>
              </a:rPr>
              <a:t>SSH</a:t>
            </a:r>
            <a:r>
              <a:rPr lang="zh-TW" altLang="en-US" sz="2000" dirty="0" smtClean="0">
                <a:solidFill>
                  <a:srgbClr val="FF0000"/>
                </a:solidFill>
              </a:rPr>
              <a:t>是完整</a:t>
            </a:r>
            <a:r>
              <a:rPr lang="en-US" altLang="zh-TW" sz="2000" dirty="0" smtClean="0">
                <a:solidFill>
                  <a:srgbClr val="FF0000"/>
                </a:solidFill>
              </a:rPr>
              <a:t>VPN</a:t>
            </a:r>
            <a:r>
              <a:rPr lang="zh-TW" altLang="en-US" sz="2000" dirty="0" smtClean="0">
                <a:solidFill>
                  <a:srgbClr val="FF0000"/>
                </a:solidFill>
              </a:rPr>
              <a:t>之外的一種選擇</a:t>
            </a:r>
            <a:r>
              <a:rPr lang="zh-TW" altLang="en-US" sz="2000" dirty="0" smtClean="0"/>
              <a:t>，如下圖所示，不安全的電子郵件可以經由</a:t>
            </a:r>
            <a:r>
              <a:rPr lang="en-US" altLang="zh-TW" sz="2000" dirty="0" smtClean="0"/>
              <a:t>SSH</a:t>
            </a:r>
            <a:r>
              <a:rPr lang="zh-TW" altLang="en-US" sz="2000" dirty="0" smtClean="0"/>
              <a:t>伺服器與客戶端的對應軟體所建立的通道進行安全傳輸。</a:t>
            </a:r>
            <a:endParaRPr lang="en-US" altLang="zh-TW" sz="2000" dirty="0" smtClean="0"/>
          </a:p>
        </p:txBody>
      </p:sp>
      <p:sp>
        <p:nvSpPr>
          <p:cNvPr id="3" name="標題 2"/>
          <p:cNvSpPr>
            <a:spLocks noGrp="1"/>
          </p:cNvSpPr>
          <p:nvPr>
            <p:ph type="title"/>
          </p:nvPr>
        </p:nvSpPr>
        <p:spPr/>
        <p:txBody>
          <a:bodyPr/>
          <a:lstStyle/>
          <a:p>
            <a:r>
              <a:rPr lang="en-US" altLang="zh-TW" dirty="0" smtClean="0"/>
              <a:t>SSH</a:t>
            </a:r>
            <a:endParaRPr lang="zh-TW" altLang="en-US" dirty="0"/>
          </a:p>
        </p:txBody>
      </p:sp>
      <p:grpSp>
        <p:nvGrpSpPr>
          <p:cNvPr id="4" name="Group 149"/>
          <p:cNvGrpSpPr>
            <a:grpSpLocks/>
          </p:cNvGrpSpPr>
          <p:nvPr/>
        </p:nvGrpSpPr>
        <p:grpSpPr bwMode="auto">
          <a:xfrm>
            <a:off x="5786446" y="4500570"/>
            <a:ext cx="464604" cy="1129628"/>
            <a:chOff x="2160" y="1896"/>
            <a:chExt cx="533" cy="863"/>
          </a:xfrm>
        </p:grpSpPr>
        <p:sp>
          <p:nvSpPr>
            <p:cNvPr id="15" name="Freeform 150"/>
            <p:cNvSpPr>
              <a:spLocks noChangeAspect="1"/>
            </p:cNvSpPr>
            <p:nvPr/>
          </p:nvSpPr>
          <p:spPr bwMode="auto">
            <a:xfrm>
              <a:off x="2160" y="2249"/>
              <a:ext cx="90" cy="399"/>
            </a:xfrm>
            <a:custGeom>
              <a:avLst/>
              <a:gdLst>
                <a:gd name="T0" fmla="*/ 0 w 144"/>
                <a:gd name="T1" fmla="*/ 1 h 644"/>
                <a:gd name="T2" fmla="*/ 0 w 144"/>
                <a:gd name="T3" fmla="*/ 1 h 644"/>
                <a:gd name="T4" fmla="*/ 1 w 144"/>
                <a:gd name="T5" fmla="*/ 0 h 644"/>
                <a:gd name="T6" fmla="*/ 1 w 144"/>
                <a:gd name="T7" fmla="*/ 1 h 644"/>
                <a:gd name="T8" fmla="*/ 0 w 144"/>
                <a:gd name="T9" fmla="*/ 1 h 644"/>
                <a:gd name="T10" fmla="*/ 0 60000 65536"/>
                <a:gd name="T11" fmla="*/ 0 60000 65536"/>
                <a:gd name="T12" fmla="*/ 0 60000 65536"/>
                <a:gd name="T13" fmla="*/ 0 60000 65536"/>
                <a:gd name="T14" fmla="*/ 0 60000 65536"/>
                <a:gd name="T15" fmla="*/ 0 w 144"/>
                <a:gd name="T16" fmla="*/ 0 h 644"/>
                <a:gd name="T17" fmla="*/ 144 w 144"/>
                <a:gd name="T18" fmla="*/ 644 h 644"/>
              </a:gdLst>
              <a:ahLst/>
              <a:cxnLst>
                <a:cxn ang="T10">
                  <a:pos x="T0" y="T1"/>
                </a:cxn>
                <a:cxn ang="T11">
                  <a:pos x="T2" y="T3"/>
                </a:cxn>
                <a:cxn ang="T12">
                  <a:pos x="T4" y="T5"/>
                </a:cxn>
                <a:cxn ang="T13">
                  <a:pos x="T6" y="T7"/>
                </a:cxn>
                <a:cxn ang="T14">
                  <a:pos x="T8" y="T9"/>
                </a:cxn>
              </a:cxnLst>
              <a:rect l="T15" t="T16" r="T17" b="T18"/>
              <a:pathLst>
                <a:path w="144" h="644">
                  <a:moveTo>
                    <a:pt x="0" y="644"/>
                  </a:moveTo>
                  <a:lnTo>
                    <a:pt x="0" y="79"/>
                  </a:lnTo>
                  <a:lnTo>
                    <a:pt x="144" y="0"/>
                  </a:lnTo>
                  <a:lnTo>
                    <a:pt x="144" y="554"/>
                  </a:lnTo>
                  <a:lnTo>
                    <a:pt x="0" y="644"/>
                  </a:lnTo>
                </a:path>
              </a:pathLst>
            </a:custGeom>
            <a:gradFill rotWithShape="0">
              <a:gsLst>
                <a:gs pos="0">
                  <a:srgbClr val="B2B2B2"/>
                </a:gs>
                <a:gs pos="100000">
                  <a:srgbClr val="E5E5E5"/>
                </a:gs>
              </a:gsLst>
              <a:path path="rect">
                <a:fillToRect l="100000" t="100000"/>
              </a:path>
            </a:gradFill>
            <a:ln w="3175" cap="rnd">
              <a:solidFill>
                <a:srgbClr val="808080"/>
              </a:solidFill>
              <a:round/>
              <a:headEnd/>
              <a:tailEnd/>
            </a:ln>
          </p:spPr>
          <p:txBody>
            <a:bodyPr/>
            <a:lstStyle/>
            <a:p>
              <a:endParaRPr kumimoji="0" lang="zh-TW" altLang="en-US" sz="1600">
                <a:latin typeface="Calibri" pitchFamily="34" charset="0"/>
              </a:endParaRPr>
            </a:p>
          </p:txBody>
        </p:sp>
        <p:sp>
          <p:nvSpPr>
            <p:cNvPr id="16" name="Freeform 151"/>
            <p:cNvSpPr>
              <a:spLocks/>
            </p:cNvSpPr>
            <p:nvPr/>
          </p:nvSpPr>
          <p:spPr bwMode="auto">
            <a:xfrm>
              <a:off x="2162" y="1896"/>
              <a:ext cx="529" cy="185"/>
            </a:xfrm>
            <a:custGeom>
              <a:avLst/>
              <a:gdLst>
                <a:gd name="T0" fmla="*/ 0 w 1291"/>
                <a:gd name="T1" fmla="*/ 0 h 449"/>
                <a:gd name="T2" fmla="*/ 0 w 1291"/>
                <a:gd name="T3" fmla="*/ 0 h 449"/>
                <a:gd name="T4" fmla="*/ 0 w 1291"/>
                <a:gd name="T5" fmla="*/ 0 h 449"/>
                <a:gd name="T6" fmla="*/ 0 w 1291"/>
                <a:gd name="T7" fmla="*/ 0 h 449"/>
                <a:gd name="T8" fmla="*/ 0 w 1291"/>
                <a:gd name="T9" fmla="*/ 0 h 449"/>
                <a:gd name="T10" fmla="*/ 0 60000 65536"/>
                <a:gd name="T11" fmla="*/ 0 60000 65536"/>
                <a:gd name="T12" fmla="*/ 0 60000 65536"/>
                <a:gd name="T13" fmla="*/ 0 60000 65536"/>
                <a:gd name="T14" fmla="*/ 0 60000 65536"/>
                <a:gd name="T15" fmla="*/ 0 w 1291"/>
                <a:gd name="T16" fmla="*/ 0 h 449"/>
                <a:gd name="T17" fmla="*/ 1291 w 1291"/>
                <a:gd name="T18" fmla="*/ 449 h 449"/>
              </a:gdLst>
              <a:ahLst/>
              <a:cxnLst>
                <a:cxn ang="T10">
                  <a:pos x="T0" y="T1"/>
                </a:cxn>
                <a:cxn ang="T11">
                  <a:pos x="T2" y="T3"/>
                </a:cxn>
                <a:cxn ang="T12">
                  <a:pos x="T4" y="T5"/>
                </a:cxn>
                <a:cxn ang="T13">
                  <a:pos x="T6" y="T7"/>
                </a:cxn>
                <a:cxn ang="T14">
                  <a:pos x="T8" y="T9"/>
                </a:cxn>
              </a:cxnLst>
              <a:rect l="T15" t="T16" r="T17" b="T18"/>
              <a:pathLst>
                <a:path w="1291" h="449">
                  <a:moveTo>
                    <a:pt x="0" y="307"/>
                  </a:moveTo>
                  <a:lnTo>
                    <a:pt x="577" y="448"/>
                  </a:lnTo>
                  <a:lnTo>
                    <a:pt x="1290" y="127"/>
                  </a:lnTo>
                  <a:lnTo>
                    <a:pt x="727" y="0"/>
                  </a:lnTo>
                  <a:lnTo>
                    <a:pt x="0" y="307"/>
                  </a:lnTo>
                </a:path>
              </a:pathLst>
            </a:custGeom>
            <a:solidFill>
              <a:schemeClr val="bg1"/>
            </a:solidFill>
            <a:ln w="9525" cap="rnd">
              <a:solidFill>
                <a:srgbClr val="333333"/>
              </a:solidFill>
              <a:round/>
              <a:headEnd/>
              <a:tailEnd/>
            </a:ln>
          </p:spPr>
          <p:txBody>
            <a:bodyPr/>
            <a:lstStyle/>
            <a:p>
              <a:endParaRPr kumimoji="0" lang="zh-TW" altLang="en-US" sz="1600">
                <a:latin typeface="Calibri" pitchFamily="34" charset="0"/>
              </a:endParaRPr>
            </a:p>
          </p:txBody>
        </p:sp>
        <p:sp>
          <p:nvSpPr>
            <p:cNvPr id="17" name="Freeform 152"/>
            <p:cNvSpPr>
              <a:spLocks/>
            </p:cNvSpPr>
            <p:nvPr/>
          </p:nvSpPr>
          <p:spPr bwMode="auto">
            <a:xfrm>
              <a:off x="2171" y="2538"/>
              <a:ext cx="513" cy="221"/>
            </a:xfrm>
            <a:custGeom>
              <a:avLst/>
              <a:gdLst>
                <a:gd name="T0" fmla="*/ 0 w 1252"/>
                <a:gd name="T1" fmla="*/ 0 h 536"/>
                <a:gd name="T2" fmla="*/ 0 w 1252"/>
                <a:gd name="T3" fmla="*/ 0 h 536"/>
                <a:gd name="T4" fmla="*/ 0 w 1252"/>
                <a:gd name="T5" fmla="*/ 0 h 536"/>
                <a:gd name="T6" fmla="*/ 0 w 1252"/>
                <a:gd name="T7" fmla="*/ 0 h 536"/>
                <a:gd name="T8" fmla="*/ 0 w 1252"/>
                <a:gd name="T9" fmla="*/ 0 h 536"/>
                <a:gd name="T10" fmla="*/ 0 60000 65536"/>
                <a:gd name="T11" fmla="*/ 0 60000 65536"/>
                <a:gd name="T12" fmla="*/ 0 60000 65536"/>
                <a:gd name="T13" fmla="*/ 0 60000 65536"/>
                <a:gd name="T14" fmla="*/ 0 60000 65536"/>
                <a:gd name="T15" fmla="*/ 0 w 1252"/>
                <a:gd name="T16" fmla="*/ 0 h 536"/>
                <a:gd name="T17" fmla="*/ 1252 w 1252"/>
                <a:gd name="T18" fmla="*/ 536 h 536"/>
              </a:gdLst>
              <a:ahLst/>
              <a:cxnLst>
                <a:cxn ang="T10">
                  <a:pos x="T0" y="T1"/>
                </a:cxn>
                <a:cxn ang="T11">
                  <a:pos x="T2" y="T3"/>
                </a:cxn>
                <a:cxn ang="T12">
                  <a:pos x="T4" y="T5"/>
                </a:cxn>
                <a:cxn ang="T13">
                  <a:pos x="T6" y="T7"/>
                </a:cxn>
                <a:cxn ang="T14">
                  <a:pos x="T8" y="T9"/>
                </a:cxn>
              </a:cxnLst>
              <a:rect l="T15" t="T16" r="T17" b="T18"/>
              <a:pathLst>
                <a:path w="1252" h="536">
                  <a:moveTo>
                    <a:pt x="0" y="292"/>
                  </a:moveTo>
                  <a:lnTo>
                    <a:pt x="0" y="370"/>
                  </a:lnTo>
                  <a:lnTo>
                    <a:pt x="567" y="535"/>
                  </a:lnTo>
                  <a:lnTo>
                    <a:pt x="1251" y="92"/>
                  </a:lnTo>
                  <a:lnTo>
                    <a:pt x="1251" y="0"/>
                  </a:lnTo>
                </a:path>
              </a:pathLst>
            </a:custGeom>
            <a:solidFill>
              <a:srgbClr val="808080"/>
            </a:solidFill>
            <a:ln w="3175" cap="rnd">
              <a:solidFill>
                <a:srgbClr val="808080"/>
              </a:solidFill>
              <a:round/>
              <a:headEnd/>
              <a:tailEnd/>
            </a:ln>
          </p:spPr>
          <p:txBody>
            <a:bodyPr/>
            <a:lstStyle/>
            <a:p>
              <a:endParaRPr kumimoji="0" lang="zh-TW" altLang="en-US" sz="1600">
                <a:latin typeface="Calibri" pitchFamily="34" charset="0"/>
              </a:endParaRPr>
            </a:p>
          </p:txBody>
        </p:sp>
        <p:sp>
          <p:nvSpPr>
            <p:cNvPr id="18" name="Freeform 153"/>
            <p:cNvSpPr>
              <a:spLocks/>
            </p:cNvSpPr>
            <p:nvPr/>
          </p:nvSpPr>
          <p:spPr bwMode="auto">
            <a:xfrm>
              <a:off x="2393" y="1947"/>
              <a:ext cx="300" cy="791"/>
            </a:xfrm>
            <a:custGeom>
              <a:avLst/>
              <a:gdLst>
                <a:gd name="T0" fmla="*/ 0 w 729"/>
                <a:gd name="T1" fmla="*/ 0 h 1916"/>
                <a:gd name="T2" fmla="*/ 0 w 729"/>
                <a:gd name="T3" fmla="*/ 0 h 1916"/>
                <a:gd name="T4" fmla="*/ 0 w 729"/>
                <a:gd name="T5" fmla="*/ 0 h 1916"/>
                <a:gd name="T6" fmla="*/ 0 w 729"/>
                <a:gd name="T7" fmla="*/ 0 h 1916"/>
                <a:gd name="T8" fmla="*/ 0 w 729"/>
                <a:gd name="T9" fmla="*/ 0 h 1916"/>
                <a:gd name="T10" fmla="*/ 0 60000 65536"/>
                <a:gd name="T11" fmla="*/ 0 60000 65536"/>
                <a:gd name="T12" fmla="*/ 0 60000 65536"/>
                <a:gd name="T13" fmla="*/ 0 60000 65536"/>
                <a:gd name="T14" fmla="*/ 0 60000 65536"/>
                <a:gd name="T15" fmla="*/ 0 w 729"/>
                <a:gd name="T16" fmla="*/ 0 h 1916"/>
                <a:gd name="T17" fmla="*/ 729 w 729"/>
                <a:gd name="T18" fmla="*/ 1916 h 1916"/>
              </a:gdLst>
              <a:ahLst/>
              <a:cxnLst>
                <a:cxn ang="T10">
                  <a:pos x="T0" y="T1"/>
                </a:cxn>
                <a:cxn ang="T11">
                  <a:pos x="T2" y="T3"/>
                </a:cxn>
                <a:cxn ang="T12">
                  <a:pos x="T4" y="T5"/>
                </a:cxn>
                <a:cxn ang="T13">
                  <a:pos x="T6" y="T7"/>
                </a:cxn>
                <a:cxn ang="T14">
                  <a:pos x="T8" y="T9"/>
                </a:cxn>
              </a:cxnLst>
              <a:rect l="T15" t="T16" r="T17" b="T18"/>
              <a:pathLst>
                <a:path w="729" h="1916">
                  <a:moveTo>
                    <a:pt x="0" y="328"/>
                  </a:moveTo>
                  <a:lnTo>
                    <a:pt x="4" y="1915"/>
                  </a:lnTo>
                  <a:lnTo>
                    <a:pt x="728" y="1456"/>
                  </a:lnTo>
                  <a:lnTo>
                    <a:pt x="728" y="0"/>
                  </a:lnTo>
                  <a:lnTo>
                    <a:pt x="0" y="328"/>
                  </a:lnTo>
                </a:path>
              </a:pathLst>
            </a:custGeom>
            <a:gradFill rotWithShape="0">
              <a:gsLst>
                <a:gs pos="0">
                  <a:srgbClr val="B2B2B2"/>
                </a:gs>
                <a:gs pos="100000">
                  <a:srgbClr val="E5E5E5"/>
                </a:gs>
              </a:gsLst>
              <a:path path="rect">
                <a:fillToRect l="100000" t="100000"/>
              </a:path>
            </a:gradFill>
            <a:ln w="9525" cap="rnd">
              <a:solidFill>
                <a:srgbClr val="333333"/>
              </a:solidFill>
              <a:round/>
              <a:headEnd/>
              <a:tailEnd/>
            </a:ln>
          </p:spPr>
          <p:txBody>
            <a:bodyPr/>
            <a:lstStyle/>
            <a:p>
              <a:endParaRPr kumimoji="0" lang="zh-TW" altLang="en-US" sz="1600">
                <a:latin typeface="Calibri" pitchFamily="34" charset="0"/>
              </a:endParaRPr>
            </a:p>
          </p:txBody>
        </p:sp>
        <p:sp>
          <p:nvSpPr>
            <p:cNvPr id="19" name="Freeform 154"/>
            <p:cNvSpPr>
              <a:spLocks/>
            </p:cNvSpPr>
            <p:nvPr/>
          </p:nvSpPr>
          <p:spPr bwMode="auto">
            <a:xfrm>
              <a:off x="2160" y="2022"/>
              <a:ext cx="236" cy="711"/>
            </a:xfrm>
            <a:custGeom>
              <a:avLst/>
              <a:gdLst>
                <a:gd name="T0" fmla="*/ 117430 w 156"/>
                <a:gd name="T1" fmla="*/ 29305 h 470"/>
                <a:gd name="T2" fmla="*/ 117430 w 156"/>
                <a:gd name="T3" fmla="*/ 353780 h 470"/>
                <a:gd name="T4" fmla="*/ 0 w 156"/>
                <a:gd name="T5" fmla="*/ 321231 h 470"/>
                <a:gd name="T6" fmla="*/ 0 w 156"/>
                <a:gd name="T7" fmla="*/ 0 h 470"/>
                <a:gd name="T8" fmla="*/ 117430 w 156"/>
                <a:gd name="T9" fmla="*/ 29305 h 470"/>
                <a:gd name="T10" fmla="*/ 0 60000 65536"/>
                <a:gd name="T11" fmla="*/ 0 60000 65536"/>
                <a:gd name="T12" fmla="*/ 0 60000 65536"/>
                <a:gd name="T13" fmla="*/ 0 60000 65536"/>
                <a:gd name="T14" fmla="*/ 0 60000 65536"/>
                <a:gd name="T15" fmla="*/ 0 w 156"/>
                <a:gd name="T16" fmla="*/ 0 h 470"/>
                <a:gd name="T17" fmla="*/ 156 w 156"/>
                <a:gd name="T18" fmla="*/ 470 h 470"/>
              </a:gdLst>
              <a:ahLst/>
              <a:cxnLst>
                <a:cxn ang="T10">
                  <a:pos x="T0" y="T1"/>
                </a:cxn>
                <a:cxn ang="T11">
                  <a:pos x="T2" y="T3"/>
                </a:cxn>
                <a:cxn ang="T12">
                  <a:pos x="T4" y="T5"/>
                </a:cxn>
                <a:cxn ang="T13">
                  <a:pos x="T6" y="T7"/>
                </a:cxn>
                <a:cxn ang="T14">
                  <a:pos x="T8" y="T9"/>
                </a:cxn>
              </a:cxnLst>
              <a:rect l="T15" t="T16" r="T17" b="T18"/>
              <a:pathLst>
                <a:path w="156" h="470">
                  <a:moveTo>
                    <a:pt x="156" y="39"/>
                  </a:moveTo>
                  <a:lnTo>
                    <a:pt x="156" y="470"/>
                  </a:lnTo>
                  <a:lnTo>
                    <a:pt x="0" y="427"/>
                  </a:lnTo>
                  <a:lnTo>
                    <a:pt x="0" y="0"/>
                  </a:lnTo>
                  <a:lnTo>
                    <a:pt x="156" y="39"/>
                  </a:lnTo>
                </a:path>
              </a:pathLst>
            </a:custGeom>
            <a:gradFill rotWithShape="0">
              <a:gsLst>
                <a:gs pos="0">
                  <a:srgbClr val="EDEDED"/>
                </a:gs>
                <a:gs pos="100000">
                  <a:srgbClr val="B2B2B2"/>
                </a:gs>
              </a:gsLst>
              <a:lin ang="5400000" scaled="1"/>
            </a:gradFill>
            <a:ln w="9525" cap="rnd">
              <a:solidFill>
                <a:srgbClr val="333333"/>
              </a:solidFill>
              <a:round/>
              <a:headEnd/>
              <a:tailEnd/>
            </a:ln>
          </p:spPr>
          <p:txBody>
            <a:bodyPr/>
            <a:lstStyle/>
            <a:p>
              <a:endParaRPr kumimoji="0" lang="zh-TW" altLang="en-US" sz="1600">
                <a:latin typeface="Calibri" pitchFamily="34" charset="0"/>
              </a:endParaRPr>
            </a:p>
          </p:txBody>
        </p:sp>
        <p:sp>
          <p:nvSpPr>
            <p:cNvPr id="20" name="Line 155"/>
            <p:cNvSpPr>
              <a:spLocks noChangeShapeType="1"/>
            </p:cNvSpPr>
            <p:nvPr/>
          </p:nvSpPr>
          <p:spPr bwMode="auto">
            <a:xfrm>
              <a:off x="2193" y="2621"/>
              <a:ext cx="164" cy="43"/>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21" name="Line 156"/>
            <p:cNvSpPr>
              <a:spLocks noChangeShapeType="1"/>
            </p:cNvSpPr>
            <p:nvPr/>
          </p:nvSpPr>
          <p:spPr bwMode="auto">
            <a:xfrm>
              <a:off x="2193" y="2588"/>
              <a:ext cx="164" cy="44"/>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22" name="Line 157"/>
            <p:cNvSpPr>
              <a:spLocks noChangeShapeType="1"/>
            </p:cNvSpPr>
            <p:nvPr/>
          </p:nvSpPr>
          <p:spPr bwMode="auto">
            <a:xfrm>
              <a:off x="2193" y="2556"/>
              <a:ext cx="164" cy="46"/>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23" name="Line 158"/>
            <p:cNvSpPr>
              <a:spLocks noChangeShapeType="1"/>
            </p:cNvSpPr>
            <p:nvPr/>
          </p:nvSpPr>
          <p:spPr bwMode="auto">
            <a:xfrm>
              <a:off x="2193" y="2524"/>
              <a:ext cx="164" cy="44"/>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24" name="Line 159"/>
            <p:cNvSpPr>
              <a:spLocks noChangeShapeType="1"/>
            </p:cNvSpPr>
            <p:nvPr/>
          </p:nvSpPr>
          <p:spPr bwMode="auto">
            <a:xfrm>
              <a:off x="2193" y="2491"/>
              <a:ext cx="164" cy="44"/>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25" name="Freeform 160"/>
            <p:cNvSpPr>
              <a:spLocks/>
            </p:cNvSpPr>
            <p:nvPr/>
          </p:nvSpPr>
          <p:spPr bwMode="auto">
            <a:xfrm>
              <a:off x="2177" y="2116"/>
              <a:ext cx="186" cy="526"/>
            </a:xfrm>
            <a:custGeom>
              <a:avLst/>
              <a:gdLst>
                <a:gd name="T0" fmla="*/ 0 w 453"/>
                <a:gd name="T1" fmla="*/ 0 h 1278"/>
                <a:gd name="T2" fmla="*/ 0 w 453"/>
                <a:gd name="T3" fmla="*/ 0 h 1278"/>
                <a:gd name="T4" fmla="*/ 0 w 453"/>
                <a:gd name="T5" fmla="*/ 0 h 1278"/>
                <a:gd name="T6" fmla="*/ 0 60000 65536"/>
                <a:gd name="T7" fmla="*/ 0 60000 65536"/>
                <a:gd name="T8" fmla="*/ 0 60000 65536"/>
                <a:gd name="T9" fmla="*/ 0 w 453"/>
                <a:gd name="T10" fmla="*/ 0 h 1278"/>
                <a:gd name="T11" fmla="*/ 453 w 453"/>
                <a:gd name="T12" fmla="*/ 1278 h 1278"/>
              </a:gdLst>
              <a:ahLst/>
              <a:cxnLst>
                <a:cxn ang="T6">
                  <a:pos x="T0" y="T1"/>
                </a:cxn>
                <a:cxn ang="T7">
                  <a:pos x="T2" y="T3"/>
                </a:cxn>
                <a:cxn ang="T8">
                  <a:pos x="T4" y="T5"/>
                </a:cxn>
              </a:cxnLst>
              <a:rect l="T9" t="T10" r="T11" b="T12"/>
              <a:pathLst>
                <a:path w="453" h="1278">
                  <a:moveTo>
                    <a:pt x="452" y="105"/>
                  </a:moveTo>
                  <a:lnTo>
                    <a:pt x="0" y="0"/>
                  </a:lnTo>
                  <a:lnTo>
                    <a:pt x="0" y="1277"/>
                  </a:lnTo>
                </a:path>
              </a:pathLst>
            </a:custGeom>
            <a:noFill/>
            <a:ln w="6350" cap="rnd">
              <a:solidFill>
                <a:srgbClr val="808080"/>
              </a:solidFill>
              <a:round/>
              <a:headEnd/>
              <a:tailEnd/>
            </a:ln>
          </p:spPr>
          <p:txBody>
            <a:bodyPr/>
            <a:lstStyle/>
            <a:p>
              <a:endParaRPr kumimoji="0" lang="zh-TW" altLang="en-US" sz="1600">
                <a:latin typeface="Calibri" pitchFamily="34" charset="0"/>
              </a:endParaRPr>
            </a:p>
          </p:txBody>
        </p:sp>
        <p:sp>
          <p:nvSpPr>
            <p:cNvPr id="26" name="Freeform 161"/>
            <p:cNvSpPr>
              <a:spLocks/>
            </p:cNvSpPr>
            <p:nvPr/>
          </p:nvSpPr>
          <p:spPr bwMode="auto">
            <a:xfrm>
              <a:off x="2210" y="2238"/>
              <a:ext cx="141" cy="64"/>
            </a:xfrm>
            <a:custGeom>
              <a:avLst/>
              <a:gdLst>
                <a:gd name="T0" fmla="*/ 0 w 351"/>
                <a:gd name="T1" fmla="*/ 0 h 183"/>
                <a:gd name="T2" fmla="*/ 0 w 351"/>
                <a:gd name="T3" fmla="*/ 0 h 183"/>
                <a:gd name="T4" fmla="*/ 0 w 351"/>
                <a:gd name="T5" fmla="*/ 0 h 183"/>
                <a:gd name="T6" fmla="*/ 0 w 351"/>
                <a:gd name="T7" fmla="*/ 0 h 183"/>
                <a:gd name="T8" fmla="*/ 0 w 351"/>
                <a:gd name="T9" fmla="*/ 0 h 183"/>
                <a:gd name="T10" fmla="*/ 0 60000 65536"/>
                <a:gd name="T11" fmla="*/ 0 60000 65536"/>
                <a:gd name="T12" fmla="*/ 0 60000 65536"/>
                <a:gd name="T13" fmla="*/ 0 60000 65536"/>
                <a:gd name="T14" fmla="*/ 0 60000 65536"/>
                <a:gd name="T15" fmla="*/ 0 w 351"/>
                <a:gd name="T16" fmla="*/ 0 h 183"/>
                <a:gd name="T17" fmla="*/ 351 w 351"/>
                <a:gd name="T18" fmla="*/ 183 h 183"/>
              </a:gdLst>
              <a:ahLst/>
              <a:cxnLst>
                <a:cxn ang="T10">
                  <a:pos x="T0" y="T1"/>
                </a:cxn>
                <a:cxn ang="T11">
                  <a:pos x="T2" y="T3"/>
                </a:cxn>
                <a:cxn ang="T12">
                  <a:pos x="T4" y="T5"/>
                </a:cxn>
                <a:cxn ang="T13">
                  <a:pos x="T6" y="T7"/>
                </a:cxn>
                <a:cxn ang="T14">
                  <a:pos x="T8" y="T9"/>
                </a:cxn>
              </a:cxnLst>
              <a:rect l="T15" t="T16" r="T17" b="T18"/>
              <a:pathLst>
                <a:path w="351" h="183">
                  <a:moveTo>
                    <a:pt x="0" y="85"/>
                  </a:moveTo>
                  <a:lnTo>
                    <a:pt x="0" y="0"/>
                  </a:lnTo>
                  <a:lnTo>
                    <a:pt x="350" y="93"/>
                  </a:lnTo>
                  <a:lnTo>
                    <a:pt x="350" y="182"/>
                  </a:lnTo>
                  <a:lnTo>
                    <a:pt x="0" y="85"/>
                  </a:lnTo>
                </a:path>
              </a:pathLst>
            </a:custGeom>
            <a:solidFill>
              <a:srgbClr val="B2B2B2"/>
            </a:solidFill>
            <a:ln w="3175" cap="rnd">
              <a:noFill/>
              <a:round/>
              <a:headEnd/>
              <a:tailEnd/>
            </a:ln>
          </p:spPr>
          <p:txBody>
            <a:bodyPr/>
            <a:lstStyle/>
            <a:p>
              <a:endParaRPr kumimoji="0" lang="zh-TW" altLang="en-US" sz="1600">
                <a:latin typeface="Calibri" pitchFamily="34" charset="0"/>
              </a:endParaRPr>
            </a:p>
          </p:txBody>
        </p:sp>
        <p:sp>
          <p:nvSpPr>
            <p:cNvPr id="27" name="Freeform 162"/>
            <p:cNvSpPr>
              <a:spLocks/>
            </p:cNvSpPr>
            <p:nvPr/>
          </p:nvSpPr>
          <p:spPr bwMode="auto">
            <a:xfrm>
              <a:off x="2210" y="2308"/>
              <a:ext cx="141" cy="72"/>
            </a:xfrm>
            <a:custGeom>
              <a:avLst/>
              <a:gdLst>
                <a:gd name="T0" fmla="*/ 0 w 351"/>
                <a:gd name="T1" fmla="*/ 0 h 182"/>
                <a:gd name="T2" fmla="*/ 0 w 351"/>
                <a:gd name="T3" fmla="*/ 0 h 182"/>
                <a:gd name="T4" fmla="*/ 0 w 351"/>
                <a:gd name="T5" fmla="*/ 0 h 182"/>
                <a:gd name="T6" fmla="*/ 0 w 351"/>
                <a:gd name="T7" fmla="*/ 0 h 182"/>
                <a:gd name="T8" fmla="*/ 0 w 351"/>
                <a:gd name="T9" fmla="*/ 0 h 182"/>
                <a:gd name="T10" fmla="*/ 0 60000 65536"/>
                <a:gd name="T11" fmla="*/ 0 60000 65536"/>
                <a:gd name="T12" fmla="*/ 0 60000 65536"/>
                <a:gd name="T13" fmla="*/ 0 60000 65536"/>
                <a:gd name="T14" fmla="*/ 0 60000 65536"/>
                <a:gd name="T15" fmla="*/ 0 w 351"/>
                <a:gd name="T16" fmla="*/ 0 h 182"/>
                <a:gd name="T17" fmla="*/ 351 w 351"/>
                <a:gd name="T18" fmla="*/ 182 h 182"/>
              </a:gdLst>
              <a:ahLst/>
              <a:cxnLst>
                <a:cxn ang="T10">
                  <a:pos x="T0" y="T1"/>
                </a:cxn>
                <a:cxn ang="T11">
                  <a:pos x="T2" y="T3"/>
                </a:cxn>
                <a:cxn ang="T12">
                  <a:pos x="T4" y="T5"/>
                </a:cxn>
                <a:cxn ang="T13">
                  <a:pos x="T6" y="T7"/>
                </a:cxn>
                <a:cxn ang="T14">
                  <a:pos x="T8" y="T9"/>
                </a:cxn>
              </a:cxnLst>
              <a:rect l="T15" t="T16" r="T17" b="T18"/>
              <a:pathLst>
                <a:path w="351" h="182">
                  <a:moveTo>
                    <a:pt x="0" y="85"/>
                  </a:moveTo>
                  <a:lnTo>
                    <a:pt x="0" y="0"/>
                  </a:lnTo>
                  <a:lnTo>
                    <a:pt x="350" y="93"/>
                  </a:lnTo>
                  <a:lnTo>
                    <a:pt x="350" y="181"/>
                  </a:lnTo>
                  <a:lnTo>
                    <a:pt x="0" y="85"/>
                  </a:lnTo>
                </a:path>
              </a:pathLst>
            </a:custGeom>
            <a:solidFill>
              <a:srgbClr val="B2B2B2"/>
            </a:solidFill>
            <a:ln w="3175" cap="rnd">
              <a:noFill/>
              <a:round/>
              <a:headEnd/>
              <a:tailEnd/>
            </a:ln>
          </p:spPr>
          <p:txBody>
            <a:bodyPr/>
            <a:lstStyle/>
            <a:p>
              <a:endParaRPr kumimoji="0" lang="zh-TW" altLang="en-US" sz="1600">
                <a:latin typeface="Calibri" pitchFamily="34" charset="0"/>
              </a:endParaRPr>
            </a:p>
          </p:txBody>
        </p:sp>
        <p:sp>
          <p:nvSpPr>
            <p:cNvPr id="28" name="Freeform 163"/>
            <p:cNvSpPr>
              <a:spLocks/>
            </p:cNvSpPr>
            <p:nvPr/>
          </p:nvSpPr>
          <p:spPr bwMode="auto">
            <a:xfrm>
              <a:off x="2207" y="2167"/>
              <a:ext cx="144" cy="65"/>
            </a:xfrm>
            <a:custGeom>
              <a:avLst/>
              <a:gdLst>
                <a:gd name="T0" fmla="*/ 0 w 351"/>
                <a:gd name="T1" fmla="*/ 0 h 182"/>
                <a:gd name="T2" fmla="*/ 0 w 351"/>
                <a:gd name="T3" fmla="*/ 0 h 182"/>
                <a:gd name="T4" fmla="*/ 0 w 351"/>
                <a:gd name="T5" fmla="*/ 0 h 182"/>
                <a:gd name="T6" fmla="*/ 0 w 351"/>
                <a:gd name="T7" fmla="*/ 0 h 182"/>
                <a:gd name="T8" fmla="*/ 0 w 351"/>
                <a:gd name="T9" fmla="*/ 0 h 182"/>
                <a:gd name="T10" fmla="*/ 0 60000 65536"/>
                <a:gd name="T11" fmla="*/ 0 60000 65536"/>
                <a:gd name="T12" fmla="*/ 0 60000 65536"/>
                <a:gd name="T13" fmla="*/ 0 60000 65536"/>
                <a:gd name="T14" fmla="*/ 0 60000 65536"/>
                <a:gd name="T15" fmla="*/ 0 w 351"/>
                <a:gd name="T16" fmla="*/ 0 h 182"/>
                <a:gd name="T17" fmla="*/ 351 w 351"/>
                <a:gd name="T18" fmla="*/ 182 h 182"/>
              </a:gdLst>
              <a:ahLst/>
              <a:cxnLst>
                <a:cxn ang="T10">
                  <a:pos x="T0" y="T1"/>
                </a:cxn>
                <a:cxn ang="T11">
                  <a:pos x="T2" y="T3"/>
                </a:cxn>
                <a:cxn ang="T12">
                  <a:pos x="T4" y="T5"/>
                </a:cxn>
                <a:cxn ang="T13">
                  <a:pos x="T6" y="T7"/>
                </a:cxn>
                <a:cxn ang="T14">
                  <a:pos x="T8" y="T9"/>
                </a:cxn>
              </a:cxnLst>
              <a:rect l="T15" t="T16" r="T17" b="T18"/>
              <a:pathLst>
                <a:path w="351" h="182">
                  <a:moveTo>
                    <a:pt x="0" y="85"/>
                  </a:moveTo>
                  <a:lnTo>
                    <a:pt x="0" y="0"/>
                  </a:lnTo>
                  <a:lnTo>
                    <a:pt x="350" y="93"/>
                  </a:lnTo>
                  <a:lnTo>
                    <a:pt x="350" y="181"/>
                  </a:lnTo>
                  <a:lnTo>
                    <a:pt x="0" y="85"/>
                  </a:lnTo>
                </a:path>
              </a:pathLst>
            </a:custGeom>
            <a:solidFill>
              <a:srgbClr val="B2B2B2"/>
            </a:solidFill>
            <a:ln w="3175" cap="rnd">
              <a:noFill/>
              <a:round/>
              <a:headEnd/>
              <a:tailEnd/>
            </a:ln>
          </p:spPr>
          <p:txBody>
            <a:bodyPr/>
            <a:lstStyle/>
            <a:p>
              <a:endParaRPr kumimoji="0" lang="zh-TW" altLang="en-US" sz="1600">
                <a:latin typeface="Calibri" pitchFamily="34" charset="0"/>
              </a:endParaRPr>
            </a:p>
          </p:txBody>
        </p:sp>
      </p:grpSp>
      <p:sp>
        <p:nvSpPr>
          <p:cNvPr id="7" name="文字方塊 6"/>
          <p:cNvSpPr txBox="1"/>
          <p:nvPr/>
        </p:nvSpPr>
        <p:spPr>
          <a:xfrm>
            <a:off x="714348" y="5630195"/>
            <a:ext cx="1620957" cy="338554"/>
          </a:xfrm>
          <a:prstGeom prst="rect">
            <a:avLst/>
          </a:prstGeom>
          <a:noFill/>
        </p:spPr>
        <p:txBody>
          <a:bodyPr wrap="square" rtlCol="0">
            <a:spAutoFit/>
          </a:bodyPr>
          <a:lstStyle/>
          <a:p>
            <a:r>
              <a:rPr lang="zh-TW" altLang="en-US" sz="1600" dirty="0" smtClean="0">
                <a:latin typeface="Calibri" pitchFamily="34" charset="0"/>
              </a:rPr>
              <a:t>電子郵件客戶端</a:t>
            </a:r>
            <a:endParaRPr lang="en-US" altLang="zh-TW" sz="1600" dirty="0" smtClean="0">
              <a:latin typeface="Calibri" pitchFamily="34" charset="0"/>
            </a:endParaRPr>
          </a:p>
        </p:txBody>
      </p:sp>
      <p:sp>
        <p:nvSpPr>
          <p:cNvPr id="8" name="文字方塊 7"/>
          <p:cNvSpPr txBox="1"/>
          <p:nvPr/>
        </p:nvSpPr>
        <p:spPr>
          <a:xfrm>
            <a:off x="5408163" y="5630195"/>
            <a:ext cx="1164101" cy="338554"/>
          </a:xfrm>
          <a:prstGeom prst="rect">
            <a:avLst/>
          </a:prstGeom>
          <a:noFill/>
        </p:spPr>
        <p:txBody>
          <a:bodyPr wrap="none" rtlCol="0">
            <a:spAutoFit/>
          </a:bodyPr>
          <a:lstStyle/>
          <a:p>
            <a:r>
              <a:rPr lang="en-US" altLang="zh-TW" sz="1600" dirty="0" smtClean="0">
                <a:latin typeface="Calibri" pitchFamily="34" charset="0"/>
              </a:rPr>
              <a:t>SSH</a:t>
            </a:r>
            <a:r>
              <a:rPr lang="zh-TW" altLang="en-US" sz="1600" dirty="0" smtClean="0">
                <a:latin typeface="Calibri" pitchFamily="34" charset="0"/>
              </a:rPr>
              <a:t> 伺服器</a:t>
            </a:r>
            <a:endParaRPr lang="zh-TW" altLang="en-US" sz="1600" dirty="0">
              <a:latin typeface="Calibri" pitchFamily="34" charset="0"/>
            </a:endParaRPr>
          </a:p>
        </p:txBody>
      </p:sp>
      <p:grpSp>
        <p:nvGrpSpPr>
          <p:cNvPr id="5" name="Group 149"/>
          <p:cNvGrpSpPr>
            <a:grpSpLocks/>
          </p:cNvGrpSpPr>
          <p:nvPr/>
        </p:nvGrpSpPr>
        <p:grpSpPr bwMode="auto">
          <a:xfrm>
            <a:off x="7230761" y="4500570"/>
            <a:ext cx="464604" cy="1129628"/>
            <a:chOff x="2160" y="1896"/>
            <a:chExt cx="533" cy="863"/>
          </a:xfrm>
        </p:grpSpPr>
        <p:sp>
          <p:nvSpPr>
            <p:cNvPr id="30" name="Freeform 150"/>
            <p:cNvSpPr>
              <a:spLocks noChangeAspect="1"/>
            </p:cNvSpPr>
            <p:nvPr/>
          </p:nvSpPr>
          <p:spPr bwMode="auto">
            <a:xfrm>
              <a:off x="2160" y="2249"/>
              <a:ext cx="90" cy="399"/>
            </a:xfrm>
            <a:custGeom>
              <a:avLst/>
              <a:gdLst>
                <a:gd name="T0" fmla="*/ 0 w 144"/>
                <a:gd name="T1" fmla="*/ 1 h 644"/>
                <a:gd name="T2" fmla="*/ 0 w 144"/>
                <a:gd name="T3" fmla="*/ 1 h 644"/>
                <a:gd name="T4" fmla="*/ 1 w 144"/>
                <a:gd name="T5" fmla="*/ 0 h 644"/>
                <a:gd name="T6" fmla="*/ 1 w 144"/>
                <a:gd name="T7" fmla="*/ 1 h 644"/>
                <a:gd name="T8" fmla="*/ 0 w 144"/>
                <a:gd name="T9" fmla="*/ 1 h 644"/>
                <a:gd name="T10" fmla="*/ 0 60000 65536"/>
                <a:gd name="T11" fmla="*/ 0 60000 65536"/>
                <a:gd name="T12" fmla="*/ 0 60000 65536"/>
                <a:gd name="T13" fmla="*/ 0 60000 65536"/>
                <a:gd name="T14" fmla="*/ 0 60000 65536"/>
                <a:gd name="T15" fmla="*/ 0 w 144"/>
                <a:gd name="T16" fmla="*/ 0 h 644"/>
                <a:gd name="T17" fmla="*/ 144 w 144"/>
                <a:gd name="T18" fmla="*/ 644 h 644"/>
              </a:gdLst>
              <a:ahLst/>
              <a:cxnLst>
                <a:cxn ang="T10">
                  <a:pos x="T0" y="T1"/>
                </a:cxn>
                <a:cxn ang="T11">
                  <a:pos x="T2" y="T3"/>
                </a:cxn>
                <a:cxn ang="T12">
                  <a:pos x="T4" y="T5"/>
                </a:cxn>
                <a:cxn ang="T13">
                  <a:pos x="T6" y="T7"/>
                </a:cxn>
                <a:cxn ang="T14">
                  <a:pos x="T8" y="T9"/>
                </a:cxn>
              </a:cxnLst>
              <a:rect l="T15" t="T16" r="T17" b="T18"/>
              <a:pathLst>
                <a:path w="144" h="644">
                  <a:moveTo>
                    <a:pt x="0" y="644"/>
                  </a:moveTo>
                  <a:lnTo>
                    <a:pt x="0" y="79"/>
                  </a:lnTo>
                  <a:lnTo>
                    <a:pt x="144" y="0"/>
                  </a:lnTo>
                  <a:lnTo>
                    <a:pt x="144" y="554"/>
                  </a:lnTo>
                  <a:lnTo>
                    <a:pt x="0" y="644"/>
                  </a:lnTo>
                </a:path>
              </a:pathLst>
            </a:custGeom>
            <a:gradFill rotWithShape="0">
              <a:gsLst>
                <a:gs pos="0">
                  <a:srgbClr val="B2B2B2"/>
                </a:gs>
                <a:gs pos="100000">
                  <a:srgbClr val="E5E5E5"/>
                </a:gs>
              </a:gsLst>
              <a:path path="rect">
                <a:fillToRect l="100000" t="100000"/>
              </a:path>
            </a:gradFill>
            <a:ln w="3175" cap="rnd">
              <a:solidFill>
                <a:srgbClr val="808080"/>
              </a:solidFill>
              <a:round/>
              <a:headEnd/>
              <a:tailEnd/>
            </a:ln>
          </p:spPr>
          <p:txBody>
            <a:bodyPr/>
            <a:lstStyle/>
            <a:p>
              <a:endParaRPr kumimoji="0" lang="zh-TW" altLang="en-US" sz="1600">
                <a:latin typeface="Calibri" pitchFamily="34" charset="0"/>
              </a:endParaRPr>
            </a:p>
          </p:txBody>
        </p:sp>
        <p:sp>
          <p:nvSpPr>
            <p:cNvPr id="31" name="Freeform 151"/>
            <p:cNvSpPr>
              <a:spLocks/>
            </p:cNvSpPr>
            <p:nvPr/>
          </p:nvSpPr>
          <p:spPr bwMode="auto">
            <a:xfrm>
              <a:off x="2162" y="1896"/>
              <a:ext cx="529" cy="185"/>
            </a:xfrm>
            <a:custGeom>
              <a:avLst/>
              <a:gdLst>
                <a:gd name="T0" fmla="*/ 0 w 1291"/>
                <a:gd name="T1" fmla="*/ 0 h 449"/>
                <a:gd name="T2" fmla="*/ 0 w 1291"/>
                <a:gd name="T3" fmla="*/ 0 h 449"/>
                <a:gd name="T4" fmla="*/ 0 w 1291"/>
                <a:gd name="T5" fmla="*/ 0 h 449"/>
                <a:gd name="T6" fmla="*/ 0 w 1291"/>
                <a:gd name="T7" fmla="*/ 0 h 449"/>
                <a:gd name="T8" fmla="*/ 0 w 1291"/>
                <a:gd name="T9" fmla="*/ 0 h 449"/>
                <a:gd name="T10" fmla="*/ 0 60000 65536"/>
                <a:gd name="T11" fmla="*/ 0 60000 65536"/>
                <a:gd name="T12" fmla="*/ 0 60000 65536"/>
                <a:gd name="T13" fmla="*/ 0 60000 65536"/>
                <a:gd name="T14" fmla="*/ 0 60000 65536"/>
                <a:gd name="T15" fmla="*/ 0 w 1291"/>
                <a:gd name="T16" fmla="*/ 0 h 449"/>
                <a:gd name="T17" fmla="*/ 1291 w 1291"/>
                <a:gd name="T18" fmla="*/ 449 h 449"/>
              </a:gdLst>
              <a:ahLst/>
              <a:cxnLst>
                <a:cxn ang="T10">
                  <a:pos x="T0" y="T1"/>
                </a:cxn>
                <a:cxn ang="T11">
                  <a:pos x="T2" y="T3"/>
                </a:cxn>
                <a:cxn ang="T12">
                  <a:pos x="T4" y="T5"/>
                </a:cxn>
                <a:cxn ang="T13">
                  <a:pos x="T6" y="T7"/>
                </a:cxn>
                <a:cxn ang="T14">
                  <a:pos x="T8" y="T9"/>
                </a:cxn>
              </a:cxnLst>
              <a:rect l="T15" t="T16" r="T17" b="T18"/>
              <a:pathLst>
                <a:path w="1291" h="449">
                  <a:moveTo>
                    <a:pt x="0" y="307"/>
                  </a:moveTo>
                  <a:lnTo>
                    <a:pt x="577" y="448"/>
                  </a:lnTo>
                  <a:lnTo>
                    <a:pt x="1290" y="127"/>
                  </a:lnTo>
                  <a:lnTo>
                    <a:pt x="727" y="0"/>
                  </a:lnTo>
                  <a:lnTo>
                    <a:pt x="0" y="307"/>
                  </a:lnTo>
                </a:path>
              </a:pathLst>
            </a:custGeom>
            <a:solidFill>
              <a:schemeClr val="bg1"/>
            </a:solidFill>
            <a:ln w="9525" cap="rnd">
              <a:solidFill>
                <a:srgbClr val="333333"/>
              </a:solidFill>
              <a:round/>
              <a:headEnd/>
              <a:tailEnd/>
            </a:ln>
          </p:spPr>
          <p:txBody>
            <a:bodyPr/>
            <a:lstStyle/>
            <a:p>
              <a:endParaRPr kumimoji="0" lang="zh-TW" altLang="en-US" sz="1600">
                <a:latin typeface="Calibri" pitchFamily="34" charset="0"/>
              </a:endParaRPr>
            </a:p>
          </p:txBody>
        </p:sp>
        <p:sp>
          <p:nvSpPr>
            <p:cNvPr id="32" name="Freeform 152"/>
            <p:cNvSpPr>
              <a:spLocks/>
            </p:cNvSpPr>
            <p:nvPr/>
          </p:nvSpPr>
          <p:spPr bwMode="auto">
            <a:xfrm>
              <a:off x="2171" y="2538"/>
              <a:ext cx="513" cy="221"/>
            </a:xfrm>
            <a:custGeom>
              <a:avLst/>
              <a:gdLst>
                <a:gd name="T0" fmla="*/ 0 w 1252"/>
                <a:gd name="T1" fmla="*/ 0 h 536"/>
                <a:gd name="T2" fmla="*/ 0 w 1252"/>
                <a:gd name="T3" fmla="*/ 0 h 536"/>
                <a:gd name="T4" fmla="*/ 0 w 1252"/>
                <a:gd name="T5" fmla="*/ 0 h 536"/>
                <a:gd name="T6" fmla="*/ 0 w 1252"/>
                <a:gd name="T7" fmla="*/ 0 h 536"/>
                <a:gd name="T8" fmla="*/ 0 w 1252"/>
                <a:gd name="T9" fmla="*/ 0 h 536"/>
                <a:gd name="T10" fmla="*/ 0 60000 65536"/>
                <a:gd name="T11" fmla="*/ 0 60000 65536"/>
                <a:gd name="T12" fmla="*/ 0 60000 65536"/>
                <a:gd name="T13" fmla="*/ 0 60000 65536"/>
                <a:gd name="T14" fmla="*/ 0 60000 65536"/>
                <a:gd name="T15" fmla="*/ 0 w 1252"/>
                <a:gd name="T16" fmla="*/ 0 h 536"/>
                <a:gd name="T17" fmla="*/ 1252 w 1252"/>
                <a:gd name="T18" fmla="*/ 536 h 536"/>
              </a:gdLst>
              <a:ahLst/>
              <a:cxnLst>
                <a:cxn ang="T10">
                  <a:pos x="T0" y="T1"/>
                </a:cxn>
                <a:cxn ang="T11">
                  <a:pos x="T2" y="T3"/>
                </a:cxn>
                <a:cxn ang="T12">
                  <a:pos x="T4" y="T5"/>
                </a:cxn>
                <a:cxn ang="T13">
                  <a:pos x="T6" y="T7"/>
                </a:cxn>
                <a:cxn ang="T14">
                  <a:pos x="T8" y="T9"/>
                </a:cxn>
              </a:cxnLst>
              <a:rect l="T15" t="T16" r="T17" b="T18"/>
              <a:pathLst>
                <a:path w="1252" h="536">
                  <a:moveTo>
                    <a:pt x="0" y="292"/>
                  </a:moveTo>
                  <a:lnTo>
                    <a:pt x="0" y="370"/>
                  </a:lnTo>
                  <a:lnTo>
                    <a:pt x="567" y="535"/>
                  </a:lnTo>
                  <a:lnTo>
                    <a:pt x="1251" y="92"/>
                  </a:lnTo>
                  <a:lnTo>
                    <a:pt x="1251" y="0"/>
                  </a:lnTo>
                </a:path>
              </a:pathLst>
            </a:custGeom>
            <a:solidFill>
              <a:srgbClr val="808080"/>
            </a:solidFill>
            <a:ln w="3175" cap="rnd">
              <a:solidFill>
                <a:srgbClr val="808080"/>
              </a:solidFill>
              <a:round/>
              <a:headEnd/>
              <a:tailEnd/>
            </a:ln>
          </p:spPr>
          <p:txBody>
            <a:bodyPr/>
            <a:lstStyle/>
            <a:p>
              <a:endParaRPr kumimoji="0" lang="zh-TW" altLang="en-US" sz="1600">
                <a:latin typeface="Calibri" pitchFamily="34" charset="0"/>
              </a:endParaRPr>
            </a:p>
          </p:txBody>
        </p:sp>
        <p:sp>
          <p:nvSpPr>
            <p:cNvPr id="33" name="Freeform 153"/>
            <p:cNvSpPr>
              <a:spLocks/>
            </p:cNvSpPr>
            <p:nvPr/>
          </p:nvSpPr>
          <p:spPr bwMode="auto">
            <a:xfrm>
              <a:off x="2393" y="1947"/>
              <a:ext cx="300" cy="791"/>
            </a:xfrm>
            <a:custGeom>
              <a:avLst/>
              <a:gdLst>
                <a:gd name="T0" fmla="*/ 0 w 729"/>
                <a:gd name="T1" fmla="*/ 0 h 1916"/>
                <a:gd name="T2" fmla="*/ 0 w 729"/>
                <a:gd name="T3" fmla="*/ 0 h 1916"/>
                <a:gd name="T4" fmla="*/ 0 w 729"/>
                <a:gd name="T5" fmla="*/ 0 h 1916"/>
                <a:gd name="T6" fmla="*/ 0 w 729"/>
                <a:gd name="T7" fmla="*/ 0 h 1916"/>
                <a:gd name="T8" fmla="*/ 0 w 729"/>
                <a:gd name="T9" fmla="*/ 0 h 1916"/>
                <a:gd name="T10" fmla="*/ 0 60000 65536"/>
                <a:gd name="T11" fmla="*/ 0 60000 65536"/>
                <a:gd name="T12" fmla="*/ 0 60000 65536"/>
                <a:gd name="T13" fmla="*/ 0 60000 65536"/>
                <a:gd name="T14" fmla="*/ 0 60000 65536"/>
                <a:gd name="T15" fmla="*/ 0 w 729"/>
                <a:gd name="T16" fmla="*/ 0 h 1916"/>
                <a:gd name="T17" fmla="*/ 729 w 729"/>
                <a:gd name="T18" fmla="*/ 1916 h 1916"/>
              </a:gdLst>
              <a:ahLst/>
              <a:cxnLst>
                <a:cxn ang="T10">
                  <a:pos x="T0" y="T1"/>
                </a:cxn>
                <a:cxn ang="T11">
                  <a:pos x="T2" y="T3"/>
                </a:cxn>
                <a:cxn ang="T12">
                  <a:pos x="T4" y="T5"/>
                </a:cxn>
                <a:cxn ang="T13">
                  <a:pos x="T6" y="T7"/>
                </a:cxn>
                <a:cxn ang="T14">
                  <a:pos x="T8" y="T9"/>
                </a:cxn>
              </a:cxnLst>
              <a:rect l="T15" t="T16" r="T17" b="T18"/>
              <a:pathLst>
                <a:path w="729" h="1916">
                  <a:moveTo>
                    <a:pt x="0" y="328"/>
                  </a:moveTo>
                  <a:lnTo>
                    <a:pt x="4" y="1915"/>
                  </a:lnTo>
                  <a:lnTo>
                    <a:pt x="728" y="1456"/>
                  </a:lnTo>
                  <a:lnTo>
                    <a:pt x="728" y="0"/>
                  </a:lnTo>
                  <a:lnTo>
                    <a:pt x="0" y="328"/>
                  </a:lnTo>
                </a:path>
              </a:pathLst>
            </a:custGeom>
            <a:gradFill rotWithShape="0">
              <a:gsLst>
                <a:gs pos="0">
                  <a:srgbClr val="B2B2B2"/>
                </a:gs>
                <a:gs pos="100000">
                  <a:srgbClr val="E5E5E5"/>
                </a:gs>
              </a:gsLst>
              <a:path path="rect">
                <a:fillToRect l="100000" t="100000"/>
              </a:path>
            </a:gradFill>
            <a:ln w="9525" cap="rnd">
              <a:solidFill>
                <a:srgbClr val="333333"/>
              </a:solidFill>
              <a:round/>
              <a:headEnd/>
              <a:tailEnd/>
            </a:ln>
          </p:spPr>
          <p:txBody>
            <a:bodyPr/>
            <a:lstStyle/>
            <a:p>
              <a:endParaRPr kumimoji="0" lang="zh-TW" altLang="en-US" sz="1600">
                <a:latin typeface="Calibri" pitchFamily="34" charset="0"/>
              </a:endParaRPr>
            </a:p>
          </p:txBody>
        </p:sp>
        <p:sp>
          <p:nvSpPr>
            <p:cNvPr id="34" name="Freeform 154"/>
            <p:cNvSpPr>
              <a:spLocks/>
            </p:cNvSpPr>
            <p:nvPr/>
          </p:nvSpPr>
          <p:spPr bwMode="auto">
            <a:xfrm>
              <a:off x="2160" y="2022"/>
              <a:ext cx="236" cy="711"/>
            </a:xfrm>
            <a:custGeom>
              <a:avLst/>
              <a:gdLst>
                <a:gd name="T0" fmla="*/ 117430 w 156"/>
                <a:gd name="T1" fmla="*/ 29305 h 470"/>
                <a:gd name="T2" fmla="*/ 117430 w 156"/>
                <a:gd name="T3" fmla="*/ 353780 h 470"/>
                <a:gd name="T4" fmla="*/ 0 w 156"/>
                <a:gd name="T5" fmla="*/ 321231 h 470"/>
                <a:gd name="T6" fmla="*/ 0 w 156"/>
                <a:gd name="T7" fmla="*/ 0 h 470"/>
                <a:gd name="T8" fmla="*/ 117430 w 156"/>
                <a:gd name="T9" fmla="*/ 29305 h 470"/>
                <a:gd name="T10" fmla="*/ 0 60000 65536"/>
                <a:gd name="T11" fmla="*/ 0 60000 65536"/>
                <a:gd name="T12" fmla="*/ 0 60000 65536"/>
                <a:gd name="T13" fmla="*/ 0 60000 65536"/>
                <a:gd name="T14" fmla="*/ 0 60000 65536"/>
                <a:gd name="T15" fmla="*/ 0 w 156"/>
                <a:gd name="T16" fmla="*/ 0 h 470"/>
                <a:gd name="T17" fmla="*/ 156 w 156"/>
                <a:gd name="T18" fmla="*/ 470 h 470"/>
              </a:gdLst>
              <a:ahLst/>
              <a:cxnLst>
                <a:cxn ang="T10">
                  <a:pos x="T0" y="T1"/>
                </a:cxn>
                <a:cxn ang="T11">
                  <a:pos x="T2" y="T3"/>
                </a:cxn>
                <a:cxn ang="T12">
                  <a:pos x="T4" y="T5"/>
                </a:cxn>
                <a:cxn ang="T13">
                  <a:pos x="T6" y="T7"/>
                </a:cxn>
                <a:cxn ang="T14">
                  <a:pos x="T8" y="T9"/>
                </a:cxn>
              </a:cxnLst>
              <a:rect l="T15" t="T16" r="T17" b="T18"/>
              <a:pathLst>
                <a:path w="156" h="470">
                  <a:moveTo>
                    <a:pt x="156" y="39"/>
                  </a:moveTo>
                  <a:lnTo>
                    <a:pt x="156" y="470"/>
                  </a:lnTo>
                  <a:lnTo>
                    <a:pt x="0" y="427"/>
                  </a:lnTo>
                  <a:lnTo>
                    <a:pt x="0" y="0"/>
                  </a:lnTo>
                  <a:lnTo>
                    <a:pt x="156" y="39"/>
                  </a:lnTo>
                </a:path>
              </a:pathLst>
            </a:custGeom>
            <a:gradFill rotWithShape="0">
              <a:gsLst>
                <a:gs pos="0">
                  <a:srgbClr val="EDEDED"/>
                </a:gs>
                <a:gs pos="100000">
                  <a:srgbClr val="B2B2B2"/>
                </a:gs>
              </a:gsLst>
              <a:lin ang="5400000" scaled="1"/>
            </a:gradFill>
            <a:ln w="9525" cap="rnd">
              <a:solidFill>
                <a:srgbClr val="333333"/>
              </a:solidFill>
              <a:round/>
              <a:headEnd/>
              <a:tailEnd/>
            </a:ln>
          </p:spPr>
          <p:txBody>
            <a:bodyPr/>
            <a:lstStyle/>
            <a:p>
              <a:endParaRPr kumimoji="0" lang="zh-TW" altLang="en-US" sz="1600">
                <a:latin typeface="Calibri" pitchFamily="34" charset="0"/>
              </a:endParaRPr>
            </a:p>
          </p:txBody>
        </p:sp>
        <p:sp>
          <p:nvSpPr>
            <p:cNvPr id="35" name="Line 155"/>
            <p:cNvSpPr>
              <a:spLocks noChangeShapeType="1"/>
            </p:cNvSpPr>
            <p:nvPr/>
          </p:nvSpPr>
          <p:spPr bwMode="auto">
            <a:xfrm>
              <a:off x="2193" y="2621"/>
              <a:ext cx="164" cy="43"/>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36" name="Line 156"/>
            <p:cNvSpPr>
              <a:spLocks noChangeShapeType="1"/>
            </p:cNvSpPr>
            <p:nvPr/>
          </p:nvSpPr>
          <p:spPr bwMode="auto">
            <a:xfrm>
              <a:off x="2193" y="2588"/>
              <a:ext cx="164" cy="44"/>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37" name="Line 157"/>
            <p:cNvSpPr>
              <a:spLocks noChangeShapeType="1"/>
            </p:cNvSpPr>
            <p:nvPr/>
          </p:nvSpPr>
          <p:spPr bwMode="auto">
            <a:xfrm>
              <a:off x="2193" y="2556"/>
              <a:ext cx="164" cy="46"/>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38" name="Line 158"/>
            <p:cNvSpPr>
              <a:spLocks noChangeShapeType="1"/>
            </p:cNvSpPr>
            <p:nvPr/>
          </p:nvSpPr>
          <p:spPr bwMode="auto">
            <a:xfrm>
              <a:off x="2193" y="2524"/>
              <a:ext cx="164" cy="44"/>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39" name="Line 159"/>
            <p:cNvSpPr>
              <a:spLocks noChangeShapeType="1"/>
            </p:cNvSpPr>
            <p:nvPr/>
          </p:nvSpPr>
          <p:spPr bwMode="auto">
            <a:xfrm>
              <a:off x="2193" y="2491"/>
              <a:ext cx="164" cy="44"/>
            </a:xfrm>
            <a:prstGeom prst="line">
              <a:avLst/>
            </a:prstGeom>
            <a:noFill/>
            <a:ln w="9525">
              <a:solidFill>
                <a:srgbClr val="676767"/>
              </a:solidFill>
              <a:round/>
              <a:headEnd/>
              <a:tailEnd/>
            </a:ln>
          </p:spPr>
          <p:txBody>
            <a:bodyPr wrap="none" anchor="ctr"/>
            <a:lstStyle/>
            <a:p>
              <a:endParaRPr lang="zh-TW" altLang="en-US" sz="1600">
                <a:latin typeface="Calibri" pitchFamily="34" charset="0"/>
              </a:endParaRPr>
            </a:p>
          </p:txBody>
        </p:sp>
        <p:sp>
          <p:nvSpPr>
            <p:cNvPr id="40" name="Freeform 160"/>
            <p:cNvSpPr>
              <a:spLocks/>
            </p:cNvSpPr>
            <p:nvPr/>
          </p:nvSpPr>
          <p:spPr bwMode="auto">
            <a:xfrm>
              <a:off x="2177" y="2116"/>
              <a:ext cx="186" cy="526"/>
            </a:xfrm>
            <a:custGeom>
              <a:avLst/>
              <a:gdLst>
                <a:gd name="T0" fmla="*/ 0 w 453"/>
                <a:gd name="T1" fmla="*/ 0 h 1278"/>
                <a:gd name="T2" fmla="*/ 0 w 453"/>
                <a:gd name="T3" fmla="*/ 0 h 1278"/>
                <a:gd name="T4" fmla="*/ 0 w 453"/>
                <a:gd name="T5" fmla="*/ 0 h 1278"/>
                <a:gd name="T6" fmla="*/ 0 60000 65536"/>
                <a:gd name="T7" fmla="*/ 0 60000 65536"/>
                <a:gd name="T8" fmla="*/ 0 60000 65536"/>
                <a:gd name="T9" fmla="*/ 0 w 453"/>
                <a:gd name="T10" fmla="*/ 0 h 1278"/>
                <a:gd name="T11" fmla="*/ 453 w 453"/>
                <a:gd name="T12" fmla="*/ 1278 h 1278"/>
              </a:gdLst>
              <a:ahLst/>
              <a:cxnLst>
                <a:cxn ang="T6">
                  <a:pos x="T0" y="T1"/>
                </a:cxn>
                <a:cxn ang="T7">
                  <a:pos x="T2" y="T3"/>
                </a:cxn>
                <a:cxn ang="T8">
                  <a:pos x="T4" y="T5"/>
                </a:cxn>
              </a:cxnLst>
              <a:rect l="T9" t="T10" r="T11" b="T12"/>
              <a:pathLst>
                <a:path w="453" h="1278">
                  <a:moveTo>
                    <a:pt x="452" y="105"/>
                  </a:moveTo>
                  <a:lnTo>
                    <a:pt x="0" y="0"/>
                  </a:lnTo>
                  <a:lnTo>
                    <a:pt x="0" y="1277"/>
                  </a:lnTo>
                </a:path>
              </a:pathLst>
            </a:custGeom>
            <a:noFill/>
            <a:ln w="6350" cap="rnd">
              <a:solidFill>
                <a:srgbClr val="808080"/>
              </a:solidFill>
              <a:round/>
              <a:headEnd/>
              <a:tailEnd/>
            </a:ln>
          </p:spPr>
          <p:txBody>
            <a:bodyPr/>
            <a:lstStyle/>
            <a:p>
              <a:endParaRPr kumimoji="0" lang="zh-TW" altLang="en-US" sz="1600">
                <a:latin typeface="Calibri" pitchFamily="34" charset="0"/>
              </a:endParaRPr>
            </a:p>
          </p:txBody>
        </p:sp>
        <p:sp>
          <p:nvSpPr>
            <p:cNvPr id="41" name="Freeform 161"/>
            <p:cNvSpPr>
              <a:spLocks/>
            </p:cNvSpPr>
            <p:nvPr/>
          </p:nvSpPr>
          <p:spPr bwMode="auto">
            <a:xfrm>
              <a:off x="2210" y="2238"/>
              <a:ext cx="141" cy="64"/>
            </a:xfrm>
            <a:custGeom>
              <a:avLst/>
              <a:gdLst>
                <a:gd name="T0" fmla="*/ 0 w 351"/>
                <a:gd name="T1" fmla="*/ 0 h 183"/>
                <a:gd name="T2" fmla="*/ 0 w 351"/>
                <a:gd name="T3" fmla="*/ 0 h 183"/>
                <a:gd name="T4" fmla="*/ 0 w 351"/>
                <a:gd name="T5" fmla="*/ 0 h 183"/>
                <a:gd name="T6" fmla="*/ 0 w 351"/>
                <a:gd name="T7" fmla="*/ 0 h 183"/>
                <a:gd name="T8" fmla="*/ 0 w 351"/>
                <a:gd name="T9" fmla="*/ 0 h 183"/>
                <a:gd name="T10" fmla="*/ 0 60000 65536"/>
                <a:gd name="T11" fmla="*/ 0 60000 65536"/>
                <a:gd name="T12" fmla="*/ 0 60000 65536"/>
                <a:gd name="T13" fmla="*/ 0 60000 65536"/>
                <a:gd name="T14" fmla="*/ 0 60000 65536"/>
                <a:gd name="T15" fmla="*/ 0 w 351"/>
                <a:gd name="T16" fmla="*/ 0 h 183"/>
                <a:gd name="T17" fmla="*/ 351 w 351"/>
                <a:gd name="T18" fmla="*/ 183 h 183"/>
              </a:gdLst>
              <a:ahLst/>
              <a:cxnLst>
                <a:cxn ang="T10">
                  <a:pos x="T0" y="T1"/>
                </a:cxn>
                <a:cxn ang="T11">
                  <a:pos x="T2" y="T3"/>
                </a:cxn>
                <a:cxn ang="T12">
                  <a:pos x="T4" y="T5"/>
                </a:cxn>
                <a:cxn ang="T13">
                  <a:pos x="T6" y="T7"/>
                </a:cxn>
                <a:cxn ang="T14">
                  <a:pos x="T8" y="T9"/>
                </a:cxn>
              </a:cxnLst>
              <a:rect l="T15" t="T16" r="T17" b="T18"/>
              <a:pathLst>
                <a:path w="351" h="183">
                  <a:moveTo>
                    <a:pt x="0" y="85"/>
                  </a:moveTo>
                  <a:lnTo>
                    <a:pt x="0" y="0"/>
                  </a:lnTo>
                  <a:lnTo>
                    <a:pt x="350" y="93"/>
                  </a:lnTo>
                  <a:lnTo>
                    <a:pt x="350" y="182"/>
                  </a:lnTo>
                  <a:lnTo>
                    <a:pt x="0" y="85"/>
                  </a:lnTo>
                </a:path>
              </a:pathLst>
            </a:custGeom>
            <a:solidFill>
              <a:srgbClr val="B2B2B2"/>
            </a:solidFill>
            <a:ln w="3175" cap="rnd">
              <a:noFill/>
              <a:round/>
              <a:headEnd/>
              <a:tailEnd/>
            </a:ln>
          </p:spPr>
          <p:txBody>
            <a:bodyPr/>
            <a:lstStyle/>
            <a:p>
              <a:endParaRPr kumimoji="0" lang="zh-TW" altLang="en-US" sz="1600">
                <a:latin typeface="Calibri" pitchFamily="34" charset="0"/>
              </a:endParaRPr>
            </a:p>
          </p:txBody>
        </p:sp>
        <p:sp>
          <p:nvSpPr>
            <p:cNvPr id="42" name="Freeform 162"/>
            <p:cNvSpPr>
              <a:spLocks/>
            </p:cNvSpPr>
            <p:nvPr/>
          </p:nvSpPr>
          <p:spPr bwMode="auto">
            <a:xfrm>
              <a:off x="2210" y="2308"/>
              <a:ext cx="141" cy="72"/>
            </a:xfrm>
            <a:custGeom>
              <a:avLst/>
              <a:gdLst>
                <a:gd name="T0" fmla="*/ 0 w 351"/>
                <a:gd name="T1" fmla="*/ 0 h 182"/>
                <a:gd name="T2" fmla="*/ 0 w 351"/>
                <a:gd name="T3" fmla="*/ 0 h 182"/>
                <a:gd name="T4" fmla="*/ 0 w 351"/>
                <a:gd name="T5" fmla="*/ 0 h 182"/>
                <a:gd name="T6" fmla="*/ 0 w 351"/>
                <a:gd name="T7" fmla="*/ 0 h 182"/>
                <a:gd name="T8" fmla="*/ 0 w 351"/>
                <a:gd name="T9" fmla="*/ 0 h 182"/>
                <a:gd name="T10" fmla="*/ 0 60000 65536"/>
                <a:gd name="T11" fmla="*/ 0 60000 65536"/>
                <a:gd name="T12" fmla="*/ 0 60000 65536"/>
                <a:gd name="T13" fmla="*/ 0 60000 65536"/>
                <a:gd name="T14" fmla="*/ 0 60000 65536"/>
                <a:gd name="T15" fmla="*/ 0 w 351"/>
                <a:gd name="T16" fmla="*/ 0 h 182"/>
                <a:gd name="T17" fmla="*/ 351 w 351"/>
                <a:gd name="T18" fmla="*/ 182 h 182"/>
              </a:gdLst>
              <a:ahLst/>
              <a:cxnLst>
                <a:cxn ang="T10">
                  <a:pos x="T0" y="T1"/>
                </a:cxn>
                <a:cxn ang="T11">
                  <a:pos x="T2" y="T3"/>
                </a:cxn>
                <a:cxn ang="T12">
                  <a:pos x="T4" y="T5"/>
                </a:cxn>
                <a:cxn ang="T13">
                  <a:pos x="T6" y="T7"/>
                </a:cxn>
                <a:cxn ang="T14">
                  <a:pos x="T8" y="T9"/>
                </a:cxn>
              </a:cxnLst>
              <a:rect l="T15" t="T16" r="T17" b="T18"/>
              <a:pathLst>
                <a:path w="351" h="182">
                  <a:moveTo>
                    <a:pt x="0" y="85"/>
                  </a:moveTo>
                  <a:lnTo>
                    <a:pt x="0" y="0"/>
                  </a:lnTo>
                  <a:lnTo>
                    <a:pt x="350" y="93"/>
                  </a:lnTo>
                  <a:lnTo>
                    <a:pt x="350" y="181"/>
                  </a:lnTo>
                  <a:lnTo>
                    <a:pt x="0" y="85"/>
                  </a:lnTo>
                </a:path>
              </a:pathLst>
            </a:custGeom>
            <a:solidFill>
              <a:srgbClr val="B2B2B2"/>
            </a:solidFill>
            <a:ln w="3175" cap="rnd">
              <a:noFill/>
              <a:round/>
              <a:headEnd/>
              <a:tailEnd/>
            </a:ln>
          </p:spPr>
          <p:txBody>
            <a:bodyPr/>
            <a:lstStyle/>
            <a:p>
              <a:endParaRPr kumimoji="0" lang="zh-TW" altLang="en-US" sz="1600">
                <a:latin typeface="Calibri" pitchFamily="34" charset="0"/>
              </a:endParaRPr>
            </a:p>
          </p:txBody>
        </p:sp>
        <p:sp>
          <p:nvSpPr>
            <p:cNvPr id="43" name="Freeform 163"/>
            <p:cNvSpPr>
              <a:spLocks/>
            </p:cNvSpPr>
            <p:nvPr/>
          </p:nvSpPr>
          <p:spPr bwMode="auto">
            <a:xfrm>
              <a:off x="2207" y="2167"/>
              <a:ext cx="144" cy="65"/>
            </a:xfrm>
            <a:custGeom>
              <a:avLst/>
              <a:gdLst>
                <a:gd name="T0" fmla="*/ 0 w 351"/>
                <a:gd name="T1" fmla="*/ 0 h 182"/>
                <a:gd name="T2" fmla="*/ 0 w 351"/>
                <a:gd name="T3" fmla="*/ 0 h 182"/>
                <a:gd name="T4" fmla="*/ 0 w 351"/>
                <a:gd name="T5" fmla="*/ 0 h 182"/>
                <a:gd name="T6" fmla="*/ 0 w 351"/>
                <a:gd name="T7" fmla="*/ 0 h 182"/>
                <a:gd name="T8" fmla="*/ 0 w 351"/>
                <a:gd name="T9" fmla="*/ 0 h 182"/>
                <a:gd name="T10" fmla="*/ 0 60000 65536"/>
                <a:gd name="T11" fmla="*/ 0 60000 65536"/>
                <a:gd name="T12" fmla="*/ 0 60000 65536"/>
                <a:gd name="T13" fmla="*/ 0 60000 65536"/>
                <a:gd name="T14" fmla="*/ 0 60000 65536"/>
                <a:gd name="T15" fmla="*/ 0 w 351"/>
                <a:gd name="T16" fmla="*/ 0 h 182"/>
                <a:gd name="T17" fmla="*/ 351 w 351"/>
                <a:gd name="T18" fmla="*/ 182 h 182"/>
              </a:gdLst>
              <a:ahLst/>
              <a:cxnLst>
                <a:cxn ang="T10">
                  <a:pos x="T0" y="T1"/>
                </a:cxn>
                <a:cxn ang="T11">
                  <a:pos x="T2" y="T3"/>
                </a:cxn>
                <a:cxn ang="T12">
                  <a:pos x="T4" y="T5"/>
                </a:cxn>
                <a:cxn ang="T13">
                  <a:pos x="T6" y="T7"/>
                </a:cxn>
                <a:cxn ang="T14">
                  <a:pos x="T8" y="T9"/>
                </a:cxn>
              </a:cxnLst>
              <a:rect l="T15" t="T16" r="T17" b="T18"/>
              <a:pathLst>
                <a:path w="351" h="182">
                  <a:moveTo>
                    <a:pt x="0" y="85"/>
                  </a:moveTo>
                  <a:lnTo>
                    <a:pt x="0" y="0"/>
                  </a:lnTo>
                  <a:lnTo>
                    <a:pt x="350" y="93"/>
                  </a:lnTo>
                  <a:lnTo>
                    <a:pt x="350" y="181"/>
                  </a:lnTo>
                  <a:lnTo>
                    <a:pt x="0" y="85"/>
                  </a:lnTo>
                </a:path>
              </a:pathLst>
            </a:custGeom>
            <a:solidFill>
              <a:srgbClr val="B2B2B2"/>
            </a:solidFill>
            <a:ln w="3175" cap="rnd">
              <a:noFill/>
              <a:round/>
              <a:headEnd/>
              <a:tailEnd/>
            </a:ln>
          </p:spPr>
          <p:txBody>
            <a:bodyPr/>
            <a:lstStyle/>
            <a:p>
              <a:endParaRPr kumimoji="0" lang="zh-TW" altLang="en-US" sz="1600">
                <a:latin typeface="Calibri" pitchFamily="34" charset="0"/>
              </a:endParaRPr>
            </a:p>
          </p:txBody>
        </p:sp>
      </p:grpSp>
      <p:sp>
        <p:nvSpPr>
          <p:cNvPr id="44" name="文字方塊 43"/>
          <p:cNvSpPr txBox="1"/>
          <p:nvPr/>
        </p:nvSpPr>
        <p:spPr>
          <a:xfrm>
            <a:off x="6805072" y="5630195"/>
            <a:ext cx="1210588" cy="338554"/>
          </a:xfrm>
          <a:prstGeom prst="rect">
            <a:avLst/>
          </a:prstGeom>
          <a:noFill/>
        </p:spPr>
        <p:txBody>
          <a:bodyPr wrap="none" rtlCol="0">
            <a:spAutoFit/>
          </a:bodyPr>
          <a:lstStyle/>
          <a:p>
            <a:r>
              <a:rPr lang="zh-TW" altLang="en-US" sz="1600" dirty="0" smtClean="0">
                <a:latin typeface="Calibri" pitchFamily="34" charset="0"/>
              </a:rPr>
              <a:t>郵件伺服器</a:t>
            </a:r>
            <a:endParaRPr lang="zh-TW" altLang="en-US" sz="1600" dirty="0">
              <a:latin typeface="Calibri" pitchFamily="34" charset="0"/>
            </a:endParaRPr>
          </a:p>
        </p:txBody>
      </p:sp>
      <p:sp>
        <p:nvSpPr>
          <p:cNvPr id="46" name="圓柱 45"/>
          <p:cNvSpPr/>
          <p:nvPr/>
        </p:nvSpPr>
        <p:spPr>
          <a:xfrm rot="16200000">
            <a:off x="3750462" y="3861327"/>
            <a:ext cx="285753" cy="2643206"/>
          </a:xfrm>
          <a:prstGeom prst="can">
            <a:avLst>
              <a:gd name="adj" fmla="val 40459"/>
            </a:avLst>
          </a:prstGeom>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zh-TW" altLang="en-US" sz="1600" dirty="0">
              <a:latin typeface="Calibri" pitchFamily="34" charset="0"/>
            </a:endParaRPr>
          </a:p>
        </p:txBody>
      </p:sp>
      <p:cxnSp>
        <p:nvCxnSpPr>
          <p:cNvPr id="55" name="直線單箭頭接點 54"/>
          <p:cNvCxnSpPr/>
          <p:nvPr/>
        </p:nvCxnSpPr>
        <p:spPr>
          <a:xfrm>
            <a:off x="6286512" y="5181343"/>
            <a:ext cx="928694" cy="158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56" name="文字方塊 55"/>
          <p:cNvSpPr txBox="1"/>
          <p:nvPr/>
        </p:nvSpPr>
        <p:spPr>
          <a:xfrm>
            <a:off x="3462193" y="4988494"/>
            <a:ext cx="966931" cy="338554"/>
          </a:xfrm>
          <a:prstGeom prst="rect">
            <a:avLst/>
          </a:prstGeom>
          <a:noFill/>
        </p:spPr>
        <p:txBody>
          <a:bodyPr wrap="none" rtlCol="0">
            <a:spAutoFit/>
          </a:bodyPr>
          <a:lstStyle/>
          <a:p>
            <a:r>
              <a:rPr lang="en-US" altLang="zh-TW" sz="1600" b="1" dirty="0" smtClean="0">
                <a:solidFill>
                  <a:schemeClr val="bg1"/>
                </a:solidFill>
                <a:latin typeface="Calibri" pitchFamily="34" charset="0"/>
              </a:rPr>
              <a:t>SSH</a:t>
            </a:r>
            <a:r>
              <a:rPr lang="zh-TW" altLang="en-US" sz="1600" b="1" dirty="0" smtClean="0">
                <a:solidFill>
                  <a:schemeClr val="bg1"/>
                </a:solidFill>
                <a:latin typeface="Calibri" pitchFamily="34" charset="0"/>
              </a:rPr>
              <a:t> 通道</a:t>
            </a:r>
            <a:endParaRPr lang="zh-TW" altLang="en-US" sz="1600" b="1" dirty="0">
              <a:solidFill>
                <a:schemeClr val="bg1"/>
              </a:solidFill>
              <a:latin typeface="Calibri" pitchFamily="34" charset="0"/>
            </a:endParaRPr>
          </a:p>
        </p:txBody>
      </p:sp>
      <p:cxnSp>
        <p:nvCxnSpPr>
          <p:cNvPr id="71" name="直線單箭頭接點 70"/>
          <p:cNvCxnSpPr>
            <a:stCxn id="46" idx="3"/>
          </p:cNvCxnSpPr>
          <p:nvPr/>
        </p:nvCxnSpPr>
        <p:spPr>
          <a:xfrm>
            <a:off x="5214942" y="5182929"/>
            <a:ext cx="571504" cy="1"/>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cxnSp>
        <p:nvCxnSpPr>
          <p:cNvPr id="54" name="直線接點 53"/>
          <p:cNvCxnSpPr/>
          <p:nvPr/>
        </p:nvCxnSpPr>
        <p:spPr>
          <a:xfrm>
            <a:off x="2000232" y="5182931"/>
            <a:ext cx="642942" cy="1588"/>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285720" y="1357298"/>
            <a:ext cx="8215370" cy="2359734"/>
          </a:xfrm>
        </p:spPr>
        <p:txBody>
          <a:bodyPr>
            <a:normAutofit lnSpcReduction="10000"/>
          </a:bodyPr>
          <a:lstStyle/>
          <a:p>
            <a:r>
              <a:rPr lang="en-US" altLang="zh-TW" sz="2000" dirty="0" smtClean="0"/>
              <a:t>Pretty Good Privacy (PGP) </a:t>
            </a:r>
            <a:r>
              <a:rPr lang="zh-TW" altLang="en-US" sz="2000" dirty="0" smtClean="0"/>
              <a:t>是電子郵件加密系統的一種</a:t>
            </a:r>
            <a:r>
              <a:rPr lang="zh-TW" altLang="en-US" sz="2000" dirty="0" smtClean="0">
                <a:solidFill>
                  <a:srgbClr val="FF0000"/>
                </a:solidFill>
              </a:rPr>
              <a:t>自由軟體</a:t>
            </a:r>
            <a:r>
              <a:rPr lang="zh-TW" altLang="en-US" sz="2000" dirty="0" smtClean="0"/>
              <a:t>，</a:t>
            </a:r>
            <a:r>
              <a:rPr lang="en-US" sz="2000" dirty="0" smtClean="0"/>
              <a:t>Phil Zimmermann</a:t>
            </a:r>
            <a:r>
              <a:rPr lang="zh-TW" altLang="en-US" sz="2000" dirty="0" smtClean="0"/>
              <a:t> 在</a:t>
            </a:r>
            <a:r>
              <a:rPr lang="en-US" altLang="zh-TW" sz="2000" dirty="0" smtClean="0"/>
              <a:t>1991</a:t>
            </a:r>
            <a:r>
              <a:rPr lang="zh-TW" altLang="en-US" sz="2000" dirty="0" smtClean="0"/>
              <a:t>年公開該軟體，至今仍廣為使用。</a:t>
            </a:r>
            <a:endParaRPr lang="en-US" altLang="zh-TW" sz="2000" dirty="0" smtClean="0"/>
          </a:p>
          <a:p>
            <a:r>
              <a:rPr lang="en-US" altLang="zh-TW" sz="2000" dirty="0" smtClean="0"/>
              <a:t>PGP</a:t>
            </a:r>
            <a:r>
              <a:rPr lang="zh-TW" altLang="en-US" sz="2000" dirty="0" smtClean="0"/>
              <a:t>使用對稱式與非對稱式金鑰的複合式系統。如下圖所示，原文以交談金鑰</a:t>
            </a:r>
            <a:r>
              <a:rPr lang="zh-TW" altLang="en-US" sz="2000" dirty="0" smtClean="0">
                <a:ea typeface="微軟正黑體"/>
              </a:rPr>
              <a:t> </a:t>
            </a:r>
            <a:r>
              <a:rPr lang="en-US" altLang="zh-TW" sz="2000" dirty="0" smtClean="0">
                <a:ea typeface="微軟正黑體"/>
              </a:rPr>
              <a:t>(</a:t>
            </a:r>
            <a:r>
              <a:rPr lang="zh-TW" altLang="en-US" sz="2000" dirty="0" smtClean="0"/>
              <a:t>對稱式</a:t>
            </a:r>
            <a:r>
              <a:rPr lang="en-US" altLang="zh-TW" sz="2000" dirty="0" smtClean="0">
                <a:ea typeface="微軟正黑體"/>
              </a:rPr>
              <a:t>)</a:t>
            </a:r>
            <a:r>
              <a:rPr lang="zh-TW" altLang="en-US" sz="2000" dirty="0" smtClean="0">
                <a:ea typeface="微軟正黑體"/>
              </a:rPr>
              <a:t> </a:t>
            </a:r>
            <a:r>
              <a:rPr lang="zh-TW" altLang="en-US" sz="2000" dirty="0" smtClean="0"/>
              <a:t>加密，取其速度；交談金鑰的傳遞則以非對稱式加密法完成。</a:t>
            </a:r>
            <a:endParaRPr lang="en-US" altLang="zh-TW" sz="2000" dirty="0"/>
          </a:p>
          <a:p>
            <a:r>
              <a:rPr lang="zh-TW" altLang="en-US" sz="2000" dirty="0" smtClean="0">
                <a:solidFill>
                  <a:srgbClr val="FF0000"/>
                </a:solidFill>
              </a:rPr>
              <a:t>註</a:t>
            </a:r>
            <a:r>
              <a:rPr lang="en-US" altLang="zh-TW" sz="2000" dirty="0" smtClean="0">
                <a:solidFill>
                  <a:srgbClr val="FF0000"/>
                </a:solidFill>
              </a:rPr>
              <a:t>: </a:t>
            </a:r>
            <a:r>
              <a:rPr lang="zh-TW" altLang="en-US" sz="2000" dirty="0" smtClean="0">
                <a:solidFill>
                  <a:srgbClr val="FF0000"/>
                </a:solidFill>
              </a:rPr>
              <a:t>同一般的加密方法</a:t>
            </a:r>
            <a:endParaRPr lang="en-US" altLang="zh-TW" sz="2000" dirty="0" smtClean="0">
              <a:solidFill>
                <a:srgbClr val="FF0000"/>
              </a:solidFill>
            </a:endParaRPr>
          </a:p>
        </p:txBody>
      </p:sp>
      <p:sp>
        <p:nvSpPr>
          <p:cNvPr id="3" name="標題 2"/>
          <p:cNvSpPr>
            <a:spLocks noGrp="1"/>
          </p:cNvSpPr>
          <p:nvPr>
            <p:ph type="title"/>
          </p:nvPr>
        </p:nvSpPr>
        <p:spPr/>
        <p:txBody>
          <a:bodyPr/>
          <a:lstStyle/>
          <a:p>
            <a:r>
              <a:rPr lang="en-US" altLang="zh-TW" dirty="0" smtClean="0"/>
              <a:t>PGP</a:t>
            </a:r>
            <a:endParaRPr lang="zh-TW" altLang="en-US" dirty="0"/>
          </a:p>
        </p:txBody>
      </p:sp>
      <p:grpSp>
        <p:nvGrpSpPr>
          <p:cNvPr id="8" name="群組 39"/>
          <p:cNvGrpSpPr/>
          <p:nvPr/>
        </p:nvGrpSpPr>
        <p:grpSpPr>
          <a:xfrm>
            <a:off x="500034" y="3933056"/>
            <a:ext cx="7858180" cy="1928826"/>
            <a:chOff x="500034" y="4500570"/>
            <a:chExt cx="7858180" cy="1928826"/>
          </a:xfrm>
        </p:grpSpPr>
        <p:sp>
          <p:nvSpPr>
            <p:cNvPr id="38" name="矩形 37"/>
            <p:cNvSpPr/>
            <p:nvPr/>
          </p:nvSpPr>
          <p:spPr>
            <a:xfrm>
              <a:off x="500034" y="4500570"/>
              <a:ext cx="7858180" cy="1928826"/>
            </a:xfrm>
            <a:prstGeom prst="rect">
              <a:avLst/>
            </a:prstGeom>
            <a:solidFill>
              <a:schemeClr val="bg2"/>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latin typeface="Calibri" pitchFamily="34" charset="0"/>
              </a:endParaRPr>
            </a:p>
          </p:txBody>
        </p:sp>
        <p:cxnSp>
          <p:nvCxnSpPr>
            <p:cNvPr id="36" name="直線接點 35"/>
            <p:cNvCxnSpPr/>
            <p:nvPr/>
          </p:nvCxnSpPr>
          <p:spPr>
            <a:xfrm rot="5400000">
              <a:off x="3501224" y="5499908"/>
              <a:ext cx="1857388" cy="1588"/>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 name="流程圖: 文件 3"/>
            <p:cNvSpPr/>
            <p:nvPr/>
          </p:nvSpPr>
          <p:spPr>
            <a:xfrm>
              <a:off x="735090" y="5714222"/>
              <a:ext cx="1071570" cy="642942"/>
            </a:xfrm>
            <a:prstGeom prst="flowChartDocument">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郵件原文</a:t>
              </a:r>
              <a:endParaRPr lang="zh-TW" altLang="en-US" sz="1600" dirty="0">
                <a:latin typeface="Calibri" pitchFamily="34" charset="0"/>
              </a:endParaRPr>
            </a:p>
          </p:txBody>
        </p:sp>
        <p:sp>
          <p:nvSpPr>
            <p:cNvPr id="5" name="橢圓 4"/>
            <p:cNvSpPr/>
            <p:nvPr/>
          </p:nvSpPr>
          <p:spPr>
            <a:xfrm>
              <a:off x="2235288" y="5785660"/>
              <a:ext cx="500066" cy="500066"/>
            </a:xfrm>
            <a:prstGeom prst="ellipse">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latin typeface="Calibri" pitchFamily="34" charset="0"/>
                </a:rPr>
                <a:t>E</a:t>
              </a:r>
              <a:endParaRPr lang="zh-TW" altLang="en-US" sz="1600" dirty="0">
                <a:latin typeface="Calibri" pitchFamily="34" charset="0"/>
              </a:endParaRPr>
            </a:p>
          </p:txBody>
        </p:sp>
        <p:sp>
          <p:nvSpPr>
            <p:cNvPr id="6" name="橢圓 5"/>
            <p:cNvSpPr/>
            <p:nvPr/>
          </p:nvSpPr>
          <p:spPr>
            <a:xfrm>
              <a:off x="6164378" y="5785660"/>
              <a:ext cx="500066" cy="500066"/>
            </a:xfrm>
            <a:prstGeom prst="ellipse">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latin typeface="Calibri" pitchFamily="34" charset="0"/>
                </a:rPr>
                <a:t>D</a:t>
              </a:r>
              <a:endParaRPr lang="zh-TW" altLang="en-US" sz="1600" dirty="0">
                <a:latin typeface="Calibri" pitchFamily="34" charset="0"/>
              </a:endParaRPr>
            </a:p>
          </p:txBody>
        </p:sp>
        <p:sp>
          <p:nvSpPr>
            <p:cNvPr id="7" name="矩形 6"/>
            <p:cNvSpPr/>
            <p:nvPr/>
          </p:nvSpPr>
          <p:spPr>
            <a:xfrm>
              <a:off x="3949800" y="5785660"/>
              <a:ext cx="1071570" cy="500066"/>
            </a:xfrm>
            <a:prstGeom prst="rect">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密文</a:t>
              </a:r>
              <a:endParaRPr lang="zh-TW" altLang="en-US" sz="1600" dirty="0">
                <a:latin typeface="Calibri" pitchFamily="34" charset="0"/>
              </a:endParaRPr>
            </a:p>
          </p:txBody>
        </p:sp>
        <p:sp>
          <p:nvSpPr>
            <p:cNvPr id="9" name="流程圖: 文件 8"/>
            <p:cNvSpPr/>
            <p:nvPr/>
          </p:nvSpPr>
          <p:spPr>
            <a:xfrm>
              <a:off x="7093072" y="5714222"/>
              <a:ext cx="1071570" cy="642942"/>
            </a:xfrm>
            <a:prstGeom prst="flowChartDocument">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郵件原文</a:t>
              </a:r>
              <a:endParaRPr lang="zh-TW" altLang="en-US" sz="1600" dirty="0">
                <a:latin typeface="Calibri" pitchFamily="34" charset="0"/>
              </a:endParaRPr>
            </a:p>
          </p:txBody>
        </p:sp>
        <p:cxnSp>
          <p:nvCxnSpPr>
            <p:cNvPr id="10" name="直線單箭頭接點 9"/>
            <p:cNvCxnSpPr>
              <a:stCxn id="4" idx="3"/>
              <a:endCxn id="5" idx="2"/>
            </p:cNvCxnSpPr>
            <p:nvPr/>
          </p:nvCxnSpPr>
          <p:spPr>
            <a:xfrm>
              <a:off x="1806660" y="6035693"/>
              <a:ext cx="428628"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1" name="直線單箭頭接點 10"/>
            <p:cNvCxnSpPr>
              <a:stCxn id="5" idx="6"/>
              <a:endCxn id="7" idx="1"/>
            </p:cNvCxnSpPr>
            <p:nvPr/>
          </p:nvCxnSpPr>
          <p:spPr>
            <a:xfrm>
              <a:off x="2735354" y="6035693"/>
              <a:ext cx="1214446"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2" name="直線單箭頭接點 11"/>
            <p:cNvCxnSpPr>
              <a:stCxn id="7" idx="3"/>
              <a:endCxn id="6" idx="2"/>
            </p:cNvCxnSpPr>
            <p:nvPr/>
          </p:nvCxnSpPr>
          <p:spPr>
            <a:xfrm>
              <a:off x="5021370" y="6035693"/>
              <a:ext cx="1143008"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直線單箭頭接點 12"/>
            <p:cNvCxnSpPr>
              <a:stCxn id="6" idx="6"/>
              <a:endCxn id="9" idx="1"/>
            </p:cNvCxnSpPr>
            <p:nvPr/>
          </p:nvCxnSpPr>
          <p:spPr>
            <a:xfrm>
              <a:off x="6664444" y="6035693"/>
              <a:ext cx="428628"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圓角矩形 17"/>
            <p:cNvSpPr/>
            <p:nvPr/>
          </p:nvSpPr>
          <p:spPr>
            <a:xfrm>
              <a:off x="2092412" y="4856966"/>
              <a:ext cx="785818" cy="500066"/>
            </a:xfrm>
            <a:prstGeom prst="roundRect">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交談</a:t>
              </a:r>
              <a:endParaRPr lang="en-US" altLang="zh-TW" sz="1600" dirty="0" smtClean="0">
                <a:latin typeface="Calibri" pitchFamily="34" charset="0"/>
              </a:endParaRPr>
            </a:p>
            <a:p>
              <a:pPr algn="ctr"/>
              <a:r>
                <a:rPr lang="zh-TW" altLang="en-US" sz="1600" dirty="0" smtClean="0">
                  <a:latin typeface="Calibri" pitchFamily="34" charset="0"/>
                </a:rPr>
                <a:t>金鑰</a:t>
              </a:r>
              <a:endParaRPr lang="zh-TW" altLang="en-US" sz="1600" dirty="0">
                <a:latin typeface="Calibri" pitchFamily="34" charset="0"/>
              </a:endParaRPr>
            </a:p>
          </p:txBody>
        </p:sp>
        <p:sp>
          <p:nvSpPr>
            <p:cNvPr id="19" name="圓角矩形 18"/>
            <p:cNvSpPr/>
            <p:nvPr/>
          </p:nvSpPr>
          <p:spPr>
            <a:xfrm>
              <a:off x="4092676" y="4856966"/>
              <a:ext cx="714380" cy="500066"/>
            </a:xfrm>
            <a:prstGeom prst="roundRect">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金鑰密文</a:t>
              </a:r>
              <a:endParaRPr lang="zh-TW" altLang="en-US" sz="1600" dirty="0">
                <a:latin typeface="Calibri" pitchFamily="34" charset="0"/>
              </a:endParaRPr>
            </a:p>
          </p:txBody>
        </p:sp>
        <p:sp>
          <p:nvSpPr>
            <p:cNvPr id="20" name="圓角矩形 19"/>
            <p:cNvSpPr/>
            <p:nvPr/>
          </p:nvSpPr>
          <p:spPr>
            <a:xfrm>
              <a:off x="6021502" y="4856966"/>
              <a:ext cx="785818" cy="500066"/>
            </a:xfrm>
            <a:prstGeom prst="roundRect">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600" dirty="0" smtClean="0">
                  <a:latin typeface="Calibri" pitchFamily="34" charset="0"/>
                </a:rPr>
                <a:t>交談</a:t>
              </a:r>
              <a:endParaRPr lang="en-US" altLang="zh-TW" sz="1600" dirty="0" smtClean="0">
                <a:latin typeface="Calibri" pitchFamily="34" charset="0"/>
              </a:endParaRPr>
            </a:p>
            <a:p>
              <a:pPr algn="ctr"/>
              <a:r>
                <a:rPr lang="zh-TW" altLang="en-US" sz="1600" dirty="0" smtClean="0">
                  <a:latin typeface="Calibri" pitchFamily="34" charset="0"/>
                </a:rPr>
                <a:t>金鑰</a:t>
              </a:r>
              <a:endParaRPr lang="zh-TW" altLang="en-US" sz="1600" dirty="0">
                <a:latin typeface="Calibri" pitchFamily="34" charset="0"/>
              </a:endParaRPr>
            </a:p>
          </p:txBody>
        </p:sp>
        <p:cxnSp>
          <p:nvCxnSpPr>
            <p:cNvPr id="21" name="直線單箭頭接點 20"/>
            <p:cNvCxnSpPr>
              <a:stCxn id="18" idx="2"/>
              <a:endCxn id="5" idx="0"/>
            </p:cNvCxnSpPr>
            <p:nvPr/>
          </p:nvCxnSpPr>
          <p:spPr>
            <a:xfrm rot="5400000">
              <a:off x="2271007" y="5571346"/>
              <a:ext cx="428628"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2" name="直線單箭頭接點 21"/>
            <p:cNvCxnSpPr>
              <a:stCxn id="20" idx="2"/>
              <a:endCxn id="6" idx="0"/>
            </p:cNvCxnSpPr>
            <p:nvPr/>
          </p:nvCxnSpPr>
          <p:spPr>
            <a:xfrm rot="5400000">
              <a:off x="6200097" y="5571346"/>
              <a:ext cx="428628"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sp>
          <p:nvSpPr>
            <p:cNvPr id="23" name="橢圓 22"/>
            <p:cNvSpPr/>
            <p:nvPr/>
          </p:nvSpPr>
          <p:spPr>
            <a:xfrm>
              <a:off x="3235420" y="4856966"/>
              <a:ext cx="500066" cy="500066"/>
            </a:xfrm>
            <a:prstGeom prst="ellipse">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latin typeface="Calibri" pitchFamily="34" charset="0"/>
                </a:rPr>
                <a:t>E</a:t>
              </a:r>
              <a:endParaRPr lang="zh-TW" altLang="en-US" sz="1600" dirty="0">
                <a:latin typeface="Calibri" pitchFamily="34" charset="0"/>
              </a:endParaRPr>
            </a:p>
          </p:txBody>
        </p:sp>
        <p:sp>
          <p:nvSpPr>
            <p:cNvPr id="24" name="橢圓 23"/>
            <p:cNvSpPr/>
            <p:nvPr/>
          </p:nvSpPr>
          <p:spPr>
            <a:xfrm>
              <a:off x="5164246" y="4856966"/>
              <a:ext cx="500066" cy="500066"/>
            </a:xfrm>
            <a:prstGeom prst="ellipse">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latin typeface="Calibri" pitchFamily="34" charset="0"/>
                </a:rPr>
                <a:t>D</a:t>
              </a:r>
              <a:endParaRPr lang="zh-TW" altLang="en-US" sz="1600" dirty="0">
                <a:latin typeface="Calibri" pitchFamily="34" charset="0"/>
              </a:endParaRPr>
            </a:p>
          </p:txBody>
        </p:sp>
        <p:cxnSp>
          <p:nvCxnSpPr>
            <p:cNvPr id="25" name="直線單箭頭接點 24"/>
            <p:cNvCxnSpPr>
              <a:stCxn id="18" idx="3"/>
              <a:endCxn id="23" idx="2"/>
            </p:cNvCxnSpPr>
            <p:nvPr/>
          </p:nvCxnSpPr>
          <p:spPr>
            <a:xfrm>
              <a:off x="2878230" y="5106999"/>
              <a:ext cx="357190"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6" name="直線單箭頭接點 25"/>
            <p:cNvCxnSpPr>
              <a:stCxn id="23" idx="6"/>
              <a:endCxn id="19" idx="1"/>
            </p:cNvCxnSpPr>
            <p:nvPr/>
          </p:nvCxnSpPr>
          <p:spPr>
            <a:xfrm>
              <a:off x="3735486" y="5106999"/>
              <a:ext cx="357190"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7" name="直線單箭頭接點 26"/>
            <p:cNvCxnSpPr>
              <a:stCxn id="19" idx="3"/>
              <a:endCxn id="24" idx="2"/>
            </p:cNvCxnSpPr>
            <p:nvPr/>
          </p:nvCxnSpPr>
          <p:spPr>
            <a:xfrm>
              <a:off x="4807056" y="5106999"/>
              <a:ext cx="357190"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8" name="直線單箭頭接點 27"/>
            <p:cNvCxnSpPr>
              <a:stCxn id="24" idx="6"/>
              <a:endCxn id="20" idx="1"/>
            </p:cNvCxnSpPr>
            <p:nvPr/>
          </p:nvCxnSpPr>
          <p:spPr>
            <a:xfrm>
              <a:off x="5664312" y="5106999"/>
              <a:ext cx="357190" cy="1588"/>
            </a:xfrm>
            <a:prstGeom prst="straightConnector1">
              <a:avLst/>
            </a:prstGeom>
            <a:ln w="12700">
              <a:tailEnd type="arrow"/>
            </a:ln>
          </p:spPr>
          <p:style>
            <a:lnRef idx="2">
              <a:schemeClr val="accent1">
                <a:shade val="50000"/>
              </a:schemeClr>
            </a:lnRef>
            <a:fillRef idx="1">
              <a:schemeClr val="accent1"/>
            </a:fillRef>
            <a:effectRef idx="0">
              <a:schemeClr val="accent1"/>
            </a:effectRef>
            <a:fontRef idx="minor">
              <a:schemeClr val="lt1"/>
            </a:fontRef>
          </p:style>
        </p:cxnSp>
        <p:sp>
          <p:nvSpPr>
            <p:cNvPr id="29" name="文字方塊 28"/>
            <p:cNvSpPr txBox="1"/>
            <p:nvPr/>
          </p:nvSpPr>
          <p:spPr>
            <a:xfrm>
              <a:off x="3071802" y="4500570"/>
              <a:ext cx="1210588" cy="338554"/>
            </a:xfrm>
            <a:prstGeom prst="rect">
              <a:avLst/>
            </a:prstGeom>
            <a:noFill/>
          </p:spPr>
          <p:txBody>
            <a:bodyPr wrap="none" rtlCol="0">
              <a:spAutoFit/>
            </a:bodyPr>
            <a:lstStyle/>
            <a:p>
              <a:r>
                <a:rPr lang="zh-TW" altLang="en-US" sz="1600" dirty="0" smtClean="0">
                  <a:latin typeface="Calibri" pitchFamily="34" charset="0"/>
                </a:rPr>
                <a:t>訊息傳送方</a:t>
              </a:r>
              <a:endParaRPr lang="zh-TW" altLang="en-US" sz="1600" dirty="0">
                <a:latin typeface="Calibri" pitchFamily="34" charset="0"/>
              </a:endParaRPr>
            </a:p>
          </p:txBody>
        </p:sp>
        <p:sp>
          <p:nvSpPr>
            <p:cNvPr id="30" name="文字方塊 29"/>
            <p:cNvSpPr txBox="1"/>
            <p:nvPr/>
          </p:nvSpPr>
          <p:spPr>
            <a:xfrm>
              <a:off x="4647296" y="4500570"/>
              <a:ext cx="1210588" cy="338554"/>
            </a:xfrm>
            <a:prstGeom prst="rect">
              <a:avLst/>
            </a:prstGeom>
            <a:noFill/>
          </p:spPr>
          <p:txBody>
            <a:bodyPr wrap="none" rtlCol="0">
              <a:spAutoFit/>
            </a:bodyPr>
            <a:lstStyle/>
            <a:p>
              <a:r>
                <a:rPr lang="zh-TW" altLang="en-US" sz="1600" dirty="0" smtClean="0">
                  <a:latin typeface="Calibri" pitchFamily="34" charset="0"/>
                </a:rPr>
                <a:t>訊息接收方</a:t>
              </a:r>
              <a:endParaRPr lang="zh-TW" altLang="en-US" sz="1600" dirty="0">
                <a:latin typeface="Calibri" pitchFamily="34" charset="0"/>
              </a:endParaRPr>
            </a:p>
          </p:txBody>
        </p:sp>
        <p:sp>
          <p:nvSpPr>
            <p:cNvPr id="31" name="文字方塊 30"/>
            <p:cNvSpPr txBox="1"/>
            <p:nvPr/>
          </p:nvSpPr>
          <p:spPr>
            <a:xfrm>
              <a:off x="3046989" y="5334672"/>
              <a:ext cx="902811" cy="523220"/>
            </a:xfrm>
            <a:prstGeom prst="rect">
              <a:avLst/>
            </a:prstGeom>
            <a:noFill/>
          </p:spPr>
          <p:txBody>
            <a:bodyPr wrap="none" rtlCol="0">
              <a:spAutoFit/>
            </a:bodyPr>
            <a:lstStyle/>
            <a:p>
              <a:r>
                <a:rPr lang="zh-TW" altLang="en-US" sz="1400" dirty="0" smtClean="0">
                  <a:latin typeface="Calibri" pitchFamily="34" charset="0"/>
                </a:rPr>
                <a:t>接收方的</a:t>
              </a:r>
              <a:endParaRPr lang="en-US" altLang="zh-TW" sz="1400" dirty="0" smtClean="0">
                <a:latin typeface="Calibri" pitchFamily="34" charset="0"/>
              </a:endParaRPr>
            </a:p>
            <a:p>
              <a:r>
                <a:rPr lang="zh-TW" altLang="en-US" sz="1400" dirty="0" smtClean="0">
                  <a:latin typeface="Calibri" pitchFamily="34" charset="0"/>
                </a:rPr>
                <a:t>公開金鑰</a:t>
              </a:r>
              <a:endParaRPr lang="zh-TW" altLang="en-US" sz="1400" dirty="0">
                <a:latin typeface="Calibri" pitchFamily="34" charset="0"/>
              </a:endParaRPr>
            </a:p>
          </p:txBody>
        </p:sp>
        <p:sp>
          <p:nvSpPr>
            <p:cNvPr id="32" name="文字方塊 31"/>
            <p:cNvSpPr txBox="1"/>
            <p:nvPr/>
          </p:nvSpPr>
          <p:spPr>
            <a:xfrm>
              <a:off x="4975815" y="5334672"/>
              <a:ext cx="902811" cy="523220"/>
            </a:xfrm>
            <a:prstGeom prst="rect">
              <a:avLst/>
            </a:prstGeom>
            <a:noFill/>
          </p:spPr>
          <p:txBody>
            <a:bodyPr wrap="none" rtlCol="0">
              <a:spAutoFit/>
            </a:bodyPr>
            <a:lstStyle/>
            <a:p>
              <a:r>
                <a:rPr lang="zh-TW" altLang="en-US" sz="1400" dirty="0" smtClean="0">
                  <a:latin typeface="Calibri" pitchFamily="34" charset="0"/>
                </a:rPr>
                <a:t>接收方的</a:t>
              </a:r>
              <a:endParaRPr lang="en-US" altLang="zh-TW" sz="1400" dirty="0" smtClean="0">
                <a:latin typeface="Calibri" pitchFamily="34" charset="0"/>
              </a:endParaRPr>
            </a:p>
            <a:p>
              <a:r>
                <a:rPr lang="zh-TW" altLang="en-US" sz="1400" dirty="0" smtClean="0">
                  <a:latin typeface="Calibri" pitchFamily="34" charset="0"/>
                </a:rPr>
                <a:t>私密金鑰</a:t>
              </a:r>
              <a:endParaRPr lang="zh-TW" altLang="en-US" sz="1400" dirty="0">
                <a:latin typeface="Calibri" pitchFamily="34" charset="0"/>
              </a:endParaRPr>
            </a:p>
          </p:txBody>
        </p:sp>
        <p:sp>
          <p:nvSpPr>
            <p:cNvPr id="39" name="文字方塊 38"/>
            <p:cNvSpPr txBox="1"/>
            <p:nvPr/>
          </p:nvSpPr>
          <p:spPr>
            <a:xfrm>
              <a:off x="571472" y="4559866"/>
              <a:ext cx="567784" cy="369332"/>
            </a:xfrm>
            <a:prstGeom prst="rect">
              <a:avLst/>
            </a:prstGeom>
            <a:noFill/>
          </p:spPr>
          <p:txBody>
            <a:bodyPr wrap="none" rtlCol="0">
              <a:spAutoFit/>
            </a:bodyPr>
            <a:lstStyle/>
            <a:p>
              <a:r>
                <a:rPr lang="en-US" altLang="zh-TW" dirty="0" smtClean="0">
                  <a:latin typeface="Calibri" pitchFamily="34" charset="0"/>
                </a:rPr>
                <a:t>PGP</a:t>
              </a:r>
              <a:endParaRPr lang="zh-TW" altLang="en-US" dirty="0">
                <a:latin typeface="Calibri" pitchFamily="34" charset="0"/>
              </a:endParaRPr>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827584" y="2852936"/>
            <a:ext cx="7033592" cy="1362075"/>
          </a:xfrm>
          <a:solidFill>
            <a:srgbClr val="0000FF"/>
          </a:solidFill>
          <a:ln w="25400">
            <a:solidFill>
              <a:srgbClr val="FF0000"/>
            </a:solidFill>
          </a:ln>
        </p:spPr>
        <p:txBody>
          <a:bodyPr anchor="ctr"/>
          <a:lstStyle/>
          <a:p>
            <a:pPr algn="ctr"/>
            <a:r>
              <a:rPr lang="en-US" altLang="zh-TW" dirty="0" smtClean="0">
                <a:solidFill>
                  <a:schemeClr val="bg1"/>
                </a:solidFill>
                <a:latin typeface="標楷體" panose="03000509000000000000" pitchFamily="65" charset="-120"/>
                <a:ea typeface="標楷體" panose="03000509000000000000" pitchFamily="65" charset="-120"/>
              </a:rPr>
              <a:t>B.8 </a:t>
            </a:r>
            <a:r>
              <a:rPr lang="zh-TW" altLang="en-US" dirty="0">
                <a:solidFill>
                  <a:schemeClr val="bg1"/>
                </a:solidFill>
                <a:latin typeface="標楷體" panose="03000509000000000000" pitchFamily="65" charset="-120"/>
                <a:ea typeface="標楷體" panose="03000509000000000000" pitchFamily="65" charset="-120"/>
              </a:rPr>
              <a:t>金鑰管理 </a:t>
            </a:r>
            <a:r>
              <a:rPr lang="en-US" altLang="zh-TW" dirty="0" smtClean="0">
                <a:solidFill>
                  <a:schemeClr val="bg1"/>
                </a:solidFill>
                <a:latin typeface="標楷體" panose="03000509000000000000" pitchFamily="65" charset="-120"/>
                <a:ea typeface="標楷體" panose="03000509000000000000" pitchFamily="65" charset="-120"/>
              </a:rPr>
              <a:t/>
            </a:r>
            <a:br>
              <a:rPr lang="en-US" altLang="zh-TW" dirty="0" smtClean="0">
                <a:solidFill>
                  <a:schemeClr val="bg1"/>
                </a:solidFill>
                <a:latin typeface="標楷體" panose="03000509000000000000" pitchFamily="65" charset="-120"/>
                <a:ea typeface="標楷體" panose="03000509000000000000" pitchFamily="65" charset="-120"/>
              </a:rPr>
            </a:br>
            <a:r>
              <a:rPr lang="en-US" altLang="zh-TW" dirty="0" smtClean="0">
                <a:solidFill>
                  <a:schemeClr val="bg1"/>
                </a:solidFill>
                <a:latin typeface="標楷體" panose="03000509000000000000" pitchFamily="65" charset="-120"/>
                <a:ea typeface="標楷體" panose="03000509000000000000" pitchFamily="65" charset="-120"/>
              </a:rPr>
              <a:t>(</a:t>
            </a:r>
            <a:r>
              <a:rPr lang="en-US" altLang="zh-TW" dirty="0">
                <a:solidFill>
                  <a:schemeClr val="bg1"/>
                </a:solidFill>
                <a:latin typeface="標楷體" panose="03000509000000000000" pitchFamily="65" charset="-120"/>
                <a:ea typeface="標楷體" panose="03000509000000000000" pitchFamily="65" charset="-120"/>
              </a:rPr>
              <a:t>Key Management)</a:t>
            </a:r>
            <a:endParaRPr lang="zh-TW" altLang="en-US" dirty="0">
              <a:solidFill>
                <a:schemeClr val="bg1"/>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65539807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a:xfrm>
            <a:off x="1115616" y="1357298"/>
            <a:ext cx="7385474" cy="5500702"/>
          </a:xfrm>
        </p:spPr>
        <p:txBody>
          <a:bodyPr>
            <a:normAutofit/>
          </a:bodyPr>
          <a:lstStyle/>
          <a:p>
            <a:pPr>
              <a:lnSpc>
                <a:spcPct val="110000"/>
              </a:lnSpc>
              <a:spcBef>
                <a:spcPts val="1200"/>
              </a:spcBef>
            </a:pPr>
            <a:r>
              <a:rPr lang="zh-TW" altLang="en-US" sz="2200" dirty="0" smtClean="0"/>
              <a:t>金鑰之產生 </a:t>
            </a:r>
            <a:r>
              <a:rPr lang="en-US" altLang="zh-TW" sz="2200" dirty="0" smtClean="0"/>
              <a:t>(key generation)</a:t>
            </a:r>
          </a:p>
          <a:p>
            <a:pPr>
              <a:lnSpc>
                <a:spcPct val="110000"/>
              </a:lnSpc>
              <a:spcBef>
                <a:spcPts val="1200"/>
              </a:spcBef>
            </a:pPr>
            <a:r>
              <a:rPr lang="zh-TW" altLang="en-US" sz="2200" dirty="0" smtClean="0"/>
              <a:t>金鑰之儲存與配送 </a:t>
            </a:r>
            <a:r>
              <a:rPr lang="en-US" altLang="zh-TW" sz="2200" dirty="0" smtClean="0"/>
              <a:t>(key storage and distribution)</a:t>
            </a:r>
          </a:p>
          <a:p>
            <a:pPr>
              <a:lnSpc>
                <a:spcPct val="110000"/>
              </a:lnSpc>
              <a:spcBef>
                <a:spcPts val="1200"/>
              </a:spcBef>
            </a:pPr>
            <a:r>
              <a:rPr lang="zh-TW" altLang="en-US" sz="2200" dirty="0" smtClean="0"/>
              <a:t>金鑰託管 </a:t>
            </a:r>
            <a:r>
              <a:rPr lang="en-US" altLang="zh-TW" sz="2200" dirty="0" smtClean="0"/>
              <a:t>(key escrow)</a:t>
            </a:r>
          </a:p>
          <a:p>
            <a:pPr>
              <a:lnSpc>
                <a:spcPct val="110000"/>
              </a:lnSpc>
              <a:spcBef>
                <a:spcPts val="1200"/>
              </a:spcBef>
            </a:pPr>
            <a:r>
              <a:rPr lang="zh-TW" altLang="en-US" sz="2200" dirty="0" smtClean="0"/>
              <a:t>金鑰過期 </a:t>
            </a:r>
            <a:r>
              <a:rPr lang="en-US" altLang="zh-TW" sz="2200" dirty="0" smtClean="0"/>
              <a:t>(key expiration)</a:t>
            </a:r>
          </a:p>
          <a:p>
            <a:pPr>
              <a:lnSpc>
                <a:spcPct val="110000"/>
              </a:lnSpc>
              <a:spcBef>
                <a:spcPts val="1200"/>
              </a:spcBef>
            </a:pPr>
            <a:r>
              <a:rPr lang="zh-TW" altLang="en-US" sz="2200" dirty="0" smtClean="0"/>
              <a:t>金鑰收回 </a:t>
            </a:r>
            <a:r>
              <a:rPr lang="en-US" altLang="zh-TW" sz="2200" dirty="0" smtClean="0"/>
              <a:t>(key revocation)</a:t>
            </a:r>
          </a:p>
          <a:p>
            <a:pPr>
              <a:lnSpc>
                <a:spcPct val="110000"/>
              </a:lnSpc>
              <a:spcBef>
                <a:spcPts val="1200"/>
              </a:spcBef>
            </a:pPr>
            <a:r>
              <a:rPr lang="zh-TW" altLang="en-US" sz="2200" dirty="0" smtClean="0"/>
              <a:t>金鑰中止 </a:t>
            </a:r>
            <a:r>
              <a:rPr lang="en-US" altLang="zh-TW" sz="2200" dirty="0" smtClean="0"/>
              <a:t>(key suspension)</a:t>
            </a:r>
          </a:p>
          <a:p>
            <a:pPr>
              <a:lnSpc>
                <a:spcPct val="110000"/>
              </a:lnSpc>
              <a:spcBef>
                <a:spcPts val="1200"/>
              </a:spcBef>
            </a:pPr>
            <a:r>
              <a:rPr lang="zh-TW" altLang="en-US" sz="2200" dirty="0" smtClean="0"/>
              <a:t>金鑰復原與歸檔 </a:t>
            </a:r>
            <a:r>
              <a:rPr lang="en-US" altLang="zh-TW" sz="2200" dirty="0" smtClean="0"/>
              <a:t>(key recovery and archival)</a:t>
            </a:r>
          </a:p>
          <a:p>
            <a:pPr>
              <a:lnSpc>
                <a:spcPct val="110000"/>
              </a:lnSpc>
              <a:spcBef>
                <a:spcPts val="1200"/>
              </a:spcBef>
            </a:pPr>
            <a:r>
              <a:rPr lang="zh-TW" altLang="en-US" sz="2200" dirty="0" smtClean="0"/>
              <a:t>金鑰更新 </a:t>
            </a:r>
            <a:r>
              <a:rPr lang="en-US" altLang="zh-TW" sz="2200" dirty="0" smtClean="0"/>
              <a:t>(key renewal)</a:t>
            </a:r>
          </a:p>
          <a:p>
            <a:pPr>
              <a:lnSpc>
                <a:spcPct val="110000"/>
              </a:lnSpc>
              <a:spcBef>
                <a:spcPts val="1200"/>
              </a:spcBef>
            </a:pPr>
            <a:r>
              <a:rPr lang="zh-TW" altLang="en-US" sz="2200" dirty="0" smtClean="0"/>
              <a:t>金鑰銷毀 </a:t>
            </a:r>
            <a:r>
              <a:rPr lang="en-US" altLang="zh-TW" sz="2200" dirty="0" smtClean="0"/>
              <a:t>(key destruction)</a:t>
            </a:r>
          </a:p>
        </p:txBody>
      </p:sp>
      <p:sp>
        <p:nvSpPr>
          <p:cNvPr id="3" name="標題 2"/>
          <p:cNvSpPr>
            <a:spLocks noGrp="1"/>
          </p:cNvSpPr>
          <p:nvPr>
            <p:ph type="title"/>
          </p:nvPr>
        </p:nvSpPr>
        <p:spPr/>
        <p:txBody>
          <a:bodyPr/>
          <a:lstStyle/>
          <a:p>
            <a:r>
              <a:rPr lang="en-US" altLang="zh-TW" dirty="0" smtClean="0"/>
              <a:t>B8. </a:t>
            </a:r>
            <a:r>
              <a:rPr lang="zh-TW" altLang="en-US" dirty="0" smtClean="0"/>
              <a:t>金鑰管理</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標題 1"/>
          <p:cNvSpPr>
            <a:spLocks noGrp="1"/>
          </p:cNvSpPr>
          <p:nvPr>
            <p:ph type="title"/>
          </p:nvPr>
        </p:nvSpPr>
        <p:spPr>
          <a:xfrm>
            <a:off x="827584" y="2852936"/>
            <a:ext cx="7033592" cy="1362075"/>
          </a:xfrm>
          <a:solidFill>
            <a:srgbClr val="0000FF"/>
          </a:solidFill>
          <a:ln w="25400">
            <a:solidFill>
              <a:srgbClr val="FF0000"/>
            </a:solidFill>
          </a:ln>
        </p:spPr>
        <p:txBody>
          <a:bodyPr anchor="ctr"/>
          <a:lstStyle/>
          <a:p>
            <a:pPr algn="ctr"/>
            <a:r>
              <a:rPr lang="en-US" altLang="zh-TW" dirty="0" smtClean="0">
                <a:solidFill>
                  <a:schemeClr val="bg1"/>
                </a:solidFill>
                <a:latin typeface="標楷體" panose="03000509000000000000" pitchFamily="65" charset="-120"/>
                <a:ea typeface="標楷體" panose="03000509000000000000" pitchFamily="65" charset="-120"/>
              </a:rPr>
              <a:t>B.8 </a:t>
            </a:r>
            <a:r>
              <a:rPr lang="zh-TW" altLang="en-US" dirty="0">
                <a:solidFill>
                  <a:schemeClr val="bg1"/>
                </a:solidFill>
                <a:latin typeface="標楷體" panose="03000509000000000000" pitchFamily="65" charset="-120"/>
                <a:ea typeface="標楷體" panose="03000509000000000000" pitchFamily="65" charset="-120"/>
              </a:rPr>
              <a:t>密碼系統攻擊 </a:t>
            </a:r>
            <a:r>
              <a:rPr lang="en-US" altLang="zh-TW" dirty="0">
                <a:solidFill>
                  <a:schemeClr val="bg1"/>
                </a:solidFill>
                <a:latin typeface="標楷體" panose="03000509000000000000" pitchFamily="65" charset="-120"/>
                <a:ea typeface="標楷體" panose="03000509000000000000" pitchFamily="65" charset="-120"/>
              </a:rPr>
              <a:t>(Cryptosystem Attack)</a:t>
            </a:r>
            <a:endParaRPr lang="zh-TW" altLang="en-US" dirty="0">
              <a:solidFill>
                <a:schemeClr val="bg1"/>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5505821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內容版面配置區 3"/>
          <p:cNvGraphicFramePr>
            <a:graphicFrameLocks noGrp="1"/>
          </p:cNvGraphicFramePr>
          <p:nvPr>
            <p:ph idx="1"/>
            <p:extLst>
              <p:ext uri="{D42A27DB-BD31-4B8C-83A1-F6EECF244321}">
                <p14:modId xmlns:p14="http://schemas.microsoft.com/office/powerpoint/2010/main" val="1476384440"/>
              </p:ext>
            </p:extLst>
          </p:nvPr>
        </p:nvGraphicFramePr>
        <p:xfrm>
          <a:off x="285750" y="1357313"/>
          <a:ext cx="8215313" cy="5099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標題 2"/>
          <p:cNvSpPr>
            <a:spLocks noGrp="1"/>
          </p:cNvSpPr>
          <p:nvPr>
            <p:ph type="title"/>
          </p:nvPr>
        </p:nvSpPr>
        <p:spPr>
          <a:xfrm>
            <a:off x="285693" y="116632"/>
            <a:ext cx="8215370" cy="1296145"/>
          </a:xfrm>
        </p:spPr>
        <p:txBody>
          <a:bodyPr>
            <a:normAutofit/>
          </a:bodyPr>
          <a:lstStyle/>
          <a:p>
            <a:r>
              <a:rPr lang="en-US" altLang="zh-TW" sz="3600" dirty="0" smtClean="0">
                <a:solidFill>
                  <a:srgbClr val="FF0000"/>
                </a:solidFill>
              </a:rPr>
              <a:t>B.9 </a:t>
            </a:r>
            <a:r>
              <a:rPr lang="zh-TW" altLang="en-US" sz="3600" dirty="0" smtClean="0">
                <a:solidFill>
                  <a:srgbClr val="FF0000"/>
                </a:solidFill>
              </a:rPr>
              <a:t>密碼</a:t>
            </a:r>
            <a:r>
              <a:rPr lang="zh-TW" altLang="en-US" sz="3600" dirty="0">
                <a:solidFill>
                  <a:srgbClr val="FF0000"/>
                </a:solidFill>
              </a:rPr>
              <a:t>系</a:t>
            </a:r>
            <a:r>
              <a:rPr lang="zh-TW" altLang="en-US" sz="3600" dirty="0" smtClean="0">
                <a:solidFill>
                  <a:srgbClr val="FF0000"/>
                </a:solidFill>
              </a:rPr>
              <a:t>統攻擊</a:t>
            </a:r>
            <a:r>
              <a:rPr lang="en-US" altLang="zh-TW" sz="3600" dirty="0" smtClean="0"/>
              <a:t/>
            </a:r>
            <a:br>
              <a:rPr lang="en-US" altLang="zh-TW" sz="3600" dirty="0" smtClean="0"/>
            </a:br>
            <a:r>
              <a:rPr lang="zh-TW" altLang="en-US" sz="3600" dirty="0" smtClean="0"/>
              <a:t>密碼系統遭受攻擊的目標</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內容版面配置區 3"/>
          <p:cNvGraphicFramePr>
            <a:graphicFrameLocks noGrp="1"/>
          </p:cNvGraphicFramePr>
          <p:nvPr>
            <p:ph idx="1"/>
            <p:extLst>
              <p:ext uri="{D42A27DB-BD31-4B8C-83A1-F6EECF244321}">
                <p14:modId xmlns:p14="http://schemas.microsoft.com/office/powerpoint/2010/main" val="280560545"/>
              </p:ext>
            </p:extLst>
          </p:nvPr>
        </p:nvGraphicFramePr>
        <p:xfrm>
          <a:off x="285750" y="1357313"/>
          <a:ext cx="8215313" cy="51435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標題 2"/>
          <p:cNvSpPr>
            <a:spLocks noGrp="1"/>
          </p:cNvSpPr>
          <p:nvPr>
            <p:ph type="title"/>
          </p:nvPr>
        </p:nvSpPr>
        <p:spPr/>
        <p:txBody>
          <a:bodyPr/>
          <a:lstStyle/>
          <a:p>
            <a:r>
              <a:rPr lang="zh-TW" altLang="en-US" dirty="0" smtClean="0"/>
              <a:t>密碼攻擊者分析訊息的方式</a:t>
            </a:r>
            <a:endParaRPr lang="zh-TW" altLang="en-US" dirty="0"/>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華麗">
  <a:themeElements>
    <a:clrScheme name="華麗">
      <a:dk1>
        <a:sysClr val="windowText" lastClr="000000"/>
      </a:dk1>
      <a:lt1>
        <a:sysClr val="window" lastClr="FFFFFF"/>
      </a:lt1>
      <a:dk2>
        <a:srgbClr val="B13F9A"/>
      </a:dk2>
      <a:lt2>
        <a:srgbClr val="F4E7ED"/>
      </a:lt2>
      <a:accent1>
        <a:srgbClr val="B83D68"/>
      </a:accent1>
      <a:accent2>
        <a:srgbClr val="AC66BB"/>
      </a:accent2>
      <a:accent3>
        <a:srgbClr val="DE6C36"/>
      </a:accent3>
      <a:accent4>
        <a:srgbClr val="F9B639"/>
      </a:accent4>
      <a:accent5>
        <a:srgbClr val="CF6DA4"/>
      </a:accent5>
      <a:accent6>
        <a:srgbClr val="FA8D3D"/>
      </a:accent6>
      <a:hlink>
        <a:srgbClr val="FFDE66"/>
      </a:hlink>
      <a:folHlink>
        <a:srgbClr val="D490C5"/>
      </a:folHlink>
    </a:clrScheme>
    <a:fontScheme name="華麗">
      <a:majorFont>
        <a:latin typeface="Trebuchet MS"/>
        <a:ea typeface=""/>
        <a:cs typeface=""/>
        <a:font script="Jpan" typeface="HG丸ｺﾞｼｯｸM-PRO"/>
        <a:font script="Hang" typeface="HY그래픽M"/>
        <a:font script="Hans" typeface="黑体"/>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Trebuchet MS"/>
        <a:ea typeface=""/>
        <a:cs typeface=""/>
        <a:font script="Jpan" typeface="HG丸ｺﾞｼｯｸM-PRO"/>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華麗">
      <a:fillStyleLst>
        <a:solidFill>
          <a:schemeClr val="phClr"/>
        </a:solidFill>
        <a:gradFill rotWithShape="1">
          <a:gsLst>
            <a:gs pos="0">
              <a:schemeClr val="phClr">
                <a:tint val="15000"/>
                <a:satMod val="250000"/>
              </a:schemeClr>
            </a:gs>
            <a:gs pos="49000">
              <a:schemeClr val="phClr">
                <a:tint val="50000"/>
                <a:satMod val="200000"/>
              </a:schemeClr>
            </a:gs>
            <a:gs pos="49100">
              <a:schemeClr val="phClr">
                <a:tint val="64000"/>
                <a:satMod val="160000"/>
              </a:schemeClr>
            </a:gs>
            <a:gs pos="92000">
              <a:schemeClr val="phClr">
                <a:tint val="50000"/>
                <a:satMod val="200000"/>
              </a:schemeClr>
            </a:gs>
            <a:gs pos="100000">
              <a:schemeClr val="phClr">
                <a:tint val="43000"/>
                <a:satMod val="190000"/>
              </a:schemeClr>
            </a:gs>
          </a:gsLst>
          <a:lin ang="5400000" scaled="1"/>
        </a:gradFill>
        <a:gradFill rotWithShape="1">
          <a:gsLst>
            <a:gs pos="0">
              <a:schemeClr val="phClr">
                <a:tint val="74000"/>
              </a:schemeClr>
            </a:gs>
            <a:gs pos="49000">
              <a:schemeClr val="phClr">
                <a:tint val="96000"/>
                <a:shade val="84000"/>
                <a:satMod val="110000"/>
              </a:schemeClr>
            </a:gs>
            <a:gs pos="49100">
              <a:schemeClr val="phClr">
                <a:shade val="55000"/>
                <a:satMod val="150000"/>
              </a:schemeClr>
            </a:gs>
            <a:gs pos="92000">
              <a:schemeClr val="phClr">
                <a:tint val="98000"/>
                <a:shade val="90000"/>
                <a:satMod val="128000"/>
              </a:schemeClr>
            </a:gs>
            <a:gs pos="100000">
              <a:schemeClr val="phClr">
                <a:tint val="90000"/>
                <a:shade val="97000"/>
                <a:satMod val="128000"/>
              </a:schemeClr>
            </a:gs>
          </a:gsLst>
          <a:lin ang="5400000" scaled="1"/>
        </a:gradFill>
      </a:fillStyleLst>
      <a:lnStyleLst>
        <a:ln w="11430" cap="flat" cmpd="sng" algn="ctr">
          <a:solidFill>
            <a:schemeClr val="phClr"/>
          </a:solidFill>
          <a:prstDash val="solid"/>
        </a:ln>
        <a:ln w="40000" cap="flat" cmpd="sng" algn="ctr">
          <a:solidFill>
            <a:schemeClr val="phClr"/>
          </a:solidFill>
          <a:prstDash val="solid"/>
        </a:ln>
        <a:ln w="31800" cap="flat" cmpd="sng" algn="ctr">
          <a:solidFill>
            <a:schemeClr val="phClr"/>
          </a:solidFill>
          <a:prstDash val="solid"/>
        </a:ln>
      </a:lnStyleLst>
      <a:effectStyleLst>
        <a:effectStyle>
          <a:effectLst>
            <a:outerShdw blurRad="50800" dist="25000" dir="5400000" rotWithShape="0">
              <a:schemeClr val="phClr">
                <a:shade val="30000"/>
                <a:satMod val="150000"/>
                <a:alpha val="38000"/>
              </a:schemeClr>
            </a:outerShdw>
          </a:effectLst>
        </a:effectStyle>
        <a:effectStyle>
          <a:effectLst>
            <a:outerShdw blurRad="39000" dist="25400" dir="5400000" rotWithShape="0">
              <a:schemeClr val="phClr">
                <a:shade val="33000"/>
                <a:alpha val="83000"/>
              </a:schemeClr>
            </a:outerShdw>
          </a:effectLst>
        </a:effectStyle>
        <a:effectStyle>
          <a:effectLst>
            <a:outerShdw blurRad="39000" dist="25400" dir="5400000" rotWithShape="0">
              <a:schemeClr val="phClr">
                <a:shade val="33000"/>
                <a:alpha val="83000"/>
              </a:schemeClr>
            </a:outerShdw>
          </a:effectLst>
          <a:scene3d>
            <a:camera prst="orthographicFront" fov="0">
              <a:rot lat="0" lon="0" rev="0"/>
            </a:camera>
            <a:lightRig rig="contrasting" dir="t">
              <a:rot lat="0" lon="0" rev="1500000"/>
            </a:lightRig>
          </a:scene3d>
          <a:sp3d extrusionH="127000" prstMaterial="powder">
            <a:bevelT w="50800" h="63500"/>
          </a:sp3d>
        </a:effectStyle>
      </a:effectStyleLst>
      <a:bgFillStyleLst>
        <a:solidFill>
          <a:schemeClr val="phClr"/>
        </a:solidFill>
        <a:gradFill rotWithShape="1">
          <a:gsLst>
            <a:gs pos="0">
              <a:schemeClr val="phClr">
                <a:tint val="78000"/>
                <a:satMod val="220000"/>
              </a:schemeClr>
            </a:gs>
            <a:gs pos="100000">
              <a:schemeClr val="phClr">
                <a:shade val="35000"/>
                <a:satMod val="155000"/>
              </a:schemeClr>
            </a:gs>
          </a:gsLst>
          <a:path path="circle">
            <a:fillToRect l="50000" t="50000" r="50000" b="50000"/>
          </a:path>
        </a:gradFill>
        <a:blipFill>
          <a:blip xmlns:r="http://schemas.openxmlformats.org/officeDocument/2006/relationships" r:embed="rId1">
            <a:duotone>
              <a:schemeClr val="phClr">
                <a:shade val="60000"/>
                <a:satMod val="180000"/>
              </a:schemeClr>
              <a:schemeClr val="phClr">
                <a:tint val="500"/>
                <a:satMod val="150000"/>
              </a:schemeClr>
            </a:duotone>
          </a:blip>
          <a:tile tx="0" ty="0" sx="50000" sy="50000" flip="none" algn="tl"/>
        </a:blipFill>
      </a:bgFillStyleLst>
    </a:fmtScheme>
  </a:themeElements>
  <a:objectDefaults/>
  <a:extraClrSchemeLst/>
</a:theme>
</file>

<file path=ppt/theme/theme2.xml><?xml version="1.0" encoding="utf-8"?>
<a:theme xmlns:a="http://schemas.openxmlformats.org/drawingml/2006/main" name="蜻蜓設計簡報範本">
  <a:themeElements>
    <a:clrScheme name="蜻蜓設計簡報範本 14">
      <a:dk1>
        <a:srgbClr val="000000"/>
      </a:dk1>
      <a:lt1>
        <a:srgbClr val="FFFFFF"/>
      </a:lt1>
      <a:dk2>
        <a:srgbClr val="3333FF"/>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蜻蜓設計簡報範本">
      <a:majorFont>
        <a:latin typeface="Arial"/>
        <a:ea typeface="新細明體"/>
        <a:cs typeface=""/>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254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0" i="0" u="none" strike="noStrike" cap="none" normalizeH="0" baseline="0" smtClean="0">
            <a:ln>
              <a:noFill/>
            </a:ln>
            <a:solidFill>
              <a:schemeClr val="tx1"/>
            </a:solidFill>
            <a:effectLst/>
            <a:latin typeface="Arial" charset="0"/>
            <a:ea typeface="新細明體" pitchFamily="18" charset="-120"/>
          </a:defRPr>
        </a:defPPr>
      </a:lstStyle>
    </a:spDef>
    <a:lnDef>
      <a:spPr bwMode="auto">
        <a:xfrm>
          <a:off x="0" y="0"/>
          <a:ext cx="1" cy="1"/>
        </a:xfrm>
        <a:custGeom>
          <a:avLst/>
          <a:gdLst/>
          <a:ahLst/>
          <a:cxnLst/>
          <a:rect l="0" t="0" r="0" b="0"/>
          <a:pathLst/>
        </a:custGeom>
        <a:solidFill>
          <a:schemeClr val="accent1"/>
        </a:solidFill>
        <a:ln w="254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0" i="0" u="none" strike="noStrike" cap="none" normalizeH="0" baseline="0" smtClean="0">
            <a:ln>
              <a:noFill/>
            </a:ln>
            <a:solidFill>
              <a:schemeClr val="tx1"/>
            </a:solidFill>
            <a:effectLst/>
            <a:latin typeface="Arial" charset="0"/>
            <a:ea typeface="新細明體" pitchFamily="18" charset="-120"/>
          </a:defRPr>
        </a:defPPr>
      </a:lstStyle>
    </a:lnDef>
  </a:objectDefaults>
  <a:extraClrSchemeLst>
    <a:extraClrScheme>
      <a:clrScheme name="蜻蜓設計簡報範本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蜻蜓設計簡報範本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蜻蜓設計簡報範本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蜻蜓設計簡報範本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蜻蜓設計簡報範本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蜻蜓設計簡報範本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蜻蜓設計簡報範本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蜻蜓設計簡報範本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蜻蜓設計簡報範本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蜻蜓設計簡報範本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蜻蜓設計簡報範本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蜻蜓設計簡報範本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蜻蜓設計簡報範本 13">
        <a:dk1>
          <a:srgbClr val="000000"/>
        </a:dk1>
        <a:lt1>
          <a:srgbClr val="FFFFFF"/>
        </a:lt1>
        <a:dk2>
          <a:srgbClr val="FF0066"/>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蜻蜓設計簡報範本 14">
        <a:dk1>
          <a:srgbClr val="000000"/>
        </a:dk1>
        <a:lt1>
          <a:srgbClr val="FFFFFF"/>
        </a:lt1>
        <a:dk2>
          <a:srgbClr val="3333FF"/>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Default Design">
  <a:themeElements>
    <a:clrScheme name="Default Design 3">
      <a:dk1>
        <a:srgbClr val="080808"/>
      </a:dk1>
      <a:lt1>
        <a:srgbClr val="FFFFFF"/>
      </a:lt1>
      <a:dk2>
        <a:srgbClr val="A59A55"/>
      </a:dk2>
      <a:lt2>
        <a:srgbClr val="DDDDDD"/>
      </a:lt2>
      <a:accent1>
        <a:srgbClr val="4AB1E4"/>
      </a:accent1>
      <a:accent2>
        <a:srgbClr val="8F038F"/>
      </a:accent2>
      <a:accent3>
        <a:srgbClr val="FFFFFF"/>
      </a:accent3>
      <a:accent4>
        <a:srgbClr val="060606"/>
      </a:accent4>
      <a:accent5>
        <a:srgbClr val="B1D5EF"/>
      </a:accent5>
      <a:accent6>
        <a:srgbClr val="810281"/>
      </a:accent6>
      <a:hlink>
        <a:srgbClr val="F77A1D"/>
      </a:hlink>
      <a:folHlink>
        <a:srgbClr val="5BBE4E"/>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5F5F5F"/>
        </a:dk1>
        <a:lt1>
          <a:srgbClr val="FFFFFF"/>
        </a:lt1>
        <a:dk2>
          <a:srgbClr val="C36609"/>
        </a:dk2>
        <a:lt2>
          <a:srgbClr val="DDDDDD"/>
        </a:lt2>
        <a:accent1>
          <a:srgbClr val="D2B94E"/>
        </a:accent1>
        <a:accent2>
          <a:srgbClr val="2395B9"/>
        </a:accent2>
        <a:accent3>
          <a:srgbClr val="FFFFFF"/>
        </a:accent3>
        <a:accent4>
          <a:srgbClr val="505050"/>
        </a:accent4>
        <a:accent5>
          <a:srgbClr val="E5D9B2"/>
        </a:accent5>
        <a:accent6>
          <a:srgbClr val="1F87A7"/>
        </a:accent6>
        <a:hlink>
          <a:srgbClr val="5C984E"/>
        </a:hlink>
        <a:folHlink>
          <a:srgbClr val="B5C77B"/>
        </a:folHlink>
      </a:clrScheme>
      <a:clrMap bg1="lt1" tx1="dk1" bg2="lt2" tx2="dk2" accent1="accent1" accent2="accent2" accent3="accent3" accent4="accent4" accent5="accent5" accent6="accent6" hlink="hlink" folHlink="folHlink"/>
    </a:extraClrScheme>
    <a:extraClrScheme>
      <a:clrScheme name="Default Design 2">
        <a:dk1>
          <a:srgbClr val="5F5F5F"/>
        </a:dk1>
        <a:lt1>
          <a:srgbClr val="FFFFFF"/>
        </a:lt1>
        <a:dk2>
          <a:srgbClr val="9FC591"/>
        </a:dk2>
        <a:lt2>
          <a:srgbClr val="DDDDDD"/>
        </a:lt2>
        <a:accent1>
          <a:srgbClr val="7B82B7"/>
        </a:accent1>
        <a:accent2>
          <a:srgbClr val="8D337C"/>
        </a:accent2>
        <a:accent3>
          <a:srgbClr val="FFFFFF"/>
        </a:accent3>
        <a:accent4>
          <a:srgbClr val="505050"/>
        </a:accent4>
        <a:accent5>
          <a:srgbClr val="BFC1D8"/>
        </a:accent5>
        <a:accent6>
          <a:srgbClr val="7F2D70"/>
        </a:accent6>
        <a:hlink>
          <a:srgbClr val="CC87E1"/>
        </a:hlink>
        <a:folHlink>
          <a:srgbClr val="76C5D0"/>
        </a:folHlink>
      </a:clrScheme>
      <a:clrMap bg1="lt1" tx1="dk1" bg2="lt2" tx2="dk2" accent1="accent1" accent2="accent2" accent3="accent3" accent4="accent4" accent5="accent5" accent6="accent6" hlink="hlink" folHlink="folHlink"/>
    </a:extraClrScheme>
    <a:extraClrScheme>
      <a:clrScheme name="Default Design 3">
        <a:dk1>
          <a:srgbClr val="080808"/>
        </a:dk1>
        <a:lt1>
          <a:srgbClr val="FFFFFF"/>
        </a:lt1>
        <a:dk2>
          <a:srgbClr val="A59A55"/>
        </a:dk2>
        <a:lt2>
          <a:srgbClr val="DDDDDD"/>
        </a:lt2>
        <a:accent1>
          <a:srgbClr val="4AB1E4"/>
        </a:accent1>
        <a:accent2>
          <a:srgbClr val="8F038F"/>
        </a:accent2>
        <a:accent3>
          <a:srgbClr val="FFFFFF"/>
        </a:accent3>
        <a:accent4>
          <a:srgbClr val="060606"/>
        </a:accent4>
        <a:accent5>
          <a:srgbClr val="B1D5EF"/>
        </a:accent5>
        <a:accent6>
          <a:srgbClr val="810281"/>
        </a:accent6>
        <a:hlink>
          <a:srgbClr val="F77A1D"/>
        </a:hlink>
        <a:folHlink>
          <a:srgbClr val="5BBE4E"/>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1_蜻蜓設計簡報範本">
  <a:themeElements>
    <a:clrScheme name="蜻蜓設計簡報範本 14">
      <a:dk1>
        <a:srgbClr val="000000"/>
      </a:dk1>
      <a:lt1>
        <a:srgbClr val="FFFFFF"/>
      </a:lt1>
      <a:dk2>
        <a:srgbClr val="3333FF"/>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蜻蜓設計簡報範本">
      <a:majorFont>
        <a:latin typeface="Arial"/>
        <a:ea typeface="新細明體"/>
        <a:cs typeface=""/>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254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0" i="0" u="none" strike="noStrike" cap="none" normalizeH="0" baseline="0" smtClean="0">
            <a:ln>
              <a:noFill/>
            </a:ln>
            <a:solidFill>
              <a:schemeClr val="tx1"/>
            </a:solidFill>
            <a:effectLst/>
            <a:latin typeface="Arial" charset="0"/>
            <a:ea typeface="新細明體" pitchFamily="18" charset="-120"/>
          </a:defRPr>
        </a:defPPr>
      </a:lstStyle>
    </a:spDef>
    <a:lnDef>
      <a:spPr bwMode="auto">
        <a:xfrm>
          <a:off x="0" y="0"/>
          <a:ext cx="1" cy="1"/>
        </a:xfrm>
        <a:custGeom>
          <a:avLst/>
          <a:gdLst/>
          <a:ahLst/>
          <a:cxnLst/>
          <a:rect l="0" t="0" r="0" b="0"/>
          <a:pathLst/>
        </a:custGeom>
        <a:solidFill>
          <a:schemeClr val="accent1"/>
        </a:solidFill>
        <a:ln w="254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0" i="0" u="none" strike="noStrike" cap="none" normalizeH="0" baseline="0" smtClean="0">
            <a:ln>
              <a:noFill/>
            </a:ln>
            <a:solidFill>
              <a:schemeClr val="tx1"/>
            </a:solidFill>
            <a:effectLst/>
            <a:latin typeface="Arial" charset="0"/>
            <a:ea typeface="新細明體" pitchFamily="18" charset="-120"/>
          </a:defRPr>
        </a:defPPr>
      </a:lstStyle>
    </a:lnDef>
  </a:objectDefaults>
  <a:extraClrSchemeLst>
    <a:extraClrScheme>
      <a:clrScheme name="蜻蜓設計簡報範本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蜻蜓設計簡報範本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蜻蜓設計簡報範本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蜻蜓設計簡報範本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蜻蜓設計簡報範本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蜻蜓設計簡報範本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蜻蜓設計簡報範本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蜻蜓設計簡報範本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蜻蜓設計簡報範本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蜻蜓設計簡報範本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蜻蜓設計簡報範本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蜻蜓設計簡報範本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蜻蜓設計簡報範本 13">
        <a:dk1>
          <a:srgbClr val="000000"/>
        </a:dk1>
        <a:lt1>
          <a:srgbClr val="FFFFFF"/>
        </a:lt1>
        <a:dk2>
          <a:srgbClr val="FF0066"/>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蜻蜓設計簡報範本 14">
        <a:dk1>
          <a:srgbClr val="000000"/>
        </a:dk1>
        <a:lt1>
          <a:srgbClr val="FFFFFF"/>
        </a:lt1>
        <a:dk2>
          <a:srgbClr val="3333FF"/>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lackTie">
      <a:majorFont>
        <a:latin typeface="Garamond"/>
        <a:ea typeface=""/>
        <a:cs typeface=""/>
        <a:font script="Grek" typeface="Constantia"/>
        <a:font script="Cyrl" typeface="Constantia"/>
        <a:font script="Jpan" typeface="ＭＳ Ｐ明朝"/>
        <a:font script="Hang" typeface="궁서"/>
        <a:font script="Hans" typeface="仿宋"/>
        <a:font script="Hant" typeface="標楷體"/>
        <a:font script="Arab" typeface="Times New Roman"/>
        <a:font script="Hebr" typeface="Times New Roman"/>
        <a:font script="Thai" typeface="Angsan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aramond"/>
        <a:ea typeface=""/>
        <a:cs typeface=""/>
        <a:font script="Grek" typeface="Constantia"/>
        <a:font script="Cyrl" typeface="Constantia"/>
        <a:font script="Jpan" typeface="ＭＳ Ｐ明朝"/>
        <a:font script="Hang" typeface="궁서"/>
        <a:font script="Hans" typeface="仿宋"/>
        <a:font script="Hant" typeface="標楷體"/>
        <a:font script="Arab" typeface="Times New Roman"/>
        <a:font script="Hebr" typeface="Times New Roman"/>
        <a:font script="Thai" typeface="Angsan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5_蜻蜓設計簡報範本">
  <a:themeElements>
    <a:clrScheme name="蜻蜓設計簡報範本 14">
      <a:dk1>
        <a:srgbClr val="000000"/>
      </a:dk1>
      <a:lt1>
        <a:srgbClr val="FFFFFF"/>
      </a:lt1>
      <a:dk2>
        <a:srgbClr val="3333FF"/>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蜻蜓設計簡報範本">
      <a:majorFont>
        <a:latin typeface="Arial"/>
        <a:ea typeface="新細明體"/>
        <a:cs typeface=""/>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254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0" i="0" u="none" strike="noStrike" cap="none" normalizeH="0" baseline="0" smtClean="0">
            <a:ln>
              <a:noFill/>
            </a:ln>
            <a:solidFill>
              <a:schemeClr val="tx1"/>
            </a:solidFill>
            <a:effectLst/>
            <a:latin typeface="Arial" charset="0"/>
            <a:ea typeface="新細明體" pitchFamily="18" charset="-120"/>
          </a:defRPr>
        </a:defPPr>
      </a:lstStyle>
    </a:spDef>
    <a:lnDef>
      <a:spPr bwMode="auto">
        <a:xfrm>
          <a:off x="0" y="0"/>
          <a:ext cx="1" cy="1"/>
        </a:xfrm>
        <a:custGeom>
          <a:avLst/>
          <a:gdLst/>
          <a:ahLst/>
          <a:cxnLst/>
          <a:rect l="0" t="0" r="0" b="0"/>
          <a:pathLst/>
        </a:custGeom>
        <a:solidFill>
          <a:schemeClr val="accent1"/>
        </a:solidFill>
        <a:ln w="254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0" i="0" u="none" strike="noStrike" cap="none" normalizeH="0" baseline="0" smtClean="0">
            <a:ln>
              <a:noFill/>
            </a:ln>
            <a:solidFill>
              <a:schemeClr val="tx1"/>
            </a:solidFill>
            <a:effectLst/>
            <a:latin typeface="Arial" charset="0"/>
            <a:ea typeface="新細明體" pitchFamily="18" charset="-120"/>
          </a:defRPr>
        </a:defPPr>
      </a:lstStyle>
    </a:lnDef>
  </a:objectDefaults>
  <a:extraClrSchemeLst>
    <a:extraClrScheme>
      <a:clrScheme name="蜻蜓設計簡報範本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蜻蜓設計簡報範本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蜻蜓設計簡報範本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蜻蜓設計簡報範本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蜻蜓設計簡報範本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蜻蜓設計簡報範本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蜻蜓設計簡報範本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蜻蜓設計簡報範本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蜻蜓設計簡報範本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蜻蜓設計簡報範本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蜻蜓設計簡報範本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蜻蜓設計簡報範本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蜻蜓設計簡報範本 13">
        <a:dk1>
          <a:srgbClr val="000000"/>
        </a:dk1>
        <a:lt1>
          <a:srgbClr val="FFFFFF"/>
        </a:lt1>
        <a:dk2>
          <a:srgbClr val="FF0066"/>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蜻蜓設計簡報範本 14">
        <a:dk1>
          <a:srgbClr val="000000"/>
        </a:dk1>
        <a:lt1>
          <a:srgbClr val="FFFFFF"/>
        </a:lt1>
        <a:dk2>
          <a:srgbClr val="3333FF"/>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1_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2_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Opulent</Template>
  <TotalTime>21632</TotalTime>
  <Words>9435</Words>
  <Application>Microsoft Office PowerPoint</Application>
  <PresentationFormat>如螢幕大小 (4:3)</PresentationFormat>
  <Paragraphs>1205</Paragraphs>
  <Slides>81</Slides>
  <Notes>0</Notes>
  <HiddenSlides>0</HiddenSlides>
  <MMClips>0</MMClips>
  <ScaleCrop>false</ScaleCrop>
  <HeadingPairs>
    <vt:vector size="6" baseType="variant">
      <vt:variant>
        <vt:lpstr>使用字型</vt:lpstr>
      </vt:variant>
      <vt:variant>
        <vt:i4>13</vt:i4>
      </vt:variant>
      <vt:variant>
        <vt:lpstr>佈景主題</vt:lpstr>
      </vt:variant>
      <vt:variant>
        <vt:i4>8</vt:i4>
      </vt:variant>
      <vt:variant>
        <vt:lpstr>投影片標題</vt:lpstr>
      </vt:variant>
      <vt:variant>
        <vt:i4>81</vt:i4>
      </vt:variant>
    </vt:vector>
  </HeadingPairs>
  <TitlesOfParts>
    <vt:vector size="102" baseType="lpstr">
      <vt:lpstr>宋体</vt:lpstr>
      <vt:lpstr>华文新魏</vt:lpstr>
      <vt:lpstr>微軟正黑體</vt:lpstr>
      <vt:lpstr>PMingLiU</vt:lpstr>
      <vt:lpstr>PMingLiU</vt:lpstr>
      <vt:lpstr>標楷體</vt:lpstr>
      <vt:lpstr>Arial</vt:lpstr>
      <vt:lpstr>Calibri</vt:lpstr>
      <vt:lpstr>Garamond</vt:lpstr>
      <vt:lpstr>Trebuchet MS</vt:lpstr>
      <vt:lpstr>Verdana</vt:lpstr>
      <vt:lpstr>Wingdings</vt:lpstr>
      <vt:lpstr>Wingdings 2</vt:lpstr>
      <vt:lpstr>華麗</vt:lpstr>
      <vt:lpstr>蜻蜓設計簡報範本</vt:lpstr>
      <vt:lpstr>Default Design</vt:lpstr>
      <vt:lpstr>1_蜻蜓設計簡報範本</vt:lpstr>
      <vt:lpstr>Office 佈景主題</vt:lpstr>
      <vt:lpstr>5_蜻蜓設計簡報範本</vt:lpstr>
      <vt:lpstr>1_Office 佈景主題</vt:lpstr>
      <vt:lpstr>2_Office 佈景主題</vt:lpstr>
      <vt:lpstr>Contents</vt:lpstr>
      <vt:lpstr>第7章   基礎密碼學 </vt:lpstr>
      <vt:lpstr>密碼學(Cryptography) Guide line</vt:lpstr>
      <vt:lpstr>第二篇 第7章 基礎密碼學</vt:lpstr>
      <vt:lpstr>A. 古典(classical)密碼學 演進 evolution </vt:lpstr>
      <vt:lpstr>密碼學的演進</vt:lpstr>
      <vt:lpstr>位移加密法</vt:lpstr>
      <vt:lpstr>替換加密法</vt:lpstr>
      <vt:lpstr>頻率分析法 (破解)</vt:lpstr>
      <vt:lpstr>多重字母替換加密法</vt:lpstr>
      <vt:lpstr>巴貝奇的解密</vt:lpstr>
      <vt:lpstr>連續金鑰加密</vt:lpstr>
      <vt:lpstr>一次性密碼本</vt:lpstr>
      <vt:lpstr>謎 – 成功的密碼機器</vt:lpstr>
      <vt:lpstr>圖靈的解密</vt:lpstr>
      <vt:lpstr>稀有語言 – 另類的加密法</vt:lpstr>
      <vt:lpstr>隱藏訊息加密法</vt:lpstr>
      <vt:lpstr>B.近代電腦密碼學 (modern)</vt:lpstr>
      <vt:lpstr>B.近代電腦密碼學</vt:lpstr>
      <vt:lpstr>B. 安全的密碼演算法</vt:lpstr>
      <vt:lpstr>B. 加密演算法常用轉換技巧(近代也是)</vt:lpstr>
      <vt:lpstr>B.加解密以兩個角度來區分</vt:lpstr>
      <vt:lpstr>串流式加密法 (對稱式加解密)</vt:lpstr>
      <vt:lpstr>真值表 True-Table  1/2</vt:lpstr>
      <vt:lpstr>真值表    2/2</vt:lpstr>
      <vt:lpstr>PowerPoint 簡報</vt:lpstr>
      <vt:lpstr>B.1 對稱式加密/解密的基本運作</vt:lpstr>
      <vt:lpstr>DES加密法</vt:lpstr>
      <vt:lpstr>DES F-Function功能圖</vt:lpstr>
      <vt:lpstr>DES F-Function功能描述</vt:lpstr>
      <vt:lpstr>對稱式加密的優缺點</vt:lpstr>
      <vt:lpstr>Diffie - Hellman 鑰匙交換法</vt:lpstr>
      <vt:lpstr>Diffie - Hellman 鑰匙交換法</vt:lpstr>
      <vt:lpstr>B.2 非對稱式加/解密 (Asymmetric)</vt:lpstr>
      <vt:lpstr>B2. 非對稱式加密</vt:lpstr>
      <vt:lpstr>PowerPoint 簡報</vt:lpstr>
      <vt:lpstr>2.A: RAS 金鑰產生</vt:lpstr>
      <vt:lpstr>B.3 非對稱式簽/驗章 (Signature)</vt:lpstr>
      <vt:lpstr>紙本簽章</vt:lpstr>
      <vt:lpstr>B4. 數位簽章(版本1)</vt:lpstr>
      <vt:lpstr>數位簽章運算(版本2)</vt:lpstr>
      <vt:lpstr>小結 Sub-Summary </vt:lpstr>
      <vt:lpstr>非對稱式加密中-最常被使用的RSA 算法</vt:lpstr>
      <vt:lpstr>PowerPoint 簡報</vt:lpstr>
      <vt:lpstr>B.4 雜湊函數 (HASH)</vt:lpstr>
      <vt:lpstr>雜湊函數(Hash Function)</vt:lpstr>
      <vt:lpstr>雜湊函數的特質</vt:lpstr>
      <vt:lpstr>B3. 雜湊函數</vt:lpstr>
      <vt:lpstr>常見單向雜湊函數的比較 </vt:lpstr>
      <vt:lpstr>B.5 數位信封 (Digital  Envelope)</vt:lpstr>
      <vt:lpstr>數位信封 (Digital Envelope)</vt:lpstr>
      <vt:lpstr>數位信封 (Digital Envelope)</vt:lpstr>
      <vt:lpstr>數位信封的說明(一)</vt:lpstr>
      <vt:lpstr>數位信封的說明(二)</vt:lpstr>
      <vt:lpstr>PowerPoint 簡報</vt:lpstr>
      <vt:lpstr>數位信封的說明(三)-優缺點</vt:lpstr>
      <vt:lpstr>院際間的資料交換，都採用數位信封(Digital  Envelope)，以保護病人資料。請說明數位信封製作的過程</vt:lpstr>
      <vt:lpstr>B.6 對稱式加密的模式 (mode)</vt:lpstr>
      <vt:lpstr>B6. 對稱式加密的應用模式</vt:lpstr>
      <vt:lpstr>ECB</vt:lpstr>
      <vt:lpstr>CBC</vt:lpstr>
      <vt:lpstr>CFB</vt:lpstr>
      <vt:lpstr>OFB</vt:lpstr>
      <vt:lpstr>CTR</vt:lpstr>
      <vt:lpstr>Triple DES</vt:lpstr>
      <vt:lpstr>B.7 PKI的架構及其它的應用 (Architecture)</vt:lpstr>
      <vt:lpstr> B7. PKI (Public Key Infrastructure)</vt:lpstr>
      <vt:lpstr>憑證管理中心 </vt:lpstr>
      <vt:lpstr>註冊管理中心</vt:lpstr>
      <vt:lpstr>數位憑證</vt:lpstr>
      <vt:lpstr>X.509</vt:lpstr>
      <vt:lpstr>SSL &amp; TLS</vt:lpstr>
      <vt:lpstr>CMP &amp; S/MIME</vt:lpstr>
      <vt:lpstr>SET</vt:lpstr>
      <vt:lpstr>SSH</vt:lpstr>
      <vt:lpstr>PGP</vt:lpstr>
      <vt:lpstr>B.8 金鑰管理  (Key Management)</vt:lpstr>
      <vt:lpstr>B8. 金鑰管理</vt:lpstr>
      <vt:lpstr>B.8 密碼系統攻擊 (Cryptosystem Attack)</vt:lpstr>
      <vt:lpstr>B.9 密碼系統攻擊 密碼系統遭受攻擊的目標</vt:lpstr>
      <vt:lpstr>密碼攻擊者分析訊息的方式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Information Security Course and Laboratories (ISCAL) 資訊安全課程與實驗</dc:title>
  <dc:creator>timpan</dc:creator>
  <cp:lastModifiedBy>user</cp:lastModifiedBy>
  <cp:revision>1821</cp:revision>
  <dcterms:created xsi:type="dcterms:W3CDTF">2007-09-03T02:45:25Z</dcterms:created>
  <dcterms:modified xsi:type="dcterms:W3CDTF">2025-12-01T09:26:18Z</dcterms:modified>
</cp:coreProperties>
</file>