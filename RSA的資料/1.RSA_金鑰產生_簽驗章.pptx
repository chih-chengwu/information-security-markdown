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6" r:id="rId3"/>
    <p:sldId id="272" r:id="rId4"/>
    <p:sldId id="257" r:id="rId5"/>
    <p:sldId id="260" r:id="rId6"/>
    <p:sldId id="261" r:id="rId7"/>
    <p:sldId id="262" r:id="rId8"/>
    <p:sldId id="263" r:id="rId9"/>
    <p:sldId id="270" r:id="rId10"/>
    <p:sldId id="271" r:id="rId11"/>
    <p:sldId id="265" r:id="rId12"/>
    <p:sldId id="264" r:id="rId13"/>
    <p:sldId id="266" r:id="rId14"/>
    <p:sldId id="267" r:id="rId15"/>
    <p:sldId id="279" r:id="rId16"/>
    <p:sldId id="273" r:id="rId17"/>
    <p:sldId id="274" r:id="rId18"/>
    <p:sldId id="275" r:id="rId19"/>
    <p:sldId id="276" r:id="rId20"/>
    <p:sldId id="277" r:id="rId21"/>
    <p:sldId id="278" r:id="rId22"/>
    <p:sldId id="268" r:id="rId23"/>
    <p:sldId id="269" r:id="rId24"/>
  </p:sldIdLst>
  <p:sldSz cx="9144000" cy="6858000" type="screen4x3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1180" y="5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viewProps" Target="viewProps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image" Target="../media/image11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5.w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F8A1-2453-4FFC-96A1-C454FB86F241}" type="datetimeFigureOut">
              <a:rPr lang="zh-TW" altLang="en-US" smtClean="0"/>
              <a:t>2023/12/5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F04A-BC54-4B2F-85D5-DBEB3778BD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984972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F8A1-2453-4FFC-96A1-C454FB86F241}" type="datetimeFigureOut">
              <a:rPr lang="zh-TW" altLang="en-US" smtClean="0"/>
              <a:t>2023/12/5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F04A-BC54-4B2F-85D5-DBEB3778BD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23369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F8A1-2453-4FFC-96A1-C454FB86F241}" type="datetimeFigureOut">
              <a:rPr lang="zh-TW" altLang="en-US" smtClean="0"/>
              <a:t>2023/12/5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F04A-BC54-4B2F-85D5-DBEB3778BD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999130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F8A1-2453-4FFC-96A1-C454FB86F241}" type="datetimeFigureOut">
              <a:rPr lang="zh-TW" altLang="en-US" smtClean="0"/>
              <a:t>2023/12/5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F04A-BC54-4B2F-85D5-DBEB3778BD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169275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F8A1-2453-4FFC-96A1-C454FB86F241}" type="datetimeFigureOut">
              <a:rPr lang="zh-TW" altLang="en-US" smtClean="0"/>
              <a:t>2023/12/5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F04A-BC54-4B2F-85D5-DBEB3778BD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249957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F8A1-2453-4FFC-96A1-C454FB86F241}" type="datetimeFigureOut">
              <a:rPr lang="zh-TW" altLang="en-US" smtClean="0"/>
              <a:t>2023/12/5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F04A-BC54-4B2F-85D5-DBEB3778BD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327596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F8A1-2453-4FFC-96A1-C454FB86F241}" type="datetimeFigureOut">
              <a:rPr lang="zh-TW" altLang="en-US" smtClean="0"/>
              <a:t>2023/12/5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F04A-BC54-4B2F-85D5-DBEB3778BD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16242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F8A1-2453-4FFC-96A1-C454FB86F241}" type="datetimeFigureOut">
              <a:rPr lang="zh-TW" altLang="en-US" smtClean="0"/>
              <a:t>2023/12/5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F04A-BC54-4B2F-85D5-DBEB3778BD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221134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F8A1-2453-4FFC-96A1-C454FB86F241}" type="datetimeFigureOut">
              <a:rPr lang="zh-TW" altLang="en-US" smtClean="0"/>
              <a:t>2023/12/5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F04A-BC54-4B2F-85D5-DBEB3778BD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1617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F8A1-2453-4FFC-96A1-C454FB86F241}" type="datetimeFigureOut">
              <a:rPr lang="zh-TW" altLang="en-US" smtClean="0"/>
              <a:t>2023/12/5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F04A-BC54-4B2F-85D5-DBEB3778BD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5788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CBBF8A1-2453-4FFC-96A1-C454FB86F241}" type="datetimeFigureOut">
              <a:rPr lang="zh-TW" altLang="en-US" smtClean="0"/>
              <a:t>2023/12/5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4DF04A-BC54-4B2F-85D5-DBEB3778BD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77892687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/>
          <p:cNvGrpSpPr>
            <a:grpSpLocks/>
          </p:cNvGrpSpPr>
          <p:nvPr/>
        </p:nvGrpSpPr>
        <p:grpSpPr bwMode="auto">
          <a:xfrm>
            <a:off x="5076825" y="5957888"/>
            <a:ext cx="503238" cy="1800225"/>
            <a:chOff x="3470" y="572"/>
            <a:chExt cx="317" cy="1134"/>
          </a:xfrm>
        </p:grpSpPr>
        <p:sp>
          <p:nvSpPr>
            <p:cNvPr id="5" name="Arc 3"/>
            <p:cNvSpPr>
              <a:spLocks/>
            </p:cNvSpPr>
            <p:nvPr userDrawn="1"/>
          </p:nvSpPr>
          <p:spPr bwMode="auto">
            <a:xfrm>
              <a:off x="3507" y="698"/>
              <a:ext cx="280" cy="1008"/>
            </a:xfrm>
            <a:custGeom>
              <a:avLst/>
              <a:gdLst>
                <a:gd name="T0" fmla="*/ 0 w 16421"/>
                <a:gd name="T1" fmla="*/ 0 h 21600"/>
                <a:gd name="T2" fmla="*/ 0 w 16421"/>
                <a:gd name="T3" fmla="*/ 0 h 21600"/>
                <a:gd name="T4" fmla="*/ 0 w 16421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421" h="21600" fill="none" extrusionOk="0">
                  <a:moveTo>
                    <a:pt x="-1" y="0"/>
                  </a:moveTo>
                  <a:cubicBezTo>
                    <a:pt x="6317" y="0"/>
                    <a:pt x="12317" y="2765"/>
                    <a:pt x="16421" y="7567"/>
                  </a:cubicBezTo>
                </a:path>
                <a:path w="16421" h="21600" stroke="0" extrusionOk="0">
                  <a:moveTo>
                    <a:pt x="-1" y="0"/>
                  </a:moveTo>
                  <a:cubicBezTo>
                    <a:pt x="6317" y="0"/>
                    <a:pt x="12317" y="2765"/>
                    <a:pt x="16421" y="756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6" name="Oval 4"/>
            <p:cNvSpPr>
              <a:spLocks noChangeArrowheads="1"/>
            </p:cNvSpPr>
            <p:nvPr userDrawn="1"/>
          </p:nvSpPr>
          <p:spPr bwMode="auto">
            <a:xfrm rot="-3515713">
              <a:off x="3536" y="785"/>
              <a:ext cx="126" cy="36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7" name="Oval 5"/>
            <p:cNvSpPr>
              <a:spLocks noChangeArrowheads="1"/>
            </p:cNvSpPr>
            <p:nvPr userDrawn="1"/>
          </p:nvSpPr>
          <p:spPr bwMode="auto">
            <a:xfrm rot="-1615679">
              <a:off x="3470" y="698"/>
              <a:ext cx="111" cy="42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8" name="Oval 6"/>
            <p:cNvSpPr>
              <a:spLocks noChangeArrowheads="1"/>
            </p:cNvSpPr>
            <p:nvPr userDrawn="1"/>
          </p:nvSpPr>
          <p:spPr bwMode="auto">
            <a:xfrm rot="6199228">
              <a:off x="3536" y="617"/>
              <a:ext cx="126" cy="36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9" name="Oval 7"/>
            <p:cNvSpPr>
              <a:spLocks noChangeArrowheads="1"/>
            </p:cNvSpPr>
            <p:nvPr userDrawn="1"/>
          </p:nvSpPr>
          <p:spPr bwMode="auto">
            <a:xfrm>
              <a:off x="3654" y="740"/>
              <a:ext cx="111" cy="41"/>
            </a:xfrm>
            <a:prstGeom prst="ellipse">
              <a:avLst/>
            </a:prstGeom>
            <a:solidFill>
              <a:srgbClr val="808000">
                <a:alpha val="79999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0" name="Oval 8"/>
            <p:cNvSpPr>
              <a:spLocks noChangeArrowheads="1"/>
            </p:cNvSpPr>
            <p:nvPr userDrawn="1"/>
          </p:nvSpPr>
          <p:spPr bwMode="auto">
            <a:xfrm>
              <a:off x="3470" y="655"/>
              <a:ext cx="111" cy="42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1" name="Oval 9"/>
            <p:cNvSpPr>
              <a:spLocks noChangeArrowheads="1"/>
            </p:cNvSpPr>
            <p:nvPr userDrawn="1"/>
          </p:nvSpPr>
          <p:spPr bwMode="auto">
            <a:xfrm rot="-4126769">
              <a:off x="3499" y="743"/>
              <a:ext cx="126" cy="37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2" name="Oval 10"/>
            <p:cNvSpPr>
              <a:spLocks noChangeArrowheads="1"/>
            </p:cNvSpPr>
            <p:nvPr userDrawn="1"/>
          </p:nvSpPr>
          <p:spPr bwMode="auto">
            <a:xfrm rot="-2624767">
              <a:off x="3581" y="655"/>
              <a:ext cx="111" cy="42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3" name="Oval 11"/>
            <p:cNvSpPr>
              <a:spLocks noChangeArrowheads="1"/>
            </p:cNvSpPr>
            <p:nvPr userDrawn="1"/>
          </p:nvSpPr>
          <p:spPr bwMode="auto">
            <a:xfrm rot="-5400000">
              <a:off x="3565" y="825"/>
              <a:ext cx="126" cy="37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4" name="Oval 12"/>
            <p:cNvSpPr>
              <a:spLocks noChangeArrowheads="1"/>
            </p:cNvSpPr>
            <p:nvPr userDrawn="1"/>
          </p:nvSpPr>
          <p:spPr bwMode="auto">
            <a:xfrm rot="-1495776">
              <a:off x="3617" y="698"/>
              <a:ext cx="111" cy="42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15" name="Group 13"/>
          <p:cNvGrpSpPr>
            <a:grpSpLocks/>
          </p:cNvGrpSpPr>
          <p:nvPr/>
        </p:nvGrpSpPr>
        <p:grpSpPr bwMode="auto">
          <a:xfrm flipH="1">
            <a:off x="179388" y="5842000"/>
            <a:ext cx="815975" cy="2030413"/>
            <a:chOff x="4377" y="300"/>
            <a:chExt cx="514" cy="1279"/>
          </a:xfrm>
        </p:grpSpPr>
        <p:sp>
          <p:nvSpPr>
            <p:cNvPr id="16" name="Arc 14"/>
            <p:cNvSpPr>
              <a:spLocks/>
            </p:cNvSpPr>
            <p:nvPr userDrawn="1"/>
          </p:nvSpPr>
          <p:spPr bwMode="auto">
            <a:xfrm rot="-290276">
              <a:off x="4419" y="449"/>
              <a:ext cx="457" cy="1130"/>
            </a:xfrm>
            <a:custGeom>
              <a:avLst/>
              <a:gdLst>
                <a:gd name="T0" fmla="*/ 0 w 20810"/>
                <a:gd name="T1" fmla="*/ 0 h 20197"/>
                <a:gd name="T2" fmla="*/ 0 w 20810"/>
                <a:gd name="T3" fmla="*/ 0 h 20197"/>
                <a:gd name="T4" fmla="*/ 0 w 20810"/>
                <a:gd name="T5" fmla="*/ 0 h 201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810" h="20197" fill="none" extrusionOk="0">
                  <a:moveTo>
                    <a:pt x="7657" y="0"/>
                  </a:moveTo>
                  <a:cubicBezTo>
                    <a:pt x="14084" y="2436"/>
                    <a:pt x="18967" y="7786"/>
                    <a:pt x="20809" y="14408"/>
                  </a:cubicBezTo>
                </a:path>
                <a:path w="20810" h="20197" stroke="0" extrusionOk="0">
                  <a:moveTo>
                    <a:pt x="7657" y="0"/>
                  </a:moveTo>
                  <a:cubicBezTo>
                    <a:pt x="14084" y="2436"/>
                    <a:pt x="18967" y="7786"/>
                    <a:pt x="20809" y="14408"/>
                  </a:cubicBezTo>
                  <a:lnTo>
                    <a:pt x="0" y="20197"/>
                  </a:lnTo>
                  <a:lnTo>
                    <a:pt x="7657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17" name="Oval 15"/>
            <p:cNvSpPr>
              <a:spLocks noChangeArrowheads="1"/>
            </p:cNvSpPr>
            <p:nvPr userDrawn="1"/>
          </p:nvSpPr>
          <p:spPr bwMode="auto">
            <a:xfrm rot="-3515713">
              <a:off x="4468" y="553"/>
              <a:ext cx="151" cy="47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8" name="Oval 16"/>
            <p:cNvSpPr>
              <a:spLocks noChangeArrowheads="1"/>
            </p:cNvSpPr>
            <p:nvPr userDrawn="1"/>
          </p:nvSpPr>
          <p:spPr bwMode="auto">
            <a:xfrm rot="-1615679">
              <a:off x="4377" y="451"/>
              <a:ext cx="143" cy="50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9" name="Oval 17"/>
            <p:cNvSpPr>
              <a:spLocks noChangeArrowheads="1"/>
            </p:cNvSpPr>
            <p:nvPr userDrawn="1"/>
          </p:nvSpPr>
          <p:spPr bwMode="auto">
            <a:xfrm rot="6199228">
              <a:off x="4468" y="352"/>
              <a:ext cx="151" cy="47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0" name="Oval 18"/>
            <p:cNvSpPr>
              <a:spLocks noChangeArrowheads="1"/>
            </p:cNvSpPr>
            <p:nvPr userDrawn="1"/>
          </p:nvSpPr>
          <p:spPr bwMode="auto">
            <a:xfrm>
              <a:off x="4614" y="501"/>
              <a:ext cx="143" cy="50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1" name="Oval 19"/>
            <p:cNvSpPr>
              <a:spLocks noChangeArrowheads="1"/>
            </p:cNvSpPr>
            <p:nvPr userDrawn="1"/>
          </p:nvSpPr>
          <p:spPr bwMode="auto">
            <a:xfrm rot="-4126769">
              <a:off x="4437" y="503"/>
              <a:ext cx="151" cy="48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2" name="Oval 20"/>
            <p:cNvSpPr>
              <a:spLocks noChangeArrowheads="1"/>
            </p:cNvSpPr>
            <p:nvPr userDrawn="1"/>
          </p:nvSpPr>
          <p:spPr bwMode="auto">
            <a:xfrm rot="-2624767">
              <a:off x="4520" y="400"/>
              <a:ext cx="142" cy="50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3" name="Oval 21"/>
            <p:cNvSpPr>
              <a:spLocks noChangeArrowheads="1"/>
            </p:cNvSpPr>
            <p:nvPr userDrawn="1"/>
          </p:nvSpPr>
          <p:spPr bwMode="auto">
            <a:xfrm rot="-2742706">
              <a:off x="4515" y="603"/>
              <a:ext cx="151" cy="47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4" name="Oval 22"/>
            <p:cNvSpPr>
              <a:spLocks noChangeArrowheads="1"/>
            </p:cNvSpPr>
            <p:nvPr userDrawn="1"/>
          </p:nvSpPr>
          <p:spPr bwMode="auto">
            <a:xfrm rot="-1495776">
              <a:off x="4567" y="451"/>
              <a:ext cx="142" cy="50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5" name="Oval 23"/>
            <p:cNvSpPr>
              <a:spLocks noChangeArrowheads="1"/>
            </p:cNvSpPr>
            <p:nvPr userDrawn="1"/>
          </p:nvSpPr>
          <p:spPr bwMode="auto">
            <a:xfrm rot="-2742706">
              <a:off x="4552" y="669"/>
              <a:ext cx="151" cy="47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6" name="Oval 24"/>
            <p:cNvSpPr>
              <a:spLocks noChangeArrowheads="1"/>
            </p:cNvSpPr>
            <p:nvPr userDrawn="1"/>
          </p:nvSpPr>
          <p:spPr bwMode="auto">
            <a:xfrm rot="-2742706">
              <a:off x="4597" y="715"/>
              <a:ext cx="151" cy="47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7" name="Oval 25"/>
            <p:cNvSpPr>
              <a:spLocks noChangeArrowheads="1"/>
            </p:cNvSpPr>
            <p:nvPr userDrawn="1"/>
          </p:nvSpPr>
          <p:spPr bwMode="auto">
            <a:xfrm rot="1036516">
              <a:off x="4740" y="754"/>
              <a:ext cx="151" cy="47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8" name="Oval 26"/>
            <p:cNvSpPr>
              <a:spLocks noChangeArrowheads="1"/>
            </p:cNvSpPr>
            <p:nvPr userDrawn="1"/>
          </p:nvSpPr>
          <p:spPr bwMode="auto">
            <a:xfrm rot="403513">
              <a:off x="4642" y="578"/>
              <a:ext cx="151" cy="47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9" name="Oval 27"/>
            <p:cNvSpPr>
              <a:spLocks noChangeArrowheads="1"/>
            </p:cNvSpPr>
            <p:nvPr userDrawn="1"/>
          </p:nvSpPr>
          <p:spPr bwMode="auto">
            <a:xfrm rot="347087">
              <a:off x="4694" y="663"/>
              <a:ext cx="151" cy="47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30" name="Oval 28"/>
            <p:cNvSpPr>
              <a:spLocks noChangeArrowheads="1"/>
            </p:cNvSpPr>
            <p:nvPr userDrawn="1"/>
          </p:nvSpPr>
          <p:spPr bwMode="auto">
            <a:xfrm rot="-2685850">
              <a:off x="4649" y="799"/>
              <a:ext cx="151" cy="47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31" name="Group 29"/>
          <p:cNvGrpSpPr>
            <a:grpSpLocks/>
          </p:cNvGrpSpPr>
          <p:nvPr/>
        </p:nvGrpSpPr>
        <p:grpSpPr bwMode="auto">
          <a:xfrm>
            <a:off x="0" y="5849938"/>
            <a:ext cx="9144000" cy="1008062"/>
            <a:chOff x="0" y="302"/>
            <a:chExt cx="5760" cy="635"/>
          </a:xfrm>
        </p:grpSpPr>
        <p:sp>
          <p:nvSpPr>
            <p:cNvPr id="32" name="AutoShape 30"/>
            <p:cNvSpPr>
              <a:spLocks noChangeArrowheads="1"/>
            </p:cNvSpPr>
            <p:nvPr userDrawn="1"/>
          </p:nvSpPr>
          <p:spPr bwMode="auto">
            <a:xfrm>
              <a:off x="0" y="438"/>
              <a:ext cx="340" cy="499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33" name="AutoShape 31"/>
            <p:cNvSpPr>
              <a:spLocks noChangeArrowheads="1"/>
            </p:cNvSpPr>
            <p:nvPr userDrawn="1"/>
          </p:nvSpPr>
          <p:spPr bwMode="auto">
            <a:xfrm>
              <a:off x="204" y="618"/>
              <a:ext cx="317" cy="318"/>
            </a:xfrm>
            <a:prstGeom prst="triangle">
              <a:avLst>
                <a:gd name="adj" fmla="val 50000"/>
              </a:avLst>
            </a:prstGeom>
            <a:solidFill>
              <a:srgbClr val="008000">
                <a:alpha val="89803"/>
              </a:srgbClr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34" name="AutoShape 32"/>
            <p:cNvSpPr>
              <a:spLocks noChangeArrowheads="1"/>
            </p:cNvSpPr>
            <p:nvPr userDrawn="1"/>
          </p:nvSpPr>
          <p:spPr bwMode="auto">
            <a:xfrm>
              <a:off x="431" y="438"/>
              <a:ext cx="362" cy="499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35" name="AutoShape 33"/>
            <p:cNvSpPr>
              <a:spLocks noChangeArrowheads="1"/>
            </p:cNvSpPr>
            <p:nvPr userDrawn="1"/>
          </p:nvSpPr>
          <p:spPr bwMode="auto">
            <a:xfrm>
              <a:off x="703" y="302"/>
              <a:ext cx="272" cy="635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36" name="AutoShape 34"/>
            <p:cNvSpPr>
              <a:spLocks noChangeArrowheads="1"/>
            </p:cNvSpPr>
            <p:nvPr userDrawn="1"/>
          </p:nvSpPr>
          <p:spPr bwMode="auto">
            <a:xfrm>
              <a:off x="884" y="438"/>
              <a:ext cx="318" cy="499"/>
            </a:xfrm>
            <a:prstGeom prst="triangle">
              <a:avLst>
                <a:gd name="adj" fmla="val 50000"/>
              </a:avLst>
            </a:prstGeom>
            <a:solidFill>
              <a:srgbClr val="008000">
                <a:alpha val="79999"/>
              </a:srgbClr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37" name="AutoShape 35"/>
            <p:cNvSpPr>
              <a:spLocks noChangeArrowheads="1"/>
            </p:cNvSpPr>
            <p:nvPr userDrawn="1"/>
          </p:nvSpPr>
          <p:spPr bwMode="auto">
            <a:xfrm>
              <a:off x="1111" y="620"/>
              <a:ext cx="181" cy="317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38" name="AutoShape 36"/>
            <p:cNvSpPr>
              <a:spLocks noChangeArrowheads="1"/>
            </p:cNvSpPr>
            <p:nvPr userDrawn="1"/>
          </p:nvSpPr>
          <p:spPr bwMode="auto">
            <a:xfrm>
              <a:off x="1202" y="438"/>
              <a:ext cx="409" cy="499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39" name="AutoShape 37"/>
            <p:cNvSpPr>
              <a:spLocks noChangeArrowheads="1"/>
            </p:cNvSpPr>
            <p:nvPr userDrawn="1"/>
          </p:nvSpPr>
          <p:spPr bwMode="auto">
            <a:xfrm>
              <a:off x="1474" y="302"/>
              <a:ext cx="227" cy="635"/>
            </a:xfrm>
            <a:prstGeom prst="triangle">
              <a:avLst>
                <a:gd name="adj" fmla="val 50000"/>
              </a:avLst>
            </a:prstGeom>
            <a:solidFill>
              <a:srgbClr val="008000">
                <a:alpha val="89803"/>
              </a:srgbClr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40" name="AutoShape 38"/>
            <p:cNvSpPr>
              <a:spLocks noChangeArrowheads="1"/>
            </p:cNvSpPr>
            <p:nvPr userDrawn="1"/>
          </p:nvSpPr>
          <p:spPr bwMode="auto">
            <a:xfrm>
              <a:off x="1655" y="620"/>
              <a:ext cx="182" cy="317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41" name="AutoShape 39"/>
            <p:cNvSpPr>
              <a:spLocks noChangeArrowheads="1"/>
            </p:cNvSpPr>
            <p:nvPr userDrawn="1"/>
          </p:nvSpPr>
          <p:spPr bwMode="auto">
            <a:xfrm>
              <a:off x="1927" y="574"/>
              <a:ext cx="182" cy="363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42" name="AutoShape 40"/>
            <p:cNvSpPr>
              <a:spLocks noChangeArrowheads="1"/>
            </p:cNvSpPr>
            <p:nvPr userDrawn="1"/>
          </p:nvSpPr>
          <p:spPr bwMode="auto">
            <a:xfrm>
              <a:off x="1791" y="438"/>
              <a:ext cx="182" cy="499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43" name="AutoShape 41"/>
            <p:cNvSpPr>
              <a:spLocks noChangeArrowheads="1"/>
            </p:cNvSpPr>
            <p:nvPr userDrawn="1"/>
          </p:nvSpPr>
          <p:spPr bwMode="auto">
            <a:xfrm>
              <a:off x="1837" y="620"/>
              <a:ext cx="181" cy="317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44" name="AutoShape 42"/>
            <p:cNvSpPr>
              <a:spLocks noChangeArrowheads="1"/>
            </p:cNvSpPr>
            <p:nvPr userDrawn="1"/>
          </p:nvSpPr>
          <p:spPr bwMode="auto">
            <a:xfrm>
              <a:off x="2018" y="436"/>
              <a:ext cx="409" cy="499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45" name="AutoShape 43"/>
            <p:cNvSpPr>
              <a:spLocks noChangeArrowheads="1"/>
            </p:cNvSpPr>
            <p:nvPr userDrawn="1"/>
          </p:nvSpPr>
          <p:spPr bwMode="auto">
            <a:xfrm>
              <a:off x="2381" y="620"/>
              <a:ext cx="182" cy="317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46" name="AutoShape 44"/>
            <p:cNvSpPr>
              <a:spLocks noChangeArrowheads="1"/>
            </p:cNvSpPr>
            <p:nvPr userDrawn="1"/>
          </p:nvSpPr>
          <p:spPr bwMode="auto">
            <a:xfrm>
              <a:off x="2653" y="574"/>
              <a:ext cx="182" cy="363"/>
            </a:xfrm>
            <a:prstGeom prst="triangle">
              <a:avLst>
                <a:gd name="adj" fmla="val 50000"/>
              </a:avLst>
            </a:prstGeom>
            <a:solidFill>
              <a:srgbClr val="008000">
                <a:alpha val="89803"/>
              </a:srgbClr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47" name="AutoShape 45"/>
            <p:cNvSpPr>
              <a:spLocks noChangeArrowheads="1"/>
            </p:cNvSpPr>
            <p:nvPr userDrawn="1"/>
          </p:nvSpPr>
          <p:spPr bwMode="auto">
            <a:xfrm>
              <a:off x="2517" y="438"/>
              <a:ext cx="182" cy="499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48" name="AutoShape 46"/>
            <p:cNvSpPr>
              <a:spLocks noChangeArrowheads="1"/>
            </p:cNvSpPr>
            <p:nvPr userDrawn="1"/>
          </p:nvSpPr>
          <p:spPr bwMode="auto">
            <a:xfrm>
              <a:off x="2789" y="619"/>
              <a:ext cx="317" cy="318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49" name="AutoShape 47"/>
            <p:cNvSpPr>
              <a:spLocks noChangeArrowheads="1"/>
            </p:cNvSpPr>
            <p:nvPr userDrawn="1"/>
          </p:nvSpPr>
          <p:spPr bwMode="auto">
            <a:xfrm>
              <a:off x="2925" y="438"/>
              <a:ext cx="362" cy="499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50" name="AutoShape 48"/>
            <p:cNvSpPr>
              <a:spLocks noChangeArrowheads="1"/>
            </p:cNvSpPr>
            <p:nvPr userDrawn="1"/>
          </p:nvSpPr>
          <p:spPr bwMode="auto">
            <a:xfrm>
              <a:off x="3378" y="438"/>
              <a:ext cx="318" cy="499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51" name="AutoShape 49"/>
            <p:cNvSpPr>
              <a:spLocks noChangeArrowheads="1"/>
            </p:cNvSpPr>
            <p:nvPr userDrawn="1"/>
          </p:nvSpPr>
          <p:spPr bwMode="auto">
            <a:xfrm>
              <a:off x="3198" y="619"/>
              <a:ext cx="317" cy="318"/>
            </a:xfrm>
            <a:prstGeom prst="triangle">
              <a:avLst>
                <a:gd name="adj" fmla="val 50000"/>
              </a:avLst>
            </a:prstGeom>
            <a:solidFill>
              <a:srgbClr val="008000">
                <a:alpha val="79999"/>
              </a:srgbClr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52" name="AutoShape 50"/>
            <p:cNvSpPr>
              <a:spLocks noChangeArrowheads="1"/>
            </p:cNvSpPr>
            <p:nvPr userDrawn="1"/>
          </p:nvSpPr>
          <p:spPr bwMode="auto">
            <a:xfrm>
              <a:off x="3696" y="574"/>
              <a:ext cx="182" cy="363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53" name="AutoShape 51"/>
            <p:cNvSpPr>
              <a:spLocks noChangeArrowheads="1"/>
            </p:cNvSpPr>
            <p:nvPr userDrawn="1"/>
          </p:nvSpPr>
          <p:spPr bwMode="auto">
            <a:xfrm>
              <a:off x="3560" y="438"/>
              <a:ext cx="182" cy="499"/>
            </a:xfrm>
            <a:prstGeom prst="triangle">
              <a:avLst>
                <a:gd name="adj" fmla="val 50000"/>
              </a:avLst>
            </a:prstGeom>
            <a:solidFill>
              <a:srgbClr val="008000">
                <a:alpha val="89803"/>
              </a:srgbClr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54" name="AutoShape 52"/>
            <p:cNvSpPr>
              <a:spLocks noChangeArrowheads="1"/>
            </p:cNvSpPr>
            <p:nvPr userDrawn="1"/>
          </p:nvSpPr>
          <p:spPr bwMode="auto">
            <a:xfrm>
              <a:off x="3606" y="620"/>
              <a:ext cx="181" cy="317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55" name="AutoShape 53"/>
            <p:cNvSpPr>
              <a:spLocks noChangeArrowheads="1"/>
            </p:cNvSpPr>
            <p:nvPr userDrawn="1"/>
          </p:nvSpPr>
          <p:spPr bwMode="auto">
            <a:xfrm>
              <a:off x="3787" y="438"/>
              <a:ext cx="409" cy="499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56" name="AutoShape 54"/>
            <p:cNvSpPr>
              <a:spLocks noChangeArrowheads="1"/>
            </p:cNvSpPr>
            <p:nvPr userDrawn="1"/>
          </p:nvSpPr>
          <p:spPr bwMode="auto">
            <a:xfrm>
              <a:off x="4150" y="620"/>
              <a:ext cx="182" cy="317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57" name="AutoShape 55"/>
            <p:cNvSpPr>
              <a:spLocks noChangeArrowheads="1"/>
            </p:cNvSpPr>
            <p:nvPr userDrawn="1"/>
          </p:nvSpPr>
          <p:spPr bwMode="auto">
            <a:xfrm>
              <a:off x="4422" y="574"/>
              <a:ext cx="182" cy="363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58" name="AutoShape 56"/>
            <p:cNvSpPr>
              <a:spLocks noChangeArrowheads="1"/>
            </p:cNvSpPr>
            <p:nvPr userDrawn="1"/>
          </p:nvSpPr>
          <p:spPr bwMode="auto">
            <a:xfrm>
              <a:off x="4286" y="438"/>
              <a:ext cx="182" cy="499"/>
            </a:xfrm>
            <a:prstGeom prst="triangle">
              <a:avLst>
                <a:gd name="adj" fmla="val 50000"/>
              </a:avLst>
            </a:prstGeom>
            <a:solidFill>
              <a:srgbClr val="008000">
                <a:alpha val="79999"/>
              </a:srgbClr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59" name="AutoShape 57"/>
            <p:cNvSpPr>
              <a:spLocks noChangeArrowheads="1"/>
            </p:cNvSpPr>
            <p:nvPr userDrawn="1"/>
          </p:nvSpPr>
          <p:spPr bwMode="auto">
            <a:xfrm>
              <a:off x="4558" y="619"/>
              <a:ext cx="317" cy="318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60" name="AutoShape 58"/>
            <p:cNvSpPr>
              <a:spLocks noChangeArrowheads="1"/>
            </p:cNvSpPr>
            <p:nvPr userDrawn="1"/>
          </p:nvSpPr>
          <p:spPr bwMode="auto">
            <a:xfrm>
              <a:off x="4694" y="438"/>
              <a:ext cx="362" cy="499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61" name="AutoShape 59"/>
            <p:cNvSpPr>
              <a:spLocks noChangeArrowheads="1"/>
            </p:cNvSpPr>
            <p:nvPr userDrawn="1"/>
          </p:nvSpPr>
          <p:spPr bwMode="auto">
            <a:xfrm>
              <a:off x="5147" y="438"/>
              <a:ext cx="318" cy="499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62" name="AutoShape 60"/>
            <p:cNvSpPr>
              <a:spLocks noChangeArrowheads="1"/>
            </p:cNvSpPr>
            <p:nvPr userDrawn="1"/>
          </p:nvSpPr>
          <p:spPr bwMode="auto">
            <a:xfrm>
              <a:off x="4967" y="619"/>
              <a:ext cx="317" cy="318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63" name="AutoShape 61"/>
            <p:cNvSpPr>
              <a:spLocks noChangeArrowheads="1"/>
            </p:cNvSpPr>
            <p:nvPr userDrawn="1"/>
          </p:nvSpPr>
          <p:spPr bwMode="auto">
            <a:xfrm>
              <a:off x="4944" y="438"/>
              <a:ext cx="409" cy="499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64" name="AutoShape 62"/>
            <p:cNvSpPr>
              <a:spLocks noChangeArrowheads="1"/>
            </p:cNvSpPr>
            <p:nvPr userDrawn="1"/>
          </p:nvSpPr>
          <p:spPr bwMode="auto">
            <a:xfrm>
              <a:off x="5216" y="302"/>
              <a:ext cx="227" cy="635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65" name="AutoShape 63"/>
            <p:cNvSpPr>
              <a:spLocks noChangeArrowheads="1"/>
            </p:cNvSpPr>
            <p:nvPr userDrawn="1"/>
          </p:nvSpPr>
          <p:spPr bwMode="auto">
            <a:xfrm>
              <a:off x="5397" y="620"/>
              <a:ext cx="182" cy="317"/>
            </a:xfrm>
            <a:prstGeom prst="triangle">
              <a:avLst>
                <a:gd name="adj" fmla="val 50000"/>
              </a:avLst>
            </a:prstGeom>
            <a:solidFill>
              <a:srgbClr val="008000">
                <a:alpha val="89803"/>
              </a:srgbClr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66" name="AutoShape 64"/>
            <p:cNvSpPr>
              <a:spLocks noChangeArrowheads="1"/>
            </p:cNvSpPr>
            <p:nvPr userDrawn="1"/>
          </p:nvSpPr>
          <p:spPr bwMode="auto">
            <a:xfrm>
              <a:off x="5533" y="438"/>
              <a:ext cx="182" cy="499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67" name="AutoShape 65"/>
            <p:cNvSpPr>
              <a:spLocks noChangeArrowheads="1"/>
            </p:cNvSpPr>
            <p:nvPr userDrawn="1"/>
          </p:nvSpPr>
          <p:spPr bwMode="auto">
            <a:xfrm>
              <a:off x="5579" y="620"/>
              <a:ext cx="181" cy="317"/>
            </a:xfrm>
            <a:prstGeom prst="triangle">
              <a:avLst>
                <a:gd name="adj" fmla="val 50000"/>
              </a:avLst>
            </a:prstGeom>
            <a:solidFill>
              <a:srgbClr val="008000"/>
            </a:solidFill>
            <a:ln>
              <a:noFill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68" name="Group 66"/>
          <p:cNvGrpSpPr>
            <a:grpSpLocks/>
          </p:cNvGrpSpPr>
          <p:nvPr/>
        </p:nvGrpSpPr>
        <p:grpSpPr bwMode="auto">
          <a:xfrm>
            <a:off x="971550" y="5734050"/>
            <a:ext cx="757238" cy="1885950"/>
            <a:chOff x="4377" y="300"/>
            <a:chExt cx="514" cy="1279"/>
          </a:xfrm>
        </p:grpSpPr>
        <p:sp>
          <p:nvSpPr>
            <p:cNvPr id="69" name="Arc 67"/>
            <p:cNvSpPr>
              <a:spLocks/>
            </p:cNvSpPr>
            <p:nvPr userDrawn="1"/>
          </p:nvSpPr>
          <p:spPr bwMode="auto">
            <a:xfrm rot="-290276">
              <a:off x="4419" y="449"/>
              <a:ext cx="457" cy="1130"/>
            </a:xfrm>
            <a:custGeom>
              <a:avLst/>
              <a:gdLst>
                <a:gd name="T0" fmla="*/ 0 w 20810"/>
                <a:gd name="T1" fmla="*/ 0 h 20197"/>
                <a:gd name="T2" fmla="*/ 0 w 20810"/>
                <a:gd name="T3" fmla="*/ 0 h 20197"/>
                <a:gd name="T4" fmla="*/ 0 w 20810"/>
                <a:gd name="T5" fmla="*/ 0 h 201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810" h="20197" fill="none" extrusionOk="0">
                  <a:moveTo>
                    <a:pt x="7657" y="0"/>
                  </a:moveTo>
                  <a:cubicBezTo>
                    <a:pt x="14084" y="2436"/>
                    <a:pt x="18967" y="7786"/>
                    <a:pt x="20809" y="14408"/>
                  </a:cubicBezTo>
                </a:path>
                <a:path w="20810" h="20197" stroke="0" extrusionOk="0">
                  <a:moveTo>
                    <a:pt x="7657" y="0"/>
                  </a:moveTo>
                  <a:cubicBezTo>
                    <a:pt x="14084" y="2436"/>
                    <a:pt x="18967" y="7786"/>
                    <a:pt x="20809" y="14408"/>
                  </a:cubicBezTo>
                  <a:lnTo>
                    <a:pt x="0" y="20197"/>
                  </a:lnTo>
                  <a:lnTo>
                    <a:pt x="7657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70" name="Oval 68"/>
            <p:cNvSpPr>
              <a:spLocks noChangeArrowheads="1"/>
            </p:cNvSpPr>
            <p:nvPr userDrawn="1"/>
          </p:nvSpPr>
          <p:spPr bwMode="auto">
            <a:xfrm rot="-3515713">
              <a:off x="4469" y="555"/>
              <a:ext cx="151" cy="44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71" name="Oval 69"/>
            <p:cNvSpPr>
              <a:spLocks noChangeArrowheads="1"/>
            </p:cNvSpPr>
            <p:nvPr userDrawn="1"/>
          </p:nvSpPr>
          <p:spPr bwMode="auto">
            <a:xfrm rot="-1615679">
              <a:off x="4377" y="451"/>
              <a:ext cx="143" cy="53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72" name="Oval 70"/>
            <p:cNvSpPr>
              <a:spLocks noChangeArrowheads="1"/>
            </p:cNvSpPr>
            <p:nvPr userDrawn="1"/>
          </p:nvSpPr>
          <p:spPr bwMode="auto">
            <a:xfrm rot="6199228">
              <a:off x="4469" y="350"/>
              <a:ext cx="152" cy="44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73" name="Oval 71"/>
            <p:cNvSpPr>
              <a:spLocks noChangeArrowheads="1"/>
            </p:cNvSpPr>
            <p:nvPr userDrawn="1"/>
          </p:nvSpPr>
          <p:spPr bwMode="auto">
            <a:xfrm>
              <a:off x="4614" y="501"/>
              <a:ext cx="143" cy="50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74" name="Oval 72"/>
            <p:cNvSpPr>
              <a:spLocks noChangeArrowheads="1"/>
            </p:cNvSpPr>
            <p:nvPr userDrawn="1"/>
          </p:nvSpPr>
          <p:spPr bwMode="auto">
            <a:xfrm rot="-4126769">
              <a:off x="4421" y="501"/>
              <a:ext cx="155" cy="47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75" name="Oval 73"/>
            <p:cNvSpPr>
              <a:spLocks noChangeArrowheads="1"/>
            </p:cNvSpPr>
            <p:nvPr userDrawn="1"/>
          </p:nvSpPr>
          <p:spPr bwMode="auto">
            <a:xfrm rot="-2624767">
              <a:off x="4520" y="400"/>
              <a:ext cx="141" cy="50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76" name="Oval 74"/>
            <p:cNvSpPr>
              <a:spLocks noChangeArrowheads="1"/>
            </p:cNvSpPr>
            <p:nvPr userDrawn="1"/>
          </p:nvSpPr>
          <p:spPr bwMode="auto">
            <a:xfrm rot="-2742706">
              <a:off x="4515" y="603"/>
              <a:ext cx="151" cy="47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77" name="Oval 75"/>
            <p:cNvSpPr>
              <a:spLocks noChangeArrowheads="1"/>
            </p:cNvSpPr>
            <p:nvPr userDrawn="1"/>
          </p:nvSpPr>
          <p:spPr bwMode="auto">
            <a:xfrm rot="-1495776">
              <a:off x="4567" y="451"/>
              <a:ext cx="142" cy="53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78" name="Oval 76"/>
            <p:cNvSpPr>
              <a:spLocks noChangeArrowheads="1"/>
            </p:cNvSpPr>
            <p:nvPr userDrawn="1"/>
          </p:nvSpPr>
          <p:spPr bwMode="auto">
            <a:xfrm rot="-2742706">
              <a:off x="4552" y="671"/>
              <a:ext cx="153" cy="43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79" name="Oval 77"/>
            <p:cNvSpPr>
              <a:spLocks noChangeArrowheads="1"/>
            </p:cNvSpPr>
            <p:nvPr userDrawn="1"/>
          </p:nvSpPr>
          <p:spPr bwMode="auto">
            <a:xfrm rot="-2742706">
              <a:off x="4593" y="713"/>
              <a:ext cx="155" cy="46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80" name="Oval 78"/>
            <p:cNvSpPr>
              <a:spLocks noChangeArrowheads="1"/>
            </p:cNvSpPr>
            <p:nvPr userDrawn="1"/>
          </p:nvSpPr>
          <p:spPr bwMode="auto">
            <a:xfrm rot="1036516">
              <a:off x="4740" y="754"/>
              <a:ext cx="151" cy="44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81" name="Oval 79"/>
            <p:cNvSpPr>
              <a:spLocks noChangeArrowheads="1"/>
            </p:cNvSpPr>
            <p:nvPr userDrawn="1"/>
          </p:nvSpPr>
          <p:spPr bwMode="auto">
            <a:xfrm rot="403513">
              <a:off x="4642" y="578"/>
              <a:ext cx="151" cy="47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82" name="Oval 80"/>
            <p:cNvSpPr>
              <a:spLocks noChangeArrowheads="1"/>
            </p:cNvSpPr>
            <p:nvPr userDrawn="1"/>
          </p:nvSpPr>
          <p:spPr bwMode="auto">
            <a:xfrm rot="347087">
              <a:off x="4694" y="663"/>
              <a:ext cx="151" cy="47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83" name="Oval 81"/>
            <p:cNvSpPr>
              <a:spLocks noChangeArrowheads="1"/>
            </p:cNvSpPr>
            <p:nvPr userDrawn="1"/>
          </p:nvSpPr>
          <p:spPr bwMode="auto">
            <a:xfrm rot="-2685850">
              <a:off x="4649" y="798"/>
              <a:ext cx="152" cy="43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84" name="Group 87"/>
          <p:cNvGrpSpPr>
            <a:grpSpLocks/>
          </p:cNvGrpSpPr>
          <p:nvPr/>
        </p:nvGrpSpPr>
        <p:grpSpPr bwMode="auto">
          <a:xfrm rot="-1259352">
            <a:off x="1620838" y="5745163"/>
            <a:ext cx="576262" cy="539750"/>
            <a:chOff x="295" y="3385"/>
            <a:chExt cx="408" cy="340"/>
          </a:xfrm>
        </p:grpSpPr>
        <p:grpSp>
          <p:nvGrpSpPr>
            <p:cNvPr id="85" name="Group 88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88" name="Group 89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95" name="Oval 90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04" y="547"/>
                  <a:ext cx="272" cy="45"/>
                </a:xfrm>
                <a:prstGeom prst="ellipse">
                  <a:avLst/>
                </a:prstGeom>
                <a:solidFill>
                  <a:srgbClr val="FF6600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96" name="Oval 91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00" y="501"/>
                  <a:ext cx="272" cy="45"/>
                </a:xfrm>
                <a:prstGeom prst="ellipse">
                  <a:avLst/>
                </a:prstGeom>
                <a:solidFill>
                  <a:srgbClr val="FF9933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89" name="Group 92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93" name="Oval 93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71" y="615"/>
                  <a:ext cx="272" cy="45"/>
                </a:xfrm>
                <a:prstGeom prst="ellipse">
                  <a:avLst/>
                </a:prstGeom>
                <a:solidFill>
                  <a:srgbClr val="FF9933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94" name="Oval 94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69" y="574"/>
                  <a:ext cx="272" cy="45"/>
                </a:xfrm>
                <a:prstGeom prst="ellipse">
                  <a:avLst/>
                </a:prstGeom>
                <a:solidFill>
                  <a:srgbClr val="FF6600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90" name="Oval 95"/>
              <p:cNvSpPr>
                <a:spLocks noChangeArrowheads="1"/>
              </p:cNvSpPr>
              <p:nvPr userDrawn="1"/>
            </p:nvSpPr>
            <p:spPr bwMode="auto">
              <a:xfrm>
                <a:off x="1920" y="611"/>
                <a:ext cx="44" cy="182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91" name="Oval 96"/>
              <p:cNvSpPr>
                <a:spLocks noChangeArrowheads="1"/>
              </p:cNvSpPr>
              <p:nvPr userDrawn="1"/>
            </p:nvSpPr>
            <p:spPr bwMode="auto">
              <a:xfrm>
                <a:off x="1872" y="519"/>
                <a:ext cx="44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92" name="Oval 97"/>
              <p:cNvSpPr>
                <a:spLocks noChangeArrowheads="1"/>
              </p:cNvSpPr>
              <p:nvPr userDrawn="1"/>
            </p:nvSpPr>
            <p:spPr bwMode="auto">
              <a:xfrm>
                <a:off x="1968" y="520"/>
                <a:ext cx="44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86" name="Oval 98"/>
            <p:cNvSpPr>
              <a:spLocks noChangeArrowheads="1"/>
            </p:cNvSpPr>
            <p:nvPr userDrawn="1"/>
          </p:nvSpPr>
          <p:spPr bwMode="auto">
            <a:xfrm flipH="1">
              <a:off x="340" y="3657"/>
              <a:ext cx="24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87" name="Oval 99"/>
            <p:cNvSpPr>
              <a:spLocks noChangeArrowheads="1"/>
            </p:cNvSpPr>
            <p:nvPr userDrawn="1"/>
          </p:nvSpPr>
          <p:spPr bwMode="auto">
            <a:xfrm flipH="1">
              <a:off x="295" y="3702"/>
              <a:ext cx="22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97" name="Group 100"/>
          <p:cNvGrpSpPr>
            <a:grpSpLocks/>
          </p:cNvGrpSpPr>
          <p:nvPr/>
        </p:nvGrpSpPr>
        <p:grpSpPr bwMode="auto">
          <a:xfrm rot="-3824161">
            <a:off x="8244682" y="4004469"/>
            <a:ext cx="412750" cy="414337"/>
            <a:chOff x="295" y="3385"/>
            <a:chExt cx="408" cy="340"/>
          </a:xfrm>
        </p:grpSpPr>
        <p:grpSp>
          <p:nvGrpSpPr>
            <p:cNvPr id="98" name="Group 101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101" name="Group 102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108" name="Oval 103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897" y="519"/>
                  <a:ext cx="272" cy="43"/>
                </a:xfrm>
                <a:prstGeom prst="ellipse">
                  <a:avLst/>
                </a:prstGeom>
                <a:solidFill>
                  <a:srgbClr val="FF00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09" name="Oval 104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890" y="471"/>
                  <a:ext cx="272" cy="47"/>
                </a:xfrm>
                <a:prstGeom prst="ellipse">
                  <a:avLst/>
                </a:prstGeom>
                <a:solidFill>
                  <a:srgbClr val="FF99CC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102" name="Group 105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106" name="Oval 106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40" y="612"/>
                  <a:ext cx="272" cy="43"/>
                </a:xfrm>
                <a:prstGeom prst="ellipse">
                  <a:avLst/>
                </a:prstGeom>
                <a:solidFill>
                  <a:srgbClr val="FF99CC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07" name="Oval 107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38" y="568"/>
                  <a:ext cx="272" cy="48"/>
                </a:xfrm>
                <a:prstGeom prst="ellipse">
                  <a:avLst/>
                </a:prstGeom>
                <a:solidFill>
                  <a:srgbClr val="FF00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103" name="Oval 108"/>
              <p:cNvSpPr>
                <a:spLocks noChangeArrowheads="1"/>
              </p:cNvSpPr>
              <p:nvPr userDrawn="1"/>
            </p:nvSpPr>
            <p:spPr bwMode="auto">
              <a:xfrm>
                <a:off x="1915" y="579"/>
                <a:ext cx="46" cy="182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04" name="Oval 109"/>
              <p:cNvSpPr>
                <a:spLocks noChangeArrowheads="1"/>
              </p:cNvSpPr>
              <p:nvPr userDrawn="1"/>
            </p:nvSpPr>
            <p:spPr bwMode="auto">
              <a:xfrm>
                <a:off x="1873" y="485"/>
                <a:ext cx="46" cy="4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05" name="Oval 110"/>
              <p:cNvSpPr>
                <a:spLocks noChangeArrowheads="1"/>
              </p:cNvSpPr>
              <p:nvPr userDrawn="1"/>
            </p:nvSpPr>
            <p:spPr bwMode="auto">
              <a:xfrm>
                <a:off x="1959" y="486"/>
                <a:ext cx="56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99" name="Oval 111"/>
            <p:cNvSpPr>
              <a:spLocks noChangeArrowheads="1"/>
            </p:cNvSpPr>
            <p:nvPr userDrawn="1"/>
          </p:nvSpPr>
          <p:spPr bwMode="auto">
            <a:xfrm flipH="1">
              <a:off x="341" y="3649"/>
              <a:ext cx="22" cy="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00" name="Oval 112"/>
            <p:cNvSpPr>
              <a:spLocks noChangeArrowheads="1"/>
            </p:cNvSpPr>
            <p:nvPr userDrawn="1"/>
          </p:nvSpPr>
          <p:spPr bwMode="auto">
            <a:xfrm flipH="1">
              <a:off x="302" y="3692"/>
              <a:ext cx="25" cy="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110" name="Group 113"/>
          <p:cNvGrpSpPr>
            <a:grpSpLocks/>
          </p:cNvGrpSpPr>
          <p:nvPr/>
        </p:nvGrpSpPr>
        <p:grpSpPr bwMode="auto">
          <a:xfrm rot="-3328072">
            <a:off x="4283869" y="5734844"/>
            <a:ext cx="412750" cy="414338"/>
            <a:chOff x="295" y="3385"/>
            <a:chExt cx="408" cy="340"/>
          </a:xfrm>
        </p:grpSpPr>
        <p:grpSp>
          <p:nvGrpSpPr>
            <p:cNvPr id="111" name="Group 114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114" name="Group 115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121" name="Oval 116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890" y="527"/>
                  <a:ext cx="272" cy="42"/>
                </a:xfrm>
                <a:prstGeom prst="ellipse">
                  <a:avLst/>
                </a:prstGeom>
                <a:solidFill>
                  <a:srgbClr val="FF00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22" name="Oval 117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891" y="478"/>
                  <a:ext cx="272" cy="48"/>
                </a:xfrm>
                <a:prstGeom prst="ellipse">
                  <a:avLst/>
                </a:prstGeom>
                <a:solidFill>
                  <a:srgbClr val="FF99CC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115" name="Group 118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119" name="Oval 119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47" y="609"/>
                  <a:ext cx="272" cy="43"/>
                </a:xfrm>
                <a:prstGeom prst="ellipse">
                  <a:avLst/>
                </a:prstGeom>
                <a:solidFill>
                  <a:srgbClr val="FF99CC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20" name="Oval 120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52" y="549"/>
                  <a:ext cx="272" cy="47"/>
                </a:xfrm>
                <a:prstGeom prst="ellipse">
                  <a:avLst/>
                </a:prstGeom>
                <a:solidFill>
                  <a:srgbClr val="FF00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116" name="Oval 121"/>
              <p:cNvSpPr>
                <a:spLocks noChangeArrowheads="1"/>
              </p:cNvSpPr>
              <p:nvPr userDrawn="1"/>
            </p:nvSpPr>
            <p:spPr bwMode="auto">
              <a:xfrm>
                <a:off x="1909" y="590"/>
                <a:ext cx="46" cy="182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17" name="Oval 122"/>
              <p:cNvSpPr>
                <a:spLocks noChangeArrowheads="1"/>
              </p:cNvSpPr>
              <p:nvPr userDrawn="1"/>
            </p:nvSpPr>
            <p:spPr bwMode="auto">
              <a:xfrm>
                <a:off x="1864" y="497"/>
                <a:ext cx="46" cy="4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18" name="Oval 123"/>
              <p:cNvSpPr>
                <a:spLocks noChangeArrowheads="1"/>
              </p:cNvSpPr>
              <p:nvPr userDrawn="1"/>
            </p:nvSpPr>
            <p:spPr bwMode="auto">
              <a:xfrm>
                <a:off x="1953" y="492"/>
                <a:ext cx="50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112" name="Oval 124"/>
            <p:cNvSpPr>
              <a:spLocks noChangeArrowheads="1"/>
            </p:cNvSpPr>
            <p:nvPr userDrawn="1"/>
          </p:nvSpPr>
          <p:spPr bwMode="auto">
            <a:xfrm flipH="1">
              <a:off x="341" y="3652"/>
              <a:ext cx="22" cy="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13" name="Oval 125"/>
            <p:cNvSpPr>
              <a:spLocks noChangeArrowheads="1"/>
            </p:cNvSpPr>
            <p:nvPr userDrawn="1"/>
          </p:nvSpPr>
          <p:spPr bwMode="auto">
            <a:xfrm flipH="1">
              <a:off x="296" y="3697"/>
              <a:ext cx="25" cy="2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123" name="Group 126"/>
          <p:cNvGrpSpPr>
            <a:grpSpLocks/>
          </p:cNvGrpSpPr>
          <p:nvPr/>
        </p:nvGrpSpPr>
        <p:grpSpPr bwMode="auto">
          <a:xfrm rot="-708557">
            <a:off x="831850" y="5299075"/>
            <a:ext cx="355600" cy="396875"/>
            <a:chOff x="295" y="3385"/>
            <a:chExt cx="408" cy="340"/>
          </a:xfrm>
        </p:grpSpPr>
        <p:grpSp>
          <p:nvGrpSpPr>
            <p:cNvPr id="124" name="Group 127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127" name="Group 128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134" name="Oval 129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872" y="558"/>
                  <a:ext cx="253" cy="45"/>
                </a:xfrm>
                <a:prstGeom prst="ellipse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35" name="Oval 130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867" y="509"/>
                  <a:ext cx="265" cy="4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128" name="Group 131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132" name="Oval 132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2001" y="622"/>
                  <a:ext cx="262" cy="4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33" name="Oval 133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2000" y="577"/>
                  <a:ext cx="258" cy="45"/>
                </a:xfrm>
                <a:prstGeom prst="ellipse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129" name="Oval 134"/>
              <p:cNvSpPr>
                <a:spLocks noChangeArrowheads="1"/>
              </p:cNvSpPr>
              <p:nvPr userDrawn="1"/>
            </p:nvSpPr>
            <p:spPr bwMode="auto">
              <a:xfrm>
                <a:off x="1916" y="612"/>
                <a:ext cx="42" cy="182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30" name="Oval 135"/>
              <p:cNvSpPr>
                <a:spLocks noChangeArrowheads="1"/>
              </p:cNvSpPr>
              <p:nvPr userDrawn="1"/>
            </p:nvSpPr>
            <p:spPr bwMode="auto">
              <a:xfrm>
                <a:off x="1869" y="525"/>
                <a:ext cx="49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31" name="Oval 136"/>
              <p:cNvSpPr>
                <a:spLocks noChangeArrowheads="1"/>
              </p:cNvSpPr>
              <p:nvPr userDrawn="1"/>
            </p:nvSpPr>
            <p:spPr bwMode="auto">
              <a:xfrm>
                <a:off x="1956" y="517"/>
                <a:ext cx="51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125" name="Oval 137"/>
            <p:cNvSpPr>
              <a:spLocks noChangeArrowheads="1"/>
            </p:cNvSpPr>
            <p:nvPr userDrawn="1"/>
          </p:nvSpPr>
          <p:spPr bwMode="auto">
            <a:xfrm flipH="1">
              <a:off x="338" y="3655"/>
              <a:ext cx="22" cy="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26" name="Oval 138"/>
            <p:cNvSpPr>
              <a:spLocks noChangeArrowheads="1"/>
            </p:cNvSpPr>
            <p:nvPr userDrawn="1"/>
          </p:nvSpPr>
          <p:spPr bwMode="auto">
            <a:xfrm flipH="1">
              <a:off x="295" y="3702"/>
              <a:ext cx="24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136" name="Group 139"/>
          <p:cNvGrpSpPr>
            <a:grpSpLocks/>
          </p:cNvGrpSpPr>
          <p:nvPr/>
        </p:nvGrpSpPr>
        <p:grpSpPr bwMode="auto">
          <a:xfrm rot="1304332">
            <a:off x="-647700" y="1341438"/>
            <a:ext cx="647700" cy="539750"/>
            <a:chOff x="295" y="3385"/>
            <a:chExt cx="408" cy="340"/>
          </a:xfrm>
        </p:grpSpPr>
        <p:grpSp>
          <p:nvGrpSpPr>
            <p:cNvPr id="137" name="Group 140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140" name="Group 141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147" name="Oval 142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856" y="585"/>
                  <a:ext cx="272" cy="45"/>
                </a:xfrm>
                <a:prstGeom prst="ellipse">
                  <a:avLst/>
                </a:prstGeom>
                <a:solidFill>
                  <a:srgbClr val="00CC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48" name="Oval 143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857" y="542"/>
                  <a:ext cx="272" cy="45"/>
                </a:xfrm>
                <a:prstGeom prst="ellipse">
                  <a:avLst/>
                </a:prstGeom>
                <a:solidFill>
                  <a:srgbClr val="3366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141" name="Group 144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145" name="Oval 145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87" y="589"/>
                  <a:ext cx="272" cy="45"/>
                </a:xfrm>
                <a:prstGeom prst="ellipse">
                  <a:avLst/>
                </a:prstGeom>
                <a:solidFill>
                  <a:srgbClr val="3366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46" name="Oval 146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87" y="542"/>
                  <a:ext cx="272" cy="45"/>
                </a:xfrm>
                <a:prstGeom prst="ellipse">
                  <a:avLst/>
                </a:prstGeom>
                <a:solidFill>
                  <a:srgbClr val="00CC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142" name="Oval 147"/>
              <p:cNvSpPr>
                <a:spLocks noChangeArrowheads="1"/>
              </p:cNvSpPr>
              <p:nvPr userDrawn="1"/>
            </p:nvSpPr>
            <p:spPr bwMode="auto">
              <a:xfrm>
                <a:off x="1889" y="609"/>
                <a:ext cx="45" cy="182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43" name="Oval 148"/>
              <p:cNvSpPr>
                <a:spLocks noChangeArrowheads="1"/>
              </p:cNvSpPr>
              <p:nvPr userDrawn="1"/>
            </p:nvSpPr>
            <p:spPr bwMode="auto">
              <a:xfrm>
                <a:off x="1846" y="515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44" name="Oval 149"/>
              <p:cNvSpPr>
                <a:spLocks noChangeArrowheads="1"/>
              </p:cNvSpPr>
              <p:nvPr userDrawn="1"/>
            </p:nvSpPr>
            <p:spPr bwMode="auto">
              <a:xfrm>
                <a:off x="1935" y="515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138" name="Oval 150"/>
            <p:cNvSpPr>
              <a:spLocks noChangeArrowheads="1"/>
            </p:cNvSpPr>
            <p:nvPr userDrawn="1"/>
          </p:nvSpPr>
          <p:spPr bwMode="auto">
            <a:xfrm flipH="1">
              <a:off x="335" y="3656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39" name="Oval 151"/>
            <p:cNvSpPr>
              <a:spLocks noChangeArrowheads="1"/>
            </p:cNvSpPr>
            <p:nvPr userDrawn="1"/>
          </p:nvSpPr>
          <p:spPr bwMode="auto">
            <a:xfrm flipH="1">
              <a:off x="277" y="3690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149" name="Group 152"/>
          <p:cNvGrpSpPr>
            <a:grpSpLocks/>
          </p:cNvGrpSpPr>
          <p:nvPr/>
        </p:nvGrpSpPr>
        <p:grpSpPr bwMode="auto">
          <a:xfrm>
            <a:off x="179388" y="5300663"/>
            <a:ext cx="504825" cy="466725"/>
            <a:chOff x="295" y="3385"/>
            <a:chExt cx="408" cy="340"/>
          </a:xfrm>
        </p:grpSpPr>
        <p:grpSp>
          <p:nvGrpSpPr>
            <p:cNvPr id="150" name="Group 153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153" name="Group 154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160" name="Oval 155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863" y="579"/>
                  <a:ext cx="272" cy="42"/>
                </a:xfrm>
                <a:prstGeom prst="ellipse">
                  <a:avLst/>
                </a:prstGeom>
                <a:solidFill>
                  <a:srgbClr val="00CC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61" name="Oval 156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868" y="531"/>
                  <a:ext cx="272" cy="42"/>
                </a:xfrm>
                <a:prstGeom prst="ellipse">
                  <a:avLst/>
                </a:prstGeom>
                <a:solidFill>
                  <a:srgbClr val="3366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154" name="Group 157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158" name="Oval 158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53" y="572"/>
                  <a:ext cx="272" cy="35"/>
                </a:xfrm>
                <a:prstGeom prst="ellipse">
                  <a:avLst/>
                </a:prstGeom>
                <a:solidFill>
                  <a:srgbClr val="3366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59" name="Oval 159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37" y="526"/>
                  <a:ext cx="272" cy="44"/>
                </a:xfrm>
                <a:prstGeom prst="ellipse">
                  <a:avLst/>
                </a:prstGeom>
                <a:solidFill>
                  <a:srgbClr val="00CC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155" name="Oval 160"/>
              <p:cNvSpPr>
                <a:spLocks noChangeArrowheads="1"/>
              </p:cNvSpPr>
              <p:nvPr userDrawn="1"/>
            </p:nvSpPr>
            <p:spPr bwMode="auto">
              <a:xfrm>
                <a:off x="1918" y="619"/>
                <a:ext cx="47" cy="183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56" name="Oval 161"/>
              <p:cNvSpPr>
                <a:spLocks noChangeArrowheads="1"/>
              </p:cNvSpPr>
              <p:nvPr userDrawn="1"/>
            </p:nvSpPr>
            <p:spPr bwMode="auto">
              <a:xfrm>
                <a:off x="1876" y="528"/>
                <a:ext cx="44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57" name="Oval 162"/>
              <p:cNvSpPr>
                <a:spLocks noChangeArrowheads="1"/>
              </p:cNvSpPr>
              <p:nvPr userDrawn="1"/>
            </p:nvSpPr>
            <p:spPr bwMode="auto">
              <a:xfrm>
                <a:off x="1970" y="528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151" name="Oval 163"/>
            <p:cNvSpPr>
              <a:spLocks noChangeArrowheads="1"/>
            </p:cNvSpPr>
            <p:nvPr userDrawn="1"/>
          </p:nvSpPr>
          <p:spPr bwMode="auto">
            <a:xfrm flipH="1">
              <a:off x="340" y="3657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52" name="Oval 164"/>
            <p:cNvSpPr>
              <a:spLocks noChangeArrowheads="1"/>
            </p:cNvSpPr>
            <p:nvPr userDrawn="1"/>
          </p:nvSpPr>
          <p:spPr bwMode="auto">
            <a:xfrm flipH="1">
              <a:off x="295" y="3702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162" name="Group 165"/>
          <p:cNvGrpSpPr>
            <a:grpSpLocks/>
          </p:cNvGrpSpPr>
          <p:nvPr/>
        </p:nvGrpSpPr>
        <p:grpSpPr bwMode="auto">
          <a:xfrm rot="-2197408">
            <a:off x="8172450" y="5157788"/>
            <a:ext cx="511175" cy="322262"/>
            <a:chOff x="295" y="3385"/>
            <a:chExt cx="408" cy="340"/>
          </a:xfrm>
        </p:grpSpPr>
        <p:grpSp>
          <p:nvGrpSpPr>
            <p:cNvPr id="163" name="Group 166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166" name="Group 167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173" name="Oval 168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874" y="507"/>
                  <a:ext cx="272" cy="45"/>
                </a:xfrm>
                <a:prstGeom prst="ellipse">
                  <a:avLst/>
                </a:prstGeom>
                <a:solidFill>
                  <a:srgbClr val="FFCC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74" name="Oval 169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871" y="467"/>
                  <a:ext cx="272" cy="4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167" name="Group 170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171" name="Oval 171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44" y="661"/>
                  <a:ext cx="272" cy="4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72" name="Oval 172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44" y="619"/>
                  <a:ext cx="272" cy="45"/>
                </a:xfrm>
                <a:prstGeom prst="ellipse">
                  <a:avLst/>
                </a:prstGeom>
                <a:solidFill>
                  <a:srgbClr val="FFCC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168" name="Oval 173"/>
              <p:cNvSpPr>
                <a:spLocks noChangeArrowheads="1"/>
              </p:cNvSpPr>
              <p:nvPr userDrawn="1"/>
            </p:nvSpPr>
            <p:spPr bwMode="auto">
              <a:xfrm>
                <a:off x="1913" y="568"/>
                <a:ext cx="45" cy="184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69" name="Oval 174"/>
              <p:cNvSpPr>
                <a:spLocks noChangeArrowheads="1"/>
              </p:cNvSpPr>
              <p:nvPr userDrawn="1"/>
            </p:nvSpPr>
            <p:spPr bwMode="auto">
              <a:xfrm>
                <a:off x="1866" y="488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70" name="Oval 175"/>
              <p:cNvSpPr>
                <a:spLocks noChangeArrowheads="1"/>
              </p:cNvSpPr>
              <p:nvPr userDrawn="1"/>
            </p:nvSpPr>
            <p:spPr bwMode="auto">
              <a:xfrm>
                <a:off x="1962" y="490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164" name="Oval 176"/>
            <p:cNvSpPr>
              <a:spLocks noChangeArrowheads="1"/>
            </p:cNvSpPr>
            <p:nvPr userDrawn="1"/>
          </p:nvSpPr>
          <p:spPr bwMode="auto">
            <a:xfrm flipH="1">
              <a:off x="340" y="3654"/>
              <a:ext cx="23" cy="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65" name="Oval 177"/>
            <p:cNvSpPr>
              <a:spLocks noChangeArrowheads="1"/>
            </p:cNvSpPr>
            <p:nvPr userDrawn="1"/>
          </p:nvSpPr>
          <p:spPr bwMode="auto">
            <a:xfrm flipH="1">
              <a:off x="295" y="3701"/>
              <a:ext cx="23" cy="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175" name="Group 178"/>
          <p:cNvGrpSpPr>
            <a:grpSpLocks/>
          </p:cNvGrpSpPr>
          <p:nvPr/>
        </p:nvGrpSpPr>
        <p:grpSpPr bwMode="auto">
          <a:xfrm>
            <a:off x="6156325" y="5734050"/>
            <a:ext cx="576263" cy="466725"/>
            <a:chOff x="295" y="3385"/>
            <a:chExt cx="408" cy="340"/>
          </a:xfrm>
        </p:grpSpPr>
        <p:grpSp>
          <p:nvGrpSpPr>
            <p:cNvPr id="176" name="Group 179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179" name="Group 180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186" name="Oval 181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21" y="573"/>
                  <a:ext cx="272" cy="43"/>
                </a:xfrm>
                <a:prstGeom prst="ellipse">
                  <a:avLst/>
                </a:prstGeom>
                <a:solidFill>
                  <a:srgbClr val="FF6600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87" name="Oval 182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897" y="530"/>
                  <a:ext cx="272" cy="42"/>
                </a:xfrm>
                <a:prstGeom prst="ellipse">
                  <a:avLst/>
                </a:prstGeom>
                <a:solidFill>
                  <a:srgbClr val="FF9933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180" name="Group 183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184" name="Oval 184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75" y="573"/>
                  <a:ext cx="272" cy="34"/>
                </a:xfrm>
                <a:prstGeom prst="ellipse">
                  <a:avLst/>
                </a:prstGeom>
                <a:solidFill>
                  <a:srgbClr val="FF9933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85" name="Oval 185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78" y="523"/>
                  <a:ext cx="272" cy="42"/>
                </a:xfrm>
                <a:prstGeom prst="ellipse">
                  <a:avLst/>
                </a:prstGeom>
                <a:solidFill>
                  <a:srgbClr val="FF6600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181" name="Oval 186"/>
              <p:cNvSpPr>
                <a:spLocks noChangeArrowheads="1"/>
              </p:cNvSpPr>
              <p:nvPr userDrawn="1"/>
            </p:nvSpPr>
            <p:spPr bwMode="auto">
              <a:xfrm>
                <a:off x="1924" y="618"/>
                <a:ext cx="44" cy="182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82" name="Oval 187"/>
              <p:cNvSpPr>
                <a:spLocks noChangeArrowheads="1"/>
              </p:cNvSpPr>
              <p:nvPr userDrawn="1"/>
            </p:nvSpPr>
            <p:spPr bwMode="auto">
              <a:xfrm>
                <a:off x="1879" y="527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83" name="Oval 188"/>
              <p:cNvSpPr>
                <a:spLocks noChangeArrowheads="1"/>
              </p:cNvSpPr>
              <p:nvPr userDrawn="1"/>
            </p:nvSpPr>
            <p:spPr bwMode="auto">
              <a:xfrm>
                <a:off x="1960" y="523"/>
                <a:ext cx="45" cy="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177" name="Oval 189"/>
            <p:cNvSpPr>
              <a:spLocks noChangeArrowheads="1"/>
            </p:cNvSpPr>
            <p:nvPr userDrawn="1"/>
          </p:nvSpPr>
          <p:spPr bwMode="auto">
            <a:xfrm flipH="1">
              <a:off x="340" y="3657"/>
              <a:ext cx="24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78" name="Oval 190"/>
            <p:cNvSpPr>
              <a:spLocks noChangeArrowheads="1"/>
            </p:cNvSpPr>
            <p:nvPr userDrawn="1"/>
          </p:nvSpPr>
          <p:spPr bwMode="auto">
            <a:xfrm flipH="1">
              <a:off x="295" y="3702"/>
              <a:ext cx="22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188" name="Group 191"/>
          <p:cNvGrpSpPr>
            <a:grpSpLocks/>
          </p:cNvGrpSpPr>
          <p:nvPr/>
        </p:nvGrpSpPr>
        <p:grpSpPr bwMode="auto">
          <a:xfrm rot="1401958">
            <a:off x="6372225" y="5957888"/>
            <a:ext cx="503238" cy="1800225"/>
            <a:chOff x="3470" y="572"/>
            <a:chExt cx="317" cy="1134"/>
          </a:xfrm>
        </p:grpSpPr>
        <p:sp>
          <p:nvSpPr>
            <p:cNvPr id="189" name="Arc 192"/>
            <p:cNvSpPr>
              <a:spLocks/>
            </p:cNvSpPr>
            <p:nvPr userDrawn="1"/>
          </p:nvSpPr>
          <p:spPr bwMode="auto">
            <a:xfrm>
              <a:off x="3506" y="697"/>
              <a:ext cx="280" cy="1008"/>
            </a:xfrm>
            <a:custGeom>
              <a:avLst/>
              <a:gdLst>
                <a:gd name="T0" fmla="*/ 0 w 16421"/>
                <a:gd name="T1" fmla="*/ 0 h 21600"/>
                <a:gd name="T2" fmla="*/ 0 w 16421"/>
                <a:gd name="T3" fmla="*/ 0 h 21600"/>
                <a:gd name="T4" fmla="*/ 0 w 16421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421" h="21600" fill="none" extrusionOk="0">
                  <a:moveTo>
                    <a:pt x="-1" y="0"/>
                  </a:moveTo>
                  <a:cubicBezTo>
                    <a:pt x="6317" y="0"/>
                    <a:pt x="12317" y="2765"/>
                    <a:pt x="16421" y="7567"/>
                  </a:cubicBezTo>
                </a:path>
                <a:path w="16421" h="21600" stroke="0" extrusionOk="0">
                  <a:moveTo>
                    <a:pt x="-1" y="0"/>
                  </a:moveTo>
                  <a:cubicBezTo>
                    <a:pt x="6317" y="0"/>
                    <a:pt x="12317" y="2765"/>
                    <a:pt x="16421" y="756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190" name="Oval 193"/>
            <p:cNvSpPr>
              <a:spLocks noChangeArrowheads="1"/>
            </p:cNvSpPr>
            <p:nvPr userDrawn="1"/>
          </p:nvSpPr>
          <p:spPr bwMode="auto">
            <a:xfrm rot="-3515713">
              <a:off x="3535" y="784"/>
              <a:ext cx="126" cy="36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91" name="Oval 194"/>
            <p:cNvSpPr>
              <a:spLocks noChangeArrowheads="1"/>
            </p:cNvSpPr>
            <p:nvPr userDrawn="1"/>
          </p:nvSpPr>
          <p:spPr bwMode="auto">
            <a:xfrm rot="-1615679">
              <a:off x="3467" y="696"/>
              <a:ext cx="111" cy="42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92" name="Oval 195"/>
            <p:cNvSpPr>
              <a:spLocks noChangeArrowheads="1"/>
            </p:cNvSpPr>
            <p:nvPr userDrawn="1"/>
          </p:nvSpPr>
          <p:spPr bwMode="auto">
            <a:xfrm rot="6199228">
              <a:off x="3535" y="617"/>
              <a:ext cx="126" cy="36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93" name="Oval 196"/>
            <p:cNvSpPr>
              <a:spLocks noChangeArrowheads="1"/>
            </p:cNvSpPr>
            <p:nvPr userDrawn="1"/>
          </p:nvSpPr>
          <p:spPr bwMode="auto">
            <a:xfrm>
              <a:off x="3654" y="740"/>
              <a:ext cx="111" cy="41"/>
            </a:xfrm>
            <a:prstGeom prst="ellipse">
              <a:avLst/>
            </a:prstGeom>
            <a:solidFill>
              <a:srgbClr val="808000">
                <a:alpha val="79999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94" name="Oval 197"/>
            <p:cNvSpPr>
              <a:spLocks noChangeArrowheads="1"/>
            </p:cNvSpPr>
            <p:nvPr userDrawn="1"/>
          </p:nvSpPr>
          <p:spPr bwMode="auto">
            <a:xfrm>
              <a:off x="3470" y="655"/>
              <a:ext cx="111" cy="42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95" name="Oval 198"/>
            <p:cNvSpPr>
              <a:spLocks noChangeArrowheads="1"/>
            </p:cNvSpPr>
            <p:nvPr userDrawn="1"/>
          </p:nvSpPr>
          <p:spPr bwMode="auto">
            <a:xfrm rot="-4126769">
              <a:off x="3481" y="745"/>
              <a:ext cx="126" cy="37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96" name="Oval 199"/>
            <p:cNvSpPr>
              <a:spLocks noChangeArrowheads="1"/>
            </p:cNvSpPr>
            <p:nvPr userDrawn="1"/>
          </p:nvSpPr>
          <p:spPr bwMode="auto">
            <a:xfrm rot="-2624767">
              <a:off x="3578" y="653"/>
              <a:ext cx="111" cy="42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97" name="Oval 200"/>
            <p:cNvSpPr>
              <a:spLocks noChangeArrowheads="1"/>
            </p:cNvSpPr>
            <p:nvPr userDrawn="1"/>
          </p:nvSpPr>
          <p:spPr bwMode="auto">
            <a:xfrm rot="-5400000">
              <a:off x="3555" y="828"/>
              <a:ext cx="126" cy="37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98" name="Oval 201"/>
            <p:cNvSpPr>
              <a:spLocks noChangeArrowheads="1"/>
            </p:cNvSpPr>
            <p:nvPr userDrawn="1"/>
          </p:nvSpPr>
          <p:spPr bwMode="auto">
            <a:xfrm rot="-1495776">
              <a:off x="3616" y="698"/>
              <a:ext cx="111" cy="42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199" name="Group 202"/>
          <p:cNvGrpSpPr>
            <a:grpSpLocks/>
          </p:cNvGrpSpPr>
          <p:nvPr/>
        </p:nvGrpSpPr>
        <p:grpSpPr bwMode="auto">
          <a:xfrm flipH="1">
            <a:off x="1692275" y="6453188"/>
            <a:ext cx="503238" cy="1800225"/>
            <a:chOff x="3470" y="572"/>
            <a:chExt cx="317" cy="1134"/>
          </a:xfrm>
        </p:grpSpPr>
        <p:sp>
          <p:nvSpPr>
            <p:cNvPr id="200" name="Arc 203"/>
            <p:cNvSpPr>
              <a:spLocks/>
            </p:cNvSpPr>
            <p:nvPr userDrawn="1"/>
          </p:nvSpPr>
          <p:spPr bwMode="auto">
            <a:xfrm>
              <a:off x="3507" y="698"/>
              <a:ext cx="280" cy="1008"/>
            </a:xfrm>
            <a:custGeom>
              <a:avLst/>
              <a:gdLst>
                <a:gd name="T0" fmla="*/ 0 w 16421"/>
                <a:gd name="T1" fmla="*/ 0 h 21600"/>
                <a:gd name="T2" fmla="*/ 0 w 16421"/>
                <a:gd name="T3" fmla="*/ 0 h 21600"/>
                <a:gd name="T4" fmla="*/ 0 w 16421"/>
                <a:gd name="T5" fmla="*/ 0 h 216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421" h="21600" fill="none" extrusionOk="0">
                  <a:moveTo>
                    <a:pt x="-1" y="0"/>
                  </a:moveTo>
                  <a:cubicBezTo>
                    <a:pt x="6317" y="0"/>
                    <a:pt x="12317" y="2765"/>
                    <a:pt x="16421" y="7567"/>
                  </a:cubicBezTo>
                </a:path>
                <a:path w="16421" h="21600" stroke="0" extrusionOk="0">
                  <a:moveTo>
                    <a:pt x="-1" y="0"/>
                  </a:moveTo>
                  <a:cubicBezTo>
                    <a:pt x="6317" y="0"/>
                    <a:pt x="12317" y="2765"/>
                    <a:pt x="16421" y="7567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201" name="Oval 204"/>
            <p:cNvSpPr>
              <a:spLocks noChangeArrowheads="1"/>
            </p:cNvSpPr>
            <p:nvPr userDrawn="1"/>
          </p:nvSpPr>
          <p:spPr bwMode="auto">
            <a:xfrm rot="-3515713">
              <a:off x="3536" y="785"/>
              <a:ext cx="126" cy="36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02" name="Oval 205"/>
            <p:cNvSpPr>
              <a:spLocks noChangeArrowheads="1"/>
            </p:cNvSpPr>
            <p:nvPr userDrawn="1"/>
          </p:nvSpPr>
          <p:spPr bwMode="auto">
            <a:xfrm rot="-1615679">
              <a:off x="3470" y="698"/>
              <a:ext cx="111" cy="42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03" name="Oval 206"/>
            <p:cNvSpPr>
              <a:spLocks noChangeArrowheads="1"/>
            </p:cNvSpPr>
            <p:nvPr userDrawn="1"/>
          </p:nvSpPr>
          <p:spPr bwMode="auto">
            <a:xfrm rot="6199228">
              <a:off x="3536" y="617"/>
              <a:ext cx="126" cy="36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04" name="Oval 207"/>
            <p:cNvSpPr>
              <a:spLocks noChangeArrowheads="1"/>
            </p:cNvSpPr>
            <p:nvPr userDrawn="1"/>
          </p:nvSpPr>
          <p:spPr bwMode="auto">
            <a:xfrm>
              <a:off x="3654" y="740"/>
              <a:ext cx="111" cy="41"/>
            </a:xfrm>
            <a:prstGeom prst="ellipse">
              <a:avLst/>
            </a:prstGeom>
            <a:solidFill>
              <a:srgbClr val="808000">
                <a:alpha val="79999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05" name="Oval 208"/>
            <p:cNvSpPr>
              <a:spLocks noChangeArrowheads="1"/>
            </p:cNvSpPr>
            <p:nvPr userDrawn="1"/>
          </p:nvSpPr>
          <p:spPr bwMode="auto">
            <a:xfrm>
              <a:off x="3470" y="655"/>
              <a:ext cx="111" cy="42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06" name="Oval 209"/>
            <p:cNvSpPr>
              <a:spLocks noChangeArrowheads="1"/>
            </p:cNvSpPr>
            <p:nvPr userDrawn="1"/>
          </p:nvSpPr>
          <p:spPr bwMode="auto">
            <a:xfrm rot="-4126769">
              <a:off x="3499" y="743"/>
              <a:ext cx="126" cy="37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07" name="Oval 210"/>
            <p:cNvSpPr>
              <a:spLocks noChangeArrowheads="1"/>
            </p:cNvSpPr>
            <p:nvPr userDrawn="1"/>
          </p:nvSpPr>
          <p:spPr bwMode="auto">
            <a:xfrm rot="-2624767">
              <a:off x="3581" y="655"/>
              <a:ext cx="111" cy="42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08" name="Oval 211"/>
            <p:cNvSpPr>
              <a:spLocks noChangeArrowheads="1"/>
            </p:cNvSpPr>
            <p:nvPr userDrawn="1"/>
          </p:nvSpPr>
          <p:spPr bwMode="auto">
            <a:xfrm rot="-5400000">
              <a:off x="3572" y="825"/>
              <a:ext cx="126" cy="37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09" name="Oval 212"/>
            <p:cNvSpPr>
              <a:spLocks noChangeArrowheads="1"/>
            </p:cNvSpPr>
            <p:nvPr userDrawn="1"/>
          </p:nvSpPr>
          <p:spPr bwMode="auto">
            <a:xfrm rot="-1495776">
              <a:off x="3617" y="698"/>
              <a:ext cx="111" cy="42"/>
            </a:xfrm>
            <a:prstGeom prst="ellipse">
              <a:avLst/>
            </a:prstGeom>
            <a:solidFill>
              <a:srgbClr val="808000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210" name="Group 213"/>
          <p:cNvGrpSpPr>
            <a:grpSpLocks/>
          </p:cNvGrpSpPr>
          <p:nvPr/>
        </p:nvGrpSpPr>
        <p:grpSpPr bwMode="auto">
          <a:xfrm rot="538637">
            <a:off x="7308850" y="5516563"/>
            <a:ext cx="815975" cy="2030412"/>
            <a:chOff x="4377" y="300"/>
            <a:chExt cx="514" cy="1279"/>
          </a:xfrm>
        </p:grpSpPr>
        <p:sp>
          <p:nvSpPr>
            <p:cNvPr id="211" name="Arc 214"/>
            <p:cNvSpPr>
              <a:spLocks/>
            </p:cNvSpPr>
            <p:nvPr userDrawn="1"/>
          </p:nvSpPr>
          <p:spPr bwMode="auto">
            <a:xfrm rot="-290276">
              <a:off x="4419" y="449"/>
              <a:ext cx="457" cy="1130"/>
            </a:xfrm>
            <a:custGeom>
              <a:avLst/>
              <a:gdLst>
                <a:gd name="T0" fmla="*/ 0 w 20810"/>
                <a:gd name="T1" fmla="*/ 0 h 20197"/>
                <a:gd name="T2" fmla="*/ 0 w 20810"/>
                <a:gd name="T3" fmla="*/ 0 h 20197"/>
                <a:gd name="T4" fmla="*/ 0 w 20810"/>
                <a:gd name="T5" fmla="*/ 0 h 2019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810" h="20197" fill="none" extrusionOk="0">
                  <a:moveTo>
                    <a:pt x="7657" y="0"/>
                  </a:moveTo>
                  <a:cubicBezTo>
                    <a:pt x="14084" y="2436"/>
                    <a:pt x="18967" y="7786"/>
                    <a:pt x="20809" y="14408"/>
                  </a:cubicBezTo>
                </a:path>
                <a:path w="20810" h="20197" stroke="0" extrusionOk="0">
                  <a:moveTo>
                    <a:pt x="7657" y="0"/>
                  </a:moveTo>
                  <a:cubicBezTo>
                    <a:pt x="14084" y="2436"/>
                    <a:pt x="18967" y="7786"/>
                    <a:pt x="20809" y="14408"/>
                  </a:cubicBezTo>
                  <a:lnTo>
                    <a:pt x="0" y="20197"/>
                  </a:lnTo>
                  <a:lnTo>
                    <a:pt x="7657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新細明體"/>
                <a:cs typeface="+mn-cs"/>
              </a:endParaRPr>
            </a:p>
          </p:txBody>
        </p:sp>
        <p:sp>
          <p:nvSpPr>
            <p:cNvPr id="212" name="Oval 215"/>
            <p:cNvSpPr>
              <a:spLocks noChangeArrowheads="1"/>
            </p:cNvSpPr>
            <p:nvPr userDrawn="1"/>
          </p:nvSpPr>
          <p:spPr bwMode="auto">
            <a:xfrm rot="-3515713">
              <a:off x="4454" y="546"/>
              <a:ext cx="151" cy="47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13" name="Oval 216"/>
            <p:cNvSpPr>
              <a:spLocks noChangeArrowheads="1"/>
            </p:cNvSpPr>
            <p:nvPr userDrawn="1"/>
          </p:nvSpPr>
          <p:spPr bwMode="auto">
            <a:xfrm rot="-1615679">
              <a:off x="4362" y="444"/>
              <a:ext cx="143" cy="50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14" name="Oval 217"/>
            <p:cNvSpPr>
              <a:spLocks noChangeArrowheads="1"/>
            </p:cNvSpPr>
            <p:nvPr userDrawn="1"/>
          </p:nvSpPr>
          <p:spPr bwMode="auto">
            <a:xfrm rot="6199228">
              <a:off x="4454" y="342"/>
              <a:ext cx="151" cy="47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15" name="Oval 218"/>
            <p:cNvSpPr>
              <a:spLocks noChangeArrowheads="1"/>
            </p:cNvSpPr>
            <p:nvPr userDrawn="1"/>
          </p:nvSpPr>
          <p:spPr bwMode="auto">
            <a:xfrm>
              <a:off x="4602" y="490"/>
              <a:ext cx="143" cy="50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16" name="Oval 219"/>
            <p:cNvSpPr>
              <a:spLocks noChangeArrowheads="1"/>
            </p:cNvSpPr>
            <p:nvPr userDrawn="1"/>
          </p:nvSpPr>
          <p:spPr bwMode="auto">
            <a:xfrm rot="-4126769">
              <a:off x="4419" y="485"/>
              <a:ext cx="151" cy="48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17" name="Oval 220"/>
            <p:cNvSpPr>
              <a:spLocks noChangeArrowheads="1"/>
            </p:cNvSpPr>
            <p:nvPr userDrawn="1"/>
          </p:nvSpPr>
          <p:spPr bwMode="auto">
            <a:xfrm rot="-2624767">
              <a:off x="4508" y="390"/>
              <a:ext cx="142" cy="50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18" name="Oval 221"/>
            <p:cNvSpPr>
              <a:spLocks noChangeArrowheads="1"/>
            </p:cNvSpPr>
            <p:nvPr userDrawn="1"/>
          </p:nvSpPr>
          <p:spPr bwMode="auto">
            <a:xfrm rot="-2742706">
              <a:off x="4515" y="603"/>
              <a:ext cx="151" cy="47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19" name="Oval 222"/>
            <p:cNvSpPr>
              <a:spLocks noChangeArrowheads="1"/>
            </p:cNvSpPr>
            <p:nvPr userDrawn="1"/>
          </p:nvSpPr>
          <p:spPr bwMode="auto">
            <a:xfrm rot="-1495776">
              <a:off x="4567" y="451"/>
              <a:ext cx="142" cy="50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20" name="Oval 223"/>
            <p:cNvSpPr>
              <a:spLocks noChangeArrowheads="1"/>
            </p:cNvSpPr>
            <p:nvPr userDrawn="1"/>
          </p:nvSpPr>
          <p:spPr bwMode="auto">
            <a:xfrm rot="-2742706">
              <a:off x="4546" y="667"/>
              <a:ext cx="151" cy="47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21" name="Oval 224"/>
            <p:cNvSpPr>
              <a:spLocks noChangeArrowheads="1"/>
            </p:cNvSpPr>
            <p:nvPr userDrawn="1"/>
          </p:nvSpPr>
          <p:spPr bwMode="auto">
            <a:xfrm rot="-2742706">
              <a:off x="4582" y="709"/>
              <a:ext cx="151" cy="47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22" name="Oval 225"/>
            <p:cNvSpPr>
              <a:spLocks noChangeArrowheads="1"/>
            </p:cNvSpPr>
            <p:nvPr userDrawn="1"/>
          </p:nvSpPr>
          <p:spPr bwMode="auto">
            <a:xfrm rot="1036516">
              <a:off x="4740" y="754"/>
              <a:ext cx="151" cy="47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23" name="Oval 226"/>
            <p:cNvSpPr>
              <a:spLocks noChangeArrowheads="1"/>
            </p:cNvSpPr>
            <p:nvPr userDrawn="1"/>
          </p:nvSpPr>
          <p:spPr bwMode="auto">
            <a:xfrm rot="403513">
              <a:off x="4630" y="567"/>
              <a:ext cx="151" cy="47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24" name="Oval 227"/>
            <p:cNvSpPr>
              <a:spLocks noChangeArrowheads="1"/>
            </p:cNvSpPr>
            <p:nvPr userDrawn="1"/>
          </p:nvSpPr>
          <p:spPr bwMode="auto">
            <a:xfrm rot="347087">
              <a:off x="4682" y="652"/>
              <a:ext cx="151" cy="47"/>
            </a:xfrm>
            <a:prstGeom prst="ellipse">
              <a:avLst/>
            </a:prstGeom>
            <a:solidFill>
              <a:srgbClr val="339966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25" name="Oval 228"/>
            <p:cNvSpPr>
              <a:spLocks noChangeArrowheads="1"/>
            </p:cNvSpPr>
            <p:nvPr userDrawn="1"/>
          </p:nvSpPr>
          <p:spPr bwMode="auto">
            <a:xfrm rot="-2685850">
              <a:off x="4642" y="792"/>
              <a:ext cx="151" cy="47"/>
            </a:xfrm>
            <a:prstGeom prst="ellipse">
              <a:avLst/>
            </a:prstGeom>
            <a:solidFill>
              <a:srgbClr val="808000">
                <a:alpha val="50195"/>
              </a:srgbClr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sp>
        <p:nvSpPr>
          <p:cNvPr id="226" name="AutoShape 229"/>
          <p:cNvSpPr>
            <a:spLocks noChangeArrowheads="1"/>
          </p:cNvSpPr>
          <p:nvPr/>
        </p:nvSpPr>
        <p:spPr bwMode="auto">
          <a:xfrm rot="19980577">
            <a:off x="7091363" y="7051675"/>
            <a:ext cx="360362" cy="908050"/>
          </a:xfrm>
          <a:prstGeom prst="moon">
            <a:avLst>
              <a:gd name="adj" fmla="val 0"/>
            </a:avLst>
          </a:prstGeom>
          <a:gradFill rotWithShape="1">
            <a:gsLst>
              <a:gs pos="0">
                <a:schemeClr val="folHlink"/>
              </a:gs>
              <a:gs pos="100000">
                <a:schemeClr val="folHlink">
                  <a:gamma/>
                  <a:shade val="46275"/>
                  <a:invGamma/>
                </a:schemeClr>
              </a:gs>
            </a:gsLst>
            <a:lin ang="5400000" scaled="1"/>
          </a:gradFill>
          <a:ln>
            <a:noFill/>
          </a:ln>
          <a:effectLst>
            <a:prstShdw prst="shdw17" dist="17961" dir="2700000">
              <a:schemeClr val="folHlink">
                <a:gamma/>
                <a:shade val="60000"/>
                <a:invGamma/>
              </a:schemeClr>
            </a:prstShdw>
          </a:effectLst>
          <a:extLst/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grpSp>
        <p:nvGrpSpPr>
          <p:cNvPr id="227" name="Group 230"/>
          <p:cNvGrpSpPr>
            <a:grpSpLocks/>
          </p:cNvGrpSpPr>
          <p:nvPr/>
        </p:nvGrpSpPr>
        <p:grpSpPr bwMode="auto">
          <a:xfrm rot="-4249260">
            <a:off x="731838" y="3994150"/>
            <a:ext cx="503238" cy="503237"/>
            <a:chOff x="295" y="3385"/>
            <a:chExt cx="408" cy="340"/>
          </a:xfrm>
        </p:grpSpPr>
        <p:grpSp>
          <p:nvGrpSpPr>
            <p:cNvPr id="228" name="Group 231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231" name="Group 232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238" name="Oval 233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02" y="521"/>
                  <a:ext cx="272" cy="45"/>
                </a:xfrm>
                <a:prstGeom prst="ellipse">
                  <a:avLst/>
                </a:prstGeom>
                <a:solidFill>
                  <a:srgbClr val="FF6600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239" name="Oval 234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03" y="475"/>
                  <a:ext cx="272" cy="45"/>
                </a:xfrm>
                <a:prstGeom prst="ellipse">
                  <a:avLst/>
                </a:prstGeom>
                <a:solidFill>
                  <a:srgbClr val="FF9933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232" name="Group 235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236" name="Oval 236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33" y="617"/>
                  <a:ext cx="272" cy="45"/>
                </a:xfrm>
                <a:prstGeom prst="ellipse">
                  <a:avLst/>
                </a:prstGeom>
                <a:solidFill>
                  <a:srgbClr val="FF9933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237" name="Oval 237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33" y="571"/>
                  <a:ext cx="272" cy="45"/>
                </a:xfrm>
                <a:prstGeom prst="ellipse">
                  <a:avLst/>
                </a:prstGeom>
                <a:solidFill>
                  <a:srgbClr val="FF6600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233" name="Oval 238"/>
              <p:cNvSpPr>
                <a:spLocks noChangeArrowheads="1"/>
              </p:cNvSpPr>
              <p:nvPr userDrawn="1"/>
            </p:nvSpPr>
            <p:spPr bwMode="auto">
              <a:xfrm>
                <a:off x="1912" y="591"/>
                <a:ext cx="47" cy="182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234" name="Oval 239"/>
              <p:cNvSpPr>
                <a:spLocks noChangeArrowheads="1"/>
              </p:cNvSpPr>
              <p:nvPr userDrawn="1"/>
            </p:nvSpPr>
            <p:spPr bwMode="auto">
              <a:xfrm>
                <a:off x="1882" y="491"/>
                <a:ext cx="46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235" name="Oval 240"/>
              <p:cNvSpPr>
                <a:spLocks noChangeArrowheads="1"/>
              </p:cNvSpPr>
              <p:nvPr userDrawn="1"/>
            </p:nvSpPr>
            <p:spPr bwMode="auto">
              <a:xfrm>
                <a:off x="1969" y="491"/>
                <a:ext cx="47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229" name="Oval 241"/>
            <p:cNvSpPr>
              <a:spLocks noChangeArrowheads="1"/>
            </p:cNvSpPr>
            <p:nvPr userDrawn="1"/>
          </p:nvSpPr>
          <p:spPr bwMode="auto">
            <a:xfrm flipH="1">
              <a:off x="334" y="3658"/>
              <a:ext cx="22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230" name="Oval 242"/>
            <p:cNvSpPr>
              <a:spLocks noChangeArrowheads="1"/>
            </p:cNvSpPr>
            <p:nvPr userDrawn="1"/>
          </p:nvSpPr>
          <p:spPr bwMode="auto">
            <a:xfrm flipH="1">
              <a:off x="287" y="3702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sp>
        <p:nvSpPr>
          <p:cNvPr id="28754" name="Rectangle 82"/>
          <p:cNvSpPr>
            <a:spLocks noGrp="1" noChangeArrowheads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TW" altLang="en-US" noProof="0" smtClean="0"/>
              <a:t>按一下以編輯母片標題樣式</a:t>
            </a:r>
          </a:p>
        </p:txBody>
      </p:sp>
      <p:sp>
        <p:nvSpPr>
          <p:cNvPr id="28755" name="Rectangle 8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Tx/>
              <a:buNone/>
              <a:defRPr/>
            </a:lvl1pPr>
          </a:lstStyle>
          <a:p>
            <a:pPr lvl="0"/>
            <a:r>
              <a:rPr lang="zh-TW" altLang="en-US" noProof="0" smtClean="0"/>
              <a:t>按一下以編輯母片副標題樣式</a:t>
            </a:r>
          </a:p>
        </p:txBody>
      </p:sp>
      <p:sp>
        <p:nvSpPr>
          <p:cNvPr id="240" name="Rectangle 84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241" name="Rectangle 85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242" name="Rectangle 86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A34B44A-236A-474E-95C1-6B75BF4311D7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04191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 tmFilter="0, 0; .2, .5; .8, .5; 1, 0"/>
                                        <p:tgtEl>
                                          <p:spTgt spid="11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250" autoRev="1" fill="hold"/>
                                        <p:tgtEl>
                                          <p:spTgt spid="110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2000" tmFilter="0, 0; .2, .5; .8, .5; 1, 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1000" autoRev="1" fill="hold"/>
                                        <p:tgtEl>
                                          <p:spTgt spid="162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2000" tmFilter="0, 0; .2, .5; .8, .5; 1, 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1000" autoRev="1" fill="hold"/>
                                        <p:tgtEl>
                                          <p:spTgt spid="227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4" presetID="60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1563 -0.08832 C 0.02205 -0.04624 0.03698 0.01295 0.09219 0.01203 C 0.17205 0.01203 0.17795 -0.18566 0.27327 -0.18613 C 0.35903 -0.18613 0.3132 -0.01364 0.39584 -0.01433 C 0.48212 -0.01433 0.43577 -0.13942 0.52795 -0.13942 C 0.61042 -0.13942 0.56459 -0.0548 0.6382 -0.0548 C 0.70903 -0.0548 0.67223 -0.11954 0.73664 -0.11954 C 0.77344 -0.11954 0.77605 -0.10196 0.77934 -0.08832 " pathEditMode="relative" rAng="0" ptsTypes="ffffffff">
                                      <p:cBhvr>
                                        <p:cTn id="15" dur="3000" fill="hold"/>
                                        <p:tgtEl>
                                          <p:spTgt spid="13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817700" y="1620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4A0D407-80EA-4C9D-8A67-173DA71F530F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5481393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8762819A-F7EB-4F43-BCD7-F25A9324FF9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582945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68313" y="16287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59313" y="1628775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DB87D45-729D-48F4-A88C-02D329F6AB9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2580376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BDFFF67-A6F4-44BF-A13D-3D8C48550FB5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72420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107EB0C-1D1F-425E-BC23-D57674F3DC7C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668220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1597B9E-6FC7-4358-BC5D-1EF41C2F16E9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3705884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B7B90FC-9D46-4D07-A122-36360A003B5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981622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 smtClean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1659A4C4-2F5A-4AD5-B4DD-91AFC70E79CD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9904753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1C0D58F-0FC4-4F3A-AAB7-51AD68757DE4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4615045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38925" y="274638"/>
            <a:ext cx="2058988" cy="5880100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29325" cy="5880100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AA5816E5-B105-48A3-8029-53062009A3E1}" type="slidenum">
              <a:rPr kumimoji="0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5621928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BBF8A1-2453-4FFC-96A1-C454FB86F241}" type="datetimeFigureOut">
              <a:rPr lang="zh-TW" altLang="en-US" smtClean="0"/>
              <a:t>2023/12/5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B4DF04A-BC54-4B2F-85D5-DBEB3778BDFB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6348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2FDB1"/>
            </a:gs>
            <a:gs pos="100000">
              <a:srgbClr val="B8C087"/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205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68313" y="1628775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27652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>
                <a:solidFill>
                  <a:srgbClr val="000000"/>
                </a:solidFill>
                <a:ea typeface="標楷體" panose="03000509000000000000" pitchFamily="65" charset="-120"/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276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>
                <a:solidFill>
                  <a:srgbClr val="000000"/>
                </a:solidFill>
                <a:ea typeface="標楷體" panose="03000509000000000000" pitchFamily="65" charset="-120"/>
              </a:defRPr>
            </a:lvl1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sp>
        <p:nvSpPr>
          <p:cNvPr id="276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>
                <a:solidFill>
                  <a:srgbClr val="000000"/>
                </a:solidFill>
                <a:ea typeface="標楷體" panose="03000509000000000000" pitchFamily="65" charset="-120"/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4846F253-FC58-4977-BB2D-1CD3A73C93CC}" type="slidenum"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標楷體" panose="03000509000000000000" pitchFamily="65" charset="-120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1" lang="en-US" altLang="zh-TW" sz="1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標楷體" panose="03000509000000000000" pitchFamily="65" charset="-120"/>
              <a:cs typeface="+mn-cs"/>
            </a:endParaRPr>
          </a:p>
        </p:txBody>
      </p:sp>
      <p:grpSp>
        <p:nvGrpSpPr>
          <p:cNvPr id="2055" name="Group 7"/>
          <p:cNvGrpSpPr>
            <a:grpSpLocks/>
          </p:cNvGrpSpPr>
          <p:nvPr/>
        </p:nvGrpSpPr>
        <p:grpSpPr bwMode="auto">
          <a:xfrm rot="-1737491">
            <a:off x="8102600" y="1411288"/>
            <a:ext cx="412750" cy="414337"/>
            <a:chOff x="295" y="3385"/>
            <a:chExt cx="408" cy="340"/>
          </a:xfrm>
        </p:grpSpPr>
        <p:grpSp>
          <p:nvGrpSpPr>
            <p:cNvPr id="2134" name="Group 8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2137" name="Group 9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1120" name="Oval 10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881" y="552"/>
                  <a:ext cx="272" cy="43"/>
                </a:xfrm>
                <a:prstGeom prst="ellipse">
                  <a:avLst/>
                </a:prstGeom>
                <a:solidFill>
                  <a:srgbClr val="FF00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121" name="Oval 11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876" y="503"/>
                  <a:ext cx="272" cy="48"/>
                </a:xfrm>
                <a:prstGeom prst="ellipse">
                  <a:avLst/>
                </a:prstGeom>
                <a:solidFill>
                  <a:srgbClr val="FF99CC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2138" name="Group 12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1118" name="Oval 13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2002" y="587"/>
                  <a:ext cx="272" cy="43"/>
                </a:xfrm>
                <a:prstGeom prst="ellipse">
                  <a:avLst/>
                </a:prstGeom>
                <a:solidFill>
                  <a:srgbClr val="FF99CC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119" name="Oval 14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2000" y="531"/>
                  <a:ext cx="272" cy="47"/>
                </a:xfrm>
                <a:prstGeom prst="ellipse">
                  <a:avLst/>
                </a:prstGeom>
                <a:solidFill>
                  <a:srgbClr val="FF00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1115" name="Oval 15"/>
              <p:cNvSpPr>
                <a:spLocks noChangeArrowheads="1"/>
              </p:cNvSpPr>
              <p:nvPr userDrawn="1"/>
            </p:nvSpPr>
            <p:spPr bwMode="auto">
              <a:xfrm>
                <a:off x="1887" y="607"/>
                <a:ext cx="46" cy="182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116" name="Oval 16"/>
              <p:cNvSpPr>
                <a:spLocks noChangeArrowheads="1"/>
              </p:cNvSpPr>
              <p:nvPr userDrawn="1"/>
            </p:nvSpPr>
            <p:spPr bwMode="auto">
              <a:xfrm>
                <a:off x="1861" y="520"/>
                <a:ext cx="46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117" name="Oval 17"/>
              <p:cNvSpPr>
                <a:spLocks noChangeArrowheads="1"/>
              </p:cNvSpPr>
              <p:nvPr userDrawn="1"/>
            </p:nvSpPr>
            <p:spPr bwMode="auto">
              <a:xfrm>
                <a:off x="1932" y="512"/>
                <a:ext cx="46" cy="4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1111" name="Oval 18"/>
            <p:cNvSpPr>
              <a:spLocks noChangeArrowheads="1"/>
            </p:cNvSpPr>
            <p:nvPr userDrawn="1"/>
          </p:nvSpPr>
          <p:spPr bwMode="auto">
            <a:xfrm flipH="1">
              <a:off x="340" y="3653"/>
              <a:ext cx="22" cy="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112" name="Oval 19"/>
            <p:cNvSpPr>
              <a:spLocks noChangeArrowheads="1"/>
            </p:cNvSpPr>
            <p:nvPr userDrawn="1"/>
          </p:nvSpPr>
          <p:spPr bwMode="auto">
            <a:xfrm flipH="1">
              <a:off x="293" y="3695"/>
              <a:ext cx="25" cy="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6" name="Group 20"/>
          <p:cNvGrpSpPr>
            <a:grpSpLocks/>
          </p:cNvGrpSpPr>
          <p:nvPr/>
        </p:nvGrpSpPr>
        <p:grpSpPr bwMode="auto">
          <a:xfrm rot="-3328072">
            <a:off x="4307682" y="6392069"/>
            <a:ext cx="412750" cy="414337"/>
            <a:chOff x="295" y="3385"/>
            <a:chExt cx="408" cy="340"/>
          </a:xfrm>
        </p:grpSpPr>
        <p:grpSp>
          <p:nvGrpSpPr>
            <p:cNvPr id="2122" name="Group 21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2125" name="Group 22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1108" name="Oval 23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890" y="527"/>
                  <a:ext cx="272" cy="42"/>
                </a:xfrm>
                <a:prstGeom prst="ellipse">
                  <a:avLst/>
                </a:prstGeom>
                <a:solidFill>
                  <a:srgbClr val="FF00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109" name="Oval 24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891" y="478"/>
                  <a:ext cx="272" cy="48"/>
                </a:xfrm>
                <a:prstGeom prst="ellipse">
                  <a:avLst/>
                </a:prstGeom>
                <a:solidFill>
                  <a:srgbClr val="FF99CC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2126" name="Group 25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1106" name="Oval 26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47" y="609"/>
                  <a:ext cx="272" cy="43"/>
                </a:xfrm>
                <a:prstGeom prst="ellipse">
                  <a:avLst/>
                </a:prstGeom>
                <a:solidFill>
                  <a:srgbClr val="FF99CC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107" name="Oval 27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52" y="549"/>
                  <a:ext cx="272" cy="47"/>
                </a:xfrm>
                <a:prstGeom prst="ellipse">
                  <a:avLst/>
                </a:prstGeom>
                <a:solidFill>
                  <a:srgbClr val="FF00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1103" name="Oval 28"/>
              <p:cNvSpPr>
                <a:spLocks noChangeArrowheads="1"/>
              </p:cNvSpPr>
              <p:nvPr userDrawn="1"/>
            </p:nvSpPr>
            <p:spPr bwMode="auto">
              <a:xfrm>
                <a:off x="1909" y="590"/>
                <a:ext cx="46" cy="182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104" name="Oval 29"/>
              <p:cNvSpPr>
                <a:spLocks noChangeArrowheads="1"/>
              </p:cNvSpPr>
              <p:nvPr userDrawn="1"/>
            </p:nvSpPr>
            <p:spPr bwMode="auto">
              <a:xfrm>
                <a:off x="1864" y="497"/>
                <a:ext cx="46" cy="47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105" name="Oval 30"/>
              <p:cNvSpPr>
                <a:spLocks noChangeArrowheads="1"/>
              </p:cNvSpPr>
              <p:nvPr userDrawn="1"/>
            </p:nvSpPr>
            <p:spPr bwMode="auto">
              <a:xfrm>
                <a:off x="1953" y="492"/>
                <a:ext cx="50" cy="48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1099" name="Oval 31"/>
            <p:cNvSpPr>
              <a:spLocks noChangeArrowheads="1"/>
            </p:cNvSpPr>
            <p:nvPr userDrawn="1"/>
          </p:nvSpPr>
          <p:spPr bwMode="auto">
            <a:xfrm flipH="1">
              <a:off x="341" y="3652"/>
              <a:ext cx="22" cy="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100" name="Oval 32"/>
            <p:cNvSpPr>
              <a:spLocks noChangeArrowheads="1"/>
            </p:cNvSpPr>
            <p:nvPr userDrawn="1"/>
          </p:nvSpPr>
          <p:spPr bwMode="auto">
            <a:xfrm flipH="1">
              <a:off x="296" y="3697"/>
              <a:ext cx="25" cy="21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2057" name="Group 33"/>
          <p:cNvGrpSpPr>
            <a:grpSpLocks/>
          </p:cNvGrpSpPr>
          <p:nvPr/>
        </p:nvGrpSpPr>
        <p:grpSpPr bwMode="auto">
          <a:xfrm rot="-708557">
            <a:off x="2051050" y="6623050"/>
            <a:ext cx="503238" cy="468313"/>
            <a:chOff x="295" y="3385"/>
            <a:chExt cx="408" cy="340"/>
          </a:xfrm>
        </p:grpSpPr>
        <p:grpSp>
          <p:nvGrpSpPr>
            <p:cNvPr id="2110" name="Group 34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2113" name="Group 35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1096" name="Oval 36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886" y="551"/>
                  <a:ext cx="272" cy="45"/>
                </a:xfrm>
                <a:prstGeom prst="ellipse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097" name="Oval 37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885" y="508"/>
                  <a:ext cx="272" cy="4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2114" name="Group 38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1094" name="Oval 39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81" y="616"/>
                  <a:ext cx="272" cy="4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095" name="Oval 40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86" y="571"/>
                  <a:ext cx="272" cy="45"/>
                </a:xfrm>
                <a:prstGeom prst="ellipse">
                  <a:avLst/>
                </a:prstGeom>
                <a:solidFill>
                  <a:srgbClr val="FF99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1091" name="Oval 41"/>
              <p:cNvSpPr>
                <a:spLocks noChangeArrowheads="1"/>
              </p:cNvSpPr>
              <p:nvPr userDrawn="1"/>
            </p:nvSpPr>
            <p:spPr bwMode="auto">
              <a:xfrm>
                <a:off x="1902" y="597"/>
                <a:ext cx="47" cy="182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092" name="Oval 42"/>
              <p:cNvSpPr>
                <a:spLocks noChangeArrowheads="1"/>
              </p:cNvSpPr>
              <p:nvPr userDrawn="1"/>
            </p:nvSpPr>
            <p:spPr bwMode="auto">
              <a:xfrm>
                <a:off x="1852" y="510"/>
                <a:ext cx="47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093" name="Oval 43"/>
              <p:cNvSpPr>
                <a:spLocks noChangeArrowheads="1"/>
              </p:cNvSpPr>
              <p:nvPr userDrawn="1"/>
            </p:nvSpPr>
            <p:spPr bwMode="auto">
              <a:xfrm>
                <a:off x="1969" y="523"/>
                <a:ext cx="47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1087" name="Oval 44"/>
            <p:cNvSpPr>
              <a:spLocks noChangeArrowheads="1"/>
            </p:cNvSpPr>
            <p:nvPr userDrawn="1"/>
          </p:nvSpPr>
          <p:spPr bwMode="auto">
            <a:xfrm flipH="1">
              <a:off x="333" y="3652"/>
              <a:ext cx="22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088" name="Oval 45"/>
            <p:cNvSpPr>
              <a:spLocks noChangeArrowheads="1"/>
            </p:cNvSpPr>
            <p:nvPr userDrawn="1"/>
          </p:nvSpPr>
          <p:spPr bwMode="auto">
            <a:xfrm flipH="1">
              <a:off x="292" y="3698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2058" name="Group 46"/>
          <p:cNvGrpSpPr>
            <a:grpSpLocks/>
          </p:cNvGrpSpPr>
          <p:nvPr/>
        </p:nvGrpSpPr>
        <p:grpSpPr bwMode="auto">
          <a:xfrm>
            <a:off x="203200" y="5957888"/>
            <a:ext cx="504825" cy="466725"/>
            <a:chOff x="295" y="3385"/>
            <a:chExt cx="408" cy="340"/>
          </a:xfrm>
        </p:grpSpPr>
        <p:grpSp>
          <p:nvGrpSpPr>
            <p:cNvPr id="2098" name="Group 47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2101" name="Group 48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1084" name="Oval 49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863" y="579"/>
                  <a:ext cx="272" cy="42"/>
                </a:xfrm>
                <a:prstGeom prst="ellipse">
                  <a:avLst/>
                </a:prstGeom>
                <a:solidFill>
                  <a:srgbClr val="00CC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085" name="Oval 50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868" y="531"/>
                  <a:ext cx="272" cy="42"/>
                </a:xfrm>
                <a:prstGeom prst="ellipse">
                  <a:avLst/>
                </a:prstGeom>
                <a:solidFill>
                  <a:srgbClr val="3366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2102" name="Group 51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1082" name="Oval 52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53" y="572"/>
                  <a:ext cx="272" cy="35"/>
                </a:xfrm>
                <a:prstGeom prst="ellipse">
                  <a:avLst/>
                </a:prstGeom>
                <a:solidFill>
                  <a:srgbClr val="3366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083" name="Oval 53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37" y="526"/>
                  <a:ext cx="272" cy="44"/>
                </a:xfrm>
                <a:prstGeom prst="ellipse">
                  <a:avLst/>
                </a:prstGeom>
                <a:solidFill>
                  <a:srgbClr val="00CCFF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1079" name="Oval 54"/>
              <p:cNvSpPr>
                <a:spLocks noChangeArrowheads="1"/>
              </p:cNvSpPr>
              <p:nvPr userDrawn="1"/>
            </p:nvSpPr>
            <p:spPr bwMode="auto">
              <a:xfrm>
                <a:off x="1918" y="619"/>
                <a:ext cx="47" cy="183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080" name="Oval 55"/>
              <p:cNvSpPr>
                <a:spLocks noChangeArrowheads="1"/>
              </p:cNvSpPr>
              <p:nvPr userDrawn="1"/>
            </p:nvSpPr>
            <p:spPr bwMode="auto">
              <a:xfrm>
                <a:off x="1876" y="528"/>
                <a:ext cx="44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081" name="Oval 56"/>
              <p:cNvSpPr>
                <a:spLocks noChangeArrowheads="1"/>
              </p:cNvSpPr>
              <p:nvPr userDrawn="1"/>
            </p:nvSpPr>
            <p:spPr bwMode="auto">
              <a:xfrm>
                <a:off x="1970" y="528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1075" name="Oval 57"/>
            <p:cNvSpPr>
              <a:spLocks noChangeArrowheads="1"/>
            </p:cNvSpPr>
            <p:nvPr userDrawn="1"/>
          </p:nvSpPr>
          <p:spPr bwMode="auto">
            <a:xfrm flipH="1">
              <a:off x="340" y="3657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076" name="Oval 58"/>
            <p:cNvSpPr>
              <a:spLocks noChangeArrowheads="1"/>
            </p:cNvSpPr>
            <p:nvPr userDrawn="1"/>
          </p:nvSpPr>
          <p:spPr bwMode="auto">
            <a:xfrm flipH="1">
              <a:off x="295" y="3702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18" name="Group 59"/>
          <p:cNvGrpSpPr>
            <a:grpSpLocks/>
          </p:cNvGrpSpPr>
          <p:nvPr/>
        </p:nvGrpSpPr>
        <p:grpSpPr bwMode="auto">
          <a:xfrm rot="-2197408">
            <a:off x="8196263" y="5815013"/>
            <a:ext cx="511175" cy="322262"/>
            <a:chOff x="295" y="3385"/>
            <a:chExt cx="408" cy="340"/>
          </a:xfrm>
        </p:grpSpPr>
        <p:grpSp>
          <p:nvGrpSpPr>
            <p:cNvPr id="2086" name="Group 60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2089" name="Group 61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1072" name="Oval 62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874" y="507"/>
                  <a:ext cx="272" cy="45"/>
                </a:xfrm>
                <a:prstGeom prst="ellipse">
                  <a:avLst/>
                </a:prstGeom>
                <a:solidFill>
                  <a:srgbClr val="FFCC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073" name="Oval 63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871" y="467"/>
                  <a:ext cx="272" cy="4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2090" name="Group 64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1070" name="Oval 65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44" y="661"/>
                  <a:ext cx="272" cy="45"/>
                </a:xfrm>
                <a:prstGeom prst="ellipse">
                  <a:avLst/>
                </a:prstGeom>
                <a:solidFill>
                  <a:srgbClr val="FFFF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071" name="Oval 66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44" y="619"/>
                  <a:ext cx="272" cy="45"/>
                </a:xfrm>
                <a:prstGeom prst="ellipse">
                  <a:avLst/>
                </a:prstGeom>
                <a:solidFill>
                  <a:srgbClr val="FFCC00"/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1067" name="Oval 67"/>
              <p:cNvSpPr>
                <a:spLocks noChangeArrowheads="1"/>
              </p:cNvSpPr>
              <p:nvPr userDrawn="1"/>
            </p:nvSpPr>
            <p:spPr bwMode="auto">
              <a:xfrm>
                <a:off x="1913" y="568"/>
                <a:ext cx="45" cy="184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068" name="Oval 68"/>
              <p:cNvSpPr>
                <a:spLocks noChangeArrowheads="1"/>
              </p:cNvSpPr>
              <p:nvPr userDrawn="1"/>
            </p:nvSpPr>
            <p:spPr bwMode="auto">
              <a:xfrm>
                <a:off x="1866" y="488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069" name="Oval 69"/>
              <p:cNvSpPr>
                <a:spLocks noChangeArrowheads="1"/>
              </p:cNvSpPr>
              <p:nvPr userDrawn="1"/>
            </p:nvSpPr>
            <p:spPr bwMode="auto">
              <a:xfrm>
                <a:off x="1962" y="490"/>
                <a:ext cx="45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1063" name="Oval 70"/>
            <p:cNvSpPr>
              <a:spLocks noChangeArrowheads="1"/>
            </p:cNvSpPr>
            <p:nvPr userDrawn="1"/>
          </p:nvSpPr>
          <p:spPr bwMode="auto">
            <a:xfrm flipH="1">
              <a:off x="340" y="3654"/>
              <a:ext cx="23" cy="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064" name="Oval 71"/>
            <p:cNvSpPr>
              <a:spLocks noChangeArrowheads="1"/>
            </p:cNvSpPr>
            <p:nvPr userDrawn="1"/>
          </p:nvSpPr>
          <p:spPr bwMode="auto">
            <a:xfrm flipH="1">
              <a:off x="295" y="3701"/>
              <a:ext cx="23" cy="22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2060" name="Group 72"/>
          <p:cNvGrpSpPr>
            <a:grpSpLocks/>
          </p:cNvGrpSpPr>
          <p:nvPr/>
        </p:nvGrpSpPr>
        <p:grpSpPr bwMode="auto">
          <a:xfrm>
            <a:off x="6180138" y="6391275"/>
            <a:ext cx="576262" cy="466725"/>
            <a:chOff x="295" y="3385"/>
            <a:chExt cx="408" cy="340"/>
          </a:xfrm>
        </p:grpSpPr>
        <p:grpSp>
          <p:nvGrpSpPr>
            <p:cNvPr id="2074" name="Group 73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2077" name="Group 74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1060" name="Oval 75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21" y="573"/>
                  <a:ext cx="272" cy="43"/>
                </a:xfrm>
                <a:prstGeom prst="ellipse">
                  <a:avLst/>
                </a:prstGeom>
                <a:solidFill>
                  <a:srgbClr val="FF6600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061" name="Oval 76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897" y="530"/>
                  <a:ext cx="272" cy="42"/>
                </a:xfrm>
                <a:prstGeom prst="ellipse">
                  <a:avLst/>
                </a:prstGeom>
                <a:solidFill>
                  <a:srgbClr val="FF9933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2078" name="Group 77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1058" name="Oval 78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75" y="573"/>
                  <a:ext cx="272" cy="34"/>
                </a:xfrm>
                <a:prstGeom prst="ellipse">
                  <a:avLst/>
                </a:prstGeom>
                <a:solidFill>
                  <a:srgbClr val="FF9933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059" name="Oval 79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78" y="523"/>
                  <a:ext cx="272" cy="42"/>
                </a:xfrm>
                <a:prstGeom prst="ellipse">
                  <a:avLst/>
                </a:prstGeom>
                <a:solidFill>
                  <a:srgbClr val="FF6600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1055" name="Oval 80"/>
              <p:cNvSpPr>
                <a:spLocks noChangeArrowheads="1"/>
              </p:cNvSpPr>
              <p:nvPr userDrawn="1"/>
            </p:nvSpPr>
            <p:spPr bwMode="auto">
              <a:xfrm>
                <a:off x="1924" y="618"/>
                <a:ext cx="44" cy="182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056" name="Oval 81"/>
              <p:cNvSpPr>
                <a:spLocks noChangeArrowheads="1"/>
              </p:cNvSpPr>
              <p:nvPr userDrawn="1"/>
            </p:nvSpPr>
            <p:spPr bwMode="auto">
              <a:xfrm>
                <a:off x="1879" y="527"/>
                <a:ext cx="45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057" name="Oval 82"/>
              <p:cNvSpPr>
                <a:spLocks noChangeArrowheads="1"/>
              </p:cNvSpPr>
              <p:nvPr userDrawn="1"/>
            </p:nvSpPr>
            <p:spPr bwMode="auto">
              <a:xfrm>
                <a:off x="1960" y="523"/>
                <a:ext cx="45" cy="44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1051" name="Oval 83"/>
            <p:cNvSpPr>
              <a:spLocks noChangeArrowheads="1"/>
            </p:cNvSpPr>
            <p:nvPr userDrawn="1"/>
          </p:nvSpPr>
          <p:spPr bwMode="auto">
            <a:xfrm flipH="1">
              <a:off x="340" y="3657"/>
              <a:ext cx="24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052" name="Oval 84"/>
            <p:cNvSpPr>
              <a:spLocks noChangeArrowheads="1"/>
            </p:cNvSpPr>
            <p:nvPr userDrawn="1"/>
          </p:nvSpPr>
          <p:spPr bwMode="auto">
            <a:xfrm flipH="1">
              <a:off x="295" y="3702"/>
              <a:ext cx="22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  <p:grpSp>
        <p:nvGrpSpPr>
          <p:cNvPr id="26" name="Group 85"/>
          <p:cNvGrpSpPr>
            <a:grpSpLocks/>
          </p:cNvGrpSpPr>
          <p:nvPr/>
        </p:nvGrpSpPr>
        <p:grpSpPr bwMode="auto">
          <a:xfrm rot="-4249260">
            <a:off x="8459788" y="1341438"/>
            <a:ext cx="503237" cy="503237"/>
            <a:chOff x="295" y="3385"/>
            <a:chExt cx="408" cy="340"/>
          </a:xfrm>
        </p:grpSpPr>
        <p:grpSp>
          <p:nvGrpSpPr>
            <p:cNvPr id="2062" name="Group 86"/>
            <p:cNvGrpSpPr>
              <a:grpSpLocks/>
            </p:cNvGrpSpPr>
            <p:nvPr userDrawn="1"/>
          </p:nvGrpSpPr>
          <p:grpSpPr bwMode="auto">
            <a:xfrm rot="2362656">
              <a:off x="295" y="3385"/>
              <a:ext cx="408" cy="273"/>
              <a:chOff x="1701" y="527"/>
              <a:chExt cx="498" cy="273"/>
            </a:xfrm>
          </p:grpSpPr>
          <p:grpSp>
            <p:nvGrpSpPr>
              <p:cNvPr id="2065" name="Group 87"/>
              <p:cNvGrpSpPr>
                <a:grpSpLocks/>
              </p:cNvGrpSpPr>
              <p:nvPr userDrawn="1"/>
            </p:nvGrpSpPr>
            <p:grpSpPr bwMode="auto">
              <a:xfrm rot="228844">
                <a:off x="1927" y="618"/>
                <a:ext cx="272" cy="90"/>
                <a:chOff x="1927" y="527"/>
                <a:chExt cx="272" cy="90"/>
              </a:xfrm>
            </p:grpSpPr>
            <p:sp>
              <p:nvSpPr>
                <p:cNvPr id="1048" name="Oval 88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02" y="521"/>
                  <a:ext cx="272" cy="45"/>
                </a:xfrm>
                <a:prstGeom prst="ellipse">
                  <a:avLst/>
                </a:prstGeom>
                <a:solidFill>
                  <a:srgbClr val="FF6600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049" name="Oval 89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03" y="475"/>
                  <a:ext cx="272" cy="45"/>
                </a:xfrm>
                <a:prstGeom prst="ellipse">
                  <a:avLst/>
                </a:prstGeom>
                <a:solidFill>
                  <a:srgbClr val="FF9933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grpSp>
            <p:nvGrpSpPr>
              <p:cNvPr id="2066" name="Group 90"/>
              <p:cNvGrpSpPr>
                <a:grpSpLocks/>
              </p:cNvGrpSpPr>
              <p:nvPr userDrawn="1"/>
            </p:nvGrpSpPr>
            <p:grpSpPr bwMode="auto">
              <a:xfrm rot="10800000">
                <a:off x="1701" y="618"/>
                <a:ext cx="272" cy="90"/>
                <a:chOff x="1927" y="527"/>
                <a:chExt cx="272" cy="90"/>
              </a:xfrm>
            </p:grpSpPr>
            <p:sp>
              <p:nvSpPr>
                <p:cNvPr id="1046" name="Oval 91"/>
                <p:cNvSpPr>
                  <a:spLocks noChangeArrowheads="1"/>
                </p:cNvSpPr>
                <p:nvPr userDrawn="1"/>
              </p:nvSpPr>
              <p:spPr bwMode="auto">
                <a:xfrm rot="187092">
                  <a:off x="1933" y="617"/>
                  <a:ext cx="272" cy="45"/>
                </a:xfrm>
                <a:prstGeom prst="ellipse">
                  <a:avLst/>
                </a:prstGeom>
                <a:solidFill>
                  <a:srgbClr val="FF9933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  <p:sp>
              <p:nvSpPr>
                <p:cNvPr id="1047" name="Oval 92"/>
                <p:cNvSpPr>
                  <a:spLocks noChangeArrowheads="1"/>
                </p:cNvSpPr>
                <p:nvPr userDrawn="1"/>
              </p:nvSpPr>
              <p:spPr bwMode="auto">
                <a:xfrm rot="10143706">
                  <a:off x="1933" y="571"/>
                  <a:ext cx="272" cy="45"/>
                </a:xfrm>
                <a:prstGeom prst="ellipse">
                  <a:avLst/>
                </a:prstGeom>
                <a:solidFill>
                  <a:srgbClr val="FF6600">
                    <a:alpha val="79999"/>
                  </a:srgbClr>
                </a:solidFill>
                <a:ln>
                  <a:noFill/>
                </a:ln>
                <a:effectLst/>
                <a:extLst/>
              </p:spPr>
              <p:txBody>
                <a:bodyPr wrap="none" anchor="ctr"/>
                <a:lstStyle>
                  <a:lvl1pPr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1pPr>
                  <a:lvl2pPr marL="742950" indent="-28575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2pPr>
                  <a:lvl3pPr marL="11430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3pPr>
                  <a:lvl4pPr marL="16002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4pPr>
                  <a:lvl5pPr marL="2057400" indent="-228600" eaLnBrk="0" hangingPunct="0"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5pPr>
                  <a:lvl6pPr marL="25146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6pPr>
                  <a:lvl7pPr marL="29718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7pPr>
                  <a:lvl8pPr marL="34290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8pPr>
                  <a:lvl9pPr marL="3886200" indent="-228600" eaLnBrk="0" fontAlgn="base" hangingPunct="0">
                    <a:spcBef>
                      <a:spcPct val="0"/>
                    </a:spcBef>
                    <a:spcAft>
                      <a:spcPct val="0"/>
                    </a:spcAft>
                    <a:defRPr kumimoji="1">
                      <a:solidFill>
                        <a:schemeClr val="tx1"/>
                      </a:solidFill>
                      <a:latin typeface="Arial" charset="0"/>
                      <a:ea typeface="新細明體" pitchFamily="18" charset="-120"/>
                    </a:defRPr>
                  </a:lvl9pPr>
                </a:lstStyle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1" lang="zh-TW" altLang="en-US" sz="1800" b="0" i="0" u="none" strike="noStrike" kern="1200" cap="none" spc="0" normalizeH="0" baseline="0" noProof="0" dirty="0" smtClean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標楷體" panose="03000509000000000000" pitchFamily="65" charset="-120"/>
                    <a:cs typeface="+mn-cs"/>
                  </a:endParaRPr>
                </a:p>
              </p:txBody>
            </p:sp>
          </p:grpSp>
          <p:sp>
            <p:nvSpPr>
              <p:cNvPr id="1043" name="Oval 93"/>
              <p:cNvSpPr>
                <a:spLocks noChangeArrowheads="1"/>
              </p:cNvSpPr>
              <p:nvPr userDrawn="1"/>
            </p:nvSpPr>
            <p:spPr bwMode="auto">
              <a:xfrm>
                <a:off x="1912" y="591"/>
                <a:ext cx="47" cy="182"/>
              </a:xfrm>
              <a:prstGeom prst="ellipse">
                <a:avLst/>
              </a:prstGeom>
              <a:solidFill>
                <a:srgbClr val="993300"/>
              </a:solidFill>
              <a:ln>
                <a:noFill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044" name="Oval 94"/>
              <p:cNvSpPr>
                <a:spLocks noChangeArrowheads="1"/>
              </p:cNvSpPr>
              <p:nvPr userDrawn="1"/>
            </p:nvSpPr>
            <p:spPr bwMode="auto">
              <a:xfrm>
                <a:off x="1882" y="491"/>
                <a:ext cx="46" cy="46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  <p:sp>
            <p:nvSpPr>
              <p:cNvPr id="1045" name="Oval 95"/>
              <p:cNvSpPr>
                <a:spLocks noChangeArrowheads="1"/>
              </p:cNvSpPr>
              <p:nvPr userDrawn="1"/>
            </p:nvSpPr>
            <p:spPr bwMode="auto">
              <a:xfrm>
                <a:off x="1969" y="491"/>
                <a:ext cx="47" cy="45"/>
              </a:xfrm>
              <a:prstGeom prst="ellipse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/>
            </p:spPr>
            <p:txBody>
              <a:bodyPr wrap="none" anchor="ctr"/>
              <a:lstStyle>
                <a:lvl1pPr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1pPr>
                <a:lvl2pPr marL="742950" indent="-28575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2pPr>
                <a:lvl3pPr marL="11430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3pPr>
                <a:lvl4pPr marL="16002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4pPr>
                <a:lvl5pPr marL="2057400" indent="-228600" eaLnBrk="0" hangingPunct="0"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kumimoji="1">
                    <a:solidFill>
                      <a:schemeClr val="tx1"/>
                    </a:solidFill>
                    <a:latin typeface="Arial" charset="0"/>
                    <a:ea typeface="新細明體" pitchFamily="18" charset="-120"/>
                  </a:defRPr>
                </a:lvl9pPr>
              </a:lstStyle>
              <a:p>
                <a:pPr marL="0" marR="0" lvl="0" indent="0" algn="l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zh-TW" altLang="en-US" sz="1800" b="0" i="0" u="none" strike="noStrike" kern="1200" cap="none" spc="0" normalizeH="0" baseline="0" noProof="0" dirty="0" smtClean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標楷體" panose="03000509000000000000" pitchFamily="65" charset="-120"/>
                  <a:cs typeface="+mn-cs"/>
                </a:endParaRPr>
              </a:p>
            </p:txBody>
          </p:sp>
        </p:grpSp>
        <p:sp>
          <p:nvSpPr>
            <p:cNvPr id="1039" name="Oval 96"/>
            <p:cNvSpPr>
              <a:spLocks noChangeArrowheads="1"/>
            </p:cNvSpPr>
            <p:nvPr userDrawn="1"/>
          </p:nvSpPr>
          <p:spPr bwMode="auto">
            <a:xfrm flipH="1">
              <a:off x="334" y="3658"/>
              <a:ext cx="22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  <p:sp>
          <p:nvSpPr>
            <p:cNvPr id="1040" name="Oval 97"/>
            <p:cNvSpPr>
              <a:spLocks noChangeArrowheads="1"/>
            </p:cNvSpPr>
            <p:nvPr userDrawn="1"/>
          </p:nvSpPr>
          <p:spPr bwMode="auto">
            <a:xfrm flipH="1">
              <a:off x="287" y="3702"/>
              <a:ext cx="23" cy="23"/>
            </a:xfrm>
            <a:prstGeom prst="ellipse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/>
          </p:spPr>
          <p:txBody>
            <a:bodyPr wrap="none" anchor="ctr"/>
            <a:lstStyle>
              <a:lvl1pPr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1pPr>
              <a:lvl2pPr marL="742950" indent="-28575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2pPr>
              <a:lvl3pPr marL="11430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3pPr>
              <a:lvl4pPr marL="16002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4pPr>
              <a:lvl5pPr marL="2057400" indent="-228600" eaLnBrk="0" hangingPunct="0"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kumimoji="1">
                  <a:solidFill>
                    <a:schemeClr val="tx1"/>
                  </a:solidFill>
                  <a:latin typeface="Arial" charset="0"/>
                  <a:ea typeface="新細明體" pitchFamily="18" charset="-120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zh-TW" alt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anose="03000509000000000000" pitchFamily="65" charset="-120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071815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1000" tmFilter="0, 0; .2, .5; .8, .5; 1, 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7" dur="500" autoRev="1" fill="hold"/>
                                        <p:tgtEl>
                                          <p:spTgt spid="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8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" dur="3000" tmFilter="0, 0; .2, .5; .8, .5; 1, 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0" dur="1500" autoRev="1" fill="hold"/>
                                        <p:tgtEl>
                                          <p:spTgt spid="18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  <p:par>
                                <p:cTn id="11" presetID="26" presetClass="emph" presetSubtype="0" repeatCount="indefinite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" dur="3000" tmFilter="0, 0; .2, .5; .8, .5; 1, 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13" dur="1500" autoRev="1" fill="hold"/>
                                        <p:tgtEl>
                                          <p:spTgt spid="26"/>
                                        </p:tgtEl>
                                      </p:cBhvr>
                                      <p:by x="105000" y="105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  <p:txStyles>
    <p:titleStyle>
      <a:lvl1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標楷體" panose="03000509000000000000" pitchFamily="65" charset="-120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標楷體" pitchFamily="65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Arial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kumimoji="1" sz="3200">
          <a:solidFill>
            <a:schemeClr val="tx1"/>
          </a:solidFill>
          <a:latin typeface="+mn-lt"/>
          <a:ea typeface="標楷體" panose="03000509000000000000" pitchFamily="65" charset="-120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kumimoji="1" sz="2800">
          <a:solidFill>
            <a:srgbClr val="FF0066"/>
          </a:solidFill>
          <a:latin typeface="+mn-lt"/>
          <a:ea typeface="標楷體" panose="03000509000000000000" pitchFamily="65" charset="-12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標楷體" panose="03000509000000000000" pitchFamily="65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rgbClr val="FF0066"/>
          </a:solidFill>
          <a:latin typeface="+mn-lt"/>
          <a:ea typeface="標楷體" panose="03000509000000000000" pitchFamily="65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標楷體" panose="03000509000000000000" pitchFamily="65" charset="-12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wmf"/><Relationship Id="rId2" Type="http://schemas.openxmlformats.org/officeDocument/2006/relationships/image" Target="../media/image7.wmf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3.png"/><Relationship Id="rId7" Type="http://schemas.openxmlformats.org/officeDocument/2006/relationships/image" Target="../media/image12.png"/><Relationship Id="rId2" Type="http://schemas.openxmlformats.org/officeDocument/2006/relationships/slideLayout" Target="../slideLayouts/slideLayout18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1.png"/><Relationship Id="rId4" Type="http://schemas.openxmlformats.org/officeDocument/2006/relationships/oleObject" Target="../embeddings/oleObject1.bin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image" Target="../media/image15.wmf"/><Relationship Id="rId4" Type="http://schemas.openxmlformats.org/officeDocument/2006/relationships/oleObject" Target="../embeddings/oleObject3.bin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56793"/>
            <a:ext cx="7772400" cy="2664296"/>
          </a:xfrm>
        </p:spPr>
        <p:txBody>
          <a:bodyPr>
            <a:noAutofit/>
          </a:bodyPr>
          <a:lstStyle/>
          <a:p>
            <a:r>
              <a:rPr lang="en-US" altLang="zh-TW" sz="66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66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sz="66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RSA</a:t>
            </a:r>
            <a:r>
              <a:rPr lang="zh-TW" altLang="en-US" sz="66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演算法</a:t>
            </a:r>
            <a:r>
              <a:rPr lang="en-US" altLang="zh-TW" sz="66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sz="6600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endParaRPr lang="zh-TW" altLang="en-US" sz="6600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4437112"/>
            <a:ext cx="6400800" cy="1752600"/>
          </a:xfrm>
        </p:spPr>
        <p:txBody>
          <a:bodyPr/>
          <a:lstStyle/>
          <a:p>
            <a:r>
              <a:rPr lang="zh-TW" altLang="en-US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非對稱加密演算法</a:t>
            </a:r>
            <a:r>
              <a:rPr lang="zh-TW" altLang="en-US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b="1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zh-TW" altLang="en-US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（公開金鑰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加密演算法）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0746986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858218"/>
          </a:xfrm>
        </p:spPr>
        <p:txBody>
          <a:bodyPr>
            <a:normAutofit fontScale="90000"/>
          </a:bodyPr>
          <a:lstStyle/>
          <a:p>
            <a:r>
              <a:rPr lang="en-US" altLang="zh-TW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RSA</a:t>
            </a:r>
            <a:r>
              <a:rPr lang="zh-TW" altLang="en-US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演算法</a:t>
            </a:r>
            <a:r>
              <a:rPr lang="en-US" altLang="zh-TW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/>
            </a:r>
            <a:br>
              <a:rPr lang="en-US" altLang="zh-TW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</a:br>
            <a:r>
              <a:rPr lang="en-US" altLang="zh-TW" b="1" dirty="0" smtClean="0">
                <a:solidFill>
                  <a:srgbClr val="0000FF"/>
                </a:solidFill>
              </a:rPr>
              <a:t/>
            </a:r>
            <a:br>
              <a:rPr lang="en-US" altLang="zh-TW" b="1" dirty="0" smtClean="0">
                <a:solidFill>
                  <a:srgbClr val="0000FF"/>
                </a:solidFill>
              </a:rPr>
            </a:br>
            <a:r>
              <a:rPr lang="zh-TW" altLang="en-US" sz="36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zh-TW" altLang="en-US" sz="36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非對稱加密</a:t>
            </a:r>
            <a:r>
              <a:rPr lang="zh-TW" altLang="en-US" sz="36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演算法</a:t>
            </a:r>
            <a:r>
              <a:rPr lang="zh-TW" altLang="en-US" sz="3600" dirty="0" smtClean="0">
                <a:solidFill>
                  <a:srgbClr val="0000FF"/>
                </a:solidFill>
                <a:latin typeface="PMingLiU" panose="02020500000000000000" pitchFamily="18" charset="-120"/>
                <a:ea typeface="PMingLiU" panose="02020500000000000000" pitchFamily="18" charset="-120"/>
              </a:rPr>
              <a:t>、</a:t>
            </a:r>
            <a:r>
              <a:rPr lang="zh-TW" altLang="en-US" sz="3600" b="1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</a:t>
            </a:r>
            <a:r>
              <a:rPr lang="zh-TW" altLang="en-US" sz="3600" b="1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開金鑰</a:t>
            </a:r>
            <a:r>
              <a:rPr lang="zh-TW" altLang="en-US" sz="3600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加密演算法</a:t>
            </a:r>
            <a:r>
              <a:rPr lang="zh-TW" altLang="en-US" sz="3600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2564904"/>
            <a:ext cx="8229600" cy="3672408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Concept</a:t>
            </a:r>
          </a:p>
          <a:p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A.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RSA-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【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金鑰產生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演算法</a:t>
            </a:r>
            <a:endParaRPr lang="en-US" altLang="zh-TW" dirty="0" smtClean="0"/>
          </a:p>
          <a:p>
            <a:endParaRPr lang="en-US" altLang="zh-TW" dirty="0"/>
          </a:p>
          <a:p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B.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RSA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加解密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計算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方法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endParaRPr lang="en-US" altLang="zh-TW" dirty="0" smtClean="0"/>
          </a:p>
          <a:p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C.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RSA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【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簽章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驗章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機制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0522187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密碼學機制運作原理</a:t>
            </a:r>
            <a:endParaRPr lang="zh-TW" altLang="en-US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密碼學機制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(cryptography)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是資訊安全技術的基礎，大多是以複雜的數學計算難題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例如：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因數分解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(factorization, FAC)</a:t>
            </a: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離散對數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(discrete logarithm, DL)</a:t>
            </a:r>
          </a:p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橢圓曲線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(elliptic curve, EC)</a:t>
            </a: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等已知的計算難題設計來達成安全的目標。</a:t>
            </a:r>
            <a:endParaRPr lang="zh-TW" altLang="en-US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4829954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資訊安全五個基本要求</a:t>
            </a:r>
            <a:endParaRPr lang="en-US" altLang="zh-TW" dirty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內容版面配置區 2"/>
          <p:cNvSpPr>
            <a:spLocks noGrp="1"/>
          </p:cNvSpPr>
          <p:nvPr>
            <p:ph idx="1"/>
          </p:nvPr>
        </p:nvSpPr>
        <p:spPr>
          <a:xfrm>
            <a:off x="395536" y="1557338"/>
            <a:ext cx="8280919" cy="4895998"/>
          </a:xfrm>
        </p:spPr>
        <p:txBody>
          <a:bodyPr>
            <a:normAutofit fontScale="85000" lnSpcReduction="20000"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機密性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Confidentiality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確保未授權者無法知曉傳輸或儲存資料的內容。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完整性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Integrity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確保資料在傳輸或儲存過程的正確性，任何更改、替代、偽造可以被偵測出來。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身份鑑別性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Auth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en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tication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）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資料傳送者與接收者的身分可以被識別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不可否認性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Non-repudiation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）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可以防制傳送者否認曾經傳送過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某一訊息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也可以防制接收者否認曾經接收過或知悉該訊息。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可用性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Availability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讓資訊系統隨時處於可工作狀態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/>
            <a:endParaRPr lang="zh-TW" altLang="en-US" dirty="0" smtClean="0"/>
          </a:p>
        </p:txBody>
      </p:sp>
    </p:spTree>
    <p:extLst>
      <p:ext uri="{BB962C8B-B14F-4D97-AF65-F5344CB8AC3E}">
        <p14:creationId xmlns:p14="http://schemas.microsoft.com/office/powerpoint/2010/main" val="11706440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常見名詞</a:t>
            </a:r>
          </a:p>
        </p:txBody>
      </p:sp>
      <p:sp>
        <p:nvSpPr>
          <p:cNvPr id="16386" name="內容版面配置區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密碼系統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(Cryptosystem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是由明文、加密演算法、金鑰、解密演算法及密文組合而成。 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明文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(Plaintext)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– </a:t>
            </a:r>
          </a:p>
          <a:p>
            <a:pPr lvl="1" eaLnBrk="1" hangingPunct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加密前的原始資料，為加密演算法的輸入，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 eaLnBrk="1" hangingPunct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解密演算法的輸出。 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hangingPunct="1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密文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dirty="0" err="1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Ciphertext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– </a:t>
            </a:r>
          </a:p>
          <a:p>
            <a:pPr lvl="1" eaLnBrk="1" hangingPunct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加密之後的資料，為加密演算法的輸出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解密演算法的輸入</a:t>
            </a:r>
          </a:p>
        </p:txBody>
      </p:sp>
    </p:spTree>
    <p:extLst>
      <p:ext uri="{BB962C8B-B14F-4D97-AF65-F5344CB8AC3E}">
        <p14:creationId xmlns:p14="http://schemas.microsoft.com/office/powerpoint/2010/main" val="6039570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09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/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常見名詞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en-US" altLang="zh-TW" dirty="0" smtClean="0"/>
              <a:t>		cont.</a:t>
            </a:r>
            <a:endParaRPr lang="zh-TW" altLang="en-US" dirty="0" smtClean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 rtlCol="0">
            <a:normAutofit fontScale="92500" lnSpcReduction="10000"/>
          </a:bodyPr>
          <a:lstStyle/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加密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(Encryption) &lt;-&gt; 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解密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(Decryption)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簽章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(Signature)  &lt;-&gt; 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驗章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(Verify)</a:t>
            </a:r>
          </a:p>
          <a:p>
            <a:pPr lvl="1" eaLnBrk="1" fontAlgn="auto" hangingPunct="1">
              <a:spcAft>
                <a:spcPts val="0"/>
              </a:spcAft>
              <a:buFont typeface="Arial" panose="020B0604020202020204" pitchFamily="34" charset="0"/>
              <a:buChar char="–"/>
              <a:defRPr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加密且簽章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雜湊函數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Hash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數位信封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Digital Envelope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>
              <a:defRPr/>
            </a:pPr>
            <a:r>
              <a:rPr lang="zh-TW" altLang="en-US" b="1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電子病歷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(Electronic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Medical </a:t>
            </a:r>
            <a:r>
              <a:rPr lang="en-US" altLang="zh-TW" dirty="0" err="1" smtClean="0">
                <a:latin typeface="標楷體" panose="03000509000000000000" pitchFamily="65" charset="-120"/>
                <a:ea typeface="標楷體" panose="03000509000000000000" pitchFamily="65" charset="-120"/>
              </a:rPr>
              <a:t>Record,EMR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b="1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憑證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Certificate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Http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s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://</a:t>
            </a:r>
          </a:p>
          <a:p>
            <a:pPr lvl="1">
              <a:buFont typeface="Arial" panose="020B0604020202020204" pitchFamily="34" charset="0"/>
              <a:buChar char="•"/>
              <a:defRPr/>
            </a:pP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SSL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加密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(Secure Sockets Layer)</a:t>
            </a:r>
          </a:p>
          <a:p>
            <a:pPr eaLnBrk="1" fontAlgn="auto" hangingPunct="1">
              <a:spcAft>
                <a:spcPts val="0"/>
              </a:spcAft>
              <a:buFont typeface="Arial" panose="020B0604020202020204" pitchFamily="34" charset="0"/>
              <a:buChar char="•"/>
              <a:defRPr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3307515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A.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RSA-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【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金鑰產生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演算法</a:t>
            </a:r>
          </a:p>
        </p:txBody>
      </p:sp>
      <p:pic>
        <p:nvPicPr>
          <p:cNvPr id="3072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11188" y="1844675"/>
            <a:ext cx="7983537" cy="4105275"/>
          </a:xfrm>
        </p:spPr>
      </p:pic>
    </p:spTree>
    <p:extLst>
      <p:ext uri="{BB962C8B-B14F-4D97-AF65-F5344CB8AC3E}">
        <p14:creationId xmlns:p14="http://schemas.microsoft.com/office/powerpoint/2010/main" val="40953409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116632"/>
            <a:ext cx="8229600" cy="1143000"/>
          </a:xfrm>
        </p:spPr>
        <p:txBody>
          <a:bodyPr/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RSA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【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金鑰產生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演算法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259632"/>
            <a:ext cx="8229600" cy="5409728"/>
          </a:xfrm>
        </p:spPr>
        <p:txBody>
          <a:bodyPr>
            <a:normAutofit fontScale="85000" lnSpcReduction="20000"/>
          </a:bodyPr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選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兩個大質數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p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和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q (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至少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100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位數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 ，令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= p •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q</a:t>
            </a: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再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計算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Ø(N)=(p-1)(q-1)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，並選一個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與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Ø(N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互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質的數 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marL="0" indent="0">
              <a:buNone/>
            </a:pP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	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註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:Ø(N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Euler’s Totient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函數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			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其意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為與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N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互質之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個數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3.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b="1" dirty="0" err="1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</a:t>
            </a:r>
            <a:r>
              <a:rPr lang="en-US" altLang="zh-TW" dirty="0" err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,N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即為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公開金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鑰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公鑰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加密方法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C = M</a:t>
            </a:r>
            <a:r>
              <a:rPr lang="en-US" altLang="zh-TW" b="1" baseline="30000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e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mod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N</a:t>
            </a: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計算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，滿足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e • d mod Ø(N) =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</a:t>
            </a:r>
          </a:p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5.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en-US" altLang="zh-TW" b="1" dirty="0" err="1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</a:t>
            </a:r>
            <a:r>
              <a:rPr lang="en-US" altLang="zh-TW" dirty="0" err="1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,N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即為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密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金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鑰</a:t>
            </a:r>
            <a:r>
              <a:rPr lang="en-US" altLang="zh-TW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私</a:t>
            </a:r>
            <a:r>
              <a:rPr lang="zh-TW" altLang="en-US" dirty="0" smtClean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鑰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en-US" altLang="zh-TW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解密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方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法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為 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M = C</a:t>
            </a:r>
            <a:r>
              <a:rPr lang="en-US" altLang="zh-TW" b="1" baseline="30000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d</a:t>
            </a:r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 mod 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N</a:t>
            </a:r>
            <a:endParaRPr lang="en-US" altLang="zh-TW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cxnSp>
        <p:nvCxnSpPr>
          <p:cNvPr id="5" name="直線接點 4"/>
          <p:cNvCxnSpPr/>
          <p:nvPr/>
        </p:nvCxnSpPr>
        <p:spPr>
          <a:xfrm>
            <a:off x="10344" y="4653136"/>
            <a:ext cx="8676456" cy="21639"/>
          </a:xfrm>
          <a:prstGeom prst="line">
            <a:avLst/>
          </a:prstGeom>
          <a:ln w="28575">
            <a:solidFill>
              <a:schemeClr val="accent6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359380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zh-TW" dirty="0">
                <a:latin typeface="標楷體" panose="03000509000000000000" pitchFamily="65" charset="-120"/>
                <a:ea typeface="標楷體" panose="03000509000000000000" pitchFamily="65" charset="-120"/>
              </a:rPr>
              <a:t>RSA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演算法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安全性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)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RSA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之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安全性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取決於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質因數分解之困難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度</a:t>
            </a:r>
            <a:endParaRPr lang="en-US" altLang="zh-TW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1"/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要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將很大的</a:t>
            </a:r>
            <a:r>
              <a:rPr lang="en-US" altLang="zh-TW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</a:t>
            </a:r>
            <a:r>
              <a:rPr lang="zh-TW" altLang="en-US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因數分解成</a:t>
            </a:r>
            <a:r>
              <a:rPr lang="en-US" altLang="zh-TW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P</a:t>
            </a:r>
            <a:r>
              <a:rPr lang="zh-TW" altLang="en-US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跟</a:t>
            </a:r>
            <a:r>
              <a:rPr lang="en-US" altLang="zh-TW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Q</a:t>
            </a:r>
            <a:r>
              <a:rPr lang="zh-TW" altLang="en-US" dirty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之</a:t>
            </a:r>
            <a:r>
              <a:rPr lang="zh-TW" altLang="en-US" dirty="0" smtClean="0">
                <a:solidFill>
                  <a:srgbClr val="FFC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相乘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是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很困難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的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83937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RSA 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【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金鑰產生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範例</a:t>
            </a:r>
          </a:p>
        </p:txBody>
      </p:sp>
      <p:pic>
        <p:nvPicPr>
          <p:cNvPr id="327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735013" y="1700213"/>
            <a:ext cx="7797800" cy="4692650"/>
          </a:xfrm>
        </p:spPr>
      </p:pic>
      <p:sp>
        <p:nvSpPr>
          <p:cNvPr id="3" name="矩形 2"/>
          <p:cNvSpPr/>
          <p:nvPr/>
        </p:nvSpPr>
        <p:spPr>
          <a:xfrm>
            <a:off x="2411760" y="5157192"/>
            <a:ext cx="4032448" cy="648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6" name="矩形 5"/>
          <p:cNvSpPr/>
          <p:nvPr/>
        </p:nvSpPr>
        <p:spPr>
          <a:xfrm>
            <a:off x="3275856" y="5877272"/>
            <a:ext cx="4176464" cy="64807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7" name="矩形 6"/>
          <p:cNvSpPr/>
          <p:nvPr/>
        </p:nvSpPr>
        <p:spPr>
          <a:xfrm>
            <a:off x="5148064" y="2204864"/>
            <a:ext cx="792088" cy="57606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8" name="矩形 7"/>
          <p:cNvSpPr/>
          <p:nvPr/>
        </p:nvSpPr>
        <p:spPr>
          <a:xfrm>
            <a:off x="7056276" y="3356992"/>
            <a:ext cx="792088" cy="576064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" name="矩形 8"/>
          <p:cNvSpPr/>
          <p:nvPr/>
        </p:nvSpPr>
        <p:spPr>
          <a:xfrm>
            <a:off x="2915816" y="4653136"/>
            <a:ext cx="864096" cy="432048"/>
          </a:xfrm>
          <a:prstGeom prst="rect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>
              <a:solidFill>
                <a:srgbClr val="0000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387906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B.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RSA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加解密</a:t>
            </a:r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計算方法</a:t>
            </a:r>
          </a:p>
        </p:txBody>
      </p:sp>
      <p:pic>
        <p:nvPicPr>
          <p:cNvPr id="317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11188" y="1844675"/>
            <a:ext cx="8064500" cy="4176713"/>
          </a:xfrm>
        </p:spPr>
      </p:pic>
    </p:spTree>
    <p:extLst>
      <p:ext uri="{BB962C8B-B14F-4D97-AF65-F5344CB8AC3E}">
        <p14:creationId xmlns:p14="http://schemas.microsoft.com/office/powerpoint/2010/main" val="23397965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RSA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加解密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計算方法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範例</a:t>
            </a:r>
          </a:p>
        </p:txBody>
      </p:sp>
      <p:pic>
        <p:nvPicPr>
          <p:cNvPr id="3379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457200" y="2473325"/>
            <a:ext cx="8229600" cy="2779713"/>
          </a:xfrm>
        </p:spPr>
      </p:pic>
      <p:sp>
        <p:nvSpPr>
          <p:cNvPr id="2" name="矩形 1"/>
          <p:cNvSpPr/>
          <p:nvPr/>
        </p:nvSpPr>
        <p:spPr>
          <a:xfrm>
            <a:off x="251520" y="5805264"/>
            <a:ext cx="8712968" cy="86409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TW" dirty="0"/>
              <a:t>https://wenchiching.wordpress.com/2009/10/20/rsa%E6%BC%94%E7%AE%97%E6%B3%95%E7%AF%84%E4%BE%8B/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535782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標題 1"/>
          <p:cNvSpPr>
            <a:spLocks noGrp="1"/>
          </p:cNvSpPr>
          <p:nvPr>
            <p:ph type="title"/>
          </p:nvPr>
        </p:nvSpPr>
        <p:spPr>
          <a:xfrm>
            <a:off x="467544" y="2132856"/>
            <a:ext cx="8229600" cy="1143000"/>
          </a:xfrm>
        </p:spPr>
        <p:txBody>
          <a:bodyPr/>
          <a:lstStyle/>
          <a:p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C.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 RSA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【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簽章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驗章</a:t>
            </a:r>
            <a:r>
              <a:rPr lang="en-US" altLang="zh-TW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機制</a:t>
            </a:r>
          </a:p>
        </p:txBody>
      </p:sp>
      <p:sp>
        <p:nvSpPr>
          <p:cNvPr id="6" name="標題 1"/>
          <p:cNvSpPr txBox="1">
            <a:spLocks/>
          </p:cNvSpPr>
          <p:nvPr/>
        </p:nvSpPr>
        <p:spPr>
          <a:xfrm>
            <a:off x="467544" y="4005064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zh-TW" altLang="en-US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雜湊函數</a:t>
            </a:r>
            <a:r>
              <a:rPr lang="en-US" altLang="zh-TW" dirty="0">
                <a:solidFill>
                  <a:srgbClr val="0000FF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(Hash Function)</a:t>
            </a:r>
            <a:endParaRPr lang="zh-TW" altLang="en-US" dirty="0" smtClean="0">
              <a:solidFill>
                <a:srgbClr val="0000FF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7169128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紙本簽章</a:t>
            </a:r>
            <a:endParaRPr lang="zh-TW" altLang="en-US" dirty="0" smtClean="0">
              <a:solidFill>
                <a:srgbClr val="FF0000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358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619250" y="5229225"/>
            <a:ext cx="2495550" cy="1038225"/>
          </a:xfrm>
        </p:spPr>
      </p:pic>
      <p:pic>
        <p:nvPicPr>
          <p:cNvPr id="35843" name="Picture 4" descr="http://twimg.edgesuite.net/images/ReNews/20150328/640_2b6654b340e03131d8c8b61574d5d416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0113" y="1674813"/>
            <a:ext cx="609600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882695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Rectangle 2"/>
          <p:cNvSpPr>
            <a:spLocks noGrp="1" noChangeArrowheads="1"/>
          </p:cNvSpPr>
          <p:nvPr>
            <p:ph type="title"/>
          </p:nvPr>
        </p:nvSpPr>
        <p:spPr>
          <a:xfrm>
            <a:off x="179388" y="188913"/>
            <a:ext cx="8651875" cy="1143000"/>
          </a:xfrm>
        </p:spPr>
        <p:txBody>
          <a:bodyPr/>
          <a:lstStyle/>
          <a:p>
            <a:pPr eaLnBrk="1" hangingPunct="1"/>
            <a:r>
              <a:rPr lang="zh-TW" altLang="en-US" dirty="0" smtClean="0">
                <a:latin typeface="標楷體" panose="03000509000000000000" pitchFamily="65" charset="-120"/>
              </a:rPr>
              <a:t>雜湊函數</a:t>
            </a:r>
            <a:r>
              <a:rPr lang="en-US" altLang="zh-TW" dirty="0" smtClean="0">
                <a:latin typeface="標楷體" panose="03000509000000000000" pitchFamily="65" charset="-120"/>
              </a:rPr>
              <a:t>(Hash Function)</a:t>
            </a:r>
          </a:p>
        </p:txBody>
      </p:sp>
      <p:sp>
        <p:nvSpPr>
          <p:cNvPr id="77827" name="Rectangle 4"/>
          <p:cNvSpPr>
            <a:spLocks noChangeArrowheads="1"/>
          </p:cNvSpPr>
          <p:nvPr/>
        </p:nvSpPr>
        <p:spPr bwMode="auto">
          <a:xfrm>
            <a:off x="2051050" y="5084763"/>
            <a:ext cx="5094288" cy="1108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TW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itchFamily="65" charset="-120"/>
                <a:cs typeface="+mn-cs"/>
              </a:rPr>
              <a:t>		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以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SHA-1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為例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,</a:t>
            </a:r>
            <a:r>
              <a:rPr kumimoji="0" lang="zh-TW" alt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輸出固定為</a:t>
            </a:r>
            <a:r>
              <a:rPr kumimoji="0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20</a:t>
            </a:r>
            <a:r>
              <a:rPr kumimoji="0" lang="zh-TW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 byte</a:t>
            </a:r>
            <a:endParaRPr kumimoji="0" lang="en-US" altLang="zh-TW" sz="24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ie: abcdefgxyz123456</a:t>
            </a:r>
            <a:r>
              <a:rPr kumimoji="1" lang="en-US" altLang="zh-TW" sz="2400" b="1" i="0" u="none" strike="noStrike" kern="120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7890</a:t>
            </a:r>
          </a:p>
        </p:txBody>
      </p:sp>
      <p:pic>
        <p:nvPicPr>
          <p:cNvPr id="77828" name="Picture 5" descr="j0198771[1]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50" y="2565400"/>
            <a:ext cx="1835150" cy="187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7829" name="Picture 7" descr="j0346543[1]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83438" y="3230563"/>
            <a:ext cx="1565026" cy="39828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7830" name="AutoShape 8"/>
          <p:cNvSpPr>
            <a:spLocks noChangeArrowheads="1"/>
          </p:cNvSpPr>
          <p:nvPr/>
        </p:nvSpPr>
        <p:spPr bwMode="auto">
          <a:xfrm>
            <a:off x="2627313" y="3068638"/>
            <a:ext cx="936625" cy="647700"/>
          </a:xfrm>
          <a:prstGeom prst="rightArrow">
            <a:avLst>
              <a:gd name="adj1" fmla="val 50000"/>
              <a:gd name="adj2" fmla="val 36152"/>
            </a:avLst>
          </a:prstGeom>
          <a:noFill/>
          <a:ln w="25400" algn="ctr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77831" name="AutoShape 9"/>
          <p:cNvSpPr>
            <a:spLocks noChangeArrowheads="1"/>
          </p:cNvSpPr>
          <p:nvPr/>
        </p:nvSpPr>
        <p:spPr bwMode="auto">
          <a:xfrm>
            <a:off x="6083300" y="3068638"/>
            <a:ext cx="936625" cy="647700"/>
          </a:xfrm>
          <a:prstGeom prst="rightArrow">
            <a:avLst>
              <a:gd name="adj1" fmla="val 50000"/>
              <a:gd name="adj2" fmla="val 36152"/>
            </a:avLst>
          </a:prstGeom>
          <a:noFill/>
          <a:ln w="25400" algn="ctr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77832" name="Text Box 10"/>
          <p:cNvSpPr txBox="1">
            <a:spLocks noChangeArrowheads="1"/>
          </p:cNvSpPr>
          <p:nvPr/>
        </p:nvSpPr>
        <p:spPr bwMode="auto">
          <a:xfrm>
            <a:off x="755650" y="4581525"/>
            <a:ext cx="12239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標楷體" pitchFamily="65" charset="-120"/>
                <a:cs typeface="+mn-cs"/>
              </a:rPr>
              <a:t>訊息原文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itchFamily="65" charset="-120"/>
                <a:cs typeface="+mn-cs"/>
              </a:rPr>
              <a:t>(</a:t>
            </a:r>
            <a:r>
              <a:rPr kumimoji="0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itchFamily="65" charset="-120"/>
                <a:cs typeface="+mn-cs"/>
              </a:rPr>
              <a:t>一篇文章</a:t>
            </a:r>
            <a:r>
              <a:rPr kumimoji="0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標楷體" pitchFamily="65" charset="-120"/>
                <a:cs typeface="+mn-cs"/>
              </a:rPr>
              <a:t>)</a:t>
            </a:r>
          </a:p>
        </p:txBody>
      </p:sp>
      <p:sp>
        <p:nvSpPr>
          <p:cNvPr id="77833" name="Text Box 11"/>
          <p:cNvSpPr txBox="1">
            <a:spLocks noChangeArrowheads="1"/>
          </p:cNvSpPr>
          <p:nvPr/>
        </p:nvSpPr>
        <p:spPr bwMode="auto">
          <a:xfrm>
            <a:off x="3995738" y="4581525"/>
            <a:ext cx="1871662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1800" b="0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Arial" charset="0"/>
                <a:ea typeface="標楷體" pitchFamily="65" charset="-120"/>
                <a:cs typeface="+mn-cs"/>
              </a:rPr>
              <a:t>Hash</a:t>
            </a:r>
            <a:r>
              <a:rPr kumimoji="0" lang="zh-TW" altLang="zh-TW" sz="1800" b="0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(雜湊函</a:t>
            </a:r>
            <a:r>
              <a:rPr kumimoji="0" lang="zh-TW" altLang="en-US" sz="1800" b="0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數</a:t>
            </a:r>
            <a:r>
              <a:rPr kumimoji="0" lang="zh-TW" altLang="zh-TW" sz="1800" b="0" i="0" u="sng" strike="noStrike" kern="1200" cap="none" spc="0" normalizeH="0" baseline="0" noProof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)</a:t>
            </a:r>
            <a:endParaRPr kumimoji="0" lang="en-US" altLang="zh-TW" sz="1800" b="0" i="0" u="sng" strike="noStrike" kern="1200" cap="none" spc="0" normalizeH="0" baseline="0" noProof="0">
              <a:ln>
                <a:noFill/>
              </a:ln>
              <a:solidFill>
                <a:srgbClr val="FF330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77834" name="Text Box 12"/>
          <p:cNvSpPr txBox="1">
            <a:spLocks noChangeArrowheads="1"/>
          </p:cNvSpPr>
          <p:nvPr/>
        </p:nvSpPr>
        <p:spPr bwMode="auto">
          <a:xfrm>
            <a:off x="7102351" y="3927643"/>
            <a:ext cx="1727200" cy="1015663"/>
          </a:xfrm>
          <a:prstGeom prst="rect">
            <a:avLst/>
          </a:prstGeom>
          <a:solidFill>
            <a:srgbClr val="0000FF"/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訊息摘要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ea typeface="標楷體" pitchFamily="65" charset="-120"/>
                <a:cs typeface="+mn-cs"/>
              </a:rPr>
              <a:t>指紋</a:t>
            </a:r>
            <a:endParaRPr kumimoji="0" lang="zh-TW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ea typeface="標楷體" pitchFamily="65" charset="-120"/>
              <a:cs typeface="+mn-cs"/>
            </a:endParaRPr>
          </a:p>
        </p:txBody>
      </p:sp>
      <p:sp>
        <p:nvSpPr>
          <p:cNvPr id="77835" name="Rectangle 13"/>
          <p:cNvSpPr>
            <a:spLocks noChangeArrowheads="1"/>
          </p:cNvSpPr>
          <p:nvPr/>
        </p:nvSpPr>
        <p:spPr bwMode="auto">
          <a:xfrm>
            <a:off x="2124075" y="5229225"/>
            <a:ext cx="4968875" cy="1081088"/>
          </a:xfrm>
          <a:prstGeom prst="rect">
            <a:avLst/>
          </a:prstGeom>
          <a:noFill/>
          <a:ln w="2540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 useBgFill="1">
        <p:nvSpPr>
          <p:cNvPr id="77836" name="Rectangle 14"/>
          <p:cNvSpPr>
            <a:spLocks noChangeArrowheads="1"/>
          </p:cNvSpPr>
          <p:nvPr/>
        </p:nvSpPr>
        <p:spPr bwMode="auto">
          <a:xfrm>
            <a:off x="3779838" y="2276475"/>
            <a:ext cx="2159000" cy="2087563"/>
          </a:xfrm>
          <a:prstGeom prst="rect">
            <a:avLst/>
          </a:prstGeom>
          <a:ln w="25400" algn="ctr">
            <a:pattFill prst="pct50">
              <a:fgClr>
                <a:srgbClr val="FF6600"/>
              </a:fgClr>
              <a:bgClr>
                <a:srgbClr val="FFFFFF"/>
              </a:bgClr>
            </a:patt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pic>
        <p:nvPicPr>
          <p:cNvPr id="77837" name="Picture 16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7175" y="2276475"/>
            <a:ext cx="1733550" cy="2089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 Box 12"/>
          <p:cNvSpPr txBox="1">
            <a:spLocks noChangeArrowheads="1"/>
          </p:cNvSpPr>
          <p:nvPr/>
        </p:nvSpPr>
        <p:spPr bwMode="auto">
          <a:xfrm>
            <a:off x="7111638" y="1971466"/>
            <a:ext cx="1727200" cy="861774"/>
          </a:xfrm>
          <a:prstGeom prst="rect">
            <a:avLst/>
          </a:prstGeom>
          <a:solidFill>
            <a:srgbClr val="0000FF"/>
          </a:solidFill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Hash value</a:t>
            </a:r>
            <a:endParaRPr kumimoji="0" lang="zh-TW" altLang="en-US" sz="2000" b="0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固定</a:t>
            </a:r>
            <a:r>
              <a:rPr kumimoji="0" lang="zh-TW" altLang="en-US" sz="20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長度</a:t>
            </a:r>
          </a:p>
        </p:txBody>
      </p:sp>
    </p:spTree>
    <p:extLst>
      <p:ext uri="{BB962C8B-B14F-4D97-AF65-F5344CB8AC3E}">
        <p14:creationId xmlns:p14="http://schemas.microsoft.com/office/powerpoint/2010/main" val="310456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smtClean="0"/>
              <a:t>常見單向雜湊函數的比較 </a:t>
            </a:r>
          </a:p>
        </p:txBody>
      </p:sp>
      <p:pic>
        <p:nvPicPr>
          <p:cNvPr id="78851" name="Picture 4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850" y="2565400"/>
            <a:ext cx="8424863" cy="1843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76028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2"/>
          <p:cNvSpPr>
            <a:spLocks noChangeArrowheads="1"/>
          </p:cNvSpPr>
          <p:nvPr/>
        </p:nvSpPr>
        <p:spPr bwMode="auto">
          <a:xfrm>
            <a:off x="4211638" y="1030288"/>
            <a:ext cx="685800" cy="1219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76803" name="Text Box 3"/>
          <p:cNvSpPr txBox="1">
            <a:spLocks noChangeArrowheads="1"/>
          </p:cNvSpPr>
          <p:nvPr/>
        </p:nvSpPr>
        <p:spPr bwMode="auto">
          <a:xfrm>
            <a:off x="4249738" y="1395413"/>
            <a:ext cx="611187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XML</a:t>
            </a:r>
            <a:r>
              <a:rPr kumimoji="1" lang="zh-TW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原文</a:t>
            </a:r>
            <a:endParaRPr kumimoji="1" lang="zh-TW" altLang="zh-TW" sz="2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標楷體" pitchFamily="65" charset="-120"/>
              <a:cs typeface="+mn-cs"/>
            </a:endParaRPr>
          </a:p>
        </p:txBody>
      </p:sp>
      <p:sp>
        <p:nvSpPr>
          <p:cNvPr id="76804" name="Oval 4"/>
          <p:cNvSpPr>
            <a:spLocks noChangeArrowheads="1"/>
          </p:cNvSpPr>
          <p:nvPr/>
        </p:nvSpPr>
        <p:spPr bwMode="auto">
          <a:xfrm>
            <a:off x="6878638" y="2189163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76805" name="Text Box 5"/>
          <p:cNvSpPr txBox="1">
            <a:spLocks noChangeArrowheads="1"/>
          </p:cNvSpPr>
          <p:nvPr/>
        </p:nvSpPr>
        <p:spPr bwMode="auto">
          <a:xfrm>
            <a:off x="6878638" y="2265363"/>
            <a:ext cx="6096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簽章</a:t>
            </a:r>
            <a:endParaRPr kumimoji="1" lang="zh-TW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標楷體" pitchFamily="65" charset="-120"/>
              <a:cs typeface="+mn-cs"/>
            </a:endParaRPr>
          </a:p>
        </p:txBody>
      </p:sp>
      <p:sp>
        <p:nvSpPr>
          <p:cNvPr id="76806" name="Line 6"/>
          <p:cNvSpPr>
            <a:spLocks noChangeShapeType="1"/>
          </p:cNvSpPr>
          <p:nvPr/>
        </p:nvSpPr>
        <p:spPr bwMode="auto">
          <a:xfrm flipV="1">
            <a:off x="7183438" y="2868613"/>
            <a:ext cx="15875" cy="3111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76807" name="Oval 7"/>
          <p:cNvSpPr>
            <a:spLocks noChangeArrowheads="1"/>
          </p:cNvSpPr>
          <p:nvPr/>
        </p:nvSpPr>
        <p:spPr bwMode="auto">
          <a:xfrm>
            <a:off x="5583238" y="2189163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76808" name="Text Box 8"/>
          <p:cNvSpPr txBox="1">
            <a:spLocks noChangeArrowheads="1"/>
          </p:cNvSpPr>
          <p:nvPr/>
        </p:nvSpPr>
        <p:spPr bwMode="auto">
          <a:xfrm>
            <a:off x="5583238" y="2265363"/>
            <a:ext cx="1066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雜湊</a:t>
            </a:r>
            <a:endParaRPr kumimoji="0" lang="zh-TW" altLang="zh-TW" sz="2400" b="0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76809" name="Line 9"/>
          <p:cNvSpPr>
            <a:spLocks noChangeShapeType="1"/>
          </p:cNvSpPr>
          <p:nvPr/>
        </p:nvSpPr>
        <p:spPr bwMode="auto">
          <a:xfrm>
            <a:off x="4897438" y="1655763"/>
            <a:ext cx="2971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76810" name="Line 10"/>
          <p:cNvSpPr>
            <a:spLocks noChangeShapeType="1"/>
          </p:cNvSpPr>
          <p:nvPr/>
        </p:nvSpPr>
        <p:spPr bwMode="auto">
          <a:xfrm flipV="1">
            <a:off x="4897438" y="1808163"/>
            <a:ext cx="304800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76811" name="Line 11"/>
          <p:cNvSpPr>
            <a:spLocks noChangeShapeType="1"/>
          </p:cNvSpPr>
          <p:nvPr/>
        </p:nvSpPr>
        <p:spPr bwMode="auto">
          <a:xfrm>
            <a:off x="5202238" y="1808163"/>
            <a:ext cx="0" cy="68580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76812" name="Line 12"/>
          <p:cNvSpPr>
            <a:spLocks noChangeShapeType="1"/>
          </p:cNvSpPr>
          <p:nvPr/>
        </p:nvSpPr>
        <p:spPr bwMode="auto">
          <a:xfrm>
            <a:off x="5202238" y="2493963"/>
            <a:ext cx="381000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76813" name="Text Box 13"/>
          <p:cNvSpPr txBox="1">
            <a:spLocks noChangeArrowheads="1"/>
          </p:cNvSpPr>
          <p:nvPr/>
        </p:nvSpPr>
        <p:spPr bwMode="auto">
          <a:xfrm>
            <a:off x="8097838" y="1655763"/>
            <a:ext cx="3048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zh-TW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標楷體" pitchFamily="65" charset="-120"/>
              <a:cs typeface="+mn-cs"/>
            </a:endParaRPr>
          </a:p>
        </p:txBody>
      </p:sp>
      <p:sp>
        <p:nvSpPr>
          <p:cNvPr id="76814" name="Rectangle 14"/>
          <p:cNvSpPr>
            <a:spLocks noChangeArrowheads="1"/>
          </p:cNvSpPr>
          <p:nvPr/>
        </p:nvSpPr>
        <p:spPr bwMode="auto">
          <a:xfrm>
            <a:off x="7869238" y="1030288"/>
            <a:ext cx="685800" cy="14636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pic>
        <p:nvPicPr>
          <p:cNvPr id="76815" name="Picture 1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0363" y="4410075"/>
            <a:ext cx="2952750" cy="2212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aphicFrame>
        <p:nvGraphicFramePr>
          <p:cNvPr id="76816" name="Object 17"/>
          <p:cNvGraphicFramePr>
            <a:graphicFrameLocks noChangeAspect="1"/>
          </p:cNvGraphicFramePr>
          <p:nvPr/>
        </p:nvGraphicFramePr>
        <p:xfrm>
          <a:off x="5918200" y="4473575"/>
          <a:ext cx="1995488" cy="208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0" name="點陣圖影像" r:id="rId4" imgW="1200318" imgH="1257476" progId="Paint.Picture">
                  <p:embed/>
                </p:oleObj>
              </mc:Choice>
              <mc:Fallback>
                <p:oleObj name="點陣圖影像" r:id="rId4" imgW="1200318" imgH="1257476" progId="Paint.Picture">
                  <p:embed/>
                  <p:pic>
                    <p:nvPicPr>
                      <p:cNvPr id="76816" name="Object 1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5918200" y="4473575"/>
                        <a:ext cx="1995488" cy="208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7" name="Rectangle 18"/>
          <p:cNvSpPr>
            <a:spLocks noChangeArrowheads="1"/>
          </p:cNvSpPr>
          <p:nvPr/>
        </p:nvSpPr>
        <p:spPr bwMode="auto">
          <a:xfrm>
            <a:off x="112713" y="0"/>
            <a:ext cx="8851775" cy="68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4400" b="1" i="0" u="none" strike="noStrike" kern="1200" cap="none" spc="-10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非對稱式</a:t>
            </a:r>
            <a:r>
              <a:rPr kumimoji="1" lang="en-US" altLang="zh-TW" sz="4400" b="1" i="0" u="none" strike="noStrike" kern="1200" cap="none" spc="-100" normalizeH="0" baseline="0" noProof="0" dirty="0" smtClean="0">
                <a:ln>
                  <a:noFill/>
                </a:ln>
                <a:solidFill>
                  <a:srgbClr val="0033CC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:</a:t>
            </a:r>
            <a:r>
              <a:rPr kumimoji="1" lang="zh-TW" altLang="en-US" sz="4400" b="1" i="0" u="none" strike="noStrike" kern="1200" cap="none" spc="-10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標楷體" panose="03000509000000000000" pitchFamily="65" charset="-120"/>
                <a:ea typeface="標楷體" panose="03000509000000000000" pitchFamily="65" charset="-120"/>
                <a:cs typeface="+mn-cs"/>
              </a:rPr>
              <a:t>數位</a:t>
            </a:r>
            <a:r>
              <a:rPr kumimoji="0" lang="zh-TW" altLang="en-US" sz="4400" b="1" i="0" u="none" strike="noStrike" kern="1200" cap="none" spc="0" normalizeH="0" baseline="0" noProof="0" dirty="0" smtClean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簽章</a:t>
            </a:r>
            <a:r>
              <a:rPr kumimoji="0" lang="zh-TW" altLang="en-US" sz="4400" b="1" i="0" u="none" strike="noStrike" kern="1200" cap="none" spc="0" normalizeH="0" baseline="0" noProof="0" dirty="0">
                <a:ln>
                  <a:noFill/>
                </a:ln>
                <a:solidFill>
                  <a:srgbClr val="3333FF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－流程圖</a:t>
            </a:r>
            <a:endParaRPr kumimoji="0" lang="en-US" altLang="zh-TW" sz="4400" b="1" i="0" u="none" strike="noStrike" kern="1200" cap="none" spc="0" normalizeH="0" baseline="0" noProof="0" dirty="0">
              <a:ln>
                <a:noFill/>
              </a:ln>
              <a:solidFill>
                <a:srgbClr val="3333FF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graphicFrame>
        <p:nvGraphicFramePr>
          <p:cNvPr id="76818" name="Object 19"/>
          <p:cNvGraphicFramePr>
            <a:graphicFrameLocks noChangeAspect="1"/>
          </p:cNvGraphicFramePr>
          <p:nvPr/>
        </p:nvGraphicFramePr>
        <p:xfrm>
          <a:off x="6800850" y="3179763"/>
          <a:ext cx="704850" cy="371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41" name="點陣圖影像" r:id="rId6" imgW="704948" imgH="371527" progId="Paint.Picture">
                  <p:embed/>
                </p:oleObj>
              </mc:Choice>
              <mc:Fallback>
                <p:oleObj name="點陣圖影像" r:id="rId6" imgW="704948" imgH="371527" progId="Paint.Picture">
                  <p:embed/>
                  <p:pic>
                    <p:nvPicPr>
                      <p:cNvPr id="76818" name="Object 19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6800850" y="3179763"/>
                        <a:ext cx="704850" cy="371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76819" name="Rectangle 20"/>
          <p:cNvSpPr>
            <a:spLocks noChangeArrowheads="1"/>
          </p:cNvSpPr>
          <p:nvPr/>
        </p:nvSpPr>
        <p:spPr bwMode="auto">
          <a:xfrm>
            <a:off x="7869238" y="2417763"/>
            <a:ext cx="685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76820" name="Text Box 21"/>
          <p:cNvSpPr txBox="1">
            <a:spLocks noChangeArrowheads="1"/>
          </p:cNvSpPr>
          <p:nvPr/>
        </p:nvSpPr>
        <p:spPr bwMode="auto">
          <a:xfrm>
            <a:off x="7885113" y="2417763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簽章</a:t>
            </a:r>
            <a:endParaRPr kumimoji="1" lang="zh-TW" altLang="en-US" sz="24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itchFamily="18" charset="0"/>
              <a:ea typeface="標楷體" pitchFamily="65" charset="-120"/>
              <a:cs typeface="+mn-cs"/>
            </a:endParaRPr>
          </a:p>
        </p:txBody>
      </p:sp>
      <p:sp>
        <p:nvSpPr>
          <p:cNvPr id="76821" name="Text Box 22"/>
          <p:cNvSpPr txBox="1">
            <a:spLocks noChangeArrowheads="1"/>
          </p:cNvSpPr>
          <p:nvPr/>
        </p:nvSpPr>
        <p:spPr bwMode="auto">
          <a:xfrm>
            <a:off x="6635750" y="3573463"/>
            <a:ext cx="1295400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私密</a:t>
            </a:r>
            <a:r>
              <a:rPr kumimoji="1" lang="zh-TW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金鑰</a:t>
            </a:r>
            <a:endParaRPr kumimoji="1" lang="zh-TW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標楷體" pitchFamily="65" charset="-120"/>
              <a:cs typeface="+mn-cs"/>
            </a:endParaRPr>
          </a:p>
        </p:txBody>
      </p:sp>
      <p:sp>
        <p:nvSpPr>
          <p:cNvPr id="76822" name="Line 30"/>
          <p:cNvSpPr>
            <a:spLocks noChangeShapeType="1"/>
          </p:cNvSpPr>
          <p:nvPr/>
        </p:nvSpPr>
        <p:spPr bwMode="auto">
          <a:xfrm>
            <a:off x="7488238" y="2493963"/>
            <a:ext cx="381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76823" name="Line 31"/>
          <p:cNvSpPr>
            <a:spLocks noChangeShapeType="1"/>
          </p:cNvSpPr>
          <p:nvPr/>
        </p:nvSpPr>
        <p:spPr bwMode="auto">
          <a:xfrm>
            <a:off x="6650038" y="2493963"/>
            <a:ext cx="2286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76824" name="Rectangle 36"/>
          <p:cNvSpPr>
            <a:spLocks noChangeArrowheads="1"/>
          </p:cNvSpPr>
          <p:nvPr/>
        </p:nvSpPr>
        <p:spPr bwMode="auto">
          <a:xfrm>
            <a:off x="6345238" y="2112963"/>
            <a:ext cx="3048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76825" name="Text Box 37"/>
          <p:cNvSpPr txBox="1">
            <a:spLocks noChangeArrowheads="1"/>
          </p:cNvSpPr>
          <p:nvPr/>
        </p:nvSpPr>
        <p:spPr bwMode="auto">
          <a:xfrm>
            <a:off x="6313488" y="2341563"/>
            <a:ext cx="304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值</a:t>
            </a:r>
            <a:endParaRPr kumimoji="1" lang="zh-TW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標楷體" pitchFamily="65" charset="-120"/>
              <a:cs typeface="+mn-cs"/>
            </a:endParaRPr>
          </a:p>
        </p:txBody>
      </p:sp>
      <p:sp>
        <p:nvSpPr>
          <p:cNvPr id="76826" name="Line 51"/>
          <p:cNvSpPr>
            <a:spLocks noChangeShapeType="1"/>
          </p:cNvSpPr>
          <p:nvPr/>
        </p:nvSpPr>
        <p:spPr bwMode="auto">
          <a:xfrm>
            <a:off x="6192838" y="2493963"/>
            <a:ext cx="152400" cy="0"/>
          </a:xfrm>
          <a:prstGeom prst="line">
            <a:avLst/>
          </a:prstGeom>
          <a:noFill/>
          <a:ln w="12700" cap="sq">
            <a:solidFill>
              <a:srgbClr val="3366FF"/>
            </a:solidFill>
            <a:miter lim="800000"/>
            <a:headEnd type="none" w="sm" len="sm"/>
            <a:tailEnd type="triangl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76827" name="AutoShape 60"/>
          <p:cNvSpPr>
            <a:spLocks noChangeArrowheads="1"/>
          </p:cNvSpPr>
          <p:nvPr/>
        </p:nvSpPr>
        <p:spPr bwMode="auto">
          <a:xfrm>
            <a:off x="3325813" y="5233988"/>
            <a:ext cx="2562225" cy="512762"/>
          </a:xfrm>
          <a:prstGeom prst="rightArrow">
            <a:avLst>
              <a:gd name="adj1" fmla="val 50000"/>
              <a:gd name="adj2" fmla="val 36158"/>
            </a:avLst>
          </a:prstGeom>
          <a:noFill/>
          <a:ln w="25400" algn="ctr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標楷體" pitchFamily="65" charset="-120"/>
                <a:cs typeface="+mn-cs"/>
              </a:rPr>
              <a:t>   Hash(XML)</a:t>
            </a: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76828" name="文字方塊 30"/>
          <p:cNvSpPr txBox="1">
            <a:spLocks noChangeArrowheads="1"/>
          </p:cNvSpPr>
          <p:nvPr/>
        </p:nvSpPr>
        <p:spPr bwMode="auto">
          <a:xfrm>
            <a:off x="2627313" y="1568450"/>
            <a:ext cx="1368425" cy="461963"/>
          </a:xfrm>
          <a:prstGeom prst="rect">
            <a:avLst/>
          </a:prstGeom>
          <a:noFill/>
          <a:ln w="19050">
            <a:solidFill>
              <a:srgbClr val="0000FF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t>衛福部</a:t>
            </a:r>
            <a:r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t>CDA R2</a:t>
            </a:r>
            <a:r>
              <a:rPr kumimoji="1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t>標準格式</a:t>
            </a:r>
          </a:p>
        </p:txBody>
      </p:sp>
      <p:pic>
        <p:nvPicPr>
          <p:cNvPr id="76829" name="Picture 34" descr="ãhisç³»çµ±ãçåçæå°çµæ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713" y="908050"/>
            <a:ext cx="2378075" cy="1530350"/>
          </a:xfrm>
          <a:prstGeom prst="rect">
            <a:avLst/>
          </a:prstGeom>
          <a:noFill/>
          <a:ln w="254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6830" name="向右箭號 2"/>
          <p:cNvSpPr>
            <a:spLocks noChangeArrowheads="1"/>
          </p:cNvSpPr>
          <p:nvPr/>
        </p:nvSpPr>
        <p:spPr bwMode="auto">
          <a:xfrm>
            <a:off x="2555875" y="1212850"/>
            <a:ext cx="1655763" cy="290513"/>
          </a:xfrm>
          <a:prstGeom prst="rightArrow">
            <a:avLst>
              <a:gd name="adj1" fmla="val 50000"/>
              <a:gd name="adj2" fmla="val 49976"/>
            </a:avLst>
          </a:prstGeom>
          <a:solidFill>
            <a:schemeClr val="accent1"/>
          </a:solidFill>
          <a:ln w="25400" algn="ctr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  <p:sp>
        <p:nvSpPr>
          <p:cNvPr id="76831" name="Text Box 3"/>
          <p:cNvSpPr txBox="1">
            <a:spLocks noChangeArrowheads="1"/>
          </p:cNvSpPr>
          <p:nvPr/>
        </p:nvSpPr>
        <p:spPr bwMode="auto">
          <a:xfrm>
            <a:off x="7921625" y="1427163"/>
            <a:ext cx="611188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XML</a:t>
            </a:r>
            <a:r>
              <a:rPr kumimoji="1" lang="zh-TW" altLang="zh-TW" sz="16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原文</a:t>
            </a:r>
            <a:endParaRPr kumimoji="1" lang="zh-TW" altLang="zh-TW" sz="2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Times New Roman" pitchFamily="18" charset="0"/>
              <a:ea typeface="標楷體" pitchFamily="65" charset="-120"/>
              <a:cs typeface="+mn-cs"/>
            </a:endParaRPr>
          </a:p>
        </p:txBody>
      </p:sp>
      <p:sp>
        <p:nvSpPr>
          <p:cNvPr id="76832" name="文字方塊 30"/>
          <p:cNvSpPr txBox="1">
            <a:spLocks noChangeArrowheads="1"/>
          </p:cNvSpPr>
          <p:nvPr/>
        </p:nvSpPr>
        <p:spPr bwMode="auto">
          <a:xfrm>
            <a:off x="3449638" y="5746750"/>
            <a:ext cx="2209800" cy="523875"/>
          </a:xfrm>
          <a:prstGeom prst="rect">
            <a:avLst/>
          </a:prstGeom>
          <a:noFill/>
          <a:ln w="19050">
            <a:solidFill>
              <a:srgbClr val="FF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t>使用醫事人員卡簽</a:t>
            </a:r>
            <a:endParaRPr kumimoji="1" lang="en-US" altLang="zh-TW" sz="1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t>XML</a:t>
            </a:r>
            <a:r>
              <a:rPr kumimoji="1" lang="zh-TW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t>的</a:t>
            </a:r>
            <a:r>
              <a:rPr kumimoji="1" lang="en-US" altLang="zh-TW" sz="1400" b="0" i="0" u="none" strike="noStrike" kern="1200" cap="none" spc="0" normalizeH="0" baseline="0" noProof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t>Hash value</a:t>
            </a:r>
            <a:endParaRPr kumimoji="1" lang="zh-TW" altLang="en-US" sz="1400" b="0" i="0" u="none" strike="noStrike" kern="1200" cap="none" spc="0" normalizeH="0" baseline="0" noProof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  <p:sp>
        <p:nvSpPr>
          <p:cNvPr id="76833" name="Text Box 21"/>
          <p:cNvSpPr txBox="1">
            <a:spLocks noChangeArrowheads="1"/>
          </p:cNvSpPr>
          <p:nvPr/>
        </p:nvSpPr>
        <p:spPr bwMode="auto">
          <a:xfrm>
            <a:off x="7885113" y="2732088"/>
            <a:ext cx="685800" cy="338137"/>
          </a:xfrm>
          <a:prstGeom prst="rect">
            <a:avLst/>
          </a:prstGeom>
          <a:solidFill>
            <a:srgbClr val="00B050">
              <a:alpha val="27058"/>
            </a:srgbClr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時戳</a:t>
            </a:r>
          </a:p>
        </p:txBody>
      </p:sp>
      <p:cxnSp>
        <p:nvCxnSpPr>
          <p:cNvPr id="76834" name="直線接點 2"/>
          <p:cNvCxnSpPr>
            <a:cxnSpLocks noChangeShapeType="1"/>
          </p:cNvCxnSpPr>
          <p:nvPr/>
        </p:nvCxnSpPr>
        <p:spPr bwMode="auto">
          <a:xfrm>
            <a:off x="0" y="4035425"/>
            <a:ext cx="9144000" cy="0"/>
          </a:xfrm>
          <a:prstGeom prst="line">
            <a:avLst/>
          </a:prstGeom>
          <a:noFill/>
          <a:ln w="25400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6835" name="文字方塊 30"/>
          <p:cNvSpPr txBox="1">
            <a:spLocks noChangeArrowheads="1"/>
          </p:cNvSpPr>
          <p:nvPr/>
        </p:nvSpPr>
        <p:spPr bwMode="auto">
          <a:xfrm>
            <a:off x="611188" y="3081338"/>
            <a:ext cx="1223962" cy="276225"/>
          </a:xfrm>
          <a:prstGeom prst="rect">
            <a:avLst/>
          </a:prstGeom>
          <a:solidFill>
            <a:schemeClr val="accent1"/>
          </a:solidFill>
          <a:ln w="19050">
            <a:solidFill>
              <a:srgbClr val="0000FF"/>
            </a:solidFill>
            <a:miter lim="800000"/>
            <a:headEnd/>
            <a:tailEnd/>
          </a:ln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TW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t>HIS </a:t>
            </a:r>
            <a:r>
              <a:rPr kumimoji="1" lang="zh-TW" altLang="en-US" sz="12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新細明體" charset="-120"/>
                <a:cs typeface="+mn-cs"/>
              </a:rPr>
              <a:t>系統資料</a:t>
            </a:r>
          </a:p>
        </p:txBody>
      </p:sp>
      <p:sp>
        <p:nvSpPr>
          <p:cNvPr id="76836" name="向下箭號 3"/>
          <p:cNvSpPr>
            <a:spLocks noChangeArrowheads="1"/>
          </p:cNvSpPr>
          <p:nvPr/>
        </p:nvSpPr>
        <p:spPr bwMode="auto">
          <a:xfrm>
            <a:off x="1014413" y="2449513"/>
            <a:ext cx="358775" cy="631825"/>
          </a:xfrm>
          <a:prstGeom prst="downArrow">
            <a:avLst>
              <a:gd name="adj1" fmla="val 50000"/>
              <a:gd name="adj2" fmla="val 50231"/>
            </a:avLst>
          </a:prstGeom>
          <a:solidFill>
            <a:srgbClr val="0000FF"/>
          </a:solidFill>
          <a:ln w="25400" algn="ctr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新細明體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186064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標題 1"/>
          <p:cNvSpPr>
            <a:spLocks noGrp="1"/>
          </p:cNvSpPr>
          <p:nvPr>
            <p:ph type="title"/>
          </p:nvPr>
        </p:nvSpPr>
        <p:spPr>
          <a:xfrm>
            <a:off x="407988" y="260648"/>
            <a:ext cx="8229600" cy="1143000"/>
          </a:xfrm>
        </p:spPr>
        <p:txBody>
          <a:bodyPr/>
          <a:lstStyle/>
          <a:p>
            <a:r>
              <a:rPr kumimoji="0" lang="zh-TW" altLang="en-US" b="1" dirty="0" smtClean="0">
                <a:solidFill>
                  <a:srgbClr val="FF0000"/>
                </a:solidFill>
                <a:latin typeface="標楷體" pitchFamily="65" charset="-120"/>
              </a:rPr>
              <a:t>驗章</a:t>
            </a:r>
            <a:r>
              <a:rPr kumimoji="0" lang="zh-TW" altLang="en-US" b="1" dirty="0" smtClean="0">
                <a:solidFill>
                  <a:srgbClr val="3333FF"/>
                </a:solidFill>
                <a:latin typeface="標楷體" pitchFamily="65" charset="-120"/>
              </a:rPr>
              <a:t>－流程圖</a:t>
            </a:r>
            <a:endParaRPr lang="zh-TW" altLang="en-US" b="1" dirty="0" smtClean="0"/>
          </a:p>
        </p:txBody>
      </p:sp>
      <p:sp>
        <p:nvSpPr>
          <p:cNvPr id="80899" name="內容版面配置區 2"/>
          <p:cNvSpPr>
            <a:spLocks noGrp="1"/>
          </p:cNvSpPr>
          <p:nvPr>
            <p:ph idx="1"/>
          </p:nvPr>
        </p:nvSpPr>
        <p:spPr>
          <a:xfrm>
            <a:off x="522288" y="1412875"/>
            <a:ext cx="8229600" cy="4525963"/>
          </a:xfrm>
        </p:spPr>
        <p:txBody>
          <a:bodyPr/>
          <a:lstStyle/>
          <a:p>
            <a:r>
              <a:rPr lang="zh-TW" altLang="en-US" smtClean="0"/>
              <a:t>使用時機</a:t>
            </a:r>
            <a:endParaRPr lang="en-US" altLang="zh-TW" smtClean="0"/>
          </a:p>
          <a:p>
            <a:pPr lvl="1"/>
            <a:r>
              <a:rPr lang="zh-TW" altLang="en-US" smtClean="0"/>
              <a:t>查閱</a:t>
            </a:r>
            <a:r>
              <a:rPr lang="en-US" altLang="zh-TW" smtClean="0"/>
              <a:t>EMR</a:t>
            </a:r>
          </a:p>
          <a:p>
            <a:pPr lvl="1"/>
            <a:r>
              <a:rPr lang="zh-TW" altLang="en-US" smtClean="0"/>
              <a:t>釋出</a:t>
            </a:r>
            <a:r>
              <a:rPr lang="en-US" altLang="zh-TW" smtClean="0"/>
              <a:t>EMR</a:t>
            </a:r>
          </a:p>
          <a:p>
            <a:pPr lvl="1"/>
            <a:r>
              <a:rPr lang="zh-TW" altLang="en-US" smtClean="0"/>
              <a:t>收到</a:t>
            </a:r>
            <a:r>
              <a:rPr lang="en-US" altLang="zh-TW" smtClean="0"/>
              <a:t>EMR</a:t>
            </a:r>
          </a:p>
        </p:txBody>
      </p:sp>
    </p:spTree>
    <p:extLst>
      <p:ext uri="{BB962C8B-B14F-4D97-AF65-F5344CB8AC3E}">
        <p14:creationId xmlns:p14="http://schemas.microsoft.com/office/powerpoint/2010/main" val="38644975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Rectangle 2"/>
          <p:cNvSpPr>
            <a:spLocks noGrp="1" noChangeArrowheads="1"/>
          </p:cNvSpPr>
          <p:nvPr>
            <p:ph type="title"/>
          </p:nvPr>
        </p:nvSpPr>
        <p:spPr>
          <a:xfrm>
            <a:off x="457200" y="274638"/>
            <a:ext cx="8229600" cy="711424"/>
          </a:xfrm>
        </p:spPr>
        <p:txBody>
          <a:bodyPr/>
          <a:lstStyle/>
          <a:p>
            <a:pPr eaLnBrk="1" hangingPunct="1"/>
            <a:r>
              <a:rPr kumimoji="0" lang="zh-TW" altLang="en-US" b="1" dirty="0" smtClean="0">
                <a:solidFill>
                  <a:srgbClr val="FF0000"/>
                </a:solidFill>
                <a:latin typeface="標楷體" pitchFamily="65" charset="-120"/>
              </a:rPr>
              <a:t>驗章</a:t>
            </a:r>
            <a:r>
              <a:rPr kumimoji="0" lang="zh-TW" altLang="en-US" b="1" dirty="0">
                <a:solidFill>
                  <a:srgbClr val="3333FF"/>
                </a:solidFill>
                <a:latin typeface="標楷體" pitchFamily="65" charset="-120"/>
              </a:rPr>
              <a:t>－</a:t>
            </a:r>
            <a:r>
              <a:rPr kumimoji="0" lang="zh-TW" altLang="en-US" b="1" dirty="0" smtClean="0">
                <a:solidFill>
                  <a:srgbClr val="3333FF"/>
                </a:solidFill>
                <a:latin typeface="標楷體" pitchFamily="65" charset="-120"/>
              </a:rPr>
              <a:t>流程圖</a:t>
            </a:r>
            <a:r>
              <a:rPr kumimoji="0" lang="en-US" altLang="zh-TW" b="1" dirty="0" smtClean="0">
                <a:solidFill>
                  <a:srgbClr val="3333FF"/>
                </a:solidFill>
                <a:latin typeface="標楷體" pitchFamily="65" charset="-120"/>
              </a:rPr>
              <a:t>(</a:t>
            </a:r>
            <a:r>
              <a:rPr lang="zh-TW" altLang="en-US" b="1" dirty="0" smtClean="0"/>
              <a:t>數位簽章的應用</a:t>
            </a:r>
            <a:r>
              <a:rPr lang="en-US" altLang="zh-TW" b="1" dirty="0" smtClean="0"/>
              <a:t>)</a:t>
            </a:r>
            <a:endParaRPr lang="en-US" altLang="zh-TW" b="1" dirty="0" smtClean="0">
              <a:solidFill>
                <a:srgbClr val="FF0000"/>
              </a:solidFill>
            </a:endParaRPr>
          </a:p>
        </p:txBody>
      </p:sp>
      <p:pic>
        <p:nvPicPr>
          <p:cNvPr id="79875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50088" y="3269109"/>
            <a:ext cx="5232463" cy="3456384"/>
          </a:xfrm>
        </p:spPr>
      </p:pic>
      <p:sp>
        <p:nvSpPr>
          <p:cNvPr id="79876" name="Rectangle 5"/>
          <p:cNvSpPr>
            <a:spLocks noChangeArrowheads="1"/>
          </p:cNvSpPr>
          <p:nvPr/>
        </p:nvSpPr>
        <p:spPr bwMode="auto">
          <a:xfrm>
            <a:off x="3127106" y="5252999"/>
            <a:ext cx="1079574" cy="1332638"/>
          </a:xfrm>
          <a:prstGeom prst="rect">
            <a:avLst/>
          </a:prstGeom>
          <a:noFill/>
          <a:ln w="25400" algn="ctr">
            <a:solidFill>
              <a:srgbClr val="FF0000"/>
            </a:solidFill>
            <a:miter lim="800000"/>
            <a:headEnd/>
            <a:tailEnd/>
          </a:ln>
          <a:effectLst>
            <a:prstShdw prst="shdw17" dist="17961" dir="2700000">
              <a:srgbClr val="990000"/>
            </a:prst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79877" name="Text Box 21"/>
          <p:cNvSpPr txBox="1">
            <a:spLocks noChangeArrowheads="1"/>
          </p:cNvSpPr>
          <p:nvPr/>
        </p:nvSpPr>
        <p:spPr bwMode="auto">
          <a:xfrm>
            <a:off x="2113883" y="6325383"/>
            <a:ext cx="874441" cy="400110"/>
          </a:xfrm>
          <a:prstGeom prst="rect">
            <a:avLst/>
          </a:prstGeom>
          <a:solidFill>
            <a:srgbClr val="00B050">
              <a:alpha val="27058"/>
            </a:srgbClr>
          </a:solidFill>
          <a:ln w="12700">
            <a:solidFill>
              <a:srgbClr val="000000"/>
            </a:solidFill>
            <a:miter lim="800000"/>
            <a:headEnd/>
            <a:tailEnd/>
          </a:ln>
        </p:spPr>
        <p:txBody>
          <a:bodyPr wrap="square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時戳</a:t>
            </a:r>
          </a:p>
        </p:txBody>
      </p:sp>
      <p:sp>
        <p:nvSpPr>
          <p:cNvPr id="6" name="Rectangle 24"/>
          <p:cNvSpPr>
            <a:spLocks noChangeArrowheads="1"/>
          </p:cNvSpPr>
          <p:nvPr/>
        </p:nvSpPr>
        <p:spPr bwMode="auto">
          <a:xfrm>
            <a:off x="2483768" y="1052736"/>
            <a:ext cx="685800" cy="1133475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7" name="Text Box 25"/>
          <p:cNvSpPr txBox="1">
            <a:spLocks noChangeArrowheads="1"/>
          </p:cNvSpPr>
          <p:nvPr/>
        </p:nvSpPr>
        <p:spPr bwMode="auto">
          <a:xfrm>
            <a:off x="2636168" y="1281336"/>
            <a:ext cx="457200" cy="581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zh-TW" sz="16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原文</a:t>
            </a:r>
            <a:endParaRPr kumimoji="1" lang="zh-TW" altLang="zh-TW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標楷體" pitchFamily="65" charset="-120"/>
              <a:cs typeface="+mn-cs"/>
            </a:endParaRPr>
          </a:p>
        </p:txBody>
      </p:sp>
      <p:sp>
        <p:nvSpPr>
          <p:cNvPr id="8" name="Oval 26"/>
          <p:cNvSpPr>
            <a:spLocks noChangeArrowheads="1"/>
          </p:cNvSpPr>
          <p:nvPr/>
        </p:nvSpPr>
        <p:spPr bwMode="auto">
          <a:xfrm>
            <a:off x="3931568" y="2119536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9" name="Text Box 27"/>
          <p:cNvSpPr txBox="1">
            <a:spLocks noChangeArrowheads="1"/>
          </p:cNvSpPr>
          <p:nvPr/>
        </p:nvSpPr>
        <p:spPr bwMode="auto">
          <a:xfrm>
            <a:off x="3855368" y="2271936"/>
            <a:ext cx="1066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解簽章</a:t>
            </a:r>
          </a:p>
        </p:txBody>
      </p:sp>
      <p:sp>
        <p:nvSpPr>
          <p:cNvPr id="10" name="Rectangle 28"/>
          <p:cNvSpPr>
            <a:spLocks noChangeArrowheads="1"/>
          </p:cNvSpPr>
          <p:nvPr/>
        </p:nvSpPr>
        <p:spPr bwMode="auto">
          <a:xfrm>
            <a:off x="2483768" y="2195736"/>
            <a:ext cx="685800" cy="3048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11" name="Text Box 29"/>
          <p:cNvSpPr txBox="1">
            <a:spLocks noChangeArrowheads="1"/>
          </p:cNvSpPr>
          <p:nvPr/>
        </p:nvSpPr>
        <p:spPr bwMode="auto">
          <a:xfrm>
            <a:off x="2559968" y="2195736"/>
            <a:ext cx="685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簽章</a:t>
            </a:r>
            <a:endParaRPr kumimoji="1" lang="zh-TW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標楷體" pitchFamily="65" charset="-120"/>
              <a:cs typeface="+mn-cs"/>
            </a:endParaRPr>
          </a:p>
        </p:txBody>
      </p:sp>
      <p:sp>
        <p:nvSpPr>
          <p:cNvPr id="12" name="Line 32"/>
          <p:cNvSpPr>
            <a:spLocks noChangeShapeType="1"/>
          </p:cNvSpPr>
          <p:nvPr/>
        </p:nvSpPr>
        <p:spPr bwMode="auto">
          <a:xfrm>
            <a:off x="3169568" y="1586136"/>
            <a:ext cx="762000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13" name="Line 33"/>
          <p:cNvSpPr>
            <a:spLocks noChangeShapeType="1"/>
          </p:cNvSpPr>
          <p:nvPr/>
        </p:nvSpPr>
        <p:spPr bwMode="auto">
          <a:xfrm>
            <a:off x="3169568" y="2348136"/>
            <a:ext cx="762000" cy="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14" name="Oval 34"/>
          <p:cNvSpPr>
            <a:spLocks noChangeArrowheads="1"/>
          </p:cNvSpPr>
          <p:nvPr/>
        </p:nvSpPr>
        <p:spPr bwMode="auto">
          <a:xfrm>
            <a:off x="3931568" y="1357536"/>
            <a:ext cx="609600" cy="609600"/>
          </a:xfrm>
          <a:prstGeom prst="ellipse">
            <a:avLst/>
          </a:prstGeom>
          <a:solidFill>
            <a:schemeClr val="accent1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15" name="Text Box 35"/>
          <p:cNvSpPr txBox="1">
            <a:spLocks noChangeArrowheads="1"/>
          </p:cNvSpPr>
          <p:nvPr/>
        </p:nvSpPr>
        <p:spPr bwMode="auto">
          <a:xfrm>
            <a:off x="3931568" y="1433736"/>
            <a:ext cx="1066800" cy="3667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zh-TW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標楷體" pitchFamily="65" charset="-120"/>
                <a:ea typeface="標楷體" pitchFamily="65" charset="-120"/>
                <a:cs typeface="+mn-cs"/>
              </a:rPr>
              <a:t>雜湊</a:t>
            </a:r>
            <a:endParaRPr kumimoji="0" lang="zh-TW" altLang="zh-TW" sz="2400" b="0" i="0" u="sng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標楷體" pitchFamily="65" charset="-120"/>
              <a:ea typeface="標楷體" pitchFamily="65" charset="-120"/>
              <a:cs typeface="+mn-cs"/>
            </a:endParaRPr>
          </a:p>
        </p:txBody>
      </p:sp>
      <p:sp>
        <p:nvSpPr>
          <p:cNvPr id="16" name="Rectangle 38"/>
          <p:cNvSpPr>
            <a:spLocks noChangeArrowheads="1"/>
          </p:cNvSpPr>
          <p:nvPr/>
        </p:nvSpPr>
        <p:spPr bwMode="auto">
          <a:xfrm>
            <a:off x="5074568" y="1281336"/>
            <a:ext cx="304800" cy="838200"/>
          </a:xfrm>
          <a:prstGeom prst="rect">
            <a:avLst/>
          </a:prstGeom>
          <a:solidFill>
            <a:schemeClr val="accent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charset="0"/>
              <a:ea typeface="標楷體" pitchFamily="65" charset="-120"/>
              <a:cs typeface="+mn-cs"/>
            </a:endParaRPr>
          </a:p>
        </p:txBody>
      </p:sp>
      <p:sp>
        <p:nvSpPr>
          <p:cNvPr id="17" name="Text Box 39"/>
          <p:cNvSpPr txBox="1">
            <a:spLocks noChangeArrowheads="1"/>
          </p:cNvSpPr>
          <p:nvPr/>
        </p:nvSpPr>
        <p:spPr bwMode="auto">
          <a:xfrm>
            <a:off x="5057105" y="1509936"/>
            <a:ext cx="3048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值</a:t>
            </a:r>
            <a:endParaRPr kumimoji="1" lang="zh-TW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itchFamily="18" charset="0"/>
              <a:ea typeface="標楷體" pitchFamily="65" charset="-120"/>
              <a:cs typeface="+mn-cs"/>
            </a:endParaRPr>
          </a:p>
        </p:txBody>
      </p:sp>
      <p:sp>
        <p:nvSpPr>
          <p:cNvPr id="18" name="Line 40"/>
          <p:cNvSpPr>
            <a:spLocks noChangeShapeType="1"/>
          </p:cNvSpPr>
          <p:nvPr/>
        </p:nvSpPr>
        <p:spPr bwMode="auto">
          <a:xfrm>
            <a:off x="4541168" y="2424336"/>
            <a:ext cx="1828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19" name="Line 41"/>
          <p:cNvSpPr>
            <a:spLocks noChangeShapeType="1"/>
          </p:cNvSpPr>
          <p:nvPr/>
        </p:nvSpPr>
        <p:spPr bwMode="auto">
          <a:xfrm flipV="1">
            <a:off x="6369968" y="219573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20" name="Line 43"/>
          <p:cNvSpPr>
            <a:spLocks noChangeShapeType="1"/>
          </p:cNvSpPr>
          <p:nvPr/>
        </p:nvSpPr>
        <p:spPr bwMode="auto">
          <a:xfrm>
            <a:off x="4541168" y="1586136"/>
            <a:ext cx="533400" cy="0"/>
          </a:xfrm>
          <a:prstGeom prst="line">
            <a:avLst/>
          </a:prstGeom>
          <a:noFill/>
          <a:ln w="9525">
            <a:solidFill>
              <a:srgbClr val="3366FF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21" name="Line 44"/>
          <p:cNvSpPr>
            <a:spLocks noChangeShapeType="1"/>
          </p:cNvSpPr>
          <p:nvPr/>
        </p:nvSpPr>
        <p:spPr bwMode="auto">
          <a:xfrm>
            <a:off x="5379368" y="1586136"/>
            <a:ext cx="9906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22" name="Line 45"/>
          <p:cNvSpPr>
            <a:spLocks noChangeShapeType="1"/>
          </p:cNvSpPr>
          <p:nvPr/>
        </p:nvSpPr>
        <p:spPr bwMode="auto">
          <a:xfrm>
            <a:off x="6369968" y="158613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graphicFrame>
        <p:nvGraphicFramePr>
          <p:cNvPr id="23" name="Object 4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940833744"/>
              </p:ext>
            </p:extLst>
          </p:nvPr>
        </p:nvGraphicFramePr>
        <p:xfrm>
          <a:off x="4922168" y="2729136"/>
          <a:ext cx="239712" cy="4572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79" name="多媒體項目" r:id="rId4" imgW="1395413" imgH="2659063" progId="MS_ClipArt_Gallery.2">
                  <p:embed/>
                </p:oleObj>
              </mc:Choice>
              <mc:Fallback>
                <p:oleObj name="多媒體項目" r:id="rId4" imgW="1395413" imgH="2659063" progId="MS_ClipArt_Gallery.2">
                  <p:embed/>
                  <p:pic>
                    <p:nvPicPr>
                      <p:cNvPr id="80917" name="Object 47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922168" y="2729136"/>
                        <a:ext cx="239712" cy="4572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rgbClr val="000000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rgbClr val="808080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24" name="Line 48"/>
          <p:cNvSpPr>
            <a:spLocks noChangeShapeType="1"/>
          </p:cNvSpPr>
          <p:nvPr/>
        </p:nvSpPr>
        <p:spPr bwMode="auto">
          <a:xfrm flipV="1">
            <a:off x="4236368" y="2729136"/>
            <a:ext cx="0" cy="228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25" name="Line 49"/>
          <p:cNvSpPr>
            <a:spLocks noChangeShapeType="1"/>
          </p:cNvSpPr>
          <p:nvPr/>
        </p:nvSpPr>
        <p:spPr bwMode="auto">
          <a:xfrm>
            <a:off x="4236368" y="2957736"/>
            <a:ext cx="6858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TW" alt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新細明體"/>
              <a:cs typeface="+mn-cs"/>
            </a:endParaRPr>
          </a:p>
        </p:txBody>
      </p:sp>
      <p:sp>
        <p:nvSpPr>
          <p:cNvPr id="26" name="Text Box 50"/>
          <p:cNvSpPr txBox="1">
            <a:spLocks noChangeArrowheads="1"/>
          </p:cNvSpPr>
          <p:nvPr/>
        </p:nvSpPr>
        <p:spPr bwMode="auto">
          <a:xfrm>
            <a:off x="5223793" y="2776761"/>
            <a:ext cx="11430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公開</a:t>
            </a:r>
            <a:r>
              <a:rPr kumimoji="1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金鑰</a:t>
            </a:r>
          </a:p>
        </p:txBody>
      </p:sp>
      <p:sp>
        <p:nvSpPr>
          <p:cNvPr id="27" name="Text Box 42"/>
          <p:cNvSpPr txBox="1">
            <a:spLocks noChangeArrowheads="1"/>
          </p:cNvSpPr>
          <p:nvPr/>
        </p:nvSpPr>
        <p:spPr bwMode="auto">
          <a:xfrm>
            <a:off x="6009605" y="1844898"/>
            <a:ext cx="647700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charset="0"/>
                <a:ea typeface="新細明體" charset="-120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itchFamily="18" charset="0"/>
                <a:ea typeface="標楷體" pitchFamily="65" charset="-120"/>
                <a:cs typeface="+mn-cs"/>
              </a:rPr>
              <a:t>比較</a:t>
            </a:r>
          </a:p>
        </p:txBody>
      </p:sp>
    </p:spTree>
    <p:extLst>
      <p:ext uri="{BB962C8B-B14F-4D97-AF65-F5344CB8AC3E}">
        <p14:creationId xmlns:p14="http://schemas.microsoft.com/office/powerpoint/2010/main" val="6173979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zh-TW" altLang="en-US" dirty="0" smtClean="0">
                <a:solidFill>
                  <a:srgbClr val="FF0000"/>
                </a:solidFill>
                <a:latin typeface="標楷體" panose="03000509000000000000" pitchFamily="65" charset="-120"/>
              </a:rPr>
              <a:t>數位簽章</a:t>
            </a:r>
            <a:r>
              <a:rPr lang="zh-TW" altLang="en-US" dirty="0" smtClean="0">
                <a:latin typeface="標楷體" panose="03000509000000000000" pitchFamily="65" charset="-120"/>
              </a:rPr>
              <a:t>跟實體簽章有何不同</a:t>
            </a:r>
            <a:r>
              <a:rPr lang="en-US" altLang="zh-TW" dirty="0" smtClean="0">
                <a:latin typeface="標楷體" panose="03000509000000000000" pitchFamily="65" charset="-120"/>
              </a:rPr>
              <a:t>?</a:t>
            </a:r>
            <a:endParaRPr lang="zh-TW" altLang="en-US" dirty="0" smtClean="0">
              <a:latin typeface="標楷體" panose="03000509000000000000" pitchFamily="65" charset="-120"/>
            </a:endParaRPr>
          </a:p>
        </p:txBody>
      </p:sp>
      <p:pic>
        <p:nvPicPr>
          <p:cNvPr id="358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619250" y="5229225"/>
            <a:ext cx="2495550" cy="1038225"/>
          </a:xfrm>
        </p:spPr>
      </p:pic>
      <p:pic>
        <p:nvPicPr>
          <p:cNvPr id="35843" name="Picture 4" descr="http://twimg.edgesuite.net/images/ReNews/20150328/640_2b6654b340e03131d8c8b61574d5d416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900113" y="1674813"/>
            <a:ext cx="6096000" cy="324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67646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數位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【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簽章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/</a:t>
            </a:r>
            <a:r>
              <a:rPr lang="zh-TW" altLang="en-US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驗章</a:t>
            </a:r>
            <a:r>
              <a:rPr lang="en-US" altLang="zh-TW" dirty="0">
                <a:solidFill>
                  <a:srgbClr val="FF0000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】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運算</a:t>
            </a:r>
          </a:p>
        </p:txBody>
      </p:sp>
      <p:pic>
        <p:nvPicPr>
          <p:cNvPr id="3686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79388" y="2154238"/>
            <a:ext cx="8789987" cy="3651250"/>
          </a:xfrm>
        </p:spPr>
      </p:pic>
    </p:spTree>
    <p:extLst>
      <p:ext uri="{BB962C8B-B14F-4D97-AF65-F5344CB8AC3E}">
        <p14:creationId xmlns:p14="http://schemas.microsoft.com/office/powerpoint/2010/main" val="24864720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67544" y="116632"/>
            <a:ext cx="8229600" cy="1143000"/>
          </a:xfrm>
        </p:spPr>
        <p:txBody>
          <a:bodyPr/>
          <a:lstStyle/>
          <a:p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隨堂作業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57200" y="1340768"/>
            <a:ext cx="8229600" cy="5184576"/>
          </a:xfrm>
        </p:spPr>
        <p:txBody>
          <a:bodyPr>
            <a:normAutofit lnSpcReduction="10000"/>
          </a:bodyPr>
          <a:lstStyle/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1.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密碼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學是資訊安全的基礎，它必須達成那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5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個特性，請分別簡單描述？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2.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請說明對稱式加密與非對稱式加密的不同？優缺點？及其用途？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3.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請說明雜湊函數（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Hash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）的特性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? 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常見的</a:t>
            </a:r>
            <a:r>
              <a:rPr lang="zh-TW" altLang="en-US" dirty="0">
                <a:latin typeface="標楷體" panose="03000509000000000000" pitchFamily="65" charset="-120"/>
                <a:ea typeface="標楷體" panose="03000509000000000000" pitchFamily="65" charset="-120"/>
              </a:rPr>
              <a:t>雜湊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函數有那些，其</a:t>
            </a:r>
            <a:r>
              <a:rPr lang="en-US" altLang="zh-TW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Hash value</a:t>
            </a:r>
            <a:r>
              <a:rPr lang="zh-TW" altLang="en-US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長度為？試舉例三個說明</a:t>
            </a:r>
            <a:endParaRPr lang="en-US" altLang="zh-TW" dirty="0" smtClean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r>
              <a:rPr lang="en-US" altLang="zh-TW" strike="sngStrike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4.</a:t>
            </a:r>
            <a:r>
              <a:rPr lang="zh-TW" altLang="en-US" strike="sngStrike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院際間的資料交換，都採用數位信封</a:t>
            </a:r>
            <a:r>
              <a:rPr lang="en-US" altLang="zh-TW" strike="sngStrike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(Digital  Envelope)</a:t>
            </a:r>
            <a:r>
              <a:rPr lang="zh-TW" altLang="en-US" strike="sngStrike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，以保護病人資料。請說明</a:t>
            </a:r>
            <a:r>
              <a:rPr lang="zh-TW" altLang="en-US" strike="sngStrike" dirty="0">
                <a:latin typeface="標楷體" panose="03000509000000000000" pitchFamily="65" charset="-120"/>
                <a:ea typeface="標楷體" panose="03000509000000000000" pitchFamily="65" charset="-120"/>
              </a:rPr>
              <a:t>數位</a:t>
            </a:r>
            <a:r>
              <a:rPr lang="zh-TW" altLang="en-US" strike="sngStrike" dirty="0" smtClean="0">
                <a:latin typeface="標楷體" panose="03000509000000000000" pitchFamily="65" charset="-120"/>
                <a:ea typeface="標楷體" panose="03000509000000000000" pitchFamily="65" charset="-120"/>
              </a:rPr>
              <a:t>信封製作的過程。</a:t>
            </a:r>
            <a:endParaRPr lang="zh-TW" altLang="en-US" strike="sngStrike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187024312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蜻蜓設計簡報範本">
  <a:themeElements>
    <a:clrScheme name="蜻蜓設計簡報範本 14">
      <a:dk1>
        <a:srgbClr val="000000"/>
      </a:dk1>
      <a:lt1>
        <a:srgbClr val="FFFFFF"/>
      </a:lt1>
      <a:dk2>
        <a:srgbClr val="3333FF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蜻蜓設計簡報範本">
      <a:majorFont>
        <a:latin typeface="Arial"/>
        <a:ea typeface="新細明體"/>
        <a:cs typeface=""/>
      </a:majorFont>
      <a:minorFont>
        <a:latin typeface="Arial"/>
        <a:ea typeface="新細明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zh-TW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  <a:ea typeface="新細明體" pitchFamily="18" charset="-120"/>
          </a:defRPr>
        </a:defPPr>
      </a:lstStyle>
    </a:lnDef>
  </a:objectDefaults>
  <a:extraClrSchemeLst>
    <a:extraClrScheme>
      <a:clrScheme name="蜻蜓設計簡報範本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蜻蜓設計簡報範本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蜻蜓設計簡報範本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蜻蜓設計簡報範本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蜻蜓設計簡報範本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蜻蜓設計簡報範本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蜻蜓設計簡報範本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蜻蜓設計簡報範本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蜻蜓設計簡報範本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蜻蜓設計簡報範本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蜻蜓設計簡報範本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蜻蜓設計簡報範本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蜻蜓設計簡報範本 13">
        <a:dk1>
          <a:srgbClr val="000000"/>
        </a:dk1>
        <a:lt1>
          <a:srgbClr val="FFFFFF"/>
        </a:lt1>
        <a:dk2>
          <a:srgbClr val="FF0066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蜻蜓設計簡報範本 14">
        <a:dk1>
          <a:srgbClr val="000000"/>
        </a:dk1>
        <a:lt1>
          <a:srgbClr val="FFFFFF"/>
        </a:lt1>
        <a:dk2>
          <a:srgbClr val="3333FF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326</TotalTime>
  <Words>708</Words>
  <Application>Microsoft Office PowerPoint</Application>
  <PresentationFormat>如螢幕大小 (4:3)</PresentationFormat>
  <Paragraphs>118</Paragraphs>
  <Slides>22</Slides>
  <Notes>0</Notes>
  <HiddenSlides>0</HiddenSlides>
  <MMClips>0</MMClips>
  <ScaleCrop>false</ScaleCrop>
  <HeadingPairs>
    <vt:vector size="8" baseType="variant">
      <vt:variant>
        <vt:lpstr>使用字型</vt:lpstr>
      </vt:variant>
      <vt:variant>
        <vt:i4>6</vt:i4>
      </vt:variant>
      <vt:variant>
        <vt:lpstr>佈景主題</vt:lpstr>
      </vt:variant>
      <vt:variant>
        <vt:i4>2</vt:i4>
      </vt:variant>
      <vt:variant>
        <vt:lpstr>內嵌 OLE 伺服程式</vt:lpstr>
      </vt:variant>
      <vt:variant>
        <vt:i4>2</vt:i4>
      </vt:variant>
      <vt:variant>
        <vt:lpstr>投影片標題</vt:lpstr>
      </vt:variant>
      <vt:variant>
        <vt:i4>22</vt:i4>
      </vt:variant>
    </vt:vector>
  </HeadingPairs>
  <TitlesOfParts>
    <vt:vector size="32" baseType="lpstr">
      <vt:lpstr>新細明體</vt:lpstr>
      <vt:lpstr>新細明體</vt:lpstr>
      <vt:lpstr>標楷體</vt:lpstr>
      <vt:lpstr>Arial</vt:lpstr>
      <vt:lpstr>Calibri</vt:lpstr>
      <vt:lpstr>Times New Roman</vt:lpstr>
      <vt:lpstr>Office 佈景主題</vt:lpstr>
      <vt:lpstr>蜻蜓設計簡報範本</vt:lpstr>
      <vt:lpstr>點陣圖影像</vt:lpstr>
      <vt:lpstr>多媒體項目</vt:lpstr>
      <vt:lpstr> RSA演算法 </vt:lpstr>
      <vt:lpstr>RSA演算法  （非對稱加密演算法、公開金鑰加密演算法）</vt:lpstr>
      <vt:lpstr>密碼學機制運作原理</vt:lpstr>
      <vt:lpstr>資訊安全五個基本要求</vt:lpstr>
      <vt:lpstr>常見名詞</vt:lpstr>
      <vt:lpstr>常見名詞   cont.</vt:lpstr>
      <vt:lpstr>A.RSA-【金鑰產生】演算法</vt:lpstr>
      <vt:lpstr>RSA【金鑰產生】演算法</vt:lpstr>
      <vt:lpstr>RSA演算法(安全性)</vt:lpstr>
      <vt:lpstr>RSA 【金鑰產生】範例</vt:lpstr>
      <vt:lpstr>B.RSA 加解密計算方法</vt:lpstr>
      <vt:lpstr>RSA加解密計算方法範例</vt:lpstr>
      <vt:lpstr>C. RSA【簽章/驗章】機制</vt:lpstr>
      <vt:lpstr>紙本簽章</vt:lpstr>
      <vt:lpstr>雜湊函數(Hash Function)</vt:lpstr>
      <vt:lpstr>常見單向雜湊函數的比較 </vt:lpstr>
      <vt:lpstr>PowerPoint 簡報</vt:lpstr>
      <vt:lpstr>驗章－流程圖</vt:lpstr>
      <vt:lpstr>驗章－流程圖(數位簽章的應用)</vt:lpstr>
      <vt:lpstr>數位簽章跟實體簽章有何不同?</vt:lpstr>
      <vt:lpstr>數位【簽章/驗章】運算</vt:lpstr>
      <vt:lpstr>隨堂作業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a</dc:creator>
  <cp:lastModifiedBy>user</cp:lastModifiedBy>
  <cp:revision>33</cp:revision>
  <dcterms:created xsi:type="dcterms:W3CDTF">2020-04-23T02:51:48Z</dcterms:created>
  <dcterms:modified xsi:type="dcterms:W3CDTF">2023-12-05T00:07:53Z</dcterms:modified>
</cp:coreProperties>
</file>